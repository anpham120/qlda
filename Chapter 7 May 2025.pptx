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66" r:id="rId6"/>
  </p:sldMasterIdLst>
  <p:sldIdLst>
    <p:sldId id="256" r:id="rId7"/>
    <p:sldId id="279" r:id="rId8"/>
    <p:sldId id="334" r:id="rId9"/>
    <p:sldId id="335" r:id="rId10"/>
    <p:sldId id="257" r:id="rId11"/>
    <p:sldId id="347" r:id="rId12"/>
    <p:sldId id="336" r:id="rId13"/>
    <p:sldId id="337" r:id="rId14"/>
    <p:sldId id="419" r:id="rId15"/>
    <p:sldId id="381" r:id="rId16"/>
    <p:sldId id="421" r:id="rId17"/>
    <p:sldId id="422" r:id="rId18"/>
    <p:sldId id="423" r:id="rId19"/>
    <p:sldId id="424" r:id="rId20"/>
    <p:sldId id="425" r:id="rId21"/>
    <p:sldId id="426" r:id="rId22"/>
    <p:sldId id="428" r:id="rId23"/>
    <p:sldId id="429" r:id="rId24"/>
    <p:sldId id="430" r:id="rId25"/>
    <p:sldId id="431" r:id="rId26"/>
    <p:sldId id="432" r:id="rId27"/>
    <p:sldId id="292" r:id="rId28"/>
  </p:sldIdLst>
  <p:sldSz cx="12192000" cy="6858000"/>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C586A-3CA7-A6B6-6B3B-4583D57BE5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51776E-AB3C-97F0-AA67-BD2E18056A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57923A-7CEC-4869-8AF4-836E8C807E71}"/>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8E91799-8705-EA78-77FB-A8D1418A0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750114-BB6A-8616-2731-F1950849203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309654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253F8-D7EF-0AA8-3598-5AC952F1DC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31DE3F-5386-056B-1DEC-19911D2C22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05957-DD56-E507-21A2-8C0A5BE9F660}"/>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98EB9A55-8E66-EC08-7034-455A1E5E90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AF6D1F-72C9-BA38-AAB4-6FAC937E22B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77058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42EB5-995E-9071-E3A1-95E9D7E50C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ACF681-C1B8-C11A-F353-03F536F244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95EFDC-3504-A413-429F-299170D34B2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369A7B8-12DD-1BF3-FD41-6B30619495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061D4-168A-8F5C-1AF2-EEEE97F41137}"/>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67714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4875-A6FD-8948-4493-B9CE9F5BBE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319F30-A0D3-1FEA-6295-76618F64BC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2E2052-690E-6A4A-BF02-E46FD4005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FEBC34-12BA-F9D2-9978-AA8576AA8E1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B7896469-2D3A-F487-7765-67182F6A04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9E2A04-E436-414E-4B0C-2404C44E969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527235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D2111-8CAE-1681-AEAC-2079D2AEC8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EEED81-28F4-4AD3-11E7-6FFF955226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93B50D-C434-C047-6A82-F515AB35F1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91BF45-750B-EE49-DA72-E92AF974D3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79E4D8-3EBB-E193-27A5-094D18445F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71CCED-E4D2-1960-BB38-F574A862185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8" name="Footer Placeholder 7">
            <a:extLst>
              <a:ext uri="{FF2B5EF4-FFF2-40B4-BE49-F238E27FC236}">
                <a16:creationId xmlns:a16="http://schemas.microsoft.com/office/drawing/2014/main" id="{39E36CFE-AD2A-D7D2-B7AC-0E6731A1D4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59C0B5-F8AA-4571-AFA6-A6728C20434F}"/>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810648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E519E-BDB0-6C86-F8A0-76A5F77C27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638157-D72D-588F-3ADF-121F60C6DC9A}"/>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4" name="Footer Placeholder 3">
            <a:extLst>
              <a:ext uri="{FF2B5EF4-FFF2-40B4-BE49-F238E27FC236}">
                <a16:creationId xmlns:a16="http://schemas.microsoft.com/office/drawing/2014/main" id="{57717323-0A37-5519-2211-CB5A46A701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E187EF-3568-6D06-B0CC-CC03B437E3F6}"/>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047579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DA75DE-3AA6-3D68-4B0D-E41DC289D11E}"/>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3" name="Footer Placeholder 2">
            <a:extLst>
              <a:ext uri="{FF2B5EF4-FFF2-40B4-BE49-F238E27FC236}">
                <a16:creationId xmlns:a16="http://schemas.microsoft.com/office/drawing/2014/main" id="{9AC2F1D1-1AE5-9EFB-5C41-D0BA282D35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D39EC7-3610-4119-B990-AAC57BFAB70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20235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A1C0-DF73-59F9-7F79-1E20888F5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80BE31-A6CE-0A68-9049-46835F690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EBAC79-BA96-6289-CE87-A607DC7FE7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EEFF55-5B90-350B-AAD2-357346686E34}"/>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B2545FB3-ADD8-2ECF-805C-BE68FADBAC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833929-8CD9-1DA0-4C06-B6934F51B11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68578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E5A5F-7783-499E-9377-3210199834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CA243A-C284-88CE-16D1-09F73127C4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E3E7FA-2738-CC66-3A33-AF2665F889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52B17-F93D-D397-FB9D-F548BD362AB1}"/>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8A648A4A-D02F-90AA-6306-2A3C8C61D5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1AF598-401C-397D-5CF5-3A9D5CA82750}"/>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772381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A2BB-D4CC-5B9B-2348-E67CC05EB3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7E9190-84A6-F9EA-2390-7756FA27F3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E116-5473-7F3F-8433-5244C90E7BD8}"/>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FC5FA76-460F-9D21-A59E-4B4E1DD5E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20A51C-B070-BA37-CF7D-21A317D5AB3E}"/>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83250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3743B3-1526-7C42-5D1E-F800423F8A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823CF1-92A9-379B-2137-1E6179E6A4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BC939-1232-F1BE-40EE-926F7F3221E8}"/>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49314AEF-05BD-1B4A-FFF2-7F78AB0012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DB8F82-AEF6-1E0B-765F-D74DBC30156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806874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4574F-8BA0-4DD9-8A0D-88DF8E86708B}"/>
              </a:ext>
            </a:extLst>
          </p:cNvPr>
          <p:cNvSpPr>
            <a:spLocks noGrp="1"/>
          </p:cNvSpPr>
          <p:nvPr>
            <p:ph type="ctrTitle"/>
          </p:nvPr>
        </p:nvSpPr>
        <p:spPr>
          <a:xfrm>
            <a:off x="5193437" y="1600199"/>
            <a:ext cx="6998563" cy="2732103"/>
          </a:xfrm>
          <a:prstGeom prst="rect">
            <a:avLst/>
          </a:prstGeom>
        </p:spPr>
        <p:txBody>
          <a:bodyPr anchor="b"/>
          <a:lstStyle>
            <a:lvl1pPr algn="l">
              <a:defRPr sz="6000">
                <a:latin typeface="Cambria" panose="02040503050406030204" pitchFamily="18" charset="0"/>
                <a:ea typeface="Cambria" panose="020405030504060302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E082D7F5-BC12-43B2-9B38-EB14BFE04EE1}"/>
              </a:ext>
            </a:extLst>
          </p:cNvPr>
          <p:cNvSpPr>
            <a:spLocks noGrp="1"/>
          </p:cNvSpPr>
          <p:nvPr>
            <p:ph type="subTitle" idx="1"/>
          </p:nvPr>
        </p:nvSpPr>
        <p:spPr>
          <a:xfrm>
            <a:off x="5193437" y="4422159"/>
            <a:ext cx="6998564" cy="365125"/>
          </a:xfrm>
          <a:prstGeom prst="rect">
            <a:avLst/>
          </a:prstGeom>
        </p:spPr>
        <p:txBody>
          <a:bodyPr/>
          <a:lstStyle>
            <a:lvl1pPr marL="0" indent="0" algn="l">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491443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311370" y="18257"/>
            <a:ext cx="8880629" cy="7896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dirty="0"/>
          </a:p>
        </p:txBody>
      </p:sp>
      <p:sp>
        <p:nvSpPr>
          <p:cNvPr id="6" name="Title Placeholder 1">
            <a:extLst>
              <a:ext uri="{FF2B5EF4-FFF2-40B4-BE49-F238E27FC236}">
                <a16:creationId xmlns:a16="http://schemas.microsoft.com/office/drawing/2014/main" id="{05D78967-21EF-4AA2-8BE4-2FCA6F8A7653}"/>
              </a:ext>
            </a:extLst>
          </p:cNvPr>
          <p:cNvSpPr>
            <a:spLocks noGrp="1"/>
          </p:cNvSpPr>
          <p:nvPr>
            <p:ph type="title"/>
          </p:nvPr>
        </p:nvSpPr>
        <p:spPr>
          <a:xfrm>
            <a:off x="628176" y="1"/>
            <a:ext cx="8187350" cy="571499"/>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1259163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628176" y="1597981"/>
            <a:ext cx="10966059" cy="4578982"/>
          </a:xfrm>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6E3DAE31-D39D-4D91-8F50-8D056054A62F}"/>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4165683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628176" y="1597981"/>
            <a:ext cx="10941322" cy="4580877"/>
          </a:xfrm>
        </p:spPr>
        <p:txBody>
          <a:bodyPr/>
          <a:lstStyle>
            <a:lvl1pPr marL="0" indent="0">
              <a:buNone/>
              <a:defRPr sz="2400">
                <a:solidFill>
                  <a:srgbClr val="0070C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Title Placeholder 1">
            <a:extLst>
              <a:ext uri="{FF2B5EF4-FFF2-40B4-BE49-F238E27FC236}">
                <a16:creationId xmlns:a16="http://schemas.microsoft.com/office/drawing/2014/main" id="{4381502F-F4F5-47E5-A036-3E8E88EBED0C}"/>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Tree>
    <p:extLst>
      <p:ext uri="{BB962C8B-B14F-4D97-AF65-F5344CB8AC3E}">
        <p14:creationId xmlns:p14="http://schemas.microsoft.com/office/powerpoint/2010/main" val="3411103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612560"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6096001"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1">
            <a:extLst>
              <a:ext uri="{FF2B5EF4-FFF2-40B4-BE49-F238E27FC236}">
                <a16:creationId xmlns:a16="http://schemas.microsoft.com/office/drawing/2014/main" id="{A06B0EA4-C8A7-4132-BFEF-0DDFF81DF1AE}"/>
              </a:ext>
            </a:extLst>
          </p:cNvPr>
          <p:cNvSpPr>
            <a:spLocks noGrp="1"/>
          </p:cNvSpPr>
          <p:nvPr>
            <p:ph type="title"/>
          </p:nvPr>
        </p:nvSpPr>
        <p:spPr>
          <a:xfrm>
            <a:off x="628176" y="1"/>
            <a:ext cx="8222861"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1567322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628175"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628175" y="2512381"/>
            <a:ext cx="5462626"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6090802"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6090801" y="2512381"/>
            <a:ext cx="5467825"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a:extLst>
              <a:ext uri="{FF2B5EF4-FFF2-40B4-BE49-F238E27FC236}">
                <a16:creationId xmlns:a16="http://schemas.microsoft.com/office/drawing/2014/main" id="{A49F13EA-C024-48AE-90B5-68F588A6D2CF}"/>
              </a:ext>
            </a:extLst>
          </p:cNvPr>
          <p:cNvSpPr>
            <a:spLocks noGrp="1"/>
          </p:cNvSpPr>
          <p:nvPr>
            <p:ph type="title"/>
          </p:nvPr>
        </p:nvSpPr>
        <p:spPr>
          <a:xfrm>
            <a:off x="628176" y="1"/>
            <a:ext cx="8231739" cy="55244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0127848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747FC4C-9430-4B68-AD2B-005799395D39}"/>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
        <p:nvSpPr>
          <p:cNvPr id="4" name="TextBox 3"/>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5" name="TextBox 4"/>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2245505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051394" y="1606858"/>
            <a:ext cx="6507234" cy="456312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628176" y="1606859"/>
            <a:ext cx="4165766" cy="456312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38BBB283-F300-4A19-B448-60B2206B6F55}"/>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3174152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183188" y="1606858"/>
            <a:ext cx="6375440" cy="4554244"/>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628175" y="1606859"/>
            <a:ext cx="4245665" cy="4554244"/>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64732130-B38F-4E21-8A3C-589F26725E53}"/>
              </a:ext>
            </a:extLst>
          </p:cNvPr>
          <p:cNvSpPr>
            <a:spLocks noGrp="1"/>
          </p:cNvSpPr>
          <p:nvPr>
            <p:ph type="title"/>
          </p:nvPr>
        </p:nvSpPr>
        <p:spPr>
          <a:xfrm>
            <a:off x="628176" y="1"/>
            <a:ext cx="8222861" cy="581024"/>
          </a:xfrm>
          <a:prstGeom prst="rect">
            <a:avLst/>
          </a:prstGeom>
        </p:spPr>
        <p:txBody>
          <a:bodyPr vert="horz" lIns="91440" tIns="45720" rIns="91440" bIns="45720" rtlCol="0" anchor="ctr">
            <a:normAutofit/>
          </a:bodyPr>
          <a:lstStyle/>
          <a:p>
            <a:endParaRPr lang="en-US" dirty="0"/>
          </a:p>
        </p:txBody>
      </p:sp>
      <p:sp>
        <p:nvSpPr>
          <p:cNvPr id="6" name="TextBox 5"/>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7" name="TextBox 6"/>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4722815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628176" y="1597981"/>
            <a:ext cx="10941322" cy="45789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Placeholder 1">
            <a:extLst>
              <a:ext uri="{FF2B5EF4-FFF2-40B4-BE49-F238E27FC236}">
                <a16:creationId xmlns:a16="http://schemas.microsoft.com/office/drawing/2014/main" id="{3086777C-386E-4DFE-9BE7-63682A461485}"/>
              </a:ext>
            </a:extLst>
          </p:cNvPr>
          <p:cNvSpPr>
            <a:spLocks noGrp="1"/>
          </p:cNvSpPr>
          <p:nvPr>
            <p:ph type="title"/>
          </p:nvPr>
        </p:nvSpPr>
        <p:spPr>
          <a:xfrm>
            <a:off x="628176" y="1"/>
            <a:ext cx="8213983" cy="57149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86651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628175" y="1589103"/>
            <a:ext cx="10941322" cy="458786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AABDBED6-01BA-4F2B-9569-ED8032753950}"/>
              </a:ext>
            </a:extLst>
          </p:cNvPr>
          <p:cNvSpPr>
            <a:spLocks noGrp="1"/>
          </p:cNvSpPr>
          <p:nvPr>
            <p:ph type="title"/>
          </p:nvPr>
        </p:nvSpPr>
        <p:spPr>
          <a:xfrm>
            <a:off x="628176" y="1"/>
            <a:ext cx="8205106" cy="56197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9598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3.jp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3.xml"/><Relationship Id="rId5" Type="http://schemas.openxmlformats.org/officeDocument/2006/relationships/slideLayout" Target="../slideLayouts/slideLayout17.xml"/><Relationship Id="rId15" Type="http://schemas.openxmlformats.org/officeDocument/2006/relationships/image" Target="../media/image6.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796FF-222D-1E2E-7D23-7C2CDFE14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41ED22-2335-D77A-68F2-5BD129B137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24A63B-33FC-3D66-67A2-4F63979F6D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F7709777-C88E-DEB1-2C91-66BDF4E702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DB51AD0-DD74-2C46-CF95-2202E3B9F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103FC1-3A4E-448F-B845-A3E46F94BBE5}" type="slidenum">
              <a:rPr lang="en-US" smtClean="0"/>
              <a:t>‹#›</a:t>
            </a:fld>
            <a:endParaRPr lang="en-US"/>
          </a:p>
        </p:txBody>
      </p:sp>
    </p:spTree>
    <p:extLst>
      <p:ext uri="{BB962C8B-B14F-4D97-AF65-F5344CB8AC3E}">
        <p14:creationId xmlns:p14="http://schemas.microsoft.com/office/powerpoint/2010/main" val="477498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236DA72-9373-413D-90C2-B12F84A4BF3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13" name="Rectangle 12">
            <a:extLst>
              <a:ext uri="{FF2B5EF4-FFF2-40B4-BE49-F238E27FC236}">
                <a16:creationId xmlns:a16="http://schemas.microsoft.com/office/drawing/2014/main" id="{B700E21E-0BA2-4C89-8691-A6161B41AA11}"/>
              </a:ext>
            </a:extLst>
          </p:cNvPr>
          <p:cNvSpPr/>
          <p:nvPr userDrawn="1"/>
        </p:nvSpPr>
        <p:spPr>
          <a:xfrm>
            <a:off x="5184559" y="1600200"/>
            <a:ext cx="7007441" cy="3657600"/>
          </a:xfrm>
          <a:prstGeom prst="rect">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Logo&#10;&#10;Description automatically generated">
            <a:extLst>
              <a:ext uri="{FF2B5EF4-FFF2-40B4-BE49-F238E27FC236}">
                <a16:creationId xmlns:a16="http://schemas.microsoft.com/office/drawing/2014/main" id="{437EFD07-DCAC-4344-A296-7B657609E7D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28178" y="183674"/>
            <a:ext cx="2736460" cy="499085"/>
          </a:xfrm>
          <a:prstGeom prst="rect">
            <a:avLst/>
          </a:prstGeom>
        </p:spPr>
      </p:pic>
    </p:spTree>
    <p:extLst>
      <p:ext uri="{BB962C8B-B14F-4D97-AF65-F5344CB8AC3E}">
        <p14:creationId xmlns:p14="http://schemas.microsoft.com/office/powerpoint/2010/main" val="1165223161"/>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EDE25AE-F103-49BC-9B89-0B1E7BCFB6DE}"/>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2192000" cy="572738"/>
          </a:xfrm>
          <a:prstGeom prst="rect">
            <a:avLst/>
          </a:prstGeom>
        </p:spPr>
      </p:pic>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28176" y="1"/>
            <a:ext cx="8213983" cy="572737"/>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628176" y="1313895"/>
            <a:ext cx="10941323" cy="48630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a:extLst>
              <a:ext uri="{FF2B5EF4-FFF2-40B4-BE49-F238E27FC236}">
                <a16:creationId xmlns:a16="http://schemas.microsoft.com/office/drawing/2014/main" id="{24CB6BFF-A477-48C9-AA27-0D5A005B4CC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407121"/>
            <a:ext cx="12192000" cy="450879"/>
          </a:xfrm>
          <a:prstGeom prst="rect">
            <a:avLst/>
          </a:prstGeom>
        </p:spPr>
      </p:pic>
      <p:pic>
        <p:nvPicPr>
          <p:cNvPr id="16" name="Picture 15" descr="Logo&#10;&#10;Description automatically generated">
            <a:extLst>
              <a:ext uri="{FF2B5EF4-FFF2-40B4-BE49-F238E27FC236}">
                <a16:creationId xmlns:a16="http://schemas.microsoft.com/office/drawing/2014/main" id="{5381A15E-FFCE-435E-9C14-6C629375BFF6}"/>
              </a:ext>
            </a:extLst>
          </p:cNvPr>
          <p:cNvPicPr>
            <a:picLocks noChangeAspect="1"/>
          </p:cNvPicPr>
          <p:nvPr userDrawn="1"/>
        </p:nvPicPr>
        <p:blipFill>
          <a:blip r:embed="rId14" cstate="hqprint">
            <a:extLst>
              <a:ext uri="{28A0092B-C50C-407E-A947-70E740481C1C}">
                <a14:useLocalDpi xmlns:a14="http://schemas.microsoft.com/office/drawing/2010/main" val="0"/>
              </a:ext>
            </a:extLst>
          </a:blip>
          <a:stretch>
            <a:fillRect/>
          </a:stretch>
        </p:blipFill>
        <p:spPr>
          <a:xfrm>
            <a:off x="9229725" y="73518"/>
            <a:ext cx="2334099" cy="425701"/>
          </a:xfrm>
          <a:prstGeom prst="rect">
            <a:avLst/>
          </a:prstGeom>
        </p:spPr>
      </p:pic>
      <p:pic>
        <p:nvPicPr>
          <p:cNvPr id="17" name="Picture 16" descr="Shape&#10;&#10;Description automatically generated with medium confidence">
            <a:extLst>
              <a:ext uri="{FF2B5EF4-FFF2-40B4-BE49-F238E27FC236}">
                <a16:creationId xmlns:a16="http://schemas.microsoft.com/office/drawing/2014/main" id="{290B9EB1-B956-4D5D-A294-4C2DE882032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524479" y="6585209"/>
            <a:ext cx="3743535" cy="321429"/>
          </a:xfrm>
          <a:prstGeom prst="rect">
            <a:avLst/>
          </a:prstGeom>
        </p:spPr>
      </p:pic>
    </p:spTree>
    <p:extLst>
      <p:ext uri="{BB962C8B-B14F-4D97-AF65-F5344CB8AC3E}">
        <p14:creationId xmlns:p14="http://schemas.microsoft.com/office/powerpoint/2010/main" val="251509094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txStyles>
    <p:titleStyle>
      <a:lvl1pPr algn="l" defTabSz="914400" rtl="0" eaLnBrk="1" latinLnBrk="0" hangingPunct="1">
        <a:lnSpc>
          <a:spcPct val="90000"/>
        </a:lnSpc>
        <a:spcBef>
          <a:spcPct val="0"/>
        </a:spcBef>
        <a:buNone/>
        <a:defRPr sz="30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357277" y="4437371"/>
            <a:ext cx="6998563" cy="1382487"/>
          </a:xfrm>
        </p:spPr>
        <p:txBody>
          <a:bodyPr>
            <a:normAutofit fontScale="90000"/>
          </a:bodyPr>
          <a:lstStyle/>
          <a:p>
            <a:pPr algn="l"/>
            <a:br>
              <a:rPr lang="en-US" sz="4000" b="0" dirty="0">
                <a:solidFill>
                  <a:schemeClr val="bg1"/>
                </a:solidFill>
                <a:effectLst/>
                <a:latin typeface="Cambria" panose="02040503050406030204" pitchFamily="18" charset="0"/>
                <a:ea typeface="Cambria" panose="02040503050406030204" pitchFamily="18" charset="0"/>
              </a:rPr>
            </a:br>
            <a:r>
              <a:rPr lang="en-US" sz="4000" b="0" dirty="0">
                <a:solidFill>
                  <a:schemeClr val="bg1"/>
                </a:solidFill>
                <a:effectLst/>
                <a:latin typeface="Cambria" panose="02040503050406030204" pitchFamily="18" charset="0"/>
                <a:ea typeface="Cambria" panose="02040503050406030204" pitchFamily="18" charset="0"/>
              </a:rPr>
              <a:t>INFORMATION TECHNOLOGY PROJECT MANAGEMENT </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en-US" sz="2700" dirty="0">
                <a:solidFill>
                  <a:schemeClr val="accent1">
                    <a:lumMod val="40000"/>
                    <a:lumOff val="60000"/>
                  </a:schemeClr>
                </a:solidFill>
                <a:latin typeface="Cambria" panose="02040503050406030204" pitchFamily="18" charset="0"/>
                <a:ea typeface="Cambria" panose="02040503050406030204" pitchFamily="18" charset="0"/>
              </a:rPr>
              <a:t>Chap VII: </a:t>
            </a:r>
            <a:r>
              <a:rPr lang="vi-VN" sz="2700" dirty="0">
                <a:solidFill>
                  <a:schemeClr val="accent1">
                    <a:lumMod val="40000"/>
                    <a:lumOff val="60000"/>
                  </a:schemeClr>
                </a:solidFill>
                <a:latin typeface="Cambria" panose="02040503050406030204" pitchFamily="18" charset="0"/>
                <a:ea typeface="Cambria" panose="02040503050406030204" pitchFamily="18" charset="0"/>
              </a:rPr>
              <a:t>IT </a:t>
            </a:r>
            <a:r>
              <a:rPr lang="en-US" sz="2700" dirty="0">
                <a:solidFill>
                  <a:schemeClr val="accent1">
                    <a:lumMod val="40000"/>
                    <a:lumOff val="60000"/>
                  </a:schemeClr>
                </a:solidFill>
                <a:latin typeface="Cambria" panose="02040503050406030204" pitchFamily="18" charset="0"/>
                <a:ea typeface="Cambria" panose="02040503050406030204" pitchFamily="18" charset="0"/>
              </a:rPr>
              <a:t>project Quality</a:t>
            </a:r>
            <a:r>
              <a:rPr lang="vi-VN" sz="2700" dirty="0">
                <a:solidFill>
                  <a:schemeClr val="accent1">
                    <a:lumMod val="40000"/>
                    <a:lumOff val="60000"/>
                  </a:schemeClr>
                </a:solidFill>
                <a:latin typeface="Cambria" panose="02040503050406030204" pitchFamily="18" charset="0"/>
                <a:ea typeface="Cambria" panose="02040503050406030204" pitchFamily="18" charset="0"/>
              </a:rPr>
              <a:t> management</a:t>
            </a:r>
            <a:br>
              <a:rPr lang="en-US" sz="2700" dirty="0">
                <a:solidFill>
                  <a:schemeClr val="bg1"/>
                </a:solidFill>
                <a:latin typeface="Cambria" panose="02040503050406030204" pitchFamily="18" charset="0"/>
                <a:ea typeface="Cambria" panose="02040503050406030204" pitchFamily="18" charset="0"/>
              </a:rPr>
            </a:br>
            <a:r>
              <a:rPr lang="en-US" sz="2000" dirty="0">
                <a:solidFill>
                  <a:schemeClr val="accent1">
                    <a:lumMod val="60000"/>
                    <a:lumOff val="40000"/>
                  </a:schemeClr>
                </a:solidFill>
                <a:latin typeface="Cambria" panose="02040503050406030204" pitchFamily="18" charset="0"/>
                <a:ea typeface="Cambria" panose="02040503050406030204" pitchFamily="18" charset="0"/>
              </a:rPr>
              <a:t>Lecturer:  </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684941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58055" y="975092"/>
            <a:ext cx="10788691" cy="20116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346075" indent="-346075">
              <a:lnSpc>
                <a:spcPct val="100000"/>
              </a:lnSpc>
              <a:spcBef>
                <a:spcPts val="0"/>
              </a:spcBef>
              <a:spcAft>
                <a:spcPts val="600"/>
              </a:spcAft>
              <a:buFont typeface="+mj-lt"/>
              <a:buAutoNum type="arabicPeriod"/>
            </a:pPr>
            <a:r>
              <a:rPr lang="en-US" sz="2600" b="1" dirty="0">
                <a:solidFill>
                  <a:schemeClr val="bg1"/>
                </a:solidFill>
                <a:latin typeface="Cambria" panose="02040503050406030204" pitchFamily="18" charset="0"/>
                <a:ea typeface="Cambria" panose="02040503050406030204" pitchFamily="18" charset="0"/>
              </a:rPr>
              <a:t>TỔNG QUAN VỀ QUẢN LÝ CHẤT LƯỢNG DỰ ÁN </a:t>
            </a:r>
          </a:p>
          <a:p>
            <a:pPr marL="346075" indent="-346075">
              <a:lnSpc>
                <a:spcPct val="100000"/>
              </a:lnSpc>
              <a:spcBef>
                <a:spcPts val="0"/>
              </a:spcBef>
              <a:spcAft>
                <a:spcPts val="600"/>
              </a:spcAft>
              <a:buFont typeface="+mj-lt"/>
              <a:buAutoNum type="arabicPeriod"/>
            </a:pPr>
            <a:r>
              <a:rPr lang="en-US" sz="2600" b="1" dirty="0">
                <a:solidFill>
                  <a:schemeClr val="bg1"/>
                </a:solidFill>
                <a:latin typeface="Cambria" panose="02040503050406030204" pitchFamily="18" charset="0"/>
                <a:ea typeface="Cambria" panose="02040503050406030204" pitchFamily="18" charset="0"/>
              </a:rPr>
              <a:t>QUY TRÌNH QUẢN LÝ CHẤT LƯỢNG DỰ ÁN </a:t>
            </a:r>
          </a:p>
          <a:p>
            <a:pPr marL="0" indent="0">
              <a:lnSpc>
                <a:spcPct val="100000"/>
              </a:lnSpc>
              <a:spcBef>
                <a:spcPts val="0"/>
              </a:spcBef>
              <a:spcAft>
                <a:spcPts val="600"/>
              </a:spcAft>
              <a:buNone/>
            </a:pPr>
            <a:endParaRPr lang="en-US" sz="1800" b="1" dirty="0">
              <a:solidFill>
                <a:schemeClr val="bg1"/>
              </a:solidFill>
              <a:latin typeface="Cambria" panose="02040503050406030204" pitchFamily="18" charset="0"/>
              <a:ea typeface="Cambria" panose="02040503050406030204" pitchFamily="18" charset="0"/>
            </a:endParaRPr>
          </a:p>
        </p:txBody>
      </p:sp>
      <p:sp>
        <p:nvSpPr>
          <p:cNvPr id="5" name="Rectangle 4">
            <a:extLst>
              <a:ext uri="{FF2B5EF4-FFF2-40B4-BE49-F238E27FC236}">
                <a16:creationId xmlns:a16="http://schemas.microsoft.com/office/drawing/2014/main" id="{A95C758D-1344-FC52-DE08-DE5407E409D5}"/>
              </a:ext>
            </a:extLst>
          </p:cNvPr>
          <p:cNvSpPr/>
          <p:nvPr/>
        </p:nvSpPr>
        <p:spPr>
          <a:xfrm>
            <a:off x="458055" y="451872"/>
            <a:ext cx="1787221" cy="523220"/>
          </a:xfrm>
          <a:prstGeom prst="rect">
            <a:avLst/>
          </a:prstGeom>
        </p:spPr>
        <p:txBody>
          <a:bodyPr wrap="square">
            <a:spAutoFit/>
          </a:bodyPr>
          <a:lstStyle/>
          <a:p>
            <a:r>
              <a:rPr lang="en-AU" sz="2800" b="1" dirty="0">
                <a:solidFill>
                  <a:schemeClr val="accent5"/>
                </a:solidFill>
                <a:latin typeface="Cambria" panose="02040503050406030204" pitchFamily="18" charset="0"/>
                <a:ea typeface="Cambria" panose="02040503050406030204" pitchFamily="18" charset="0"/>
              </a:rPr>
              <a:t>CONTENT</a:t>
            </a:r>
          </a:p>
        </p:txBody>
      </p:sp>
    </p:spTree>
    <p:extLst>
      <p:ext uri="{BB962C8B-B14F-4D97-AF65-F5344CB8AC3E}">
        <p14:creationId xmlns:p14="http://schemas.microsoft.com/office/powerpoint/2010/main" val="2758415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7D571B-31DC-DFD8-0B63-31E0DE77B32B}"/>
              </a:ext>
            </a:extLst>
          </p:cNvPr>
          <p:cNvSpPr txBox="1"/>
          <p:nvPr/>
        </p:nvSpPr>
        <p:spPr>
          <a:xfrm>
            <a:off x="423429" y="443567"/>
            <a:ext cx="11571284" cy="1831271"/>
          </a:xfrm>
          <a:prstGeom prst="rect">
            <a:avLst/>
          </a:prstGeom>
          <a:noFill/>
        </p:spPr>
        <p:txBody>
          <a:bodyPr wrap="square">
            <a:spAutoFit/>
          </a:bodyPr>
          <a:lstStyle/>
          <a:p>
            <a:pPr>
              <a:lnSpc>
                <a:spcPct val="100000"/>
              </a:lnSpc>
              <a:spcBef>
                <a:spcPts val="0"/>
              </a:spcBef>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MỤC TIÊU CỦA CHAPTER VI – QUẢN LÝ RỦI RO DỰ ÁN</a:t>
            </a:r>
          </a:p>
          <a:p>
            <a:pPr marL="285750" lvl="1" indent="-285750" algn="just">
              <a:spcBef>
                <a:spcPts val="600"/>
              </a:spcBef>
              <a:buClr>
                <a:schemeClr val="accent2">
                  <a:lumMod val="75000"/>
                </a:schemeClr>
              </a:buClr>
              <a:buSzPct val="140000"/>
              <a:buFont typeface="Wingdings" panose="05000000000000000000" pitchFamily="2" charset="2"/>
              <a:buChar char="§"/>
            </a:pPr>
            <a:r>
              <a:rPr lang="vi-VN" sz="1700" dirty="0">
                <a:latin typeface="Cambria" panose="02040503050406030204" pitchFamily="18" charset="0"/>
                <a:ea typeface="Cambria" panose="02040503050406030204" pitchFamily="18" charset="0"/>
              </a:rPr>
              <a:t>Nắm được khái niệm chất lượng dự án.</a:t>
            </a:r>
          </a:p>
          <a:p>
            <a:pPr marL="285750" lvl="1" indent="-285750" algn="just">
              <a:spcBef>
                <a:spcPts val="600"/>
              </a:spcBef>
              <a:buClr>
                <a:schemeClr val="accent2">
                  <a:lumMod val="75000"/>
                </a:schemeClr>
              </a:buClr>
              <a:buSzPct val="140000"/>
              <a:buFont typeface="Wingdings" panose="05000000000000000000" pitchFamily="2" charset="2"/>
              <a:buChar char="§"/>
            </a:pPr>
            <a:r>
              <a:rPr lang="vi-VN" sz="1700" dirty="0">
                <a:latin typeface="Cambria" panose="02040503050406030204" pitchFamily="18" charset="0"/>
                <a:ea typeface="Cambria" panose="02040503050406030204" pitchFamily="18" charset="0"/>
              </a:rPr>
              <a:t>Hiểu được qui trình quản lý chất lượng dự án.</a:t>
            </a:r>
          </a:p>
          <a:p>
            <a:pPr marL="285750" lvl="1" indent="-285750" algn="just">
              <a:spcBef>
                <a:spcPts val="600"/>
              </a:spcBef>
              <a:buClr>
                <a:schemeClr val="accent2">
                  <a:lumMod val="75000"/>
                </a:schemeClr>
              </a:buClr>
              <a:buSzPct val="140000"/>
              <a:buFont typeface="Wingdings" panose="05000000000000000000" pitchFamily="2" charset="2"/>
              <a:buChar char="§"/>
            </a:pPr>
            <a:r>
              <a:rPr lang="vi-VN" sz="1700" dirty="0">
                <a:latin typeface="Cambria" panose="02040503050406030204" pitchFamily="18" charset="0"/>
                <a:ea typeface="Cambria" panose="02040503050406030204" pitchFamily="18" charset="0"/>
              </a:rPr>
              <a:t>Nắm được các mô hình quản lý chất lượng tiêu biểu.</a:t>
            </a:r>
          </a:p>
          <a:p>
            <a:pPr marL="285750" lvl="1" indent="-285750" algn="just">
              <a:spcBef>
                <a:spcPts val="600"/>
              </a:spcBef>
              <a:buClr>
                <a:schemeClr val="accent2">
                  <a:lumMod val="75000"/>
                </a:schemeClr>
              </a:buClr>
              <a:buSzPct val="140000"/>
              <a:buFont typeface="Wingdings" panose="05000000000000000000" pitchFamily="2" charset="2"/>
              <a:buChar char="§"/>
            </a:pPr>
            <a:r>
              <a:rPr lang="vi-VN" sz="1700" dirty="0">
                <a:latin typeface="Cambria" panose="02040503050406030204" pitchFamily="18" charset="0"/>
                <a:ea typeface="Cambria" panose="02040503050406030204" pitchFamily="18" charset="0"/>
              </a:rPr>
              <a:t>Cải tiến chất lượng dự án.</a:t>
            </a:r>
            <a:endParaRPr lang="en-US" sz="1700"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F8340C45-E9DF-79A8-2402-16FA47F14E98}"/>
              </a:ext>
            </a:extLst>
          </p:cNvPr>
          <p:cNvPicPr>
            <a:picLocks noChangeAspect="1"/>
          </p:cNvPicPr>
          <p:nvPr/>
        </p:nvPicPr>
        <p:blipFill>
          <a:blip r:embed="rId2"/>
          <a:stretch>
            <a:fillRect/>
          </a:stretch>
        </p:blipFill>
        <p:spPr>
          <a:xfrm>
            <a:off x="7412549" y="2661502"/>
            <a:ext cx="4582164" cy="3686689"/>
          </a:xfrm>
          <a:prstGeom prst="rect">
            <a:avLst/>
          </a:prstGeom>
        </p:spPr>
      </p:pic>
    </p:spTree>
    <p:extLst>
      <p:ext uri="{BB962C8B-B14F-4D97-AF65-F5344CB8AC3E}">
        <p14:creationId xmlns:p14="http://schemas.microsoft.com/office/powerpoint/2010/main" val="1948131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346075" indent="-346075">
              <a:lnSpc>
                <a:spcPct val="100000"/>
              </a:lnSpc>
              <a:spcBef>
                <a:spcPts val="0"/>
              </a:spcBef>
              <a:spcAft>
                <a:spcPts val="600"/>
              </a:spcAft>
              <a:buFont typeface="+mj-lt"/>
              <a:buAutoNum type="arabicPeriod"/>
            </a:pPr>
            <a:r>
              <a:rPr lang="en-US" b="1" dirty="0">
                <a:solidFill>
                  <a:schemeClr val="bg1"/>
                </a:solidFill>
                <a:latin typeface="Cambria" panose="02040503050406030204" pitchFamily="18" charset="0"/>
                <a:ea typeface="Cambria" panose="02040503050406030204" pitchFamily="18" charset="0"/>
              </a:rPr>
              <a:t> TỔNG QUAN VỀ QUẢN LÝ CHẤT LƯỢNG DỰ ÁN </a:t>
            </a:r>
          </a:p>
          <a:p>
            <a:pPr marL="0" indent="0">
              <a:lnSpc>
                <a:spcPct val="100000"/>
              </a:lnSpc>
              <a:spcBef>
                <a:spcPts val="0"/>
              </a:spcBef>
              <a:spcAft>
                <a:spcPts val="600"/>
              </a:spcAft>
              <a:buNone/>
            </a:pPr>
            <a:endParaRPr lang="en-US" sz="3200" b="1" dirty="0">
              <a:solidFill>
                <a:schemeClr val="bg1"/>
              </a:solidFill>
              <a:latin typeface="Cambria" panose="02040503050406030204" pitchFamily="18" charset="0"/>
              <a:ea typeface="Cambria" panose="02040503050406030204" pitchFamily="18" charset="0"/>
            </a:endParaRP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1083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507834" cy="78483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1. TỔNG QUAN VỀ QUẢN LÝ CHẤT LƯỢNG DỰ ÁN</a:t>
            </a:r>
          </a:p>
          <a:p>
            <a:pPr>
              <a:spcAft>
                <a:spcPts val="600"/>
              </a:spcAft>
            </a:pPr>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2653034"/>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 Quality management</a:t>
            </a:r>
          </a:p>
          <a:p>
            <a:pPr eaLnBrk="1" hangingPunct="1">
              <a:spcBef>
                <a:spcPct val="20000"/>
              </a:spcBef>
            </a:pPr>
            <a:endParaRPr lang="en-US" altLang="en-US" sz="2000" b="1" dirty="0">
              <a:solidFill>
                <a:schemeClr val="bg1"/>
              </a:solidFill>
              <a:latin typeface="Cambria" panose="02040503050406030204" pitchFamily="18" charset="0"/>
              <a:ea typeface="Cambria" panose="02040503050406030204" pitchFamily="18" charset="0"/>
            </a:endParaRPr>
          </a:p>
          <a:p>
            <a:pPr algn="r">
              <a:spcBef>
                <a:spcPct val="60000"/>
              </a:spcBef>
            </a:pPr>
            <a:r>
              <a:rPr lang="en-US" i="1" dirty="0">
                <a:solidFill>
                  <a:schemeClr val="bg1"/>
                </a:solidFill>
                <a:latin typeface="Cambria" panose="02040503050406030204" pitchFamily="18" charset="0"/>
                <a:ea typeface="Cambria" panose="02040503050406030204" pitchFamily="18" charset="0"/>
              </a:rPr>
              <a:t>“The International Organization for Standardization (ISO) defines quality as “the degree to which a set of inherent characteristics fulfils requirements”  </a:t>
            </a:r>
          </a:p>
          <a:p>
            <a:pPr algn="r" fontAlgn="base">
              <a:spcBef>
                <a:spcPct val="20000"/>
              </a:spcBef>
            </a:pPr>
            <a:r>
              <a:rPr lang="en-US" i="1" dirty="0">
                <a:solidFill>
                  <a:schemeClr val="bg1"/>
                </a:solidFill>
                <a:latin typeface="Cambria" panose="02040503050406030204" pitchFamily="18" charset="0"/>
                <a:ea typeface="Cambria" panose="02040503050406030204" pitchFamily="18" charset="0"/>
              </a:rPr>
              <a:t>ISO9000:2000</a:t>
            </a:r>
            <a:endParaRPr lang="en-US" altLang="en-US" sz="2000" i="1" dirty="0">
              <a:solidFill>
                <a:schemeClr val="bg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FE714B9-5A5F-472B-6C92-566A3A41D434}"/>
              </a:ext>
            </a:extLst>
          </p:cNvPr>
          <p:cNvSpPr txBox="1"/>
          <p:nvPr/>
        </p:nvSpPr>
        <p:spPr>
          <a:xfrm>
            <a:off x="337583" y="784286"/>
            <a:ext cx="7308543" cy="1077218"/>
          </a:xfrm>
          <a:prstGeom prst="rect">
            <a:avLst/>
          </a:prstGeom>
          <a:noFill/>
        </p:spPr>
        <p:txBody>
          <a:bodyPr wrap="square">
            <a:spAutoFit/>
          </a:bodyPr>
          <a:lstStyle/>
          <a:p>
            <a:pPr marL="0" lvl="1" algn="just">
              <a:spcBef>
                <a:spcPts val="600"/>
              </a:spcBef>
              <a:buClr>
                <a:schemeClr val="accent2">
                  <a:lumMod val="75000"/>
                </a:schemeClr>
              </a:buClr>
              <a:buSzPct val="140000"/>
            </a:pPr>
            <a:r>
              <a:rPr lang="vi-VN" sz="1600" dirty="0">
                <a:latin typeface="Cambria" panose="02040503050406030204" pitchFamily="18" charset="0"/>
                <a:ea typeface="Cambria" panose="02040503050406030204" pitchFamily="18" charset="0"/>
              </a:rPr>
              <a:t>Tổ chức Quốc tế về Tiêu chuẩn hóa ISO, trong dự thảo DIS 9000:2000, đã đưa ra định nghĩa sau: “Chất lượng là khả năng của tập hợp các đặc tính của một sản phẩm, hệ thống hay quá trình để đáp ứng các yêu cầu của khách hàng và các bên có liên quan". </a:t>
            </a:r>
            <a:r>
              <a:rPr lang="en-US" sz="1600" dirty="0">
                <a:latin typeface="Cambria" panose="02040503050406030204" pitchFamily="18" charset="0"/>
                <a:ea typeface="Cambria" panose="02040503050406030204" pitchFamily="18" charset="0"/>
              </a:rPr>
              <a:t> </a:t>
            </a:r>
            <a:endParaRPr lang="vi-VN" sz="1600"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809F4B3E-3984-B019-0B6F-F6EC9D236109}"/>
              </a:ext>
            </a:extLst>
          </p:cNvPr>
          <p:cNvPicPr>
            <a:picLocks noChangeAspect="1"/>
          </p:cNvPicPr>
          <p:nvPr/>
        </p:nvPicPr>
        <p:blipFill>
          <a:blip r:embed="rId3"/>
          <a:stretch>
            <a:fillRect/>
          </a:stretch>
        </p:blipFill>
        <p:spPr>
          <a:xfrm>
            <a:off x="4092974" y="3622766"/>
            <a:ext cx="3701873" cy="2981257"/>
          </a:xfrm>
          <a:prstGeom prst="rect">
            <a:avLst/>
          </a:prstGeom>
        </p:spPr>
      </p:pic>
    </p:spTree>
    <p:extLst>
      <p:ext uri="{BB962C8B-B14F-4D97-AF65-F5344CB8AC3E}">
        <p14:creationId xmlns:p14="http://schemas.microsoft.com/office/powerpoint/2010/main" val="2115531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KHÁI NIỆM CHẤT LƯỢNG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88D0FE2-4BFF-480C-AC4A-4043EC366C6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0A18D69-D511-6314-DCBD-89280C11BD6A}"/>
              </a:ext>
            </a:extLst>
          </p:cNvPr>
          <p:cNvSpPr txBox="1"/>
          <p:nvPr/>
        </p:nvSpPr>
        <p:spPr>
          <a:xfrm>
            <a:off x="347567" y="735998"/>
            <a:ext cx="11647145" cy="3677930"/>
          </a:xfrm>
          <a:prstGeom prst="rect">
            <a:avLst/>
          </a:prstGeom>
          <a:noFill/>
        </p:spPr>
        <p:txBody>
          <a:bodyPr wrap="square">
            <a:spAutoFit/>
          </a:bodyPr>
          <a:lstStyle/>
          <a:p>
            <a:pPr marL="0" lvl="1" algn="just">
              <a:spcBef>
                <a:spcPts val="600"/>
              </a:spcBef>
              <a:buClr>
                <a:schemeClr val="accent2">
                  <a:lumMod val="75000"/>
                </a:schemeClr>
              </a:buClr>
              <a:buSzPct val="140000"/>
            </a:pPr>
            <a:r>
              <a:rPr lang="en-US" sz="1600" b="1" i="0" u="none" strike="noStrike" baseline="0" dirty="0" err="1">
                <a:solidFill>
                  <a:srgbClr val="000000"/>
                </a:solidFill>
                <a:latin typeface="Times New Roman" panose="02020603050405020304" pitchFamily="18" charset="0"/>
              </a:rPr>
              <a:t>Một</a:t>
            </a:r>
            <a:r>
              <a:rPr lang="en-US" sz="1600" b="1" i="0" u="none" strike="noStrike" baseline="0" dirty="0">
                <a:solidFill>
                  <a:srgbClr val="000000"/>
                </a:solidFill>
                <a:latin typeface="Times New Roman" panose="02020603050405020304" pitchFamily="18" charset="0"/>
              </a:rPr>
              <a:t> </a:t>
            </a:r>
            <a:r>
              <a:rPr lang="vi-VN" sz="1600" b="1" i="0" u="none" strike="noStrike" baseline="0" dirty="0">
                <a:solidFill>
                  <a:srgbClr val="000000"/>
                </a:solidFill>
                <a:latin typeface="Times New Roman" panose="02020603050405020304" pitchFamily="18" charset="0"/>
              </a:rPr>
              <a:t>số đặc điểm sau đây của khái niệm chất lượng</a:t>
            </a:r>
          </a:p>
          <a:p>
            <a:pPr marL="285750" lvl="1" indent="-285750" algn="just">
              <a:spcBef>
                <a:spcPts val="600"/>
              </a:spcBef>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Chất lượng </a:t>
            </a:r>
            <a:r>
              <a:rPr lang="vi-VN" sz="1600" dirty="0">
                <a:solidFill>
                  <a:srgbClr val="0070C0"/>
                </a:solidFill>
                <a:latin typeface="Cambria" panose="02040503050406030204" pitchFamily="18" charset="0"/>
                <a:ea typeface="Cambria" panose="02040503050406030204" pitchFamily="18" charset="0"/>
              </a:rPr>
              <a:t>được đo bởi sự thỏa mãn nhu cầu</a:t>
            </a:r>
            <a:r>
              <a:rPr lang="vi-VN" sz="1600" dirty="0">
                <a:latin typeface="Cambria" panose="02040503050406030204" pitchFamily="18" charset="0"/>
                <a:ea typeface="Cambria" panose="02040503050406030204" pitchFamily="18" charset="0"/>
              </a:rPr>
              <a:t>. Nếu một sản phầm vì lý do nào đó mà không được nhu cầu chấp nhận thì phải bị coi là có chất lượng </a:t>
            </a:r>
            <a:r>
              <a:rPr lang="en-US" sz="1600" dirty="0" err="1">
                <a:latin typeface="Cambria" panose="02040503050406030204" pitchFamily="18" charset="0"/>
                <a:ea typeface="Cambria" panose="02040503050406030204" pitchFamily="18" charset="0"/>
              </a:rPr>
              <a:t>không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tốt</a:t>
            </a:r>
            <a:r>
              <a:rPr lang="vi-VN" sz="1600" dirty="0">
                <a:latin typeface="Cambria" panose="02040503050406030204" pitchFamily="18" charset="0"/>
                <a:ea typeface="Cambria" panose="02040503050406030204" pitchFamily="18" charset="0"/>
              </a:rPr>
              <a:t>, cho dù trình độ công nghệ để chế tạo ra sản phẩm đó có thể rất hiện đại. Đây là một kết luận then chốt và là cơ sở để các nhà chất lượng định ra chính sách, chiến lược kinh doanh của mình. </a:t>
            </a:r>
          </a:p>
          <a:p>
            <a:pPr marL="285750" lvl="1" indent="-285750" algn="just">
              <a:spcBef>
                <a:spcPts val="600"/>
              </a:spcBef>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Do chất lượng được đo bởi sự thỏa mãn nhu cầu, mà nhu cầu luôn luôn biến động nên </a:t>
            </a:r>
            <a:r>
              <a:rPr lang="vi-VN" sz="1600" dirty="0">
                <a:solidFill>
                  <a:srgbClr val="0070C0"/>
                </a:solidFill>
                <a:latin typeface="Cambria" panose="02040503050406030204" pitchFamily="18" charset="0"/>
                <a:ea typeface="Cambria" panose="02040503050406030204" pitchFamily="18" charset="0"/>
              </a:rPr>
              <a:t>chất lượng cũng luôn luôn biến động theo thời gian, không gian, điều kiện sử dụng</a:t>
            </a:r>
            <a:r>
              <a:rPr lang="vi-VN" sz="1600" dirty="0">
                <a:latin typeface="Cambria" panose="02040503050406030204" pitchFamily="18" charset="0"/>
                <a:ea typeface="Cambria" panose="02040503050406030204" pitchFamily="18" charset="0"/>
              </a:rPr>
              <a:t>. </a:t>
            </a:r>
          </a:p>
          <a:p>
            <a:pPr marL="285750" lvl="1" indent="-285750" algn="just">
              <a:spcBef>
                <a:spcPts val="600"/>
              </a:spcBef>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Khi đánh giá chất lượng của một đối tượng, ta ph</a:t>
            </a:r>
            <a:r>
              <a:rPr lang="en-US" sz="1600" dirty="0">
                <a:latin typeface="Cambria" panose="02040503050406030204" pitchFamily="18" charset="0"/>
                <a:ea typeface="Cambria" panose="02040503050406030204" pitchFamily="18" charset="0"/>
              </a:rPr>
              <a:t>ả</a:t>
            </a:r>
            <a:r>
              <a:rPr lang="vi-VN" sz="1600" dirty="0">
                <a:latin typeface="Cambria" panose="02040503050406030204" pitchFamily="18" charset="0"/>
                <a:ea typeface="Cambria" panose="02040503050406030204" pitchFamily="18" charset="0"/>
              </a:rPr>
              <a:t>i xét và chỉ xét đến mọi đặc tính của đối tượng có liên quan đến sự thỏa mãn những</a:t>
            </a:r>
            <a:r>
              <a:rPr lang="vi-VN" sz="1600" dirty="0">
                <a:solidFill>
                  <a:srgbClr val="0070C0"/>
                </a:solidFill>
                <a:latin typeface="Cambria" panose="02040503050406030204" pitchFamily="18" charset="0"/>
                <a:ea typeface="Cambria" panose="02040503050406030204" pitchFamily="18" charset="0"/>
              </a:rPr>
              <a:t> nhu cầu cụ thể</a:t>
            </a:r>
            <a:r>
              <a:rPr lang="vi-VN" sz="1600" dirty="0">
                <a:latin typeface="Cambria" panose="02040503050406030204" pitchFamily="18" charset="0"/>
                <a:ea typeface="Cambria" panose="02040503050406030204" pitchFamily="18" charset="0"/>
              </a:rPr>
              <a:t>. Các nhu cầu này không chỉ từ phía khách hàng mà còn từ các bên có liên quan, ví dụ như các yêu cầu mang tính pháp chế, nhu cầu của cộng đồng xã hội. </a:t>
            </a:r>
            <a:endParaRPr lang="en-US" sz="1600" dirty="0">
              <a:latin typeface="Cambria" panose="02040503050406030204" pitchFamily="18" charset="0"/>
              <a:ea typeface="Cambria" panose="02040503050406030204" pitchFamily="18" charset="0"/>
            </a:endParaRPr>
          </a:p>
          <a:p>
            <a:pPr marL="285750" lvl="1" indent="-285750" algn="just">
              <a:spcBef>
                <a:spcPts val="600"/>
              </a:spcBef>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Nhu cầu có thể được công bố rõ ràng dưới dạng các qui định, tiêu chuẩn nhưng cũng có những nhu cầu không thể miêu tả rõ ràng, người sử dụng chỉ có thể cảm nhận chúng, hoặc có khi chỉ phát hiện được trong chúng trong quá trình sử dụng. </a:t>
            </a:r>
          </a:p>
          <a:p>
            <a:pPr marL="285750" lvl="1" indent="-285750" algn="just">
              <a:spcBef>
                <a:spcPts val="600"/>
              </a:spcBef>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Chất lượng không chỉ là thuộc tính của sản phẩm, hàng hóa mà ta vẫn hiểu hàng ngày. Chất lượng có thể áp dụng cho </a:t>
            </a:r>
            <a:r>
              <a:rPr lang="vi-VN" sz="1600" dirty="0">
                <a:solidFill>
                  <a:srgbClr val="0070C0"/>
                </a:solidFill>
                <a:latin typeface="Cambria" panose="02040503050406030204" pitchFamily="18" charset="0"/>
                <a:ea typeface="Cambria" panose="02040503050406030204" pitchFamily="18" charset="0"/>
              </a:rPr>
              <a:t>một hệ thống, một quá trình</a:t>
            </a:r>
            <a:r>
              <a:rPr lang="vi-VN" sz="1600"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574836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fade">
                                      <p:cBhvr>
                                        <p:cTn id="14" dur="1000"/>
                                        <p:tgtEl>
                                          <p:spTgt spid="5">
                                            <p:txEl>
                                              <p:pRg st="2" end="2"/>
                                            </p:txEl>
                                          </p:spTgt>
                                        </p:tgtEl>
                                      </p:cBhvr>
                                    </p:animEffect>
                                    <p:anim calcmode="lin" valueType="num">
                                      <p:cBhvr>
                                        <p:cTn id="1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1000"/>
                                        <p:tgtEl>
                                          <p:spTgt spid="5">
                                            <p:txEl>
                                              <p:pRg st="3" end="3"/>
                                            </p:txEl>
                                          </p:spTgt>
                                        </p:tgtEl>
                                      </p:cBhvr>
                                    </p:animEffect>
                                    <p:anim calcmode="lin" valueType="num">
                                      <p:cBhvr>
                                        <p:cTn id="22"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Effect transition="in" filter="fade">
                                      <p:cBhvr>
                                        <p:cTn id="28" dur="1000"/>
                                        <p:tgtEl>
                                          <p:spTgt spid="5">
                                            <p:txEl>
                                              <p:pRg st="4" end="4"/>
                                            </p:txEl>
                                          </p:spTgt>
                                        </p:tgtEl>
                                      </p:cBhvr>
                                    </p:animEffect>
                                    <p:anim calcmode="lin" valueType="num">
                                      <p:cBhvr>
                                        <p:cTn id="29"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animEffect transition="in" filter="fade">
                                      <p:cBhvr>
                                        <p:cTn id="35" dur="1000"/>
                                        <p:tgtEl>
                                          <p:spTgt spid="5">
                                            <p:txEl>
                                              <p:pRg st="5" end="5"/>
                                            </p:txEl>
                                          </p:spTgt>
                                        </p:tgtEl>
                                      </p:cBhvr>
                                    </p:animEffect>
                                    <p:anim calcmode="lin" valueType="num">
                                      <p:cBhvr>
                                        <p:cTn id="36"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0" indent="0">
              <a:lnSpc>
                <a:spcPct val="100000"/>
              </a:lnSpc>
              <a:spcBef>
                <a:spcPts val="0"/>
              </a:spcBef>
              <a:spcAft>
                <a:spcPts val="600"/>
              </a:spcAft>
              <a:buNone/>
            </a:pPr>
            <a:r>
              <a:rPr lang="en-US" sz="3200" b="1" dirty="0">
                <a:solidFill>
                  <a:schemeClr val="bg1"/>
                </a:solidFill>
                <a:latin typeface="Cambria" panose="02040503050406030204" pitchFamily="18" charset="0"/>
                <a:ea typeface="Cambria" panose="02040503050406030204" pitchFamily="18" charset="0"/>
              </a:rPr>
              <a:t>2. QUY TRÌNH </a:t>
            </a:r>
            <a:r>
              <a:rPr lang="en-US" sz="3200" b="1">
                <a:solidFill>
                  <a:schemeClr val="bg1"/>
                </a:solidFill>
                <a:latin typeface="Cambria" panose="02040503050406030204" pitchFamily="18" charset="0"/>
                <a:ea typeface="Cambria" panose="02040503050406030204" pitchFamily="18" charset="0"/>
              </a:rPr>
              <a:t>QUẢN LÝ CHẤT LƯỢNG DỰ ÁN</a:t>
            </a:r>
            <a:endParaRPr lang="en-US" sz="3200" b="1" dirty="0">
              <a:solidFill>
                <a:schemeClr val="bg1"/>
              </a:solidFill>
              <a:latin typeface="Cambria" panose="02040503050406030204" pitchFamily="18" charset="0"/>
              <a:ea typeface="Cambria" panose="02040503050406030204" pitchFamily="18" charset="0"/>
            </a:endParaRPr>
          </a:p>
          <a:p>
            <a:pPr marL="346075" indent="-346075">
              <a:lnSpc>
                <a:spcPct val="100000"/>
              </a:lnSpc>
              <a:spcBef>
                <a:spcPts val="0"/>
              </a:spcBef>
              <a:spcAft>
                <a:spcPts val="600"/>
              </a:spcAft>
              <a:buFont typeface="+mj-lt"/>
              <a:buAutoNum type="arabicPeriod"/>
            </a:pPr>
            <a:endParaRPr lang="en-US" sz="3200" b="1" dirty="0">
              <a:solidFill>
                <a:schemeClr val="bg1"/>
              </a:solidFill>
              <a:latin typeface="Cambria" panose="02040503050406030204" pitchFamily="18" charset="0"/>
              <a:ea typeface="Cambria" panose="02040503050406030204" pitchFamily="18" charset="0"/>
            </a:endParaRP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68288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78483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2</a:t>
            </a:r>
            <a:r>
              <a:rPr lang="vi-VN" sz="2000" b="1" dirty="0">
                <a:solidFill>
                  <a:schemeClr val="accent2">
                    <a:lumMod val="75000"/>
                  </a:schemeClr>
                </a:solidFill>
                <a:latin typeface="Cambria" panose="02040503050406030204" pitchFamily="18" charset="0"/>
                <a:ea typeface="Cambria" panose="02040503050406030204" pitchFamily="18" charset="0"/>
              </a:rPr>
              <a:t>. </a:t>
            </a:r>
            <a:r>
              <a:rPr lang="en-US" sz="2000" b="1" dirty="0">
                <a:solidFill>
                  <a:schemeClr val="accent2">
                    <a:lumMod val="75000"/>
                  </a:schemeClr>
                </a:solidFill>
                <a:latin typeface="Cambria" panose="02040503050406030204" pitchFamily="18" charset="0"/>
                <a:ea typeface="Cambria" panose="02040503050406030204" pitchFamily="18" charset="0"/>
              </a:rPr>
              <a:t>QUY TRÌNH QUẢN LÝ CHẤT LƯỢNG</a:t>
            </a:r>
          </a:p>
          <a:p>
            <a:pPr>
              <a:spcAft>
                <a:spcPts val="600"/>
              </a:spcAft>
            </a:pPr>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282906" y="191405"/>
            <a:ext cx="3804985" cy="1138773"/>
          </a:xfrm>
          <a:prstGeom prst="rect">
            <a:avLst/>
          </a:prstGeom>
          <a:noFill/>
        </p:spPr>
        <p:txBody>
          <a:bodyPr wrap="square">
            <a:spAutoFit/>
          </a:bodyPr>
          <a:lstStyle/>
          <a:p>
            <a:pPr algn="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 Quality management</a:t>
            </a:r>
          </a:p>
          <a:p>
            <a:pPr eaLnBrk="1" hangingPunct="1">
              <a:spcBef>
                <a:spcPct val="20000"/>
              </a:spcBef>
            </a:pPr>
            <a:endParaRPr lang="en-US" altLang="en-US" sz="2000" b="1" dirty="0">
              <a:solidFill>
                <a:schemeClr val="bg1"/>
              </a:solidFill>
              <a:latin typeface="Cambria" panose="02040503050406030204" pitchFamily="18" charset="0"/>
              <a:ea typeface="Cambria" panose="02040503050406030204" pitchFamily="18" charset="0"/>
            </a:endParaRPr>
          </a:p>
          <a:p>
            <a:pPr algn="r">
              <a:spcBef>
                <a:spcPct val="20000"/>
              </a:spcBef>
            </a:pPr>
            <a:endParaRPr lang="en-US" altLang="en-US" sz="2000" i="1"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DC5F9D55-C61E-3350-F71E-41EE62480A56}"/>
              </a:ext>
            </a:extLst>
          </p:cNvPr>
          <p:cNvSpPr txBox="1"/>
          <p:nvPr/>
        </p:nvSpPr>
        <p:spPr>
          <a:xfrm>
            <a:off x="339355" y="776591"/>
            <a:ext cx="7409618" cy="2215991"/>
          </a:xfrm>
          <a:prstGeom prst="rect">
            <a:avLst/>
          </a:prstGeom>
          <a:noFill/>
        </p:spPr>
        <p:txBody>
          <a:bodyPr wrap="square">
            <a:spAutoFit/>
          </a:bodyPr>
          <a:lstStyle/>
          <a:p>
            <a:pPr marL="0" lvl="1" algn="just">
              <a:spcBef>
                <a:spcPts val="600"/>
              </a:spcBef>
              <a:buClr>
                <a:schemeClr val="accent2">
                  <a:lumMod val="75000"/>
                </a:schemeClr>
              </a:buClr>
              <a:buSzPct val="140000"/>
            </a:pPr>
            <a:r>
              <a:rPr lang="vi-VN" dirty="0">
                <a:latin typeface="Cambria" panose="02040503050406030204" pitchFamily="18" charset="0"/>
                <a:ea typeface="Cambria" panose="02040503050406030204" pitchFamily="18" charset="0"/>
              </a:rPr>
              <a:t>Quản lý chất lượng dự án đảm bảo rằng dự án sẽ đáp ứng các nhu cầu mà nó được cam kết </a:t>
            </a:r>
            <a:endParaRPr lang="en-US" dirty="0">
              <a:latin typeface="Cambria" panose="02040503050406030204" pitchFamily="18" charset="0"/>
              <a:ea typeface="Cambria" panose="02040503050406030204" pitchFamily="18" charset="0"/>
            </a:endParaRPr>
          </a:p>
          <a:p>
            <a:endParaRPr lang="en-US" dirty="0"/>
          </a:p>
          <a:p>
            <a:pPr marL="0" lvl="1" algn="just">
              <a:spcBef>
                <a:spcPts val="600"/>
              </a:spcBef>
              <a:buClr>
                <a:schemeClr val="accent2">
                  <a:lumMod val="75000"/>
                </a:schemeClr>
              </a:buClr>
              <a:buSzPct val="140000"/>
            </a:pPr>
            <a:endParaRPr lang="en-US" sz="1600" b="1" dirty="0">
              <a:solidFill>
                <a:srgbClr val="0070C0"/>
              </a:solidFill>
              <a:latin typeface="Cambria" panose="02040503050406030204" pitchFamily="18" charset="0"/>
              <a:ea typeface="Cambria" panose="02040503050406030204" pitchFamily="18" charset="0"/>
            </a:endParaRPr>
          </a:p>
          <a:p>
            <a:pPr marL="0" lvl="1" algn="just">
              <a:spcBef>
                <a:spcPts val="600"/>
              </a:spcBef>
              <a:buClr>
                <a:schemeClr val="accent2">
                  <a:lumMod val="75000"/>
                </a:schemeClr>
              </a:buClr>
              <a:buSzPct val="140000"/>
            </a:pPr>
            <a:endParaRPr lang="en-US" sz="1600" b="1" dirty="0">
              <a:solidFill>
                <a:srgbClr val="0070C0"/>
              </a:solidFill>
              <a:latin typeface="Cambria" panose="02040503050406030204" pitchFamily="18" charset="0"/>
              <a:ea typeface="Cambria" panose="02040503050406030204" pitchFamily="18" charset="0"/>
            </a:endParaRPr>
          </a:p>
          <a:p>
            <a:pPr marL="0" lvl="1" algn="just">
              <a:spcBef>
                <a:spcPts val="600"/>
              </a:spcBef>
              <a:buClr>
                <a:schemeClr val="accent2">
                  <a:lumMod val="75000"/>
                </a:schemeClr>
              </a:buClr>
              <a:buSzPct val="140000"/>
            </a:pPr>
            <a:endParaRPr lang="en-US" sz="1600" b="1" dirty="0">
              <a:solidFill>
                <a:srgbClr val="0070C0"/>
              </a:solidFill>
              <a:latin typeface="Cambria" panose="02040503050406030204" pitchFamily="18" charset="0"/>
              <a:ea typeface="Cambria" panose="02040503050406030204" pitchFamily="18" charset="0"/>
            </a:endParaRPr>
          </a:p>
          <a:p>
            <a:pPr marL="0" lvl="1" algn="just">
              <a:spcBef>
                <a:spcPts val="600"/>
              </a:spcBef>
              <a:buClr>
                <a:schemeClr val="accent2">
                  <a:lumMod val="75000"/>
                </a:schemeClr>
              </a:buClr>
              <a:buSzPct val="140000"/>
            </a:pPr>
            <a:endParaRPr lang="vi-VN" sz="1600"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E6AE84A8-B7F4-98BD-8BAF-25025519226C}"/>
              </a:ext>
            </a:extLst>
          </p:cNvPr>
          <p:cNvSpPr txBox="1"/>
          <p:nvPr/>
        </p:nvSpPr>
        <p:spPr>
          <a:xfrm>
            <a:off x="337583" y="1561421"/>
            <a:ext cx="3569704" cy="1200329"/>
          </a:xfrm>
          <a:prstGeom prst="rect">
            <a:avLst/>
          </a:prstGeom>
          <a:noFill/>
        </p:spPr>
        <p:txBody>
          <a:bodyPr wrap="square">
            <a:spAutoFit/>
          </a:bodyPr>
          <a:lstStyle/>
          <a:p>
            <a:pPr marL="0" lvl="1" algn="just">
              <a:spcBef>
                <a:spcPts val="600"/>
              </a:spcBef>
              <a:buClr>
                <a:schemeClr val="accent2">
                  <a:lumMod val="75000"/>
                </a:schemeClr>
              </a:buClr>
              <a:buSzPct val="140000"/>
            </a:pPr>
            <a:r>
              <a:rPr lang="en-US" sz="1800" b="1" dirty="0">
                <a:solidFill>
                  <a:srgbClr val="0070C0"/>
                </a:solidFill>
                <a:latin typeface="Cambria" panose="02040503050406030204" pitchFamily="18" charset="0"/>
                <a:ea typeface="Cambria" panose="02040503050406030204" pitchFamily="18" charset="0"/>
              </a:rPr>
              <a:t>Quy </a:t>
            </a:r>
            <a:r>
              <a:rPr lang="en-US" sz="1800" b="1" dirty="0" err="1">
                <a:solidFill>
                  <a:srgbClr val="0070C0"/>
                </a:solidFill>
                <a:latin typeface="Cambria" panose="02040503050406030204" pitchFamily="18" charset="0"/>
                <a:ea typeface="Cambria" panose="02040503050406030204" pitchFamily="18" charset="0"/>
              </a:rPr>
              <a:t>trình</a:t>
            </a:r>
            <a:endParaRPr lang="en-US" sz="1800" b="1" dirty="0">
              <a:solidFill>
                <a:srgbClr val="0070C0"/>
              </a:solidFill>
              <a:latin typeface="Cambria" panose="02040503050406030204" pitchFamily="18" charset="0"/>
              <a:ea typeface="Cambria" panose="02040503050406030204" pitchFamily="18" charset="0"/>
            </a:endParaRPr>
          </a:p>
          <a:p>
            <a:pPr marL="461963" lvl="1" indent="-285750">
              <a:buClr>
                <a:schemeClr val="accent2">
                  <a:lumMod val="75000"/>
                </a:schemeClr>
              </a:buClr>
              <a:buSzPct val="140000"/>
              <a:buFont typeface="Courier New" panose="02070309020205020404" pitchFamily="49" charset="0"/>
              <a:buChar char="o"/>
            </a:pPr>
            <a:r>
              <a:rPr lang="en-US" sz="1800" i="1" dirty="0" err="1">
                <a:latin typeface="Cambria" panose="02040503050406030204" pitchFamily="18" charset="0"/>
                <a:ea typeface="Cambria" panose="02040503050406030204" pitchFamily="18" charset="0"/>
              </a:rPr>
              <a:t>Lập</a:t>
            </a:r>
            <a:r>
              <a:rPr lang="en-US" sz="1800" i="1" dirty="0">
                <a:latin typeface="Cambria" panose="02040503050406030204" pitchFamily="18" charset="0"/>
                <a:ea typeface="Cambria" panose="02040503050406030204" pitchFamily="18" charset="0"/>
              </a:rPr>
              <a:t> </a:t>
            </a:r>
            <a:r>
              <a:rPr lang="en-US" sz="1800" i="1" dirty="0" err="1">
                <a:latin typeface="Cambria" panose="02040503050406030204" pitchFamily="18" charset="0"/>
                <a:ea typeface="Cambria" panose="02040503050406030204" pitchFamily="18" charset="0"/>
              </a:rPr>
              <a:t>kế</a:t>
            </a:r>
            <a:r>
              <a:rPr lang="en-US" sz="1800" i="1" dirty="0">
                <a:latin typeface="Cambria" panose="02040503050406030204" pitchFamily="18" charset="0"/>
                <a:ea typeface="Cambria" panose="02040503050406030204" pitchFamily="18" charset="0"/>
              </a:rPr>
              <a:t> </a:t>
            </a:r>
            <a:r>
              <a:rPr lang="en-US" sz="1800" i="1" dirty="0" err="1">
                <a:latin typeface="Cambria" panose="02040503050406030204" pitchFamily="18" charset="0"/>
                <a:ea typeface="Cambria" panose="02040503050406030204" pitchFamily="18" charset="0"/>
              </a:rPr>
              <a:t>hoạch</a:t>
            </a:r>
            <a:r>
              <a:rPr lang="en-US" sz="1800" i="1" dirty="0">
                <a:latin typeface="Cambria" panose="02040503050406030204" pitchFamily="18" charset="0"/>
                <a:ea typeface="Cambria" panose="02040503050406030204" pitchFamily="18" charset="0"/>
              </a:rPr>
              <a:t> </a:t>
            </a:r>
            <a:r>
              <a:rPr lang="en-US" sz="1800" i="1" dirty="0" err="1">
                <a:latin typeface="Cambria" panose="02040503050406030204" pitchFamily="18" charset="0"/>
                <a:ea typeface="Cambria" panose="02040503050406030204" pitchFamily="18" charset="0"/>
              </a:rPr>
              <a:t>chất</a:t>
            </a:r>
            <a:r>
              <a:rPr lang="en-US" sz="1800" i="1" dirty="0">
                <a:latin typeface="Cambria" panose="02040503050406030204" pitchFamily="18" charset="0"/>
                <a:ea typeface="Cambria" panose="02040503050406030204" pitchFamily="18" charset="0"/>
              </a:rPr>
              <a:t> </a:t>
            </a:r>
            <a:r>
              <a:rPr lang="en-US" sz="1800" i="1" dirty="0" err="1">
                <a:latin typeface="Cambria" panose="02040503050406030204" pitchFamily="18" charset="0"/>
                <a:ea typeface="Cambria" panose="02040503050406030204" pitchFamily="18" charset="0"/>
              </a:rPr>
              <a:t>lượng</a:t>
            </a:r>
            <a:endParaRPr lang="en-US" sz="1800" i="1" dirty="0">
              <a:latin typeface="Cambria" panose="02040503050406030204" pitchFamily="18" charset="0"/>
              <a:ea typeface="Cambria" panose="02040503050406030204" pitchFamily="18" charset="0"/>
            </a:endParaRPr>
          </a:p>
          <a:p>
            <a:pPr marL="461963" lvl="1" indent="-285750">
              <a:buClr>
                <a:schemeClr val="accent2">
                  <a:lumMod val="75000"/>
                </a:schemeClr>
              </a:buClr>
              <a:buSzPct val="140000"/>
              <a:buFont typeface="Courier New" panose="02070309020205020404" pitchFamily="49" charset="0"/>
              <a:buChar char="o"/>
            </a:pPr>
            <a:r>
              <a:rPr lang="en-US" sz="1800" i="1" dirty="0" err="1">
                <a:latin typeface="Cambria" panose="02040503050406030204" pitchFamily="18" charset="0"/>
                <a:ea typeface="Cambria" panose="02040503050406030204" pitchFamily="18" charset="0"/>
              </a:rPr>
              <a:t>Đảm</a:t>
            </a:r>
            <a:r>
              <a:rPr lang="en-US" sz="1800" i="1" dirty="0">
                <a:latin typeface="Cambria" panose="02040503050406030204" pitchFamily="18" charset="0"/>
                <a:ea typeface="Cambria" panose="02040503050406030204" pitchFamily="18" charset="0"/>
              </a:rPr>
              <a:t> </a:t>
            </a:r>
            <a:r>
              <a:rPr lang="en-US" sz="1800" i="1" dirty="0" err="1">
                <a:latin typeface="Cambria" panose="02040503050406030204" pitchFamily="18" charset="0"/>
                <a:ea typeface="Cambria" panose="02040503050406030204" pitchFamily="18" charset="0"/>
              </a:rPr>
              <a:t>bảo</a:t>
            </a:r>
            <a:r>
              <a:rPr lang="en-US" sz="1800" i="1" dirty="0">
                <a:latin typeface="Cambria" panose="02040503050406030204" pitchFamily="18" charset="0"/>
                <a:ea typeface="Cambria" panose="02040503050406030204" pitchFamily="18" charset="0"/>
              </a:rPr>
              <a:t> </a:t>
            </a:r>
            <a:r>
              <a:rPr lang="en-US" sz="1800" i="1" dirty="0" err="1">
                <a:latin typeface="Cambria" panose="02040503050406030204" pitchFamily="18" charset="0"/>
                <a:ea typeface="Cambria" panose="02040503050406030204" pitchFamily="18" charset="0"/>
              </a:rPr>
              <a:t>chất</a:t>
            </a:r>
            <a:r>
              <a:rPr lang="en-US" sz="1800" i="1" dirty="0">
                <a:latin typeface="Cambria" panose="02040503050406030204" pitchFamily="18" charset="0"/>
                <a:ea typeface="Cambria" panose="02040503050406030204" pitchFamily="18" charset="0"/>
              </a:rPr>
              <a:t> </a:t>
            </a:r>
            <a:r>
              <a:rPr lang="en-US" sz="1800" i="1" dirty="0" err="1">
                <a:latin typeface="Cambria" panose="02040503050406030204" pitchFamily="18" charset="0"/>
                <a:ea typeface="Cambria" panose="02040503050406030204" pitchFamily="18" charset="0"/>
              </a:rPr>
              <a:t>lượng</a:t>
            </a:r>
            <a:endParaRPr lang="en-US" sz="1800" i="1" dirty="0">
              <a:latin typeface="Cambria" panose="02040503050406030204" pitchFamily="18" charset="0"/>
              <a:ea typeface="Cambria" panose="02040503050406030204" pitchFamily="18" charset="0"/>
            </a:endParaRPr>
          </a:p>
          <a:p>
            <a:pPr marL="461963" lvl="1" indent="-285750">
              <a:buClr>
                <a:schemeClr val="accent2">
                  <a:lumMod val="75000"/>
                </a:schemeClr>
              </a:buClr>
              <a:buSzPct val="140000"/>
              <a:buFont typeface="Courier New" panose="02070309020205020404" pitchFamily="49" charset="0"/>
              <a:buChar char="o"/>
            </a:pPr>
            <a:r>
              <a:rPr lang="en-US" sz="1800" i="1" dirty="0" err="1">
                <a:latin typeface="Cambria" panose="02040503050406030204" pitchFamily="18" charset="0"/>
                <a:ea typeface="Cambria" panose="02040503050406030204" pitchFamily="18" charset="0"/>
              </a:rPr>
              <a:t>Kiểm</a:t>
            </a:r>
            <a:r>
              <a:rPr lang="en-US" sz="1800" i="1" dirty="0">
                <a:latin typeface="Cambria" panose="02040503050406030204" pitchFamily="18" charset="0"/>
                <a:ea typeface="Cambria" panose="02040503050406030204" pitchFamily="18" charset="0"/>
              </a:rPr>
              <a:t> </a:t>
            </a:r>
            <a:r>
              <a:rPr lang="en-US" sz="1800" i="1" dirty="0" err="1">
                <a:latin typeface="Cambria" panose="02040503050406030204" pitchFamily="18" charset="0"/>
                <a:ea typeface="Cambria" panose="02040503050406030204" pitchFamily="18" charset="0"/>
              </a:rPr>
              <a:t>soát</a:t>
            </a:r>
            <a:r>
              <a:rPr lang="en-US" sz="1800" i="1" dirty="0">
                <a:latin typeface="Cambria" panose="02040503050406030204" pitchFamily="18" charset="0"/>
                <a:ea typeface="Cambria" panose="02040503050406030204" pitchFamily="18" charset="0"/>
              </a:rPr>
              <a:t> </a:t>
            </a:r>
            <a:r>
              <a:rPr lang="en-US" sz="1800" i="1" dirty="0" err="1">
                <a:latin typeface="Cambria" panose="02040503050406030204" pitchFamily="18" charset="0"/>
                <a:ea typeface="Cambria" panose="02040503050406030204" pitchFamily="18" charset="0"/>
              </a:rPr>
              <a:t>chất</a:t>
            </a:r>
            <a:r>
              <a:rPr lang="en-US" sz="1800" i="1" dirty="0">
                <a:latin typeface="Cambria" panose="02040503050406030204" pitchFamily="18" charset="0"/>
                <a:ea typeface="Cambria" panose="02040503050406030204" pitchFamily="18" charset="0"/>
              </a:rPr>
              <a:t> </a:t>
            </a:r>
            <a:r>
              <a:rPr lang="en-US" sz="1800" i="1" dirty="0" err="1">
                <a:latin typeface="Cambria" panose="02040503050406030204" pitchFamily="18" charset="0"/>
                <a:ea typeface="Cambria" panose="02040503050406030204" pitchFamily="18" charset="0"/>
              </a:rPr>
              <a:t>lượng</a:t>
            </a:r>
            <a:r>
              <a:rPr lang="en-US" sz="1800" i="1"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2063106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CHẤT LƯỢNG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5F014F0-A170-35A0-6640-3E89954B63B2}"/>
              </a:ext>
            </a:extLst>
          </p:cNvPr>
          <p:cNvSpPr txBox="1"/>
          <p:nvPr/>
        </p:nvSpPr>
        <p:spPr>
          <a:xfrm>
            <a:off x="339355" y="684708"/>
            <a:ext cx="7089055" cy="2031325"/>
          </a:xfrm>
          <a:prstGeom prst="rect">
            <a:avLst/>
          </a:prstGeom>
          <a:noFill/>
        </p:spPr>
        <p:txBody>
          <a:bodyPr wrap="square">
            <a:spAutoFit/>
          </a:bodyPr>
          <a:lstStyle/>
          <a:p>
            <a:pPr marL="285750" lvl="1" indent="-285750" algn="just">
              <a:buClr>
                <a:schemeClr val="accent2">
                  <a:lumMod val="75000"/>
                </a:schemeClr>
              </a:buClr>
              <a:buSzPct val="140000"/>
              <a:buFont typeface="Wingdings" panose="05000000000000000000" pitchFamily="2" charset="2"/>
              <a:buChar char="§"/>
            </a:pPr>
            <a:endParaRPr lang="en-US" dirty="0">
              <a:solidFill>
                <a:srgbClr val="0070C0"/>
              </a:solidFill>
              <a:latin typeface="Cambria" panose="02040503050406030204" pitchFamily="18" charset="0"/>
              <a:ea typeface="Cambria" panose="02040503050406030204" pitchFamily="18" charset="0"/>
            </a:endParaRPr>
          </a:p>
          <a:p>
            <a:pPr marL="285750" lvl="1" indent="-285750" algn="just">
              <a:buClr>
                <a:schemeClr val="accent2">
                  <a:lumMod val="75000"/>
                </a:schemeClr>
              </a:buClr>
              <a:buSzPct val="140000"/>
              <a:buFont typeface="Wingdings" panose="05000000000000000000" pitchFamily="2" charset="2"/>
              <a:buChar char="§"/>
            </a:pPr>
            <a:r>
              <a:rPr lang="vi-VN" dirty="0">
                <a:solidFill>
                  <a:srgbClr val="0070C0"/>
                </a:solidFill>
                <a:latin typeface="Cambria" panose="02040503050406030204" pitchFamily="18" charset="0"/>
                <a:ea typeface="Cambria" panose="02040503050406030204" pitchFamily="18" charset="0"/>
              </a:rPr>
              <a:t>Lập kế hoạch chất lượng: </a:t>
            </a:r>
            <a:r>
              <a:rPr lang="vi-VN" dirty="0">
                <a:latin typeface="Cambria" panose="02040503050406030204" pitchFamily="18" charset="0"/>
                <a:ea typeface="Cambria" panose="02040503050406030204" pitchFamily="18" charset="0"/>
              </a:rPr>
              <a:t>xác định những tiêu chuẩn chất lượng có liên quan đến dự án và làm thế nào để đáp ứng chúng </a:t>
            </a:r>
          </a:p>
          <a:p>
            <a:pPr marL="285750" lvl="1" indent="-285750" algn="just">
              <a:buClr>
                <a:schemeClr val="accent2">
                  <a:lumMod val="75000"/>
                </a:schemeClr>
              </a:buClr>
              <a:buSzPct val="140000"/>
              <a:buFont typeface="Wingdings" panose="05000000000000000000" pitchFamily="2" charset="2"/>
              <a:buChar char="§"/>
            </a:pPr>
            <a:r>
              <a:rPr lang="vi-VN" dirty="0">
                <a:solidFill>
                  <a:srgbClr val="0070C0"/>
                </a:solidFill>
                <a:latin typeface="Cambria" panose="02040503050406030204" pitchFamily="18" charset="0"/>
                <a:ea typeface="Cambria" panose="02040503050406030204" pitchFamily="18" charset="0"/>
              </a:rPr>
              <a:t>Đảm bảo chất lượng: </a:t>
            </a:r>
            <a:r>
              <a:rPr lang="vi-VN" dirty="0">
                <a:latin typeface="Cambria" panose="02040503050406030204" pitchFamily="18" charset="0"/>
                <a:ea typeface="Cambria" panose="02040503050406030204" pitchFamily="18" charset="0"/>
              </a:rPr>
              <a:t>theo định kỳ đánh giá hiệu suất tổng thể dự án để đảm bảo dự án sẽ đáp ứng các tiêu chuẩn chất lượng có liên quan </a:t>
            </a:r>
          </a:p>
          <a:p>
            <a:pPr marL="285750" lvl="1" indent="-285750" algn="just">
              <a:buClr>
                <a:schemeClr val="accent2">
                  <a:lumMod val="75000"/>
                </a:schemeClr>
              </a:buClr>
              <a:buSzPct val="140000"/>
              <a:buFont typeface="Wingdings" panose="05000000000000000000" pitchFamily="2" charset="2"/>
              <a:buChar char="§"/>
            </a:pPr>
            <a:r>
              <a:rPr lang="vi-VN" dirty="0">
                <a:solidFill>
                  <a:srgbClr val="0070C0"/>
                </a:solidFill>
                <a:latin typeface="Cambria" panose="02040503050406030204" pitchFamily="18" charset="0"/>
                <a:ea typeface="Cambria" panose="02040503050406030204" pitchFamily="18" charset="0"/>
              </a:rPr>
              <a:t>Kiểm soát chất lượng: </a:t>
            </a:r>
            <a:r>
              <a:rPr lang="vi-VN" dirty="0">
                <a:latin typeface="Cambria" panose="02040503050406030204" pitchFamily="18" charset="0"/>
                <a:ea typeface="Cambria" panose="02040503050406030204" pitchFamily="18" charset="0"/>
              </a:rPr>
              <a:t>kết quả giám sát dự án cụ thể để đảm bảo rằng họ tuân thủ các tiêu chuẩn chất lượng có liên quan </a:t>
            </a:r>
          </a:p>
        </p:txBody>
      </p:sp>
      <p:pic>
        <p:nvPicPr>
          <p:cNvPr id="2" name="Picture 1">
            <a:extLst>
              <a:ext uri="{FF2B5EF4-FFF2-40B4-BE49-F238E27FC236}">
                <a16:creationId xmlns:a16="http://schemas.microsoft.com/office/drawing/2014/main" id="{04CBE108-716A-9468-EE8A-37565C412625}"/>
              </a:ext>
            </a:extLst>
          </p:cNvPr>
          <p:cNvPicPr>
            <a:picLocks noChangeAspect="1"/>
          </p:cNvPicPr>
          <p:nvPr/>
        </p:nvPicPr>
        <p:blipFill>
          <a:blip r:embed="rId2"/>
          <a:stretch>
            <a:fillRect/>
          </a:stretch>
        </p:blipFill>
        <p:spPr>
          <a:xfrm>
            <a:off x="7868580" y="1053737"/>
            <a:ext cx="3984736" cy="5274847"/>
          </a:xfrm>
          <a:prstGeom prst="rect">
            <a:avLst/>
          </a:prstGeom>
        </p:spPr>
      </p:pic>
    </p:spTree>
    <p:extLst>
      <p:ext uri="{BB962C8B-B14F-4D97-AF65-F5344CB8AC3E}">
        <p14:creationId xmlns:p14="http://schemas.microsoft.com/office/powerpoint/2010/main" val="2524645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F014F0-A170-35A0-6640-3E89954B63B2}"/>
              </a:ext>
            </a:extLst>
          </p:cNvPr>
          <p:cNvSpPr txBox="1"/>
          <p:nvPr/>
        </p:nvSpPr>
        <p:spPr>
          <a:xfrm>
            <a:off x="339354" y="724376"/>
            <a:ext cx="11574038" cy="5755422"/>
          </a:xfrm>
          <a:prstGeom prst="rect">
            <a:avLst/>
          </a:prstGeom>
          <a:noFill/>
        </p:spPr>
        <p:txBody>
          <a:bodyPr wrap="square">
            <a:spAutoFit/>
          </a:bodyPr>
          <a:lstStyle/>
          <a:p>
            <a:r>
              <a:rPr lang="vi-VN" sz="1600" b="1" dirty="0">
                <a:solidFill>
                  <a:srgbClr val="0070C0"/>
                </a:solidFill>
                <a:latin typeface="Cambria" panose="02040503050406030204" pitchFamily="18" charset="0"/>
                <a:ea typeface="Cambria" panose="02040503050406030204" pitchFamily="18" charset="0"/>
              </a:rPr>
              <a:t>Lập kế hoạch chất lượng </a:t>
            </a:r>
            <a:endParaRPr lang="en-US" sz="1600" b="1" dirty="0">
              <a:solidFill>
                <a:srgbClr val="0070C0"/>
              </a:solidFill>
              <a:latin typeface="Cambria" panose="02040503050406030204" pitchFamily="18" charset="0"/>
              <a:ea typeface="Cambria" panose="02040503050406030204" pitchFamily="18" charset="0"/>
            </a:endParaRPr>
          </a:p>
          <a:p>
            <a:pPr marL="285750" lvl="1" indent="-285750" algn="jus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Khả</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năng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đoán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tình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huống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và</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chuẩn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bị</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hành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động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để</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mang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lại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kết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quả</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mong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muốn</a:t>
            </a:r>
            <a:r>
              <a:rPr lang="en-US" sz="1600" dirty="0">
                <a:latin typeface="Cambria" panose="02040503050406030204" pitchFamily="18" charset="0"/>
                <a:ea typeface="Cambria" panose="02040503050406030204" pitchFamily="18" charset="0"/>
              </a:rPr>
              <a:t> </a:t>
            </a:r>
          </a:p>
          <a:p>
            <a:pPr marL="285750" lvl="1" indent="-285750" algn="jus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Ai chịu trách nhiệm về chất lượng dự án? </a:t>
            </a:r>
          </a:p>
          <a:p>
            <a:pPr marL="574675" lvl="1" indent="-285750">
              <a:buClr>
                <a:schemeClr val="accent2">
                  <a:lumMod val="75000"/>
                </a:schemeClr>
              </a:buClr>
              <a:buSzPct val="140000"/>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Người quản lý dự án chịu trách nhiệm cuối cùng cho việc quản lý chất lượng các dự án, tuy nhiên đánh giá chất lượng lại thuộc về bộ phận đảm bảo chất lượng. </a:t>
            </a:r>
            <a:endParaRPr lang="en-US" sz="1600" i="1" dirty="0">
              <a:latin typeface="Cambria" panose="02040503050406030204" pitchFamily="18" charset="0"/>
              <a:ea typeface="Cambria" panose="02040503050406030204" pitchFamily="18" charset="0"/>
            </a:endParaRPr>
          </a:p>
          <a:p>
            <a:pPr marL="288925" lvl="1">
              <a:buClr>
                <a:schemeClr val="accent2">
                  <a:lumMod val="75000"/>
                </a:schemeClr>
              </a:buClr>
              <a:buSzPct val="140000"/>
            </a:pPr>
            <a:endParaRPr lang="vi-VN" sz="1600" i="1" dirty="0">
              <a:latin typeface="Cambria" panose="02040503050406030204" pitchFamily="18" charset="0"/>
              <a:ea typeface="Cambria" panose="02040503050406030204" pitchFamily="18" charset="0"/>
            </a:endParaRPr>
          </a:p>
          <a:p>
            <a:pPr marL="285750" lvl="1" indent="-285750" algn="just">
              <a:buClr>
                <a:schemeClr val="accent2">
                  <a:lumMod val="75000"/>
                </a:schemeClr>
              </a:buClr>
              <a:buSzPct val="140000"/>
              <a:buFont typeface="Wingdings" panose="05000000000000000000" pitchFamily="2" charset="2"/>
              <a:buChar char="§"/>
            </a:pPr>
            <a:r>
              <a:rPr lang="en-US" sz="1600" dirty="0">
                <a:latin typeface="Cambria" panose="02040503050406030204" pitchFamily="18" charset="0"/>
                <a:ea typeface="Cambria" panose="02040503050406030204" pitchFamily="18" charset="0"/>
              </a:rPr>
              <a:t>Ở </a:t>
            </a:r>
            <a:r>
              <a:rPr lang="en-US" sz="1600" dirty="0" err="1">
                <a:latin typeface="Cambria" panose="02040503050406030204" pitchFamily="18" charset="0"/>
                <a:ea typeface="Cambria" panose="02040503050406030204" pitchFamily="18" charset="0"/>
              </a:rPr>
              <a:t>mức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lập</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kế</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hoạch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quản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lý</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cần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quyết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định</a:t>
            </a:r>
            <a:r>
              <a:rPr lang="en-US" sz="1600" dirty="0">
                <a:latin typeface="Cambria" panose="02040503050406030204" pitchFamily="18" charset="0"/>
                <a:ea typeface="Cambria" panose="02040503050406030204" pitchFamily="18" charset="0"/>
              </a:rPr>
              <a:t> </a:t>
            </a:r>
          </a:p>
          <a:p>
            <a:pPr marL="574675" lvl="1" indent="-285750">
              <a:buClr>
                <a:schemeClr val="accent2">
                  <a:lumMod val="75000"/>
                </a:schemeClr>
              </a:buClr>
              <a:buSzPct val="140000"/>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Tiêu</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chuẩn</a:t>
            </a:r>
            <a:r>
              <a:rPr lang="en-US" sz="1600" i="1" dirty="0">
                <a:latin typeface="Cambria" panose="02040503050406030204" pitchFamily="18" charset="0"/>
                <a:ea typeface="Cambria" panose="02040503050406030204" pitchFamily="18" charset="0"/>
              </a:rPr>
              <a:t> </a:t>
            </a:r>
          </a:p>
          <a:p>
            <a:pPr marL="574675" lvl="1" indent="-285750">
              <a:buClr>
                <a:schemeClr val="accent2">
                  <a:lumMod val="75000"/>
                </a:schemeClr>
              </a:buClr>
              <a:buSzPct val="140000"/>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Nhóm có trách nhiệm đối, nếu cần tách nhóm kiểm soát chất lượng và thẩm quyền của họ </a:t>
            </a:r>
          </a:p>
          <a:p>
            <a:pPr marL="574675" lvl="1" indent="-285750">
              <a:buClr>
                <a:schemeClr val="accent2">
                  <a:lumMod val="75000"/>
                </a:schemeClr>
              </a:buClr>
              <a:buSzPct val="140000"/>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Các </a:t>
            </a:r>
            <a:r>
              <a:rPr lang="en-US" sz="1600" i="1" dirty="0" err="1">
                <a:latin typeface="Cambria" panose="02040503050406030204" pitchFamily="18" charset="0"/>
                <a:ea typeface="Cambria" panose="02040503050406030204" pitchFamily="18" charset="0"/>
              </a:rPr>
              <a:t>công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tác</a:t>
            </a:r>
            <a:r>
              <a:rPr lang="vi-VN" sz="1600" i="1" dirty="0">
                <a:latin typeface="Cambria" panose="02040503050406030204" pitchFamily="18" charset="0"/>
                <a:ea typeface="Cambria" panose="02040503050406030204" pitchFamily="18" charset="0"/>
              </a:rPr>
              <a:t> rà xét, thường xuyên rà xét (ví dụ: tất cả các kết quả chuyển giao theo công việc hoặc chỉ kết quả bàn giao dự án) </a:t>
            </a:r>
          </a:p>
          <a:p>
            <a:pPr marL="574675" lvl="1" indent="-285750">
              <a:buClr>
                <a:schemeClr val="accent2">
                  <a:lumMod val="75000"/>
                </a:schemeClr>
              </a:buClr>
              <a:buSzPct val="140000"/>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Có được cam kết đối với khái niệm quản lý chất lượng </a:t>
            </a:r>
            <a:endParaRPr lang="en-US" sz="1600" i="1" dirty="0">
              <a:latin typeface="Cambria" panose="02040503050406030204" pitchFamily="18" charset="0"/>
              <a:ea typeface="Cambria" panose="02040503050406030204" pitchFamily="18" charset="0"/>
            </a:endParaRPr>
          </a:p>
          <a:p>
            <a:endParaRPr lang="en-US" dirty="0"/>
          </a:p>
          <a:p>
            <a:pPr marL="285750" lvl="1" indent="-285750" algn="just">
              <a:buClr>
                <a:schemeClr val="accent2">
                  <a:lumMod val="75000"/>
                </a:schemeClr>
              </a:buClr>
              <a:buSzPct val="140000"/>
              <a:buFont typeface="Wingdings" panose="05000000000000000000" pitchFamily="2" charset="2"/>
              <a:buChar char="§"/>
            </a:pPr>
            <a:r>
              <a:rPr lang="en-US" sz="1600" dirty="0">
                <a:latin typeface="Cambria" panose="02040503050406030204" pitchFamily="18" charset="0"/>
                <a:ea typeface="Cambria" panose="02040503050406030204" pitchFamily="18" charset="0"/>
              </a:rPr>
              <a:t>Ở </a:t>
            </a:r>
            <a:r>
              <a:rPr lang="en-US" sz="1600" dirty="0" err="1">
                <a:latin typeface="Cambria" panose="02040503050406030204" pitchFamily="18" charset="0"/>
                <a:ea typeface="Cambria" panose="02040503050406030204" pitchFamily="18" charset="0"/>
              </a:rPr>
              <a:t>mức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độ</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lập</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kế</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hoạch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làm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việc</a:t>
            </a:r>
            <a:r>
              <a:rPr lang="en-US" sz="1600" dirty="0">
                <a:latin typeface="Cambria" panose="02040503050406030204" pitchFamily="18" charset="0"/>
                <a:ea typeface="Cambria" panose="02040503050406030204" pitchFamily="18" charset="0"/>
              </a:rPr>
              <a:t> </a:t>
            </a:r>
          </a:p>
          <a:p>
            <a:pPr marL="574675" lvl="1" indent="-285750">
              <a:buClr>
                <a:schemeClr val="accent2">
                  <a:lumMod val="75000"/>
                </a:schemeClr>
              </a:buClr>
              <a:buSzPct val="140000"/>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Kiểm soát và phương pháp quản lý chất lượng </a:t>
            </a:r>
          </a:p>
          <a:p>
            <a:pPr marL="574675" lvl="1" indent="-285750">
              <a:buClr>
                <a:schemeClr val="accent2">
                  <a:lumMod val="75000"/>
                </a:schemeClr>
              </a:buClr>
              <a:buSzPct val="140000"/>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Thiết lập quy trình quản lý chất lượng </a:t>
            </a:r>
          </a:p>
          <a:p>
            <a:pPr marL="574675" lvl="1" indent="-285750">
              <a:buClr>
                <a:schemeClr val="accent2">
                  <a:lumMod val="75000"/>
                </a:schemeClr>
              </a:buClr>
              <a:buSzPct val="140000"/>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Thống nhất người (chính xác) sẽ ký nhận: </a:t>
            </a:r>
          </a:p>
          <a:p>
            <a:pPr marL="1031875" lvl="2" indent="-285750">
              <a:buClr>
                <a:schemeClr val="accent2">
                  <a:lumMod val="75000"/>
                </a:schemeClr>
              </a:buClr>
              <a:buSzPct val="140000"/>
              <a:buFont typeface="Arial" panose="020B0604020202020204" pitchFamily="34" charset="0"/>
              <a:buChar char="•"/>
            </a:pPr>
            <a:r>
              <a:rPr lang="vi-VN" sz="1600" i="1" dirty="0">
                <a:latin typeface="Cambria" panose="02040503050406030204" pitchFamily="18" charset="0"/>
                <a:ea typeface="Cambria" panose="02040503050406030204" pitchFamily="18" charset="0"/>
              </a:rPr>
              <a:t>Người chịu trách nhiệm </a:t>
            </a:r>
          </a:p>
          <a:p>
            <a:pPr marL="1031875" lvl="2" indent="-285750">
              <a:buClr>
                <a:schemeClr val="accent2">
                  <a:lumMod val="75000"/>
                </a:schemeClr>
              </a:buClr>
              <a:buSzPct val="140000"/>
              <a:buFont typeface="Arial" panose="020B0604020202020204" pitchFamily="34" charset="0"/>
              <a:buChar char="•"/>
            </a:pPr>
            <a:r>
              <a:rPr lang="vi-VN" sz="1600" i="1" dirty="0">
                <a:latin typeface="Cambria" panose="02040503050406030204" pitchFamily="18" charset="0"/>
                <a:ea typeface="Cambria" panose="02040503050406030204" pitchFamily="18" charset="0"/>
              </a:rPr>
              <a:t>Quản đốc dự án / trưởng nhóm </a:t>
            </a:r>
          </a:p>
          <a:p>
            <a:pPr marL="1031875" lvl="2" indent="-285750">
              <a:buClr>
                <a:schemeClr val="accent2">
                  <a:lumMod val="75000"/>
                </a:schemeClr>
              </a:buClr>
              <a:buSzPct val="140000"/>
              <a:buFont typeface="Arial" panose="020B0604020202020204" pitchFamily="34" charset="0"/>
              <a:buChar char="•"/>
            </a:pPr>
            <a:r>
              <a:rPr lang="vi-VN" sz="1600" i="1" dirty="0">
                <a:latin typeface="Cambria" panose="02040503050406030204" pitchFamily="18" charset="0"/>
                <a:ea typeface="Cambria" panose="02040503050406030204" pitchFamily="18" charset="0"/>
              </a:rPr>
              <a:t>Đại diện người sử dụng có ảnh hưởng </a:t>
            </a:r>
          </a:p>
          <a:p>
            <a:pPr marL="1031875" lvl="2" indent="-285750">
              <a:buClr>
                <a:schemeClr val="accent2">
                  <a:lumMod val="75000"/>
                </a:schemeClr>
              </a:buClr>
              <a:buSzPct val="140000"/>
              <a:buFont typeface="Arial" panose="020B0604020202020204" pitchFamily="34" charset="0"/>
              <a:buChar char="•"/>
            </a:pPr>
            <a:r>
              <a:rPr lang="vi-VN" sz="1600" i="1" dirty="0">
                <a:latin typeface="Cambria" panose="02040503050406030204" pitchFamily="18" charset="0"/>
                <a:ea typeface="Cambria" panose="02040503050406030204" pitchFamily="18" charset="0"/>
              </a:rPr>
              <a:t>Người kiểm soát chất lượng </a:t>
            </a:r>
          </a:p>
          <a:p>
            <a:pPr marL="574675" lvl="1" indent="-285750">
              <a:buClr>
                <a:schemeClr val="accent2">
                  <a:lumMod val="75000"/>
                </a:schemeClr>
              </a:buClr>
              <a:buSzPct val="140000"/>
              <a:buFont typeface="Courier New" panose="02070309020205020404" pitchFamily="49" charset="0"/>
              <a:buChar char="o"/>
            </a:pPr>
            <a:endParaRPr lang="vi-VN" sz="1600" i="1" dirty="0">
              <a:latin typeface="Cambria" panose="02040503050406030204" pitchFamily="18" charset="0"/>
              <a:ea typeface="Cambria" panose="02040503050406030204" pitchFamily="18" charset="0"/>
            </a:endParaRPr>
          </a:p>
          <a:p>
            <a:pPr marL="285750" lvl="1" indent="-285750" algn="just">
              <a:buClr>
                <a:schemeClr val="accent2">
                  <a:lumMod val="75000"/>
                </a:schemeClr>
              </a:buClr>
              <a:buSzPct val="140000"/>
              <a:buFont typeface="Wingdings" panose="05000000000000000000" pitchFamily="2" charset="2"/>
              <a:buChar char="§"/>
            </a:pPr>
            <a:endParaRPr lang="en-US" sz="1600" dirty="0">
              <a:latin typeface="Cambria" panose="02040503050406030204" pitchFamily="18" charset="0"/>
              <a:ea typeface="Cambria" panose="02040503050406030204" pitchFamily="18" charset="0"/>
            </a:endParaRPr>
          </a:p>
        </p:txBody>
      </p:sp>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CHẤT LƯỢNG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4418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1000"/>
                                        <p:tgtEl>
                                          <p:spTgt spid="3">
                                            <p:txEl>
                                              <p:pRg st="5" end="5"/>
                                            </p:txEl>
                                          </p:spTgt>
                                        </p:tgtEl>
                                      </p:cBhvr>
                                    </p:animEffect>
                                    <p:anim calcmode="lin" valueType="num">
                                      <p:cBhvr>
                                        <p:cTn id="2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1000"/>
                                        <p:tgtEl>
                                          <p:spTgt spid="3">
                                            <p:txEl>
                                              <p:pRg st="6" end="6"/>
                                            </p:txEl>
                                          </p:spTgt>
                                        </p:tgtEl>
                                      </p:cBhvr>
                                    </p:animEffect>
                                    <p:anim calcmode="lin" valueType="num">
                                      <p:cBhvr>
                                        <p:cTn id="2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1000"/>
                                        <p:tgtEl>
                                          <p:spTgt spid="3">
                                            <p:txEl>
                                              <p:pRg st="7" end="7"/>
                                            </p:txEl>
                                          </p:spTgt>
                                        </p:tgtEl>
                                      </p:cBhvr>
                                    </p:animEffect>
                                    <p:anim calcmode="lin" valueType="num">
                                      <p:cBhvr>
                                        <p:cTn id="3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1000"/>
                                        <p:tgtEl>
                                          <p:spTgt spid="3">
                                            <p:txEl>
                                              <p:pRg st="8" end="8"/>
                                            </p:txEl>
                                          </p:spTgt>
                                        </p:tgtEl>
                                      </p:cBhvr>
                                    </p:animEffect>
                                    <p:anim calcmode="lin" valueType="num">
                                      <p:cBhvr>
                                        <p:cTn id="3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1000"/>
                                        <p:tgtEl>
                                          <p:spTgt spid="3">
                                            <p:txEl>
                                              <p:pRg st="9" end="9"/>
                                            </p:txEl>
                                          </p:spTgt>
                                        </p:tgtEl>
                                      </p:cBhvr>
                                    </p:animEffect>
                                    <p:anim calcmode="lin" valueType="num">
                                      <p:cBhvr>
                                        <p:cTn id="4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1000"/>
                                        <p:tgtEl>
                                          <p:spTgt spid="3">
                                            <p:txEl>
                                              <p:pRg st="11" end="11"/>
                                            </p:txEl>
                                          </p:spTgt>
                                        </p:tgtEl>
                                      </p:cBhvr>
                                    </p:animEffect>
                                    <p:anim calcmode="lin" valueType="num">
                                      <p:cBhvr>
                                        <p:cTn id="4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animEffect transition="in" filter="fade">
                                      <p:cBhvr>
                                        <p:cTn id="51" dur="1000"/>
                                        <p:tgtEl>
                                          <p:spTgt spid="3">
                                            <p:txEl>
                                              <p:pRg st="12" end="12"/>
                                            </p:txEl>
                                          </p:spTgt>
                                        </p:tgtEl>
                                      </p:cBhvr>
                                    </p:animEffect>
                                    <p:anim calcmode="lin" valueType="num">
                                      <p:cBhvr>
                                        <p:cTn id="5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3">
                                            <p:txEl>
                                              <p:pRg st="13" end="13"/>
                                            </p:txEl>
                                          </p:spTgt>
                                        </p:tgtEl>
                                        <p:attrNameLst>
                                          <p:attrName>style.visibility</p:attrName>
                                        </p:attrNameLst>
                                      </p:cBhvr>
                                      <p:to>
                                        <p:strVal val="visible"/>
                                      </p:to>
                                    </p:set>
                                    <p:animEffect transition="in" filter="fade">
                                      <p:cBhvr>
                                        <p:cTn id="56" dur="1000"/>
                                        <p:tgtEl>
                                          <p:spTgt spid="3">
                                            <p:txEl>
                                              <p:pRg st="13" end="13"/>
                                            </p:txEl>
                                          </p:spTgt>
                                        </p:tgtEl>
                                      </p:cBhvr>
                                    </p:animEffect>
                                    <p:anim calcmode="lin" valueType="num">
                                      <p:cBhvr>
                                        <p:cTn id="57"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
                                            <p:txEl>
                                              <p:pRg st="14" end="14"/>
                                            </p:txEl>
                                          </p:spTgt>
                                        </p:tgtEl>
                                        <p:attrNameLst>
                                          <p:attrName>style.visibility</p:attrName>
                                        </p:attrNameLst>
                                      </p:cBhvr>
                                      <p:to>
                                        <p:strVal val="visible"/>
                                      </p:to>
                                    </p:set>
                                    <p:animEffect transition="in" filter="fade">
                                      <p:cBhvr>
                                        <p:cTn id="61" dur="1000"/>
                                        <p:tgtEl>
                                          <p:spTgt spid="3">
                                            <p:txEl>
                                              <p:pRg st="14" end="14"/>
                                            </p:txEl>
                                          </p:spTgt>
                                        </p:tgtEl>
                                      </p:cBhvr>
                                    </p:animEffect>
                                    <p:anim calcmode="lin" valueType="num">
                                      <p:cBhvr>
                                        <p:cTn id="62"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4" end="14"/>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
                                            <p:txEl>
                                              <p:pRg st="15" end="15"/>
                                            </p:txEl>
                                          </p:spTgt>
                                        </p:tgtEl>
                                        <p:attrNameLst>
                                          <p:attrName>style.visibility</p:attrName>
                                        </p:attrNameLst>
                                      </p:cBhvr>
                                      <p:to>
                                        <p:strVal val="visible"/>
                                      </p:to>
                                    </p:set>
                                    <p:animEffect transition="in" filter="fade">
                                      <p:cBhvr>
                                        <p:cTn id="66" dur="1000"/>
                                        <p:tgtEl>
                                          <p:spTgt spid="3">
                                            <p:txEl>
                                              <p:pRg st="15" end="15"/>
                                            </p:txEl>
                                          </p:spTgt>
                                        </p:tgtEl>
                                      </p:cBhvr>
                                    </p:animEffect>
                                    <p:anim calcmode="lin" valueType="num">
                                      <p:cBhvr>
                                        <p:cTn id="67"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5" end="15"/>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animEffect transition="in" filter="fade">
                                      <p:cBhvr>
                                        <p:cTn id="71" dur="1000"/>
                                        <p:tgtEl>
                                          <p:spTgt spid="3">
                                            <p:txEl>
                                              <p:pRg st="16" end="16"/>
                                            </p:txEl>
                                          </p:spTgt>
                                        </p:tgtEl>
                                      </p:cBhvr>
                                    </p:animEffect>
                                    <p:anim calcmode="lin" valueType="num">
                                      <p:cBhvr>
                                        <p:cTn id="72" dur="1000" fill="hold"/>
                                        <p:tgtEl>
                                          <p:spTgt spid="3">
                                            <p:txEl>
                                              <p:pRg st="16" end="16"/>
                                            </p:txEl>
                                          </p:spTgt>
                                        </p:tgtEl>
                                        <p:attrNameLst>
                                          <p:attrName>ppt_x</p:attrName>
                                        </p:attrNameLst>
                                      </p:cBhvr>
                                      <p:tavLst>
                                        <p:tav tm="0">
                                          <p:val>
                                            <p:strVal val="#ppt_x"/>
                                          </p:val>
                                        </p:tav>
                                        <p:tav tm="100000">
                                          <p:val>
                                            <p:strVal val="#ppt_x"/>
                                          </p:val>
                                        </p:tav>
                                      </p:tavLst>
                                    </p:anim>
                                    <p:anim calcmode="lin" valueType="num">
                                      <p:cBhvr>
                                        <p:cTn id="73" dur="1000" fill="hold"/>
                                        <p:tgtEl>
                                          <p:spTgt spid="3">
                                            <p:txEl>
                                              <p:pRg st="16" end="16"/>
                                            </p:txEl>
                                          </p:spTgt>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3">
                                            <p:txEl>
                                              <p:pRg st="17" end="17"/>
                                            </p:txEl>
                                          </p:spTgt>
                                        </p:tgtEl>
                                        <p:attrNameLst>
                                          <p:attrName>style.visibility</p:attrName>
                                        </p:attrNameLst>
                                      </p:cBhvr>
                                      <p:to>
                                        <p:strVal val="visible"/>
                                      </p:to>
                                    </p:set>
                                    <p:animEffect transition="in" filter="fade">
                                      <p:cBhvr>
                                        <p:cTn id="76" dur="1000"/>
                                        <p:tgtEl>
                                          <p:spTgt spid="3">
                                            <p:txEl>
                                              <p:pRg st="17" end="17"/>
                                            </p:txEl>
                                          </p:spTgt>
                                        </p:tgtEl>
                                      </p:cBhvr>
                                    </p:animEffect>
                                    <p:anim calcmode="lin" valueType="num">
                                      <p:cBhvr>
                                        <p:cTn id="77" dur="1000" fill="hold"/>
                                        <p:tgtEl>
                                          <p:spTgt spid="3">
                                            <p:txEl>
                                              <p:pRg st="17" end="17"/>
                                            </p:txEl>
                                          </p:spTgt>
                                        </p:tgtEl>
                                        <p:attrNameLst>
                                          <p:attrName>ppt_x</p:attrName>
                                        </p:attrNameLst>
                                      </p:cBhvr>
                                      <p:tavLst>
                                        <p:tav tm="0">
                                          <p:val>
                                            <p:strVal val="#ppt_x"/>
                                          </p:val>
                                        </p:tav>
                                        <p:tav tm="100000">
                                          <p:val>
                                            <p:strVal val="#ppt_x"/>
                                          </p:val>
                                        </p:tav>
                                      </p:tavLst>
                                    </p:anim>
                                    <p:anim calcmode="lin" valueType="num">
                                      <p:cBhvr>
                                        <p:cTn id="78" dur="1000" fill="hold"/>
                                        <p:tgtEl>
                                          <p:spTgt spid="3">
                                            <p:txEl>
                                              <p:pRg st="17" end="17"/>
                                            </p:txEl>
                                          </p:spTgt>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3">
                                            <p:txEl>
                                              <p:pRg st="18" end="18"/>
                                            </p:txEl>
                                          </p:spTgt>
                                        </p:tgtEl>
                                        <p:attrNameLst>
                                          <p:attrName>style.visibility</p:attrName>
                                        </p:attrNameLst>
                                      </p:cBhvr>
                                      <p:to>
                                        <p:strVal val="visible"/>
                                      </p:to>
                                    </p:set>
                                    <p:animEffect transition="in" filter="fade">
                                      <p:cBhvr>
                                        <p:cTn id="81" dur="1000"/>
                                        <p:tgtEl>
                                          <p:spTgt spid="3">
                                            <p:txEl>
                                              <p:pRg st="18" end="18"/>
                                            </p:txEl>
                                          </p:spTgt>
                                        </p:tgtEl>
                                      </p:cBhvr>
                                    </p:animEffect>
                                    <p:anim calcmode="lin" valueType="num">
                                      <p:cBhvr>
                                        <p:cTn id="82" dur="1000" fill="hold"/>
                                        <p:tgtEl>
                                          <p:spTgt spid="3">
                                            <p:txEl>
                                              <p:pRg st="18" end="18"/>
                                            </p:txEl>
                                          </p:spTgt>
                                        </p:tgtEl>
                                        <p:attrNameLst>
                                          <p:attrName>ppt_x</p:attrName>
                                        </p:attrNameLst>
                                      </p:cBhvr>
                                      <p:tavLst>
                                        <p:tav tm="0">
                                          <p:val>
                                            <p:strVal val="#ppt_x"/>
                                          </p:val>
                                        </p:tav>
                                        <p:tav tm="100000">
                                          <p:val>
                                            <p:strVal val="#ppt_x"/>
                                          </p:val>
                                        </p:tav>
                                      </p:tavLst>
                                    </p:anim>
                                    <p:anim calcmode="lin" valueType="num">
                                      <p:cBhvr>
                                        <p:cTn id="83" dur="1000" fill="hold"/>
                                        <p:tgtEl>
                                          <p:spTgt spid="3">
                                            <p:txEl>
                                              <p:pRg st="18" end="1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F014F0-A170-35A0-6640-3E89954B63B2}"/>
              </a:ext>
            </a:extLst>
          </p:cNvPr>
          <p:cNvSpPr txBox="1"/>
          <p:nvPr/>
        </p:nvSpPr>
        <p:spPr>
          <a:xfrm>
            <a:off x="339354" y="724376"/>
            <a:ext cx="11574038" cy="3570208"/>
          </a:xfrm>
          <a:prstGeom prst="rect">
            <a:avLst/>
          </a:prstGeom>
          <a:noFill/>
        </p:spPr>
        <p:txBody>
          <a:bodyPr wrap="square">
            <a:spAutoFit/>
          </a:bodyPr>
          <a:lstStyle/>
          <a:p>
            <a:r>
              <a:rPr lang="vi-VN" sz="1600" b="1" dirty="0">
                <a:solidFill>
                  <a:srgbClr val="0070C0"/>
                </a:solidFill>
                <a:latin typeface="Cambria" panose="02040503050406030204" pitchFamily="18" charset="0"/>
                <a:ea typeface="Cambria" panose="02040503050406030204" pitchFamily="18" charset="0"/>
              </a:rPr>
              <a:t>Lập kế hoạch chất lượng </a:t>
            </a:r>
            <a:endParaRPr lang="en-US" sz="1600" b="1" dirty="0">
              <a:solidFill>
                <a:srgbClr val="0070C0"/>
              </a:solidFill>
              <a:latin typeface="Cambria" panose="02040503050406030204" pitchFamily="18" charset="0"/>
              <a:ea typeface="Cambria" panose="02040503050406030204" pitchFamily="18" charset="0"/>
            </a:endParaRPr>
          </a:p>
          <a:p>
            <a:pPr marL="285750" lvl="1" indent="-285750" algn="jus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Giải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pháp</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để</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ngăn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ngừa</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lỗi</a:t>
            </a:r>
            <a:r>
              <a:rPr lang="en-US" sz="1600" dirty="0">
                <a:latin typeface="Cambria" panose="02040503050406030204" pitchFamily="18" charset="0"/>
                <a:ea typeface="Cambria" panose="02040503050406030204" pitchFamily="18" charset="0"/>
              </a:rPr>
              <a:t>: </a:t>
            </a:r>
          </a:p>
          <a:p>
            <a:pPr marL="574675" lvl="1" indent="-285750">
              <a:buClr>
                <a:schemeClr val="accent2">
                  <a:lumMod val="75000"/>
                </a:schemeClr>
              </a:buClr>
              <a:buSzPct val="140000"/>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Lựa</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chọn</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công</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cụ</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thích</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hợp</a:t>
            </a:r>
            <a:r>
              <a:rPr lang="en-US" sz="1600" i="1" dirty="0">
                <a:latin typeface="Cambria" panose="02040503050406030204" pitchFamily="18" charset="0"/>
                <a:ea typeface="Cambria" panose="02040503050406030204" pitchFamily="18" charset="0"/>
              </a:rPr>
              <a:t> </a:t>
            </a:r>
          </a:p>
          <a:p>
            <a:pPr marL="574675" lvl="1" indent="-285750">
              <a:buClr>
                <a:schemeClr val="accent2">
                  <a:lumMod val="75000"/>
                </a:schemeClr>
              </a:buClr>
              <a:buSzPct val="140000"/>
              <a:buFont typeface="Courier New" panose="02070309020205020404" pitchFamily="49" charset="0"/>
              <a:buChar char="o"/>
            </a:pPr>
            <a:r>
              <a:rPr lang="vi-VN" sz="1600" i="1" dirty="0">
                <a:latin typeface="Cambria" panose="02040503050406030204" pitchFamily="18" charset="0"/>
                <a:ea typeface="Cambria" panose="02040503050406030204" pitchFamily="18" charset="0"/>
              </a:rPr>
              <a:t>Đào tạo </a:t>
            </a:r>
            <a:r>
              <a:rPr lang="en-US" sz="1600" i="1" dirty="0" err="1">
                <a:latin typeface="Cambria" panose="02040503050406030204" pitchFamily="18" charset="0"/>
                <a:ea typeface="Cambria" panose="02040503050406030204" pitchFamily="18" charset="0"/>
              </a:rPr>
              <a:t>nhân</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sự</a:t>
            </a:r>
            <a:r>
              <a:rPr lang="en-US" sz="1600" i="1" dirty="0">
                <a:latin typeface="Cambria" panose="02040503050406030204" pitchFamily="18" charset="0"/>
                <a:ea typeface="Cambria" panose="02040503050406030204" pitchFamily="18" charset="0"/>
              </a:rPr>
              <a:t> </a:t>
            </a:r>
            <a:r>
              <a:rPr lang="vi-VN" sz="1600" i="1" dirty="0">
                <a:latin typeface="Cambria" panose="02040503050406030204" pitchFamily="18" charset="0"/>
                <a:ea typeface="Cambria" panose="02040503050406030204" pitchFamily="18" charset="0"/>
              </a:rPr>
              <a:t>về chất lượng </a:t>
            </a:r>
          </a:p>
          <a:p>
            <a:pPr marL="574675" lvl="1" indent="-285750">
              <a:buClr>
                <a:schemeClr val="accent2">
                  <a:lumMod val="75000"/>
                </a:schemeClr>
              </a:buClr>
              <a:buSzPct val="140000"/>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Lập</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kế</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hoạch</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quy</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trình</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để</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đảm</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bảo</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các</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kết</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quả</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phù</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hợp</a:t>
            </a:r>
            <a:r>
              <a:rPr lang="en-US" sz="1600" i="1" dirty="0">
                <a:latin typeface="Cambria" panose="02040503050406030204" pitchFamily="18" charset="0"/>
                <a:ea typeface="Cambria" panose="02040503050406030204" pitchFamily="18" charset="0"/>
              </a:rPr>
              <a:t> </a:t>
            </a:r>
          </a:p>
          <a:p>
            <a:pPr algn="l"/>
            <a:endParaRPr lang="en-US" sz="1800" b="0" i="0" u="none" strike="noStrike" baseline="0" dirty="0">
              <a:solidFill>
                <a:srgbClr val="000000"/>
              </a:solidFill>
              <a:latin typeface="Times New Roman" panose="02020603050405020304" pitchFamily="18" charset="0"/>
            </a:endParaRPr>
          </a:p>
          <a:p>
            <a:pPr marL="285750" lvl="1" indent="-285750" algn="jus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Khía</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cạnh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phạm</a:t>
            </a:r>
            <a:r>
              <a:rPr lang="en-US" sz="1600" dirty="0">
                <a:latin typeface="Cambria" panose="02040503050406030204" pitchFamily="18" charset="0"/>
                <a:ea typeface="Cambria" panose="02040503050406030204" pitchFamily="18" charset="0"/>
              </a:rPr>
              <a:t> vi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en-US" sz="1600" dirty="0">
                <a:latin typeface="Cambria" panose="02040503050406030204" pitchFamily="18" charset="0"/>
                <a:ea typeface="Cambria" panose="02040503050406030204" pitchFamily="18" charset="0"/>
              </a:rPr>
              <a:t> </a:t>
            </a:r>
          </a:p>
          <a:p>
            <a:pPr marL="574675" lvl="1" indent="-285750">
              <a:buClr>
                <a:schemeClr val="accent2">
                  <a:lumMod val="75000"/>
                </a:schemeClr>
              </a:buClr>
              <a:buSzPct val="140000"/>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Chức</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năng</a:t>
            </a:r>
            <a:r>
              <a:rPr lang="en-US" sz="1600" i="1" dirty="0">
                <a:latin typeface="Cambria" panose="02040503050406030204" pitchFamily="18" charset="0"/>
                <a:ea typeface="Cambria" panose="02040503050406030204" pitchFamily="18" charset="0"/>
              </a:rPr>
              <a:t> </a:t>
            </a:r>
          </a:p>
          <a:p>
            <a:pPr marL="574675" lvl="1" indent="-285750">
              <a:buClr>
                <a:schemeClr val="accent2">
                  <a:lumMod val="75000"/>
                </a:schemeClr>
              </a:buClr>
              <a:buSzPct val="140000"/>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Đặc</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tính</a:t>
            </a:r>
            <a:r>
              <a:rPr lang="en-US" sz="1600" i="1" dirty="0">
                <a:latin typeface="Cambria" panose="02040503050406030204" pitchFamily="18" charset="0"/>
                <a:ea typeface="Cambria" panose="02040503050406030204" pitchFamily="18" charset="0"/>
              </a:rPr>
              <a:t> </a:t>
            </a:r>
          </a:p>
          <a:p>
            <a:pPr marL="574675" lvl="1" indent="-285750">
              <a:buClr>
                <a:schemeClr val="accent2">
                  <a:lumMod val="75000"/>
                </a:schemeClr>
              </a:buClr>
              <a:buSzPct val="140000"/>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Kết</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quả</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đầu</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ra</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hệ</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thống</a:t>
            </a:r>
            <a:r>
              <a:rPr lang="en-US" sz="1600" i="1" dirty="0">
                <a:latin typeface="Cambria" panose="02040503050406030204" pitchFamily="18" charset="0"/>
                <a:ea typeface="Cambria" panose="02040503050406030204" pitchFamily="18" charset="0"/>
              </a:rPr>
              <a:t> </a:t>
            </a:r>
          </a:p>
          <a:p>
            <a:pPr marL="574675" lvl="1" indent="-285750">
              <a:buClr>
                <a:schemeClr val="accent2">
                  <a:lumMod val="75000"/>
                </a:schemeClr>
              </a:buClr>
              <a:buSzPct val="140000"/>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Hiệu</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suất</a:t>
            </a:r>
            <a:r>
              <a:rPr lang="en-US" sz="1600" i="1" dirty="0">
                <a:latin typeface="Cambria" panose="02040503050406030204" pitchFamily="18" charset="0"/>
                <a:ea typeface="Cambria" panose="02040503050406030204" pitchFamily="18" charset="0"/>
              </a:rPr>
              <a:t> </a:t>
            </a:r>
          </a:p>
          <a:p>
            <a:pPr marL="574675" lvl="1" indent="-285750">
              <a:buClr>
                <a:schemeClr val="accent2">
                  <a:lumMod val="75000"/>
                </a:schemeClr>
              </a:buClr>
              <a:buSzPct val="140000"/>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Độ</a:t>
            </a:r>
            <a:r>
              <a:rPr lang="en-US" sz="1600" i="1" dirty="0">
                <a:latin typeface="Cambria" panose="02040503050406030204" pitchFamily="18" charset="0"/>
                <a:ea typeface="Cambria" panose="02040503050406030204" pitchFamily="18" charset="0"/>
              </a:rPr>
              <a:t> tin </a:t>
            </a:r>
            <a:r>
              <a:rPr lang="en-US" sz="1600" i="1" dirty="0" err="1">
                <a:latin typeface="Cambria" panose="02040503050406030204" pitchFamily="18" charset="0"/>
                <a:ea typeface="Cambria" panose="02040503050406030204" pitchFamily="18" charset="0"/>
              </a:rPr>
              <a:t>cậy</a:t>
            </a:r>
            <a:r>
              <a:rPr lang="en-US" sz="1600" i="1" dirty="0">
                <a:latin typeface="Cambria" panose="02040503050406030204" pitchFamily="18" charset="0"/>
                <a:ea typeface="Cambria" panose="02040503050406030204" pitchFamily="18" charset="0"/>
              </a:rPr>
              <a:t> </a:t>
            </a:r>
          </a:p>
          <a:p>
            <a:pPr marL="574675" lvl="1" indent="-285750">
              <a:buClr>
                <a:schemeClr val="accent2">
                  <a:lumMod val="75000"/>
                </a:schemeClr>
              </a:buClr>
              <a:buSzPct val="140000"/>
              <a:buFont typeface="Courier New" panose="02070309020205020404" pitchFamily="49" charset="0"/>
              <a:buChar char="o"/>
            </a:pPr>
            <a:r>
              <a:rPr lang="en-US" sz="1600" i="1" dirty="0" err="1">
                <a:latin typeface="Cambria" panose="02040503050406030204" pitchFamily="18" charset="0"/>
                <a:ea typeface="Cambria" panose="02040503050406030204" pitchFamily="18" charset="0"/>
              </a:rPr>
              <a:t>Bảo</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trì</a:t>
            </a:r>
            <a:r>
              <a:rPr lang="en-US" sz="1600" i="1" dirty="0">
                <a:latin typeface="Cambria" panose="02040503050406030204" pitchFamily="18" charset="0"/>
                <a:ea typeface="Cambria" panose="02040503050406030204" pitchFamily="18" charset="0"/>
              </a:rPr>
              <a:t> </a:t>
            </a:r>
          </a:p>
          <a:p>
            <a:pPr marL="285750" lvl="1" indent="-285750" algn="just">
              <a:buClr>
                <a:schemeClr val="accent2">
                  <a:lumMod val="75000"/>
                </a:schemeClr>
              </a:buClr>
              <a:buSzPct val="140000"/>
              <a:buFont typeface="Wingdings" panose="05000000000000000000" pitchFamily="2" charset="2"/>
              <a:buChar char="§"/>
            </a:pPr>
            <a:endParaRPr lang="en-US" sz="1600" dirty="0">
              <a:latin typeface="Cambria" panose="02040503050406030204" pitchFamily="18" charset="0"/>
              <a:ea typeface="Cambria" panose="02040503050406030204" pitchFamily="18" charset="0"/>
            </a:endParaRPr>
          </a:p>
        </p:txBody>
      </p:sp>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CHẤT LƯỢNG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1220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1000"/>
                                        <p:tgtEl>
                                          <p:spTgt spid="3">
                                            <p:txEl>
                                              <p:pRg st="6" end="6"/>
                                            </p:txEl>
                                          </p:spTgt>
                                        </p:tgtEl>
                                      </p:cBhvr>
                                    </p:animEffect>
                                    <p:anim calcmode="lin" valueType="num">
                                      <p:cBhvr>
                                        <p:cTn id="3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1000"/>
                                        <p:tgtEl>
                                          <p:spTgt spid="3">
                                            <p:txEl>
                                              <p:pRg st="7" end="7"/>
                                            </p:txEl>
                                          </p:spTgt>
                                        </p:tgtEl>
                                      </p:cBhvr>
                                    </p:animEffect>
                                    <p:anim calcmode="lin" valueType="num">
                                      <p:cBhvr>
                                        <p:cTn id="3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1000"/>
                                        <p:tgtEl>
                                          <p:spTgt spid="3">
                                            <p:txEl>
                                              <p:pRg st="8" end="8"/>
                                            </p:txEl>
                                          </p:spTgt>
                                        </p:tgtEl>
                                      </p:cBhvr>
                                    </p:animEffect>
                                    <p:anim calcmode="lin" valueType="num">
                                      <p:cBhvr>
                                        <p:cTn id="4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1000"/>
                                        <p:tgtEl>
                                          <p:spTgt spid="3">
                                            <p:txEl>
                                              <p:pRg st="9" end="9"/>
                                            </p:txEl>
                                          </p:spTgt>
                                        </p:tgtEl>
                                      </p:cBhvr>
                                    </p:animEffect>
                                    <p:anim calcmode="lin" valueType="num">
                                      <p:cBhvr>
                                        <p:cTn id="45"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Effect transition="in" filter="fade">
                                      <p:cBhvr>
                                        <p:cTn id="49" dur="1000"/>
                                        <p:tgtEl>
                                          <p:spTgt spid="3">
                                            <p:txEl>
                                              <p:pRg st="10" end="10"/>
                                            </p:txEl>
                                          </p:spTgt>
                                        </p:tgtEl>
                                      </p:cBhvr>
                                    </p:animEffect>
                                    <p:anim calcmode="lin" valueType="num">
                                      <p:cBhvr>
                                        <p:cTn id="5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Effect transition="in" filter="fade">
                                      <p:cBhvr>
                                        <p:cTn id="54" dur="1000"/>
                                        <p:tgtEl>
                                          <p:spTgt spid="3">
                                            <p:txEl>
                                              <p:pRg st="11" end="11"/>
                                            </p:txEl>
                                          </p:spTgt>
                                        </p:tgtEl>
                                      </p:cBhvr>
                                    </p:animEffect>
                                    <p:anim calcmode="lin" valueType="num">
                                      <p:cBhvr>
                                        <p:cTn id="5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animEffect transition="in" filter="fade">
                                      <p:cBhvr>
                                        <p:cTn id="59" dur="1000"/>
                                        <p:tgtEl>
                                          <p:spTgt spid="3">
                                            <p:txEl>
                                              <p:pRg st="12" end="12"/>
                                            </p:txEl>
                                          </p:spTgt>
                                        </p:tgtEl>
                                      </p:cBhvr>
                                    </p:animEffect>
                                    <p:anim calcmode="lin" valueType="num">
                                      <p:cBhvr>
                                        <p:cTn id="60"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F014F0-A170-35A0-6640-3E89954B63B2}"/>
              </a:ext>
            </a:extLst>
          </p:cNvPr>
          <p:cNvSpPr txBox="1"/>
          <p:nvPr/>
        </p:nvSpPr>
        <p:spPr>
          <a:xfrm>
            <a:off x="423418" y="724376"/>
            <a:ext cx="11489974" cy="1846659"/>
          </a:xfrm>
          <a:prstGeom prst="rect">
            <a:avLst/>
          </a:prstGeom>
          <a:solidFill>
            <a:schemeClr val="accent6">
              <a:lumMod val="60000"/>
              <a:lumOff val="40000"/>
              <a:alpha val="15000"/>
            </a:schemeClr>
          </a:solidFill>
        </p:spPr>
        <p:txBody>
          <a:bodyPr wrap="square">
            <a:spAutoFit/>
          </a:bodyPr>
          <a:lstStyle/>
          <a:p>
            <a:r>
              <a:rPr lang="en-US" sz="1600" b="1" dirty="0" err="1">
                <a:solidFill>
                  <a:srgbClr val="0070C0"/>
                </a:solidFill>
                <a:latin typeface="Cambria" panose="02040503050406030204" pitchFamily="18" charset="0"/>
                <a:ea typeface="Cambria" panose="02040503050406030204" pitchFamily="18" charset="0"/>
              </a:rPr>
              <a:t>Đảm</a:t>
            </a:r>
            <a:r>
              <a:rPr lang="en-US" sz="1600" b="1" dirty="0">
                <a:solidFill>
                  <a:srgbClr val="0070C0"/>
                </a:solidFill>
                <a:latin typeface="Cambria" panose="02040503050406030204" pitchFamily="18" charset="0"/>
                <a:ea typeface="Cambria" panose="02040503050406030204" pitchFamily="18" charset="0"/>
              </a:rPr>
              <a:t> </a:t>
            </a:r>
            <a:r>
              <a:rPr lang="en-US" sz="1600" b="1" dirty="0" err="1">
                <a:solidFill>
                  <a:srgbClr val="0070C0"/>
                </a:solidFill>
                <a:latin typeface="Cambria" panose="02040503050406030204" pitchFamily="18" charset="0"/>
                <a:ea typeface="Cambria" panose="02040503050406030204" pitchFamily="18" charset="0"/>
              </a:rPr>
              <a:t>bảo</a:t>
            </a:r>
            <a:r>
              <a:rPr lang="en-US" sz="1600" b="1" dirty="0">
                <a:solidFill>
                  <a:srgbClr val="0070C0"/>
                </a:solidFill>
                <a:latin typeface="Cambria" panose="02040503050406030204" pitchFamily="18" charset="0"/>
                <a:ea typeface="Cambria" panose="02040503050406030204" pitchFamily="18" charset="0"/>
              </a:rPr>
              <a:t> </a:t>
            </a:r>
            <a:r>
              <a:rPr lang="en-US" sz="1600" b="1" dirty="0" err="1">
                <a:solidFill>
                  <a:srgbClr val="0070C0"/>
                </a:solidFill>
                <a:latin typeface="Cambria" panose="02040503050406030204" pitchFamily="18" charset="0"/>
                <a:ea typeface="Cambria" panose="02040503050406030204" pitchFamily="18" charset="0"/>
              </a:rPr>
              <a:t>chất</a:t>
            </a:r>
            <a:r>
              <a:rPr lang="en-US" sz="1600" b="1" dirty="0">
                <a:solidFill>
                  <a:srgbClr val="0070C0"/>
                </a:solidFill>
                <a:latin typeface="Cambria" panose="02040503050406030204" pitchFamily="18" charset="0"/>
                <a:ea typeface="Cambria" panose="02040503050406030204" pitchFamily="18" charset="0"/>
              </a:rPr>
              <a:t> </a:t>
            </a:r>
            <a:r>
              <a:rPr lang="en-US" sz="1600" b="1" dirty="0" err="1">
                <a:solidFill>
                  <a:srgbClr val="0070C0"/>
                </a:solidFill>
                <a:latin typeface="Cambria" panose="02040503050406030204" pitchFamily="18" charset="0"/>
                <a:ea typeface="Cambria" panose="02040503050406030204" pitchFamily="18" charset="0"/>
              </a:rPr>
              <a:t>lượng</a:t>
            </a:r>
            <a:r>
              <a:rPr lang="en-US" sz="1600" b="1" dirty="0">
                <a:solidFill>
                  <a:srgbClr val="0070C0"/>
                </a:solidFill>
                <a:latin typeface="Cambria" panose="02040503050406030204" pitchFamily="18" charset="0"/>
                <a:ea typeface="Cambria" panose="02040503050406030204" pitchFamily="18" charset="0"/>
              </a:rPr>
              <a:t> </a:t>
            </a:r>
          </a:p>
          <a:p>
            <a:endParaRPr lang="en-US" dirty="0"/>
          </a:p>
          <a:p>
            <a:pPr marL="285750" lvl="1" indent="-285750" algn="jus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Đảm bảo chất lượng (Quality assurance) </a:t>
            </a:r>
          </a:p>
          <a:p>
            <a:pPr marL="285750" lvl="1" indent="-285750" algn="jus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Tiêu</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chuẩn</a:t>
            </a:r>
            <a:r>
              <a:rPr lang="en-US" sz="1600" dirty="0">
                <a:latin typeface="Cambria" panose="02040503050406030204" pitchFamily="18" charset="0"/>
                <a:ea typeface="Cambria" panose="02040503050406030204" pitchFamily="18" charset="0"/>
              </a:rPr>
              <a:t> (Benchmarking) </a:t>
            </a:r>
          </a:p>
          <a:p>
            <a:pPr marL="285750" lvl="1" indent="-285750" algn="jus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Kiểm định chất lượng (</a:t>
            </a:r>
            <a:r>
              <a:rPr lang="en-US" sz="1600" dirty="0">
                <a:latin typeface="Cambria" panose="02040503050406030204" pitchFamily="18" charset="0"/>
                <a:ea typeface="Cambria" panose="02040503050406030204" pitchFamily="18" charset="0"/>
              </a:rPr>
              <a:t>Q</a:t>
            </a:r>
            <a:r>
              <a:rPr lang="vi-VN" sz="1600" dirty="0">
                <a:latin typeface="Cambria" panose="02040503050406030204" pitchFamily="18" charset="0"/>
                <a:ea typeface="Cambria" panose="02040503050406030204" pitchFamily="18" charset="0"/>
              </a:rPr>
              <a:t>uality audit) </a:t>
            </a:r>
          </a:p>
          <a:p>
            <a:pPr marL="574675" lvl="1" indent="-285750">
              <a:buClr>
                <a:schemeClr val="accent2">
                  <a:lumMod val="75000"/>
                </a:schemeClr>
              </a:buClr>
              <a:buSzPct val="140000"/>
              <a:buFont typeface="Courier New" panose="02070309020205020404" pitchFamily="49" charset="0"/>
              <a:buChar char="o"/>
            </a:pPr>
            <a:endParaRPr lang="vi-VN" sz="1600" i="1" dirty="0">
              <a:latin typeface="Cambria" panose="02040503050406030204" pitchFamily="18" charset="0"/>
              <a:ea typeface="Cambria" panose="02040503050406030204" pitchFamily="18" charset="0"/>
            </a:endParaRPr>
          </a:p>
          <a:p>
            <a:pPr marL="285750" lvl="1" indent="-285750" algn="just">
              <a:buClr>
                <a:schemeClr val="accent2">
                  <a:lumMod val="75000"/>
                </a:schemeClr>
              </a:buClr>
              <a:buSzPct val="140000"/>
              <a:buFont typeface="Wingdings" panose="05000000000000000000" pitchFamily="2" charset="2"/>
              <a:buChar char="§"/>
            </a:pPr>
            <a:endParaRPr lang="en-US" sz="1600" dirty="0">
              <a:latin typeface="Cambria" panose="02040503050406030204" pitchFamily="18" charset="0"/>
              <a:ea typeface="Cambria" panose="02040503050406030204" pitchFamily="18" charset="0"/>
            </a:endParaRPr>
          </a:p>
        </p:txBody>
      </p:sp>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CHẤT LƯỢNG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AF48245-879B-B9B0-26D1-507E25428B7E}"/>
              </a:ext>
            </a:extLst>
          </p:cNvPr>
          <p:cNvSpPr txBox="1"/>
          <p:nvPr/>
        </p:nvSpPr>
        <p:spPr>
          <a:xfrm>
            <a:off x="423418" y="2714291"/>
            <a:ext cx="4176863" cy="2708434"/>
          </a:xfrm>
          <a:prstGeom prst="rect">
            <a:avLst/>
          </a:prstGeom>
          <a:solidFill>
            <a:schemeClr val="accent6">
              <a:lumMod val="40000"/>
              <a:lumOff val="60000"/>
              <a:alpha val="17000"/>
            </a:schemeClr>
          </a:solidFill>
        </p:spPr>
        <p:txBody>
          <a:bodyPr wrap="square">
            <a:spAutoFit/>
          </a:bodyPr>
          <a:lstStyle/>
          <a:p>
            <a:pPr algn="l"/>
            <a:endParaRPr lang="en-US" sz="1000" b="0" i="0" u="none" strike="noStrike" baseline="0" dirty="0">
              <a:solidFill>
                <a:srgbClr val="000000"/>
              </a:solidFill>
              <a:latin typeface="Wingdings 2" panose="05020102010507070707" pitchFamily="18" charset="2"/>
            </a:endParaRPr>
          </a:p>
          <a:p>
            <a:pPr marL="285750" lvl="1" indent="-285750" algn="just">
              <a:buClr>
                <a:schemeClr val="accent2">
                  <a:lumMod val="75000"/>
                </a:schemeClr>
              </a:buClr>
              <a:buSzPct val="140000"/>
              <a:buFont typeface="Wingdings" panose="05000000000000000000" pitchFamily="2" charset="2"/>
              <a:buChar char="§"/>
            </a:pPr>
            <a:r>
              <a:rPr lang="en-US" sz="1600" dirty="0">
                <a:latin typeface="Cambria" panose="02040503050406030204" pitchFamily="18" charset="0"/>
                <a:ea typeface="Cambria" panose="02040503050406030204" pitchFamily="18" charset="0"/>
              </a:rPr>
              <a:t>PM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phải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xác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định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tầm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quan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trọng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của</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các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biến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động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vì</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liên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quan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đến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tổng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thể</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endParaRPr lang="en-US" sz="1600" dirty="0">
              <a:latin typeface="Cambria" panose="02040503050406030204" pitchFamily="18" charset="0"/>
              <a:ea typeface="Cambria" panose="02040503050406030204" pitchFamily="18" charset="0"/>
            </a:endParaRPr>
          </a:p>
          <a:p>
            <a:pPr marL="285750" lvl="1" indent="-285750" algn="just">
              <a:buClr>
                <a:schemeClr val="accent2">
                  <a:lumMod val="75000"/>
                </a:schemeClr>
              </a:buClr>
              <a:buSzPct val="140000"/>
              <a:buFont typeface="Wingdings" panose="05000000000000000000" pitchFamily="2" charset="2"/>
              <a:buChar char="§"/>
            </a:pPr>
            <a:r>
              <a:rPr lang="en-US" sz="1600" dirty="0">
                <a:latin typeface="Cambria" panose="02040503050406030204" pitchFamily="18" charset="0"/>
                <a:ea typeface="Cambria" panose="02040503050406030204" pitchFamily="18" charset="0"/>
              </a:rPr>
              <a:t>PM </a:t>
            </a:r>
            <a:r>
              <a:rPr lang="vi-VN" sz="1600" dirty="0">
                <a:latin typeface="Cambria" panose="02040503050406030204" pitchFamily="18" charset="0"/>
                <a:ea typeface="Cambria" panose="02040503050406030204" pitchFamily="18" charset="0"/>
              </a:rPr>
              <a:t>dự án phải xác định các ngưỡng giới hạn mà dự án đặt ra cho các biến động trong phạm vi dự án, cũng như trong bối cảnh của tổ chức và sử dụng nguồn lực hợp lý </a:t>
            </a:r>
          </a:p>
          <a:p>
            <a:pPr marL="285750" lvl="1" indent="-285750" algn="jus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Phân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tích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nguyên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nhân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sâu</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xa</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xác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định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nguyên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nhân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chính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xác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của</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vấn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đề</a:t>
            </a:r>
            <a:r>
              <a:rPr lang="en-US" sz="1600"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2653228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F014F0-A170-35A0-6640-3E89954B63B2}"/>
              </a:ext>
            </a:extLst>
          </p:cNvPr>
          <p:cNvSpPr txBox="1"/>
          <p:nvPr/>
        </p:nvSpPr>
        <p:spPr>
          <a:xfrm>
            <a:off x="423418" y="743230"/>
            <a:ext cx="11429227" cy="2308324"/>
          </a:xfrm>
          <a:prstGeom prst="rect">
            <a:avLst/>
          </a:prstGeom>
          <a:solidFill>
            <a:schemeClr val="accent6">
              <a:lumMod val="60000"/>
              <a:lumOff val="40000"/>
              <a:alpha val="15000"/>
            </a:schemeClr>
          </a:solidFill>
        </p:spPr>
        <p:txBody>
          <a:bodyPr wrap="square">
            <a:spAutoFit/>
          </a:bodyPr>
          <a:lstStyle/>
          <a:p>
            <a:r>
              <a:rPr lang="en-US" sz="1600" b="1" dirty="0" err="1">
                <a:solidFill>
                  <a:srgbClr val="0070C0"/>
                </a:solidFill>
                <a:latin typeface="Cambria" panose="02040503050406030204" pitchFamily="18" charset="0"/>
                <a:ea typeface="Cambria" panose="02040503050406030204" pitchFamily="18" charset="0"/>
              </a:rPr>
              <a:t>Đảm</a:t>
            </a:r>
            <a:r>
              <a:rPr lang="en-US" sz="1600" b="1" dirty="0">
                <a:solidFill>
                  <a:srgbClr val="0070C0"/>
                </a:solidFill>
                <a:latin typeface="Cambria" panose="02040503050406030204" pitchFamily="18" charset="0"/>
                <a:ea typeface="Cambria" panose="02040503050406030204" pitchFamily="18" charset="0"/>
              </a:rPr>
              <a:t> </a:t>
            </a:r>
            <a:r>
              <a:rPr lang="en-US" sz="1600" b="1" dirty="0" err="1">
                <a:solidFill>
                  <a:srgbClr val="0070C0"/>
                </a:solidFill>
                <a:latin typeface="Cambria" panose="02040503050406030204" pitchFamily="18" charset="0"/>
                <a:ea typeface="Cambria" panose="02040503050406030204" pitchFamily="18" charset="0"/>
              </a:rPr>
              <a:t>bảo</a:t>
            </a:r>
            <a:r>
              <a:rPr lang="en-US" sz="1600" b="1" dirty="0">
                <a:solidFill>
                  <a:srgbClr val="0070C0"/>
                </a:solidFill>
                <a:latin typeface="Cambria" panose="02040503050406030204" pitchFamily="18" charset="0"/>
                <a:ea typeface="Cambria" panose="02040503050406030204" pitchFamily="18" charset="0"/>
              </a:rPr>
              <a:t> </a:t>
            </a:r>
            <a:r>
              <a:rPr lang="en-US" sz="1600" b="1" dirty="0" err="1">
                <a:solidFill>
                  <a:srgbClr val="0070C0"/>
                </a:solidFill>
                <a:latin typeface="Cambria" panose="02040503050406030204" pitchFamily="18" charset="0"/>
                <a:ea typeface="Cambria" panose="02040503050406030204" pitchFamily="18" charset="0"/>
              </a:rPr>
              <a:t>chất</a:t>
            </a:r>
            <a:r>
              <a:rPr lang="en-US" sz="1600" b="1" dirty="0">
                <a:solidFill>
                  <a:srgbClr val="0070C0"/>
                </a:solidFill>
                <a:latin typeface="Cambria" panose="02040503050406030204" pitchFamily="18" charset="0"/>
                <a:ea typeface="Cambria" panose="02040503050406030204" pitchFamily="18" charset="0"/>
              </a:rPr>
              <a:t> </a:t>
            </a:r>
            <a:r>
              <a:rPr lang="en-US" sz="1600" b="1" dirty="0" err="1">
                <a:solidFill>
                  <a:srgbClr val="0070C0"/>
                </a:solidFill>
                <a:latin typeface="Cambria" panose="02040503050406030204" pitchFamily="18" charset="0"/>
                <a:ea typeface="Cambria" panose="02040503050406030204" pitchFamily="18" charset="0"/>
              </a:rPr>
              <a:t>lượng</a:t>
            </a:r>
            <a:r>
              <a:rPr lang="en-US" sz="1600" b="1" dirty="0">
                <a:solidFill>
                  <a:srgbClr val="0070C0"/>
                </a:solidFill>
                <a:latin typeface="Cambria" panose="02040503050406030204" pitchFamily="18" charset="0"/>
                <a:ea typeface="Cambria" panose="02040503050406030204" pitchFamily="18" charset="0"/>
              </a:rPr>
              <a:t> </a:t>
            </a:r>
          </a:p>
          <a:p>
            <a:pPr marL="0" lvl="1" algn="just">
              <a:buClr>
                <a:schemeClr val="accent2">
                  <a:lumMod val="75000"/>
                </a:schemeClr>
              </a:buClr>
              <a:buSzPct val="140000"/>
            </a:pPr>
            <a:r>
              <a:rPr lang="vi-VN" sz="1600" dirty="0">
                <a:latin typeface="Cambria" panose="02040503050406030204" pitchFamily="18" charset="0"/>
                <a:ea typeface="Cambria" panose="02040503050406030204" pitchFamily="18" charset="0"/>
              </a:rPr>
              <a:t>Quá trình quản lý chất lượng </a:t>
            </a:r>
          </a:p>
          <a:p>
            <a:pPr marL="285750" lvl="1" indent="-285750" algn="jus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Tiến hành kiểm định các gói công việc đã hoàn thành cũng như đang thực hiện </a:t>
            </a:r>
          </a:p>
          <a:p>
            <a:pPr marL="285750" lvl="1" indent="-285750" algn="jus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Tiến hành kiểm định chất lượng các gói công việc </a:t>
            </a:r>
          </a:p>
          <a:p>
            <a:pPr marL="285750" lvl="1" indent="-285750" algn="jus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Tiến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hành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kiểm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định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việc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quản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lý</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phiên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bản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và</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quy</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trình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quản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lý</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cấu</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hình</a:t>
            </a:r>
            <a:r>
              <a:rPr lang="en-US" sz="1600" dirty="0">
                <a:latin typeface="Cambria" panose="02040503050406030204" pitchFamily="18" charset="0"/>
                <a:ea typeface="Cambria" panose="02040503050406030204" pitchFamily="18" charset="0"/>
              </a:rPr>
              <a:t> </a:t>
            </a:r>
          </a:p>
          <a:p>
            <a:pPr marL="285750" lvl="1" indent="-285750" algn="jus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Phân tích biến động về chất lượng để xác định nguyên nhân sâu xa của vấn đề. </a:t>
            </a:r>
          </a:p>
          <a:p>
            <a:pPr marL="285750" lvl="1" indent="-285750" algn="jus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Phân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tích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tầm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quan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trọng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của</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bất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biến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động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nào</a:t>
            </a:r>
            <a:r>
              <a:rPr lang="en-US" sz="1600" dirty="0">
                <a:latin typeface="Cambria" panose="02040503050406030204" pitchFamily="18" charset="0"/>
                <a:ea typeface="Cambria" panose="02040503050406030204" pitchFamily="18" charset="0"/>
              </a:rPr>
              <a:t> </a:t>
            </a:r>
          </a:p>
          <a:p>
            <a:pPr marL="285750" lvl="1" indent="-285750" algn="jus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Nhận biết khi nảo bảng kí nhận của khách hàng là quan trọng cho việc chấp nhận chất lượng sản phẩm làm ra </a:t>
            </a:r>
          </a:p>
          <a:p>
            <a:pPr marL="285750" lvl="1" indent="-285750" algn="just">
              <a:buClr>
                <a:schemeClr val="accent2">
                  <a:lumMod val="75000"/>
                </a:schemeClr>
              </a:buClr>
              <a:buSzPct val="140000"/>
              <a:buFont typeface="Wingdings" panose="05000000000000000000" pitchFamily="2" charset="2"/>
              <a:buChar char="§"/>
            </a:pPr>
            <a:endParaRPr lang="en-US" sz="1600" dirty="0">
              <a:latin typeface="Cambria" panose="02040503050406030204" pitchFamily="18" charset="0"/>
              <a:ea typeface="Cambria" panose="02040503050406030204" pitchFamily="18" charset="0"/>
            </a:endParaRPr>
          </a:p>
        </p:txBody>
      </p:sp>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CHẤT LƯỢNG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4008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F014F0-A170-35A0-6640-3E89954B63B2}"/>
              </a:ext>
            </a:extLst>
          </p:cNvPr>
          <p:cNvSpPr txBox="1"/>
          <p:nvPr/>
        </p:nvSpPr>
        <p:spPr>
          <a:xfrm>
            <a:off x="423417" y="1087829"/>
            <a:ext cx="4139873" cy="1323439"/>
          </a:xfrm>
          <a:prstGeom prst="rect">
            <a:avLst/>
          </a:prstGeom>
          <a:solidFill>
            <a:schemeClr val="accent6">
              <a:lumMod val="60000"/>
              <a:lumOff val="40000"/>
              <a:alpha val="15000"/>
            </a:schemeClr>
          </a:solidFill>
        </p:spPr>
        <p:txBody>
          <a:bodyPr wrap="square">
            <a:spAutoFit/>
          </a:bodyPr>
          <a:lstStyle/>
          <a:p>
            <a:pPr marL="0" lvl="1" algn="just">
              <a:buClr>
                <a:schemeClr val="accent2">
                  <a:lumMod val="75000"/>
                </a:schemeClr>
              </a:buClr>
              <a:buSzPct val="140000"/>
            </a:pPr>
            <a:r>
              <a:rPr lang="vi-VN" sz="1600" dirty="0">
                <a:latin typeface="Cambria" panose="02040503050406030204" pitchFamily="18" charset="0"/>
                <a:ea typeface="Cambria" panose="02040503050406030204" pitchFamily="18" charset="0"/>
              </a:rPr>
              <a:t>Các kết quả chính của kiểm soát chất lượng là </a:t>
            </a:r>
          </a:p>
          <a:p>
            <a:pPr marL="285750" lvl="1" indent="-285750" algn="jus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Quyết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định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nghiệm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thu</a:t>
            </a:r>
            <a:r>
              <a:rPr lang="en-US" sz="1600" dirty="0">
                <a:latin typeface="Cambria" panose="02040503050406030204" pitchFamily="18" charset="0"/>
                <a:ea typeface="Cambria" panose="02040503050406030204" pitchFamily="18" charset="0"/>
              </a:rPr>
              <a:t> </a:t>
            </a:r>
          </a:p>
          <a:p>
            <a:pPr marL="285750" lvl="1" indent="-285750" algn="jus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Làm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lại</a:t>
            </a:r>
            <a:r>
              <a:rPr lang="en-US" sz="1600" dirty="0">
                <a:latin typeface="Cambria" panose="02040503050406030204" pitchFamily="18" charset="0"/>
                <a:ea typeface="Cambria" panose="02040503050406030204" pitchFamily="18" charset="0"/>
              </a:rPr>
              <a:t> </a:t>
            </a:r>
          </a:p>
          <a:p>
            <a:pPr marL="285750" lvl="1" indent="-285750" algn="jus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Điều</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chỉnh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quá</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trình</a:t>
            </a:r>
            <a:r>
              <a:rPr lang="en-US" sz="1600" dirty="0">
                <a:latin typeface="Cambria" panose="02040503050406030204" pitchFamily="18" charset="0"/>
                <a:ea typeface="Cambria" panose="02040503050406030204" pitchFamily="18" charset="0"/>
              </a:rPr>
              <a:t> </a:t>
            </a:r>
          </a:p>
          <a:p>
            <a:pPr marL="285750" lvl="1" indent="-285750" algn="just">
              <a:buClr>
                <a:schemeClr val="accent2">
                  <a:lumMod val="75000"/>
                </a:schemeClr>
              </a:buClr>
              <a:buSzPct val="140000"/>
              <a:buFont typeface="Wingdings" panose="05000000000000000000" pitchFamily="2" charset="2"/>
              <a:buChar char="§"/>
            </a:pPr>
            <a:endParaRPr lang="en-US" sz="1600" dirty="0">
              <a:latin typeface="Cambria" panose="02040503050406030204" pitchFamily="18" charset="0"/>
              <a:ea typeface="Cambria" panose="02040503050406030204" pitchFamily="18" charset="0"/>
            </a:endParaRPr>
          </a:p>
        </p:txBody>
      </p:sp>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CHẤT LƯỢNG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3B266E-FEFE-73CF-4731-E3E0DA193FB9}"/>
              </a:ext>
            </a:extLst>
          </p:cNvPr>
          <p:cNvSpPr txBox="1"/>
          <p:nvPr/>
        </p:nvSpPr>
        <p:spPr>
          <a:xfrm>
            <a:off x="423417" y="2498599"/>
            <a:ext cx="4139873" cy="1815882"/>
          </a:xfrm>
          <a:prstGeom prst="rect">
            <a:avLst/>
          </a:prstGeom>
          <a:solidFill>
            <a:schemeClr val="accent2">
              <a:lumMod val="20000"/>
              <a:lumOff val="80000"/>
            </a:schemeClr>
          </a:solidFill>
        </p:spPr>
        <p:txBody>
          <a:bodyPr wrap="square">
            <a:spAutoFit/>
          </a:bodyPr>
          <a:lstStyle/>
          <a:p>
            <a:pPr marL="0" lvl="1" algn="just">
              <a:buClr>
                <a:schemeClr val="accent2">
                  <a:lumMod val="75000"/>
                </a:schemeClr>
              </a:buClr>
              <a:buSzPct val="140000"/>
            </a:pPr>
            <a:r>
              <a:rPr lang="en-US" sz="1600" dirty="0" err="1">
                <a:latin typeface="Cambria" panose="02040503050406030204" pitchFamily="18" charset="0"/>
                <a:ea typeface="Cambria" panose="02040503050406030204" pitchFamily="18" charset="0"/>
              </a:rPr>
              <a:t>Các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hoạt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động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điều</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chỉnh</a:t>
            </a:r>
            <a:endParaRPr lang="en-US" sz="1600" dirty="0">
              <a:latin typeface="Cambria" panose="02040503050406030204" pitchFamily="18" charset="0"/>
              <a:ea typeface="Cambria" panose="02040503050406030204" pitchFamily="18" charset="0"/>
            </a:endParaRPr>
          </a:p>
          <a:p>
            <a:pPr marL="285750" lvl="1" indent="-285750" algn="jus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Khi việc thực hiện dự án không diễn ra theo kế hoạch, hoặc chất lượng sản phẩm/công việc chưa đạt yêu cầu </a:t>
            </a:r>
          </a:p>
          <a:p>
            <a:pPr marL="285750" lvl="1" indent="-285750" algn="jus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Khi chi phí cho dự án có nguy cơ tăng lên </a:t>
            </a:r>
          </a:p>
          <a:p>
            <a:pPr marL="285750" lvl="1" indent="-285750" algn="jus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Khi chất lượng công việc/sản phẩm có nguy cơ giảm </a:t>
            </a:r>
          </a:p>
        </p:txBody>
      </p:sp>
      <p:sp>
        <p:nvSpPr>
          <p:cNvPr id="9" name="TextBox 8">
            <a:extLst>
              <a:ext uri="{FF2B5EF4-FFF2-40B4-BE49-F238E27FC236}">
                <a16:creationId xmlns:a16="http://schemas.microsoft.com/office/drawing/2014/main" id="{D7682E58-3D34-C1F8-FA85-C603C3732712}"/>
              </a:ext>
            </a:extLst>
          </p:cNvPr>
          <p:cNvSpPr txBox="1"/>
          <p:nvPr/>
        </p:nvSpPr>
        <p:spPr>
          <a:xfrm>
            <a:off x="339355" y="653014"/>
            <a:ext cx="6096000" cy="369332"/>
          </a:xfrm>
          <a:prstGeom prst="rect">
            <a:avLst/>
          </a:prstGeom>
          <a:noFill/>
        </p:spPr>
        <p:txBody>
          <a:bodyPr wrap="square">
            <a:spAutoFit/>
          </a:bodyPr>
          <a:lstStyle/>
          <a:p>
            <a:r>
              <a:rPr lang="en-US" sz="1800" b="1" dirty="0" err="1">
                <a:solidFill>
                  <a:srgbClr val="0070C0"/>
                </a:solidFill>
                <a:latin typeface="Cambria" panose="02040503050406030204" pitchFamily="18" charset="0"/>
                <a:ea typeface="Cambria" panose="02040503050406030204" pitchFamily="18" charset="0"/>
              </a:rPr>
              <a:t>Kiểm</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soát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chất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lượng</a:t>
            </a:r>
            <a:r>
              <a:rPr lang="en-US" sz="1800" b="1" dirty="0">
                <a:solidFill>
                  <a:srgbClr val="0070C0"/>
                </a:solidFill>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493162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CHẤT LƯỢNG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7682E58-3D34-C1F8-FA85-C603C3732712}"/>
              </a:ext>
            </a:extLst>
          </p:cNvPr>
          <p:cNvSpPr txBox="1"/>
          <p:nvPr/>
        </p:nvSpPr>
        <p:spPr>
          <a:xfrm>
            <a:off x="339355" y="653014"/>
            <a:ext cx="6096000" cy="646331"/>
          </a:xfrm>
          <a:prstGeom prst="rect">
            <a:avLst/>
          </a:prstGeom>
          <a:noFill/>
        </p:spPr>
        <p:txBody>
          <a:bodyPr wrap="square">
            <a:spAutoFit/>
          </a:bodyPr>
          <a:lstStyle/>
          <a:p>
            <a:r>
              <a:rPr lang="en-US" sz="1800" b="1" dirty="0" err="1">
                <a:solidFill>
                  <a:srgbClr val="0070C0"/>
                </a:solidFill>
                <a:latin typeface="Cambria" panose="02040503050406030204" pitchFamily="18" charset="0"/>
                <a:ea typeface="Cambria" panose="02040503050406030204" pitchFamily="18" charset="0"/>
              </a:rPr>
              <a:t>Một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số</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công</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cụ</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kiểm</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soát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chất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lượng</a:t>
            </a:r>
            <a:endParaRPr lang="en-US" sz="1800" b="1" dirty="0">
              <a:solidFill>
                <a:srgbClr val="0070C0"/>
              </a:solidFill>
              <a:latin typeface="Cambria" panose="02040503050406030204" pitchFamily="18" charset="0"/>
              <a:ea typeface="Cambria" panose="02040503050406030204" pitchFamily="18" charset="0"/>
            </a:endParaRPr>
          </a:p>
          <a:p>
            <a:r>
              <a:rPr lang="vi-VN" sz="1800" b="0" i="0" u="none" strike="noStrike" baseline="0" dirty="0">
                <a:latin typeface="Cambria" panose="02040503050406030204" pitchFamily="18" charset="0"/>
                <a:ea typeface="Cambria" panose="02040503050406030204" pitchFamily="18" charset="0"/>
              </a:rPr>
              <a:t>Sơ đồ nguyên nhân và kết quả </a:t>
            </a:r>
            <a:r>
              <a:rPr lang="en-US" sz="1800" b="1" dirty="0">
                <a:solidFill>
                  <a:srgbClr val="0070C0"/>
                </a:solidFill>
                <a:latin typeface="Cambria" panose="02040503050406030204" pitchFamily="18" charset="0"/>
                <a:ea typeface="Cambria" panose="02040503050406030204" pitchFamily="18" charset="0"/>
              </a:rPr>
              <a:t> </a:t>
            </a:r>
          </a:p>
        </p:txBody>
      </p:sp>
      <p:pic>
        <p:nvPicPr>
          <p:cNvPr id="12" name="Picture 11">
            <a:extLst>
              <a:ext uri="{FF2B5EF4-FFF2-40B4-BE49-F238E27FC236}">
                <a16:creationId xmlns:a16="http://schemas.microsoft.com/office/drawing/2014/main" id="{5B049CE8-E1FA-DB15-4DE0-3DA245911DFE}"/>
              </a:ext>
            </a:extLst>
          </p:cNvPr>
          <p:cNvPicPr>
            <a:picLocks noChangeAspect="1"/>
          </p:cNvPicPr>
          <p:nvPr/>
        </p:nvPicPr>
        <p:blipFill>
          <a:blip r:embed="rId2"/>
          <a:stretch>
            <a:fillRect/>
          </a:stretch>
        </p:blipFill>
        <p:spPr>
          <a:xfrm>
            <a:off x="5499547" y="2597387"/>
            <a:ext cx="6592220" cy="3496163"/>
          </a:xfrm>
          <a:prstGeom prst="rect">
            <a:avLst/>
          </a:prstGeom>
        </p:spPr>
      </p:pic>
    </p:spTree>
    <p:extLst>
      <p:ext uri="{BB962C8B-B14F-4D97-AF65-F5344CB8AC3E}">
        <p14:creationId xmlns:p14="http://schemas.microsoft.com/office/powerpoint/2010/main" val="3559555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CHẤT LƯỢNG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7682E58-3D34-C1F8-FA85-C603C3732712}"/>
              </a:ext>
            </a:extLst>
          </p:cNvPr>
          <p:cNvSpPr txBox="1"/>
          <p:nvPr/>
        </p:nvSpPr>
        <p:spPr>
          <a:xfrm>
            <a:off x="339355" y="653014"/>
            <a:ext cx="6096000" cy="646331"/>
          </a:xfrm>
          <a:prstGeom prst="rect">
            <a:avLst/>
          </a:prstGeom>
          <a:noFill/>
        </p:spPr>
        <p:txBody>
          <a:bodyPr wrap="square">
            <a:spAutoFit/>
          </a:bodyPr>
          <a:lstStyle/>
          <a:p>
            <a:r>
              <a:rPr lang="en-US" sz="1800" b="1" dirty="0" err="1">
                <a:solidFill>
                  <a:srgbClr val="0070C0"/>
                </a:solidFill>
                <a:latin typeface="Cambria" panose="02040503050406030204" pitchFamily="18" charset="0"/>
                <a:ea typeface="Cambria" panose="02040503050406030204" pitchFamily="18" charset="0"/>
              </a:rPr>
              <a:t>Một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số</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công</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cụ</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kiểm</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soát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chất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lượng</a:t>
            </a:r>
            <a:endParaRPr lang="en-US" sz="1800" b="1" dirty="0">
              <a:solidFill>
                <a:srgbClr val="0070C0"/>
              </a:solidFill>
              <a:latin typeface="Cambria" panose="02040503050406030204" pitchFamily="18" charset="0"/>
              <a:ea typeface="Cambria" panose="02040503050406030204" pitchFamily="18" charset="0"/>
            </a:endParaRPr>
          </a:p>
          <a:p>
            <a:r>
              <a:rPr lang="en-US" sz="1800" b="0" i="0" u="none" strike="noStrike" baseline="0" dirty="0" err="1">
                <a:latin typeface="Cambria" panose="02040503050406030204" pitchFamily="18" charset="0"/>
                <a:ea typeface="Cambria" panose="02040503050406030204" pitchFamily="18" charset="0"/>
              </a:rPr>
              <a:t>Biểu</a:t>
            </a:r>
            <a:r>
              <a:rPr lang="en-US" sz="1800" b="0" i="0" u="none" strike="noStrike" baseline="0" dirty="0">
                <a:latin typeface="Cambria" panose="02040503050406030204" pitchFamily="18" charset="0"/>
                <a:ea typeface="Cambria" panose="02040503050406030204" pitchFamily="18" charset="0"/>
              </a:rPr>
              <a:t> </a:t>
            </a:r>
            <a:r>
              <a:rPr lang="en-US" sz="1800" b="0" i="0" u="none" strike="noStrike" baseline="0" dirty="0" err="1">
                <a:latin typeface="Cambria" panose="02040503050406030204" pitchFamily="18" charset="0"/>
                <a:ea typeface="Cambria" panose="02040503050406030204" pitchFamily="18" charset="0"/>
              </a:rPr>
              <a:t>đồ</a:t>
            </a:r>
            <a:r>
              <a:rPr lang="en-US" sz="1800" b="0" i="0" u="none" strike="noStrike" baseline="0"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soát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lượng</a:t>
            </a:r>
            <a:r>
              <a:rPr lang="en-US" dirty="0">
                <a:latin typeface="Cambria" panose="02040503050406030204" pitchFamily="18" charset="0"/>
                <a:ea typeface="Cambria" panose="02040503050406030204" pitchFamily="18" charset="0"/>
              </a:rPr>
              <a:t> </a:t>
            </a:r>
            <a:endParaRPr lang="en-US" sz="1800" b="1" dirty="0">
              <a:solidFill>
                <a:srgbClr val="0070C0"/>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EB389146-8037-12F4-C55E-75F7A77B0026}"/>
              </a:ext>
            </a:extLst>
          </p:cNvPr>
          <p:cNvPicPr>
            <a:picLocks noChangeAspect="1"/>
          </p:cNvPicPr>
          <p:nvPr/>
        </p:nvPicPr>
        <p:blipFill>
          <a:blip r:embed="rId2"/>
          <a:stretch>
            <a:fillRect/>
          </a:stretch>
        </p:blipFill>
        <p:spPr>
          <a:xfrm>
            <a:off x="5079083" y="3052450"/>
            <a:ext cx="6649378" cy="3019846"/>
          </a:xfrm>
          <a:prstGeom prst="rect">
            <a:avLst/>
          </a:prstGeom>
        </p:spPr>
      </p:pic>
    </p:spTree>
    <p:extLst>
      <p:ext uri="{BB962C8B-B14F-4D97-AF65-F5344CB8AC3E}">
        <p14:creationId xmlns:p14="http://schemas.microsoft.com/office/powerpoint/2010/main" val="528934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CHẤT LƯỢNG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7682E58-3D34-C1F8-FA85-C603C3732712}"/>
              </a:ext>
            </a:extLst>
          </p:cNvPr>
          <p:cNvSpPr txBox="1"/>
          <p:nvPr/>
        </p:nvSpPr>
        <p:spPr>
          <a:xfrm>
            <a:off x="339355" y="653014"/>
            <a:ext cx="6096000" cy="615553"/>
          </a:xfrm>
          <a:prstGeom prst="rect">
            <a:avLst/>
          </a:prstGeom>
          <a:noFill/>
        </p:spPr>
        <p:txBody>
          <a:bodyPr wrap="square">
            <a:spAutoFit/>
          </a:bodyPr>
          <a:lstStyle/>
          <a:p>
            <a:r>
              <a:rPr lang="en-US" sz="1800" b="1" dirty="0" err="1">
                <a:solidFill>
                  <a:srgbClr val="0070C0"/>
                </a:solidFill>
                <a:latin typeface="Cambria" panose="02040503050406030204" pitchFamily="18" charset="0"/>
                <a:ea typeface="Cambria" panose="02040503050406030204" pitchFamily="18" charset="0"/>
              </a:rPr>
              <a:t>Một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số</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công</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cụ</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kiểm</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soát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chất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lượng</a:t>
            </a:r>
            <a:endParaRPr lang="en-US" sz="1800" b="1" dirty="0">
              <a:solidFill>
                <a:srgbClr val="0070C0"/>
              </a:solidFill>
              <a:latin typeface="Cambria" panose="02040503050406030204" pitchFamily="18" charset="0"/>
              <a:ea typeface="Cambria" panose="02040503050406030204" pitchFamily="18" charset="0"/>
            </a:endParaRPr>
          </a:p>
          <a:p>
            <a:r>
              <a:rPr lang="en-US" sz="1600" b="0" i="0" u="none" strike="noStrike" baseline="0" dirty="0">
                <a:latin typeface="Cambria" panose="02040503050406030204" pitchFamily="18" charset="0"/>
                <a:ea typeface="Cambria" panose="02040503050406030204" pitchFamily="18" charset="0"/>
              </a:rPr>
              <a:t>Histograms </a:t>
            </a:r>
            <a:endParaRPr lang="en-US" sz="1400" b="1" dirty="0">
              <a:solidFill>
                <a:srgbClr val="0070C0"/>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AB002DD7-9C12-58E6-EB11-E7B6D6726D18}"/>
              </a:ext>
            </a:extLst>
          </p:cNvPr>
          <p:cNvPicPr>
            <a:picLocks noChangeAspect="1"/>
          </p:cNvPicPr>
          <p:nvPr/>
        </p:nvPicPr>
        <p:blipFill>
          <a:blip r:embed="rId2"/>
          <a:stretch>
            <a:fillRect/>
          </a:stretch>
        </p:blipFill>
        <p:spPr>
          <a:xfrm>
            <a:off x="1420487" y="1562549"/>
            <a:ext cx="10574226" cy="4610743"/>
          </a:xfrm>
          <a:prstGeom prst="rect">
            <a:avLst/>
          </a:prstGeom>
        </p:spPr>
      </p:pic>
    </p:spTree>
    <p:extLst>
      <p:ext uri="{BB962C8B-B14F-4D97-AF65-F5344CB8AC3E}">
        <p14:creationId xmlns:p14="http://schemas.microsoft.com/office/powerpoint/2010/main" val="4221149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CHẤT LƯỢNG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7682E58-3D34-C1F8-FA85-C603C3732712}"/>
              </a:ext>
            </a:extLst>
          </p:cNvPr>
          <p:cNvSpPr txBox="1"/>
          <p:nvPr/>
        </p:nvSpPr>
        <p:spPr>
          <a:xfrm>
            <a:off x="339355" y="653014"/>
            <a:ext cx="4128142" cy="2339102"/>
          </a:xfrm>
          <a:prstGeom prst="rect">
            <a:avLst/>
          </a:prstGeom>
          <a:noFill/>
        </p:spPr>
        <p:txBody>
          <a:bodyPr wrap="square">
            <a:spAutoFit/>
          </a:bodyPr>
          <a:lstStyle/>
          <a:p>
            <a:r>
              <a:rPr lang="en-US" sz="1800" b="1" dirty="0" err="1">
                <a:solidFill>
                  <a:srgbClr val="0070C0"/>
                </a:solidFill>
                <a:latin typeface="Cambria" panose="02040503050406030204" pitchFamily="18" charset="0"/>
                <a:ea typeface="Cambria" panose="02040503050406030204" pitchFamily="18" charset="0"/>
              </a:rPr>
              <a:t>Một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số</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công</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cụ</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kiểm</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soát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chất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lượng</a:t>
            </a:r>
            <a:endParaRPr lang="en-US" sz="1800" b="1" dirty="0">
              <a:solidFill>
                <a:srgbClr val="0070C0"/>
              </a:solidFill>
              <a:latin typeface="Cambria" panose="02040503050406030204" pitchFamily="18" charset="0"/>
              <a:ea typeface="Cambria" panose="02040503050406030204" pitchFamily="18" charset="0"/>
            </a:endParaRPr>
          </a:p>
          <a:p>
            <a:r>
              <a:rPr lang="en-US" sz="1600" b="0" i="0" u="none" strike="noStrike" baseline="0" dirty="0">
                <a:latin typeface="Cambria" panose="02040503050406030204" pitchFamily="18" charset="0"/>
                <a:ea typeface="Cambria" panose="02040503050406030204" pitchFamily="18" charset="0"/>
              </a:rPr>
              <a:t>Pareto chart </a:t>
            </a:r>
          </a:p>
          <a:p>
            <a:pPr algn="just"/>
            <a:r>
              <a:rPr lang="vi-VN" sz="1600" dirty="0">
                <a:latin typeface="Cambria" panose="02040503050406030204" pitchFamily="18" charset="0"/>
                <a:ea typeface="Cambria" panose="02040503050406030204" pitchFamily="18" charset="0"/>
              </a:rPr>
              <a:t>Sơ đồ Pareto được sử dụng rộng rãi trong quản lý chất lượng để phân loại và </a:t>
            </a:r>
            <a:r>
              <a:rPr lang="vi-VN" sz="1600" dirty="0">
                <a:solidFill>
                  <a:srgbClr val="0070C0"/>
                </a:solidFill>
                <a:latin typeface="Cambria" panose="02040503050406030204" pitchFamily="18" charset="0"/>
                <a:ea typeface="Cambria" panose="02040503050406030204" pitchFamily="18" charset="0"/>
              </a:rPr>
              <a:t>xác định ưu tiên trong việc giải quyết vấn đề</a:t>
            </a:r>
            <a:r>
              <a:rPr lang="vi-VN" sz="1600" dirty="0">
                <a:latin typeface="Cambria" panose="02040503050406030204" pitchFamily="18" charset="0"/>
                <a:ea typeface="Cambria" panose="02040503050406030204" pitchFamily="18" charset="0"/>
              </a:rPr>
              <a:t>. Công cụ này giúp </a:t>
            </a:r>
            <a:r>
              <a:rPr lang="en-US" sz="1600" dirty="0">
                <a:latin typeface="Cambria" panose="02040503050406030204" pitchFamily="18" charset="0"/>
                <a:ea typeface="Cambria" panose="02040503050406030204" pitchFamily="18" charset="0"/>
              </a:rPr>
              <a:t>PM </a:t>
            </a:r>
            <a:r>
              <a:rPr lang="vi-VN" sz="1600" dirty="0">
                <a:latin typeface="Cambria" panose="02040503050406030204" pitchFamily="18" charset="0"/>
                <a:ea typeface="Cambria" panose="02040503050406030204" pitchFamily="18" charset="0"/>
              </a:rPr>
              <a:t>xác định rõ các yếu tố gây ra tác động lớn nhất và </a:t>
            </a:r>
            <a:r>
              <a:rPr lang="vi-VN" sz="1600" dirty="0">
                <a:solidFill>
                  <a:srgbClr val="0070C0"/>
                </a:solidFill>
                <a:latin typeface="Cambria" panose="02040503050406030204" pitchFamily="18" charset="0"/>
                <a:ea typeface="Cambria" panose="02040503050406030204" pitchFamily="18" charset="0"/>
              </a:rPr>
              <a:t>tập trung nguồn lực vào những điểm cần xử lý trước để đạt được hiệu quả tối đa.</a:t>
            </a:r>
            <a:endParaRPr lang="en-US" sz="1600" dirty="0">
              <a:solidFill>
                <a:srgbClr val="0070C0"/>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C93B663E-FAB5-DF73-B1FB-6C9B6C778DE0}"/>
              </a:ext>
            </a:extLst>
          </p:cNvPr>
          <p:cNvPicPr>
            <a:picLocks noChangeAspect="1"/>
          </p:cNvPicPr>
          <p:nvPr/>
        </p:nvPicPr>
        <p:blipFill>
          <a:blip r:embed="rId2"/>
          <a:stretch>
            <a:fillRect/>
          </a:stretch>
        </p:blipFill>
        <p:spPr>
          <a:xfrm>
            <a:off x="7249649" y="3147713"/>
            <a:ext cx="4639322" cy="2924583"/>
          </a:xfrm>
          <a:prstGeom prst="rect">
            <a:avLst/>
          </a:prstGeom>
        </p:spPr>
      </p:pic>
    </p:spTree>
    <p:extLst>
      <p:ext uri="{BB962C8B-B14F-4D97-AF65-F5344CB8AC3E}">
        <p14:creationId xmlns:p14="http://schemas.microsoft.com/office/powerpoint/2010/main" val="313795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CHẤT LƯỢNG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7682E58-3D34-C1F8-FA85-C603C3732712}"/>
              </a:ext>
            </a:extLst>
          </p:cNvPr>
          <p:cNvSpPr txBox="1"/>
          <p:nvPr/>
        </p:nvSpPr>
        <p:spPr>
          <a:xfrm>
            <a:off x="339355" y="653014"/>
            <a:ext cx="6096000" cy="615553"/>
          </a:xfrm>
          <a:prstGeom prst="rect">
            <a:avLst/>
          </a:prstGeom>
          <a:noFill/>
        </p:spPr>
        <p:txBody>
          <a:bodyPr wrap="square">
            <a:spAutoFit/>
          </a:bodyPr>
          <a:lstStyle/>
          <a:p>
            <a:r>
              <a:rPr lang="en-US" sz="1800" b="1" dirty="0" err="1">
                <a:solidFill>
                  <a:srgbClr val="0070C0"/>
                </a:solidFill>
                <a:latin typeface="Cambria" panose="02040503050406030204" pitchFamily="18" charset="0"/>
                <a:ea typeface="Cambria" panose="02040503050406030204" pitchFamily="18" charset="0"/>
              </a:rPr>
              <a:t>Một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số</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công</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cụ</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kiểm</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soát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chất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lượng</a:t>
            </a:r>
            <a:endParaRPr lang="en-US" sz="1800" b="1" dirty="0">
              <a:solidFill>
                <a:srgbClr val="0070C0"/>
              </a:solidFill>
              <a:latin typeface="Cambria" panose="02040503050406030204" pitchFamily="18" charset="0"/>
              <a:ea typeface="Cambria" panose="02040503050406030204" pitchFamily="18" charset="0"/>
            </a:endParaRPr>
          </a:p>
          <a:p>
            <a:r>
              <a:rPr lang="vi-VN" sz="1600" dirty="0">
                <a:latin typeface="Cambria" panose="02040503050406030204" pitchFamily="18" charset="0"/>
                <a:ea typeface="Cambria" panose="02040503050406030204" pitchFamily="18" charset="0"/>
              </a:rPr>
              <a:t>Sơ đồ luồng (Flowcharts) </a:t>
            </a:r>
            <a:endParaRPr lang="en-US" sz="1600" dirty="0">
              <a:latin typeface="Cambria" panose="02040503050406030204" pitchFamily="18" charset="0"/>
              <a:ea typeface="Cambria" panose="02040503050406030204" pitchFamily="18" charset="0"/>
            </a:endParaRPr>
          </a:p>
        </p:txBody>
      </p:sp>
      <p:pic>
        <p:nvPicPr>
          <p:cNvPr id="8" name="Picture 7">
            <a:extLst>
              <a:ext uri="{FF2B5EF4-FFF2-40B4-BE49-F238E27FC236}">
                <a16:creationId xmlns:a16="http://schemas.microsoft.com/office/drawing/2014/main" id="{31485DC7-E1BC-4B7B-6541-678A38A09FEA}"/>
              </a:ext>
            </a:extLst>
          </p:cNvPr>
          <p:cNvPicPr>
            <a:picLocks noChangeAspect="1"/>
          </p:cNvPicPr>
          <p:nvPr/>
        </p:nvPicPr>
        <p:blipFill>
          <a:blip r:embed="rId2"/>
          <a:stretch>
            <a:fillRect/>
          </a:stretch>
        </p:blipFill>
        <p:spPr>
          <a:xfrm>
            <a:off x="4185680" y="2159454"/>
            <a:ext cx="7893109" cy="4159696"/>
          </a:xfrm>
          <a:prstGeom prst="rect">
            <a:avLst/>
          </a:prstGeom>
        </p:spPr>
      </p:pic>
    </p:spTree>
    <p:extLst>
      <p:ext uri="{BB962C8B-B14F-4D97-AF65-F5344CB8AC3E}">
        <p14:creationId xmlns:p14="http://schemas.microsoft.com/office/powerpoint/2010/main" val="3644094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E574A4-E32E-572B-B3F4-708EAFDED2F6}"/>
              </a:ext>
            </a:extLst>
          </p:cNvPr>
          <p:cNvPicPr>
            <a:picLocks noChangeAspect="1"/>
          </p:cNvPicPr>
          <p:nvPr/>
        </p:nvPicPr>
        <p:blipFill>
          <a:blip r:embed="rId2"/>
          <a:stretch>
            <a:fillRect/>
          </a:stretch>
        </p:blipFill>
        <p:spPr>
          <a:xfrm>
            <a:off x="5818617" y="3927567"/>
            <a:ext cx="6373383" cy="2391584"/>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CHẤT LƯỢNG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7682E58-3D34-C1F8-FA85-C603C3732712}"/>
              </a:ext>
            </a:extLst>
          </p:cNvPr>
          <p:cNvSpPr txBox="1"/>
          <p:nvPr/>
        </p:nvSpPr>
        <p:spPr>
          <a:xfrm>
            <a:off x="339355" y="653014"/>
            <a:ext cx="6096000" cy="615553"/>
          </a:xfrm>
          <a:prstGeom prst="rect">
            <a:avLst/>
          </a:prstGeom>
          <a:noFill/>
        </p:spPr>
        <p:txBody>
          <a:bodyPr wrap="square">
            <a:spAutoFit/>
          </a:bodyPr>
          <a:lstStyle/>
          <a:p>
            <a:r>
              <a:rPr lang="en-US" sz="1800" b="1" dirty="0" err="1">
                <a:solidFill>
                  <a:srgbClr val="0070C0"/>
                </a:solidFill>
                <a:latin typeface="Cambria" panose="02040503050406030204" pitchFamily="18" charset="0"/>
                <a:ea typeface="Cambria" panose="02040503050406030204" pitchFamily="18" charset="0"/>
              </a:rPr>
              <a:t>Một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số</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công</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cụ</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kiểm</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soát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chất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lượng</a:t>
            </a:r>
            <a:endParaRPr lang="en-US" sz="1800" b="1" dirty="0">
              <a:solidFill>
                <a:srgbClr val="0070C0"/>
              </a:solidFill>
              <a:latin typeface="Cambria" panose="02040503050406030204" pitchFamily="18" charset="0"/>
              <a:ea typeface="Cambria" panose="02040503050406030204" pitchFamily="18" charset="0"/>
            </a:endParaRPr>
          </a:p>
          <a:p>
            <a:r>
              <a:rPr lang="en-US" sz="1600" b="0" i="0" u="none" strike="noStrike" baseline="0" dirty="0">
                <a:latin typeface="Cambria" panose="02040503050406030204" pitchFamily="18" charset="0"/>
                <a:ea typeface="Cambria" panose="02040503050406030204" pitchFamily="18" charset="0"/>
              </a:rPr>
              <a:t>Six Sigma </a:t>
            </a:r>
            <a:endParaRPr lang="en-US" sz="1400" dirty="0">
              <a:latin typeface="Cambria" panose="02040503050406030204" pitchFamily="18" charset="0"/>
              <a:ea typeface="Cambria" panose="02040503050406030204" pitchFamily="18" charset="0"/>
            </a:endParaRPr>
          </a:p>
        </p:txBody>
      </p:sp>
      <p:sp>
        <p:nvSpPr>
          <p:cNvPr id="8" name="TextBox 7">
            <a:extLst>
              <a:ext uri="{FF2B5EF4-FFF2-40B4-BE49-F238E27FC236}">
                <a16:creationId xmlns:a16="http://schemas.microsoft.com/office/drawing/2014/main" id="{71F43A30-2401-6F4D-28AF-3048F8493A3B}"/>
              </a:ext>
            </a:extLst>
          </p:cNvPr>
          <p:cNvSpPr txBox="1"/>
          <p:nvPr/>
        </p:nvSpPr>
        <p:spPr>
          <a:xfrm>
            <a:off x="339355" y="1244391"/>
            <a:ext cx="6522999" cy="2308324"/>
          </a:xfrm>
          <a:prstGeom prst="rect">
            <a:avLst/>
          </a:prstGeom>
          <a:noFill/>
        </p:spPr>
        <p:txBody>
          <a:bodyPr wrap="square">
            <a:spAutoFit/>
          </a:bodyPr>
          <a:lstStyle/>
          <a:p>
            <a:pPr algn="just"/>
            <a:r>
              <a:rPr lang="vi-VN" sz="1600" dirty="0">
                <a:latin typeface="Cambria" panose="02040503050406030204" pitchFamily="18" charset="0"/>
                <a:ea typeface="Cambria" panose="02040503050406030204" pitchFamily="18" charset="0"/>
              </a:rPr>
              <a:t>Six Sigma ( 6 Sigma hay 6</a:t>
            </a:r>
            <a:r>
              <a:rPr lang="el-GR" sz="1600" dirty="0">
                <a:latin typeface="Cambria" panose="02040503050406030204" pitchFamily="18" charset="0"/>
                <a:ea typeface="Cambria" panose="02040503050406030204" pitchFamily="18" charset="0"/>
              </a:rPr>
              <a:t>σ ) </a:t>
            </a:r>
            <a:r>
              <a:rPr lang="vi-VN" sz="1600" dirty="0">
                <a:latin typeface="Cambria" panose="02040503050406030204" pitchFamily="18" charset="0"/>
                <a:ea typeface="Cambria" panose="02040503050406030204" pitchFamily="18" charset="0"/>
              </a:rPr>
              <a:t>là một phương pháp cải tiến quy trình kinh doanh và quản lý chất lượng bằng cách dựa trên thống kê để tìm ra lỗi sản phẩm, xác định nguyên nhân của lỗi và xử lý lỗi nhằm tăng độ chính xác của quy trình. Tập trung vào nhận diện và nắm bắt tường tận các yêu cầu của khách hàng nên có tính định hướng khách hàng khá cao.</a:t>
            </a:r>
          </a:p>
          <a:p>
            <a:pPr algn="just"/>
            <a:r>
              <a:rPr lang="vi-VN" sz="1600" dirty="0">
                <a:latin typeface="Cambria" panose="02040503050406030204" pitchFamily="18" charset="0"/>
                <a:ea typeface="Cambria" panose="02040503050406030204" pitchFamily="18" charset="0"/>
              </a:rPr>
              <a:t>Six Sigma sử dụng phương pháp thống kê để đếm số lỗi phát sinh trong một quá trình, sau đó tìm ra cách để khắc phục, đưa nó gần tới mức "không lỗi" càng tốt. Chỉ khi nào một quy trình không tồn tại hơn 3, 4 lỗi trên mỗi 1 triệu sản phẩm, nó mới đạt tiêu chuẩn của Six Sigma.</a:t>
            </a:r>
          </a:p>
        </p:txBody>
      </p:sp>
    </p:spTree>
    <p:extLst>
      <p:ext uri="{BB962C8B-B14F-4D97-AF65-F5344CB8AC3E}">
        <p14:creationId xmlns:p14="http://schemas.microsoft.com/office/powerpoint/2010/main" val="1178851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95194C-46FB-23DE-8347-8E27C2069284}"/>
              </a:ext>
            </a:extLst>
          </p:cNvPr>
          <p:cNvPicPr>
            <a:picLocks noChangeAspect="1"/>
          </p:cNvPicPr>
          <p:nvPr/>
        </p:nvPicPr>
        <p:blipFill>
          <a:blip r:embed="rId2"/>
          <a:stretch>
            <a:fillRect/>
          </a:stretch>
        </p:blipFill>
        <p:spPr>
          <a:xfrm>
            <a:off x="5699248" y="3305371"/>
            <a:ext cx="6419946" cy="3207335"/>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CHẤT LƯỢNG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7682E58-3D34-C1F8-FA85-C603C3732712}"/>
              </a:ext>
            </a:extLst>
          </p:cNvPr>
          <p:cNvSpPr txBox="1"/>
          <p:nvPr/>
        </p:nvSpPr>
        <p:spPr>
          <a:xfrm>
            <a:off x="339355" y="653014"/>
            <a:ext cx="6296576" cy="2585323"/>
          </a:xfrm>
          <a:prstGeom prst="rect">
            <a:avLst/>
          </a:prstGeom>
          <a:noFill/>
        </p:spPr>
        <p:txBody>
          <a:bodyPr wrap="square">
            <a:spAutoFit/>
          </a:bodyPr>
          <a:lstStyle/>
          <a:p>
            <a:r>
              <a:rPr lang="en-US" sz="1800" b="1" dirty="0" err="1">
                <a:solidFill>
                  <a:srgbClr val="0070C0"/>
                </a:solidFill>
                <a:latin typeface="Cambria" panose="02040503050406030204" pitchFamily="18" charset="0"/>
                <a:ea typeface="Cambria" panose="02040503050406030204" pitchFamily="18" charset="0"/>
              </a:rPr>
              <a:t>Một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số</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công</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cụ</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kiểm</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soát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chất</a:t>
            </a:r>
            <a:r>
              <a:rPr lang="en-US" sz="1800" b="1" dirty="0">
                <a:solidFill>
                  <a:srgbClr val="0070C0"/>
                </a:solidFill>
                <a:latin typeface="Cambria" panose="02040503050406030204" pitchFamily="18" charset="0"/>
                <a:ea typeface="Cambria" panose="02040503050406030204" pitchFamily="18" charset="0"/>
              </a:rPr>
              <a:t> </a:t>
            </a:r>
            <a:r>
              <a:rPr lang="en-US" sz="1800" b="1" dirty="0" err="1">
                <a:solidFill>
                  <a:srgbClr val="0070C0"/>
                </a:solidFill>
                <a:latin typeface="Cambria" panose="02040503050406030204" pitchFamily="18" charset="0"/>
                <a:ea typeface="Cambria" panose="02040503050406030204" pitchFamily="18" charset="0"/>
              </a:rPr>
              <a:t>lượng</a:t>
            </a:r>
            <a:endParaRPr lang="en-US" sz="1800" b="1" dirty="0">
              <a:solidFill>
                <a:srgbClr val="0070C0"/>
              </a:solidFill>
              <a:latin typeface="Cambria" panose="02040503050406030204" pitchFamily="18" charset="0"/>
              <a:ea typeface="Cambria" panose="02040503050406030204" pitchFamily="18" charset="0"/>
            </a:endParaRPr>
          </a:p>
          <a:p>
            <a:r>
              <a:rPr lang="en-US" sz="1600" b="0" i="0" u="none" strike="noStrike" baseline="0" dirty="0" err="1">
                <a:latin typeface="Cambria" panose="02040503050406030204" pitchFamily="18" charset="0"/>
                <a:ea typeface="Cambria" panose="02040503050406030204" pitchFamily="18" charset="0"/>
              </a:rPr>
              <a:t>Kiểm</a:t>
            </a:r>
            <a:r>
              <a:rPr lang="en-US" sz="1600" b="0" i="0" u="none" strike="noStrike" baseline="0" dirty="0">
                <a:latin typeface="Cambria" panose="02040503050406030204" pitchFamily="18" charset="0"/>
                <a:ea typeface="Cambria" panose="02040503050406030204" pitchFamily="18" charset="0"/>
              </a:rPr>
              <a:t> </a:t>
            </a:r>
            <a:r>
              <a:rPr lang="en-US" sz="1600" b="0" i="0" u="none" strike="noStrike" baseline="0" dirty="0" err="1">
                <a:latin typeface="Cambria" panose="02040503050406030204" pitchFamily="18" charset="0"/>
                <a:ea typeface="Cambria" panose="02040503050406030204" pitchFamily="18" charset="0"/>
              </a:rPr>
              <a:t>thử</a:t>
            </a:r>
            <a:r>
              <a:rPr lang="en-US" sz="1600" b="0" i="0" u="none" strike="noStrike" baseline="0" dirty="0">
                <a:latin typeface="Cambria" panose="02040503050406030204" pitchFamily="18" charset="0"/>
                <a:ea typeface="Cambria" panose="02040503050406030204" pitchFamily="18" charset="0"/>
              </a:rPr>
              <a:t> (Testing) </a:t>
            </a:r>
          </a:p>
          <a:p>
            <a:pPr algn="l"/>
            <a:endParaRPr lang="en-US" sz="1800" b="0" i="0" u="none" strike="noStrike" baseline="0" dirty="0">
              <a:solidFill>
                <a:srgbClr val="000000"/>
              </a:solidFill>
              <a:latin typeface="Times New Roman" panose="02020603050405020304" pitchFamily="18" charset="0"/>
            </a:endParaRPr>
          </a:p>
          <a:p>
            <a:r>
              <a:rPr lang="en-US" sz="1600" dirty="0" err="1">
                <a:latin typeface="Cambria" panose="02040503050406030204" pitchFamily="18" charset="0"/>
                <a:ea typeface="Cambria" panose="02040503050406030204" pitchFamily="18" charset="0"/>
              </a:rPr>
              <a:t>Các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loại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kiểm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thử</a:t>
            </a:r>
            <a:endParaRPr lang="en-US" sz="1600" dirty="0">
              <a:latin typeface="Cambria" panose="02040503050406030204" pitchFamily="18" charset="0"/>
              <a:ea typeface="Cambria" panose="02040503050406030204" pitchFamily="18" charset="0"/>
            </a:endParaRPr>
          </a:p>
          <a:p>
            <a:pPr marL="285750" lvl="1" indent="-285750" algn="jus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Kiểm thử đơn vị (Unit testing) </a:t>
            </a:r>
          </a:p>
          <a:p>
            <a:pPr marL="285750" lvl="1" indent="-285750" algn="jus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Kiểm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thử</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tích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hợp</a:t>
            </a:r>
            <a:r>
              <a:rPr lang="en-US" sz="1600" dirty="0">
                <a:latin typeface="Cambria" panose="02040503050406030204" pitchFamily="18" charset="0"/>
                <a:ea typeface="Cambria" panose="02040503050406030204" pitchFamily="18" charset="0"/>
              </a:rPr>
              <a:t> (Integration testing) </a:t>
            </a:r>
          </a:p>
          <a:p>
            <a:pPr marL="285750" lvl="1" indent="-285750" algn="jus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Kiểm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thử</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tính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năng</a:t>
            </a:r>
            <a:r>
              <a:rPr lang="en-US" sz="1600" dirty="0">
                <a:latin typeface="Cambria" panose="02040503050406030204" pitchFamily="18" charset="0"/>
                <a:ea typeface="Cambria" panose="02040503050406030204" pitchFamily="18" charset="0"/>
              </a:rPr>
              <a:t> (Functionality testing) </a:t>
            </a:r>
          </a:p>
          <a:p>
            <a:pPr marL="285750" lvl="1" indent="-285750" algn="just">
              <a:buClr>
                <a:schemeClr val="accent2">
                  <a:lumMod val="75000"/>
                </a:schemeClr>
              </a:buClr>
              <a:buSzPct val="140000"/>
              <a:buFont typeface="Wingdings" panose="05000000000000000000" pitchFamily="2" charset="2"/>
              <a:buChar char="§"/>
            </a:pPr>
            <a:r>
              <a:rPr lang="en-US" sz="1600" dirty="0" err="1">
                <a:latin typeface="Cambria" panose="02040503050406030204" pitchFamily="18" charset="0"/>
                <a:ea typeface="Cambria" panose="02040503050406030204" pitchFamily="18" charset="0"/>
              </a:rPr>
              <a:t>Kiểm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thử</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hệ</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thống</a:t>
            </a:r>
            <a:r>
              <a:rPr lang="en-US" sz="1600" dirty="0">
                <a:latin typeface="Cambria" panose="02040503050406030204" pitchFamily="18" charset="0"/>
                <a:ea typeface="Cambria" panose="02040503050406030204" pitchFamily="18" charset="0"/>
              </a:rPr>
              <a:t> (System testing) </a:t>
            </a:r>
          </a:p>
          <a:p>
            <a:pPr marL="285750" lvl="1" indent="-285750" algn="jus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Kiểm thử sự chấp thuận của người dùng (User acceptance testing) </a:t>
            </a:r>
          </a:p>
          <a:p>
            <a:endParaRPr lang="en-US" sz="1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62822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357277" y="4437371"/>
            <a:ext cx="6998563" cy="1382487"/>
          </a:xfrm>
        </p:spPr>
        <p:txBody>
          <a:bodyPr>
            <a:normAutofit fontScale="90000"/>
          </a:bodyPr>
          <a:lstStyle/>
          <a:p>
            <a:pPr algn="l"/>
            <a:r>
              <a:rPr lang="en-US" sz="4000" b="0" dirty="0">
                <a:solidFill>
                  <a:schemeClr val="bg1"/>
                </a:solidFill>
                <a:effectLst/>
                <a:latin typeface="Cambria" panose="02040503050406030204" pitchFamily="18" charset="0"/>
                <a:ea typeface="Cambria" panose="02040503050406030204" pitchFamily="18" charset="0"/>
              </a:rPr>
              <a:t>THANK YOU!</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en-US" sz="2700" dirty="0">
                <a:solidFill>
                  <a:schemeClr val="accent1">
                    <a:lumMod val="40000"/>
                    <a:lumOff val="60000"/>
                  </a:schemeClr>
                </a:solidFill>
                <a:latin typeface="Cambria" panose="02040503050406030204" pitchFamily="18" charset="0"/>
                <a:ea typeface="Cambria" panose="02040503050406030204" pitchFamily="18" charset="0"/>
              </a:rPr>
              <a:t>Chap VII: </a:t>
            </a:r>
            <a:r>
              <a:rPr lang="vi-VN" sz="2700" dirty="0">
                <a:solidFill>
                  <a:schemeClr val="accent1">
                    <a:lumMod val="40000"/>
                    <a:lumOff val="60000"/>
                  </a:schemeClr>
                </a:solidFill>
                <a:latin typeface="Cambria" panose="02040503050406030204" pitchFamily="18" charset="0"/>
                <a:ea typeface="Cambria" panose="02040503050406030204" pitchFamily="18" charset="0"/>
              </a:rPr>
              <a:t>IT </a:t>
            </a:r>
            <a:r>
              <a:rPr lang="en-US" sz="2700" dirty="0">
                <a:solidFill>
                  <a:schemeClr val="accent1">
                    <a:lumMod val="40000"/>
                    <a:lumOff val="60000"/>
                  </a:schemeClr>
                </a:solidFill>
                <a:latin typeface="Cambria" panose="02040503050406030204" pitchFamily="18" charset="0"/>
                <a:ea typeface="Cambria" panose="02040503050406030204" pitchFamily="18" charset="0"/>
              </a:rPr>
              <a:t>project Quality</a:t>
            </a:r>
            <a:r>
              <a:rPr lang="vi-VN" sz="2700" dirty="0">
                <a:solidFill>
                  <a:schemeClr val="accent1">
                    <a:lumMod val="40000"/>
                    <a:lumOff val="60000"/>
                  </a:schemeClr>
                </a:solidFill>
                <a:latin typeface="Cambria" panose="02040503050406030204" pitchFamily="18" charset="0"/>
                <a:ea typeface="Cambria" panose="02040503050406030204" pitchFamily="18" charset="0"/>
              </a:rPr>
              <a:t> management</a:t>
            </a:r>
            <a:br>
              <a:rPr lang="en-US" sz="2700" dirty="0">
                <a:solidFill>
                  <a:schemeClr val="bg1"/>
                </a:solidFill>
                <a:latin typeface="Cambria" panose="02040503050406030204" pitchFamily="18" charset="0"/>
                <a:ea typeface="Cambria" panose="02040503050406030204" pitchFamily="18" charset="0"/>
              </a:rPr>
            </a:br>
            <a:r>
              <a:rPr lang="en-US" sz="2000" dirty="0">
                <a:solidFill>
                  <a:schemeClr val="accent1">
                    <a:lumMod val="60000"/>
                    <a:lumOff val="40000"/>
                  </a:schemeClr>
                </a:solidFill>
                <a:latin typeface="Cambria" panose="02040503050406030204" pitchFamily="18" charset="0"/>
                <a:ea typeface="Cambria" panose="02040503050406030204" pitchFamily="18" charset="0"/>
              </a:rPr>
              <a:t>Lecturer:  </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57340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ing slide">
  <a:themeElements>
    <a:clrScheme name="Custom 7">
      <a:dk1>
        <a:srgbClr val="FFFFFF"/>
      </a:dk1>
      <a:lt1>
        <a:srgbClr val="0070C0"/>
      </a:lt1>
      <a:dk2>
        <a:srgbClr val="FFFFFF"/>
      </a:dk2>
      <a:lt2>
        <a:srgbClr val="0070C0"/>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F631CA-166F-4461-843F-2B2AFA495384}">
  <ds:schemaRefs>
    <ds:schemaRef ds:uri="http://schemas.microsoft.com/office/2006/metadata/properties"/>
    <ds:schemaRef ds:uri="http://schemas.microsoft.com/office/infopath/2007/PartnerControls"/>
    <ds:schemaRef ds:uri="6e9c558a-331c-4b2a-9422-cc1872e64aa6"/>
    <ds:schemaRef ds:uri="0daeb402-9d2e-4002-a65f-37a660ceb8fd"/>
  </ds:schemaRefs>
</ds:datastoreItem>
</file>

<file path=customXml/itemProps2.xml><?xml version="1.0" encoding="utf-8"?>
<ds:datastoreItem xmlns:ds="http://schemas.openxmlformats.org/officeDocument/2006/customXml" ds:itemID="{4D7F93B5-22BB-46BA-BE78-7EC1E47FD93F}">
  <ds:schemaRefs>
    <ds:schemaRef ds:uri="http://schemas.microsoft.com/sharepoint/v3/contenttype/forms"/>
  </ds:schemaRefs>
</ds:datastoreItem>
</file>

<file path=customXml/itemProps3.xml><?xml version="1.0" encoding="utf-8"?>
<ds:datastoreItem xmlns:ds="http://schemas.openxmlformats.org/officeDocument/2006/customXml" ds:itemID="{6EC3E62F-645D-46FF-B881-13F9E91DF1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c558a-331c-4b2a-9422-cc1872e64aa6"/>
    <ds:schemaRef ds:uri="0daeb402-9d2e-4002-a65f-37a660ce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3588</TotalTime>
  <Words>1698</Words>
  <Application>Microsoft Office PowerPoint</Application>
  <PresentationFormat>Widescreen</PresentationFormat>
  <Paragraphs>154</Paragraphs>
  <Slides>22</Slides>
  <Notes>0</Notes>
  <HiddenSlides>0</HiddenSlides>
  <MMClips>0</MMClips>
  <ScaleCrop>false</ScaleCrop>
  <HeadingPairs>
    <vt:vector size="4" baseType="variant">
      <vt:variant>
        <vt:lpstr>Theme</vt:lpstr>
      </vt:variant>
      <vt:variant>
        <vt:i4>3</vt:i4>
      </vt:variant>
      <vt:variant>
        <vt:lpstr>Slide Titles</vt:lpstr>
      </vt:variant>
      <vt:variant>
        <vt:i4>22</vt:i4>
      </vt:variant>
    </vt:vector>
  </HeadingPairs>
  <TitlesOfParts>
    <vt:vector size="25" baseType="lpstr">
      <vt:lpstr>Office Theme</vt:lpstr>
      <vt:lpstr>Opening slide</vt:lpstr>
      <vt:lpstr>Body slide</vt:lpstr>
      <vt:lpstr> INFORMATION TECHNOLOGY PROJECT MANAGEMENT     Chap VII: IT project Quality management Lecturer: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Chap VII: IT project Quality management Lecturer: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TECHNOLOGY PROJECT MANAGEMENT  Chap I: Foundation of IT project management Lecturer: Dr. Thanh NGO</dc:title>
  <dc:creator>Thanh. Ngo Minh - CMC People Unit</dc:creator>
  <cp:lastModifiedBy>Thanh. Ngo Minh - CMC Corp Ban Nhan su &amp; PTNT</cp:lastModifiedBy>
  <cp:revision>361</cp:revision>
  <cp:lastPrinted>2024-03-12T04:48:54Z</cp:lastPrinted>
  <dcterms:created xsi:type="dcterms:W3CDTF">2024-02-01T10:29:10Z</dcterms:created>
  <dcterms:modified xsi:type="dcterms:W3CDTF">2026-09-22T06:56:40Z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ies>
</file>