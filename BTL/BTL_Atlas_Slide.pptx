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f72b217e-c483-a3dc-ccc5-54a4946b4e8c}">
          <p14:sldIdLst>
            <p14:sldId id="256"/>
          </p14:sldIdLst>
        </p14:section>
        <p14:section name="Phần 1 – Khởi tạo dự án" id="{b1bf1f89-4e64-5b1c-22b2-9ae5a988657c}">
          <p14:sldIdLst>
            <p14:sldId id="257"/>
            <p14:sldId id="258"/>
          </p14:sldIdLst>
        </p14:section>
        <p14:section name="Phần 2 – Phạm vi và WBS" id="{c4ce06e8-bccc-eb2d-7487-ced3f87ed54f}">
          <p14:sldIdLst>
            <p14:sldId id="259"/>
            <p14:sldId id="260"/>
          </p14:sldIdLst>
        </p14:section>
        <p14:section name="Phần 3 – Lịch trình" id="{ca9532d8-3f84-b39b-640c-0c7736224192}">
          <p14:sldIdLst>
            <p14:sldId id="261"/>
            <p14:sldId id="262"/>
          </p14:sldIdLst>
        </p14:section>
        <p14:section name="Phần 4 – Chi phí và hiệu quả tài chính" id="{6494b858-3fbd-09b9-8a57-95390276cf6a}">
          <p14:sldIdLst>
            <p14:sldId id="263"/>
            <p14:sldId id="264"/>
          </p14:sldIdLst>
        </p14:section>
        <p14:section name="Phần 5 – Theo dõi và kiểm soát" id="{d79b5c7b-8177-852b-bce4-cf44ca4d7da1}">
          <p14:sldIdLst>
            <p14:sldId id="265"/>
            <p14:sldId id="266"/>
          </p14:sldIdLst>
        </p14:section>
        <p14:section name="Phần 6 – Tổng hợp" id="{bad3dac1-f008-8a79-73ce-c5617137621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Triệu đồng</c:v>
                </c:pt>
              </c:strCache>
            </c:strRef>
          </c:tx>
          <c:spPr>
            <a:solidFill>
              <a:srgbClr val="7E4E9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Nhân sự</c:v>
                  </c:pt>
                  <c:pt idx="1">
                    <c:v>Thiết bị, mạng</c:v>
                  </c:pt>
                  <c:pt idx="2">
                    <c:v>Phần mềm, dịch vụ</c:v>
                  </c:pt>
                  <c:pt idx="3">
                    <c:v>Gián tiếp</c:v>
                  </c:pt>
                  <c:pt idx="4">
                    <c:v>Đào tạo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640</c:v>
                </c:pt>
                <c:pt idx="1">
                  <c:v>480</c:v>
                </c:pt>
                <c:pt idx="2">
                  <c:v>140</c:v>
                </c:pt>
                <c:pt idx="3">
                  <c:v>60</c:v>
                </c:pt>
                <c:pt idx="4">
                  <c:v>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 tháng</c:v>
                </c:pt>
              </c:strCache>
            </c:strRef>
          </c:tx>
          <c:spPr>
            <a:solidFill>
              <a:srgbClr val="7E4E9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T3</c:v>
                  </c:pt>
                  <c:pt idx="1">
                    <c:v>T4</c:v>
                  </c:pt>
                  <c:pt idx="2">
                    <c:v>T5</c:v>
                  </c:pt>
                  <c:pt idx="3">
                    <c:v>T6</c:v>
                  </c:pt>
                  <c:pt idx="4">
                    <c:v>T7</c:v>
                  </c:pt>
                  <c:pt idx="5">
                    <c:v>T8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110.5</c:v>
                </c:pt>
                <c:pt idx="1">
                  <c:v>197.1</c:v>
                </c:pt>
                <c:pt idx="2">
                  <c:v>446.3</c:v>
                </c:pt>
                <c:pt idx="3">
                  <c:v>469.5</c:v>
                </c:pt>
                <c:pt idx="4">
                  <c:v>65.8</c:v>
                </c:pt>
                <c:pt idx="5">
                  <c:v>70.8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262626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Lũy kế (cost baseline)</c:v>
                </c:pt>
              </c:strCache>
            </c:strRef>
          </c:tx>
          <c:spPr>
            <a:solidFill>
              <a:srgbClr val="D64F19"/>
            </a:solidFill>
            <a:ln w="38100" cap="flat">
              <a:solidFill>
                <a:srgbClr val="D64F1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64F19"/>
              </a:solidFill>
              <a:ln w="9525" cap="flat">
                <a:solidFill>
                  <a:srgbClr val="D64F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T3</c:v>
                  </c:pt>
                  <c:pt idx="1">
                    <c:v>T4</c:v>
                  </c:pt>
                  <c:pt idx="2">
                    <c:v>T5</c:v>
                  </c:pt>
                  <c:pt idx="3">
                    <c:v>T6</c:v>
                  </c:pt>
                  <c:pt idx="4">
                    <c:v>T7</c:v>
                  </c:pt>
                  <c:pt idx="5">
                    <c:v>T8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110.5</c:v>
                </c:pt>
                <c:pt idx="1">
                  <c:v>307.6</c:v>
                </c:pt>
                <c:pt idx="2">
                  <c:v>753.8</c:v>
                </c:pt>
                <c:pt idx="3">
                  <c:v>1223.3</c:v>
                </c:pt>
                <c:pt idx="4">
                  <c:v>1289.2</c:v>
                </c:pt>
                <c:pt idx="5">
                  <c:v>1360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6350" cap="flat">
              <a:solidFill>
                <a:srgbClr val="E4DC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626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Triệu đồng</c:v>
                </c:pt>
              </c:strCache>
            </c:strRef>
          </c:tx>
          <c:spPr>
            <a:solidFill>
              <a:srgbClr val="7E4E9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626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4E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B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F1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PV (kế hoạch)</c:v>
                  </c:pt>
                  <c:pt idx="1">
                    <c:v>EV (thu được)</c:v>
                  </c:pt>
                  <c:pt idx="2">
                    <c:v>AC (thực chi)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754</c:v>
                </c:pt>
                <c:pt idx="1">
                  <c:v>712</c:v>
                </c:pt>
                <c:pt idx="2">
                  <c:v>777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2626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Phạm Duy An (PM) · ≈ 0,5 phút.
Nội dung: chào Ban giám đốc; Atlas RMS là dự án nội bộ – công ty vừa đầu tư vừa sử dụng; kế hoạch gồm 6 phần từ khởi tạo đến tổng hợp. Phân công trình bày: An (trang 1 – 3, 12) · Đức Anh (4 – 5) · Tuấn Anh (6 – 7) · Lê Anh (8 – 9) · Hiếu (10 – 11). Tổng ≈ 12 phút, sau đó 5 phút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Phạm Duy An · ≈ 1 phút.
Thông điệp: dự án giải 4 vấn đề đã khảo sát quý III/2026 và có 5 mục tiêu đo được.
Nói: hao hụt kho khoảng 4% doanh thu, tương đương khoảng 2,5 tỷ đồng/năm; thanh toán giờ cao điểm 7 phút/bàn; doanh thu chuỗi có sau 1 ngày. Charter: Sponsor Lê Văn Thành, PM Phạm Duy An; 26 tuần; 1,5 tỷ đồng gồm 140 triệu đồng dự phòng. Quyết định phương án: nền tảng RMS cloud (≈ 6 tháng, ≈ 1,5 tỷ đồng) vì cân bằng thời gian, chi phí, phạm vi; nâng cấp từng nhà hàng ≈ 300 triệu đồng nhưng vẫn rời rạc; tự phát triển trên 2 tỷ đồng, trên 10 tháng.
Có thể bị hỏi: 2,5 tỷ đồng/năm tính thế nào? → 4% × 62 tỷ đồng doanh thu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Phạm Duy An · ≈ 0,75 phút.
Thông điệp: thứ tự ưu tiên của tam giác ràng buộc quyết định cách đánh đổi về sau.
Nói: thời gian linh hoạt thấp nhất vì cần khoảng 3 tháng chạy ổn định trước mùa cao điểm cuối năm; chi phí tối đa 1,5 tỷ đồng, vượt phải Sponsor duyệt; phạm vi linh hoạt nhất – Could have dời sang giai đoạn 2. Có 8 nhóm bên liên quan, xếp theo lưới ảnh hưởng – quan tâm: quản lý chặt 5 bên; thông tin đầy đủ; giữ hài lòng; theo dõi. Tiêu chí thành công đo được: nghiệm thu ≤ 27/08/2027; chi phí ≤ 1,5 tỷ đồng và CPI ≥ 0,95 mọi kỳ; 100% Must have, 0 lỗi Critical/High.
Có thể bị hỏi: vì sao thời gian ưu tiên hơn chi phí? → mùa cao điểm cuối năm; trễ làm mất thời gian chạy ổn định và doanh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Bùi Đào Đức Anh · ≈ 1 phút.
Thông điệp: phạm vi được chốt bằng sản phẩm bàn giao và tiêu chí chấp nhận đo được, không dùng mô tả chung chung.
Nói: phạm vi sản phẩm là 9 phân hệ P1 – P9; phạm vi dự án thêm mọi việc để đưa hệ thống vào dùng (thiết bị, dữ liệu, kiểm thử, đào tạo, triển khai). Có 10 sản phẩm D1 – D10, mỗi sản phẩm có tiêu chí chấp nhận và người nghiệm thu. Bảng yêu cầu 25 mục thuộc 5 loại (kinh doanh 5, bên liên quan 5, chức năng 8, phi chức năng 4, chất lượng 3), ưu tiên MoSCoW: 20 Must, 3 Should, 2 Could. Loại trừ rõ: app di động riêng, nhân sự – lương, thay phần mềm kế toán, nhà hàng mở mới; đây là lý do CR-01 ở trang 11 phải qua CCB.
Có thể bị hỏi: vì sao app di động bị loại trừ? → ngoài mục tiêu O1 – O5, +8 tuần và +300 triệu đồng vi phạm tam giác ràng buộc.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Bùi Đào Đức Anh · ≈ 1 phút.
Thông điệp: WBS phân rã theo sản phẩm bàn giao, xuống work package đủ tiêu chí để lập lịch và chi phí.
Nói: cấp 1 là 10 nhóm công việc gắn với D1 – D10; có 25 work package, trong đó 20 gói A – T là hoạt động trong sơ đồ mạng, 5 gói quản lý (nhánh 1) chạy suốt dự án nên chỉ tính chi phí. Mỗi gói được kiểm tra 6 tiêu chí hoàn thiện (đo được trạng thái, có điểm đầu cuối, có sản phẩm, ước tính được thời gian và chi phí, thời lượng 1 – 6 tuần, độc lập); ví dụ gói 9.1.2 Rollout đạt 6/6. Chip màu cam là hoạt động nằm trên Critical Path (trang 6).
Có thể bị hỏi: vì sao 5 gói quản lý không vào sơ đồ mạng? → chạy song song suốt 26 tuần, không quyết định thời gian dự 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Đỗ Tuấn Anh · ≈ 1,5 phút.
Thông điệp: lịch 26 tuần khớp Charter nhưng không còn dự trữ.
Nói: 20 hoạt động lấy từ work package, quan hệ phụ thuộc gồm FS và 3 quan hệ gối đầu SS+3 (E → N), SS+1 (O → P), FF+1 (O → Q). Tính forward pass, backward pass cho ra Critical Path: Start → A → B → C → E → L → M → P → Q → R → S/T → End = 3 + 3 + 2 + 6 + 1 + 1 + 2 + 4 + 3 + 1 = 26 tuần (S và T song song nên có 2 path găng). PERT 3 điểm cho E, F, I: trên Critical Path chỉ E bất định, σ = 0,67 tuần, Te = 26 nên xác suất đúng hạn chỉ 50%. Đường gần găng D → F (Te = 25, σ = 1,33) có P(≤ 26 tuần) ≈ 77%: rủi ro lớn nhất là bên thứ ba cấp API chậm.
Có thể bị hỏi: Slack tính thế nào? → Total Slack = LS − EF…; D, F, H, I, J, K, N, O có Slack 1 tuần, G có 2 tuần.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Đỗ Tuấn Anh · ≈ 1 phút.
Thông điệp: nếu Ban giám đốc muốn go-live sớm hơn, chọn phương án rẻ nhất trên Critical Path và chỉ rút 1 tuần.
Nói: Gantt khớp sơ đồ mạng; cam là critical activity, tím là hoạt động có Slack, nền nhạt là Slack; 8 mốc M0 – M7 khớp Charter. Tuần 12 là đỉnh với 6 hoạt động song song nên hợp đồng đối tác phải cam kết đủ nhân sự tuần 9 – 14. Bốn phương án nén trên Critical Path: (1) Fast Tracking A → B (SS+2) ≈ 7,5 triệu đồng, Critical Path không đổi, P(≤ 26 tuần) = 93,3%; (2) Fast Tracking B → C, D: gần như 0 nhưng bỏ cổng duyệt M1, làm lại ≈ 20 triệu đồng nếu SRS đổi; (3) Crashing E 6 → 5 tuần: 50 triệu đồng, 19/20 hoạt động thành găng, P = 77,3%; (4) Crashing Q 4 → 3 tuần: ≈ 10 triệu đồng nhưng trái Charter. Chọn phương án 1, không rút tuần thứ hai.
Có thể bị hỏi: vì sao Crashing E đắt? → 25 ngày công tư vấn × 2 triệu đồng = 50 triệu đồng, lại thêm rủi ro Brooks's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Lê Anh · ≈ 1,25 phút.
Thông điệp: mỗi work package được tính ngày công × đơn giá hoặc số lượng × đơn giá, cộng lên thành 1,36 tỷ đồng; dự phòng có căn cứ, và ngân sách đã được tối ưu theo nguyên tắc chỉ chi khi dùng.
Nói: chi phí trực tiếp 1.300.000.000 đồng gắn với 25 work package, chi phí gián tiếp 60.000.000 đồng; cơ cấu nhân sự 640 – thiết bị 480 – phần mềm, dịch vụ 140 – đào tạo 40 – gián tiếp 60 triệu đồng. Đơn giá (22 ngày công/tháng): tư vấn đối tác 2,0; BA đối tác 1,5; PM nội bộ 1,5; nhân sự nội bộ 1,0 triệu đồng/ngày công. Dự phòng 140 triệu đồng (10,3%) = tổng tác động 6 rủi ro: cấu hình chuẩn &lt; 80% yêu cầu 40; API chậm 30; giá thiết bị tăng 5% 24; nâng cấp đường truyền 20; hỗ trợ thêm 1 tuần 20; đào tạo lại 6; là contingency reserve, chỉ dùng khi CCB duyệt, không có management reserve. Tối ưu chi phí: BA đối tác chỉ 40 ngày công thay vì 130 (tránh ≈ 135 triệu đồng); thuê bao RMS tính từ go-live (33 + 6 triệu đồng môi trường thử thay vì ≈ 90 triệu đồng); thiết bị đặt 2 đợt, đợt 2 (368 triệu đồng) chỉ khi pilot ổn.
Có thể bị hỏi: chi phí trực tiếp và gián tiếp khác nhau thế nào? → trực tiếp gắn được vào từng work package; gián tiếp (văn phòng, đi lại, công cụ QLDA, pháp lý) phục vụ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Lê Anh · ≈ 1,25 phút.
Thông điệp: dự án đáng làm – NPV dương, ROI vượt ngưỡng 20% của công ty, hoàn vốn chưa đến 2 năm – và công ty cần chuẩn bị tiền chủ yếu cho tháng 5 – 6.
Nói: cost baseline theo tháng (triệu đồng): 110,5 · 197,1 · 446,3 · 469,5 · 65,8 · 70,8; tháng 5 – 6 chi 916 triệu đồng (67% BAC). Dự phòng không đưa vào baseline nên BAC = 1,36 tỷ đồng. Phân tích 2027 – 2030, chiết khấu 12%/năm, năm 0 đầu tư 1,5 tỷ đồng (coi như dùng hết dự phòng), lợi ích từ 2028: giảm hao hụt 1,5% doanh thu, lãi gộp online tăng thêm, bớt 1 kế toán, bỏ phần mềm cũ. NPV = 1.243,2 triệu đồng; ROI = 59,4% sau 3 năm; hoàn vốn giản đơn 1,29 năm, có chiết khấu 1,72 năm. Độ nhạy: NPV = 0 khi lợi ích chỉ đạt 62,8% ước tính; giảm hao hụt chiếm ≈ 59% lợi ích nên cần đo hao hụt hằng tháng từ go-live.
Có thể bị hỏi: ưu và nhược của từng chỉ số? → NPV cho giá trị tuyệt đối nhưng nhạy với tỷ lệ chiết khấu; ROI dễ so với ngưỡng nhưng không cho biết thời điểm thu tiền; hoàn vốn đơn giản nhưng bỏ qua giá trị thời gian của tiền (nên có thêm bản có chiết khấu).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Nguyễn Quang Hiếu · ≈ 1,1 phút.
Thông điệp: dự án chậm và vượt chi nhẹ, nguyên nhân tập trung ở một work package do bên thứ ba; hành động khắc phục giữ được 26 tuần và ngân sách.
Nói: chốt hết tuần 13 (28/05/2027, 50% thời gian kế hoạch). PV 753,8, EV 712,2, AC 776,8 triệu đồng → CV −64,6, SV −41,6, CPI 0,92, SPI 0,94. Dự báo: ETC 647,8 / 706,5; EAC 1.424,6 (sai lệch không điển hình) – 1.483,4 (điển hình), đều dưới ngân sách 1.500; dự phòng đã dùng 46% – 88%. Nguyên nhân: gói 4.2.1 Tích hợp ngoài (F) – quyền API ShopeeFood cấp chậm 2 tuần, tư vấn vẫn tính công khi chờ, làm lại 4 ngày công; gói này chiếm 77% chênh lệch chi phí và toàn bộ chậm tiến độ. F có Slack 1 tuần nhưng đã hết dự trữ nên SIT trễ 1 tuần, M7 sẽ từ 27/08 sang 03/09 nếu không xử lý. Khắc phục: thêm 1 tư vấn tuần 14 (+2 triệu đồng) để xong cuối tuần 14, giữ 26 tuần; phụ lục hợp đồng 1.1.3 (chờ API không tính công); chốt giá cố định lô thiết bị đợt 2; báo cáo EVM 2 tuần/lần cho đến khi CPI, SPI ≥ 0,95.
Có thể bị hỏi: PV, EV, AC lấy ở đâu? → PV = lũy kế cost baseline đến hết tháng 5; EV = % hoàn thành PM xác nhận × BAC của gói; AC do Kế toán trưởng xác nhận từ sổ chi phí. Ngưỡng: ≥ 0,95 bình thường, 0,90 – 0,95 vàng, &lt; 0,90 đỏ.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Nguyễn Quang Hiếu · ≈ 0,9 phút.
Thông điệp: thay đổi phạm vi chỉ được chấp nhận khi đánh giá bằng số trên lịch và ngân sách; CR-01 vi phạm cả thời gian lẫn chi phí nên bị từ chối.
Nói: ngày 31/05/2027 Trưởng phòng Marketing đề xuất ứng dụng di động riêng (iOS, Android) – hạng mục đang bị loại trừ. Quy trình 4 bước: tiếp nhận → đánh giá 3 ngày → CCB quyết định → thực hiện. Tác động: thêm hoạt động U 8 tuần sau E nên ES của SIT từ 14 lên 22, dự án 26 → 34 tuần, M7 27/08 → 22/10/2027, chỉ còn 2,2 tháng chạy ổn định trước 01/12 (cần ≥ 3 tháng); chi phí 300 triệu đồng (110 ngày công tư vấn, 15 BA, 25 nội bộ, 32,5 triệu đồng dịch vụ), EAC 1.724,6 – 1.783,4 vượt ngân sách 1.500, dự phòng còn 75,4 – 16,6 không đủ; NPV 1.243,2 → 943,2, ROI 59,4% → 39,4%. Quyết định: CCB họp 04/06/2027, chủ trì Lê Văn Thành (Tổng Giám đốc): từ chối đưa vào baseline hiện tại, ghi vào giai đoạn 2; baseline giữ nguyên; Marketing tạm dùng danh sách khách thành viên (SR-05); đánh giá lại khi có số liệu doanh thu online tháng 07/2028.
Có thể bị hỏi: vì sao không chấp nhận và tăng ngân sách? → vi phạm ràng buộc ưu tiên 1 (thời gian) và lợi ích của ứng dụng chưa lượng hóa, trong khi web đặt món và QR order đã phục vụ mục tiêu tăng doanh thu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trình bày: Phạm Duy An · ≈ 0,75 phút, sau đó nhận câu hỏi (5 phút).
Thông điệp: Charter, WBS, lịch và ngân sách khớp nhau (29/29 điểm đối chiếu: 26 công thức ở sheet Nhất quán của file Excel và 3 phép truy vết); kế hoạch còn 3 hạn chế và rút ra 3 bài học.
Hạn chế: (1) không có dự trữ thời gian – 26 tuần bằng đúng Critical Path, xác suất đúng hạn 50%, chưa áp dụng Fast Tracking A → B; (2) rủi ro tập trung ở bên thứ ba – E và F chiếm 260 triệu đồng (19% BAC), quyền API gây 77% chênh lệch chi phí kỳ tháng 5; (3) dự phòng mỏng – 140 triệu đồng chỉ phủ 6 rủi ro, đã dùng 46% – 88% khi mới hết 50% thời gian.
Bài học: (1) đối chiếu top-down với bottom-up trước khi duyệt baseline – Charter 1,5 tỷ đồng khớp bảng chi phí theo work package; (2) chi theo thời điểm dùng – tiết kiệm ≈ 186 triệu đồng (≈ 12% ngân sách); (3) hợp đồng có điều khoản chờ API, dự trữ 1 tuần từ phương án nén rẻ nhất, báo cáo EVM 2 tuần/lần.
Chuẩn bị hỏi đáp: số liệu gốc nằm ở file Excel (các sheet WBS, Hoạt động lịch, Gantt, Nguồn lực, Chi phí, Cost baseline, Dòng tiền, EVM, Thay đổi, Nhất quán) – công thức nhìn thấy được; trả lời theo phần: Đức Anh (phạm vi, WBS), Tuấn Anh (lịch, nén lịch), Lê Anh (chi phí, NPV), Hiếu (EVM, CR-01), An (Charter, tổng hợp).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Atlas RMS · Kế hoạch quản lý dự án · AT-RMS-2027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LOSING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Atlas RMS · Kế hoạch quản lý dự án · AT-RMS-2027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"/>
          <p:cNvSpPr txBox="1"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CÔNG TY CỔ PHẦN ẨM THỰC ATLAS · BAN QUẢN LÝ DỰ ÁN</a:t>
            </a:r>
            <a:endParaRPr lang="en-US" sz="1400" dirty="0"/>
          </a:p>
        </p:txBody>
      </p:sp>
      <p:sp>
        <p:nvSpPr>
          <p:cNvPr id="4" name="deck-title-2"/>
          <p:cNvSpPr txBox="1"/>
          <p:nvPr/>
        </p:nvSpPr>
        <p:spPr>
          <a:xfrm>
            <a:off x="73152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2"/>
                </a:solidFill>
              </a:rPr>
              <a:t>Atlas RMS</a:t>
            </a:r>
            <a:endParaRPr lang="en-US" sz="6600" dirty="0"/>
          </a:p>
        </p:txBody>
      </p:sp>
      <p:sp>
        <p:nvSpPr>
          <p:cNvPr id="5" name="text-3"/>
          <p:cNvSpPr txBox="1"/>
          <p:nvPr/>
        </p:nvSpPr>
        <p:spPr>
          <a:xfrm>
            <a:off x="731520" y="2423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Kế hoạch quản lý dự án</a:t>
            </a:r>
            <a:endParaRPr lang="en-US" sz="3200" dirty="0"/>
          </a:p>
        </p:txBody>
      </p:sp>
      <p:sp>
        <p:nvSpPr>
          <p:cNvPr id="6" name="text-4"/>
          <p:cNvSpPr txBox="1"/>
          <p:nvPr/>
        </p:nvSpPr>
        <p:spPr>
          <a:xfrm>
            <a:off x="731520" y="3108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Triển khai hệ thống quản lý nhà hàng cho chuỗi 5 nhà hàng Atlas · mã AT-RMS-2027</a:t>
            </a:r>
            <a:endParaRPr lang="en-US" sz="1800" dirty="0"/>
          </a:p>
        </p:txBody>
      </p:sp>
      <p:sp>
        <p:nvSpPr>
          <p:cNvPr id="7" name="hero-stat-5"/>
          <p:cNvSpPr/>
          <p:nvPr/>
        </p:nvSpPr>
        <p:spPr>
          <a:xfrm>
            <a:off x="731520" y="3977640"/>
            <a:ext cx="33832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-6"/>
          <p:cNvSpPr txBox="1"/>
          <p:nvPr/>
        </p:nvSpPr>
        <p:spPr>
          <a:xfrm>
            <a:off x="960120" y="4114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26 tuần</a:t>
            </a:r>
            <a:endParaRPr lang="en-US" sz="3200" dirty="0"/>
          </a:p>
        </p:txBody>
      </p:sp>
      <p:sp>
        <p:nvSpPr>
          <p:cNvPr id="9" name="text-7"/>
          <p:cNvSpPr txBox="1"/>
          <p:nvPr/>
        </p:nvSpPr>
        <p:spPr>
          <a:xfrm>
            <a:off x="960120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01/03 – 27/08/2027</a:t>
            </a:r>
            <a:endParaRPr lang="en-US" sz="1400" dirty="0"/>
          </a:p>
        </p:txBody>
      </p:sp>
      <p:sp>
        <p:nvSpPr>
          <p:cNvPr id="10" name="hero-stat-8"/>
          <p:cNvSpPr/>
          <p:nvPr/>
        </p:nvSpPr>
        <p:spPr>
          <a:xfrm>
            <a:off x="4343400" y="3977640"/>
            <a:ext cx="33832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-9"/>
          <p:cNvSpPr txBox="1"/>
          <p:nvPr/>
        </p:nvSpPr>
        <p:spPr>
          <a:xfrm>
            <a:off x="4572000" y="4114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1,5 tỷ đồng</a:t>
            </a:r>
            <a:endParaRPr lang="en-US" sz="3200" dirty="0"/>
          </a:p>
        </p:txBody>
      </p:sp>
      <p:sp>
        <p:nvSpPr>
          <p:cNvPr id="12" name="text-10"/>
          <p:cNvSpPr txBox="1"/>
          <p:nvPr/>
        </p:nvSpPr>
        <p:spPr>
          <a:xfrm>
            <a:off x="4572000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1,36 tỷ chi phí + 0,14 tỷ dự phòng</a:t>
            </a:r>
            <a:endParaRPr lang="en-US" sz="1400" dirty="0"/>
          </a:p>
        </p:txBody>
      </p:sp>
      <p:sp>
        <p:nvSpPr>
          <p:cNvPr id="13" name="hero-stat-11"/>
          <p:cNvSpPr/>
          <p:nvPr/>
        </p:nvSpPr>
        <p:spPr>
          <a:xfrm>
            <a:off x="7955280" y="3977640"/>
            <a:ext cx="33832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-12"/>
          <p:cNvSpPr txBox="1"/>
          <p:nvPr/>
        </p:nvSpPr>
        <p:spPr>
          <a:xfrm>
            <a:off x="8183880" y="4114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 nhà hàng</a:t>
            </a:r>
            <a:endParaRPr lang="en-US" sz="3200" dirty="0"/>
          </a:p>
        </p:txBody>
      </p:sp>
      <p:sp>
        <p:nvSpPr>
          <p:cNvPr id="15" name="text-13"/>
          <p:cNvSpPr txBox="1"/>
          <p:nvPr/>
        </p:nvSpPr>
        <p:spPr>
          <a:xfrm>
            <a:off x="8183880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Hà Nội · khoảng 210 nhân viên</a:t>
            </a:r>
            <a:endParaRPr lang="en-US" sz="1400" dirty="0"/>
          </a:p>
        </p:txBody>
      </p:sp>
      <p:sp>
        <p:nvSpPr>
          <p:cNvPr id="16" name="text-1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Phạm Duy An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(PM) · Bùi Đào Đức Anh · Đỗ Tuấn Anh · Lê Anh · Nguyễn Quang Hiếu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Bối cảnh và lý do thực hiện dự án</a:t>
            </a:r>
            <a:endParaRPr lang="en-US" sz="2800" dirty="0"/>
          </a:p>
        </p:txBody>
      </p:sp>
      <p:sp>
        <p:nvSpPr>
          <p:cNvPr id="4" name="header-15"/>
          <p:cNvSpPr txBox="1"/>
          <p:nvPr/>
        </p:nvSpPr>
        <p:spPr>
          <a:xfrm>
            <a:off x="54864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Hiện trạng (khảo sát quý III/2026)</a:t>
            </a:r>
            <a:endParaRPr lang="en-US" sz="1800" dirty="0"/>
          </a:p>
        </p:txBody>
      </p:sp>
      <p:sp>
        <p:nvSpPr>
          <p:cNvPr id="5" name="badge-16"/>
          <p:cNvSpPr/>
          <p:nvPr/>
        </p:nvSpPr>
        <p:spPr>
          <a:xfrm>
            <a:off x="548640" y="2048256"/>
            <a:ext cx="402336" cy="402336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6" name="text-17"/>
          <p:cNvSpPr txBox="1"/>
          <p:nvPr/>
        </p:nvSpPr>
        <p:spPr>
          <a:xfrm>
            <a:off x="54864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18"/>
          <p:cNvSpPr txBox="1"/>
          <p:nvPr/>
        </p:nvSpPr>
        <p:spPr>
          <a:xfrm>
            <a:off x="1143000" y="20116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Mỗi nhà hàng một phần mềm thu ngân; doanh thu chuỗi có sau 1 ngày (T+1)</a:t>
            </a:r>
            <a:endParaRPr lang="en-US" sz="1400" dirty="0"/>
          </a:p>
        </p:txBody>
      </p:sp>
      <p:sp>
        <p:nvSpPr>
          <p:cNvPr id="8" name="badge-19"/>
          <p:cNvSpPr/>
          <p:nvPr/>
        </p:nvSpPr>
        <p:spPr>
          <a:xfrm>
            <a:off x="548640" y="2889504"/>
            <a:ext cx="402336" cy="402336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9" name="text-20"/>
          <p:cNvSpPr txBox="1"/>
          <p:nvPr/>
        </p:nvSpPr>
        <p:spPr>
          <a:xfrm>
            <a:off x="5486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21"/>
          <p:cNvSpPr txBox="1"/>
          <p:nvPr/>
        </p:nvSpPr>
        <p:spPr>
          <a:xfrm>
            <a:off x="1143000" y="28529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 ghi giấy: ≈ 3% món sai; thanh toán giờ cao điểm ≈ 7 phút/bàn</a:t>
            </a:r>
            <a:endParaRPr lang="en-US" sz="1400" dirty="0"/>
          </a:p>
        </p:txBody>
      </p:sp>
      <p:sp>
        <p:nvSpPr>
          <p:cNvPr id="11" name="badge-22"/>
          <p:cNvSpPr/>
          <p:nvPr/>
        </p:nvSpPr>
        <p:spPr>
          <a:xfrm>
            <a:off x="548640" y="3730752"/>
            <a:ext cx="402336" cy="402336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12" name="text-23"/>
          <p:cNvSpPr txBox="1"/>
          <p:nvPr/>
        </p:nvSpPr>
        <p:spPr>
          <a:xfrm>
            <a:off x="5486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-24"/>
          <p:cNvSpPr txBox="1"/>
          <p:nvPr/>
        </p:nvSpPr>
        <p:spPr>
          <a:xfrm>
            <a:off x="1143000" y="369417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Kho theo dõi bằng Excel: hao hụt ≈ 4% doanh thu (≈ 2,5 tỷ đồng/năm)</a:t>
            </a:r>
            <a:endParaRPr lang="en-US" sz="1400" dirty="0"/>
          </a:p>
        </p:txBody>
      </p:sp>
      <p:sp>
        <p:nvSpPr>
          <p:cNvPr id="14" name="badge-25"/>
          <p:cNvSpPr/>
          <p:nvPr/>
        </p:nvSpPr>
        <p:spPr>
          <a:xfrm>
            <a:off x="548640" y="4572000"/>
            <a:ext cx="402336" cy="402336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15" name="text-26"/>
          <p:cNvSpPr txBox="1"/>
          <p:nvPr/>
        </p:nvSpPr>
        <p:spPr>
          <a:xfrm>
            <a:off x="54864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-27"/>
          <p:cNvSpPr txBox="1"/>
          <p:nvPr/>
        </p:nvSpPr>
        <p:spPr>
          <a:xfrm>
            <a:off x="1143000" y="45354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Đơn GrabFood, ShopeeFood nhập tay; hóa đơn điện tử xuất gộp cuối ngày</a:t>
            </a:r>
            <a:endParaRPr lang="en-US" sz="1400" dirty="0"/>
          </a:p>
        </p:txBody>
      </p:sp>
      <p:sp>
        <p:nvSpPr>
          <p:cNvPr id="17" name="header-28"/>
          <p:cNvSpPr txBox="1"/>
          <p:nvPr/>
        </p:nvSpPr>
        <p:spPr>
          <a:xfrm>
            <a:off x="571500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Mục tiêu SMART (đo sau go-live)</a:t>
            </a:r>
            <a:endParaRPr lang="en-US" sz="1800" dirty="0"/>
          </a:p>
        </p:txBody>
      </p:sp>
      <p:sp>
        <p:nvSpPr>
          <p:cNvPr id="18" name="stat-29"/>
          <p:cNvSpPr/>
          <p:nvPr/>
        </p:nvSpPr>
        <p:spPr>
          <a:xfrm>
            <a:off x="5715000" y="196596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9" name="text-30"/>
          <p:cNvSpPr txBox="1"/>
          <p:nvPr/>
        </p:nvSpPr>
        <p:spPr>
          <a:xfrm>
            <a:off x="5879592" y="20574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Hao hụt, % doanh thu</a:t>
            </a:r>
            <a:endParaRPr lang="en-US" sz="1300" dirty="0"/>
          </a:p>
        </p:txBody>
      </p:sp>
      <p:sp>
        <p:nvSpPr>
          <p:cNvPr id="20" name="text-31"/>
          <p:cNvSpPr txBox="1"/>
          <p:nvPr/>
        </p:nvSpPr>
        <p:spPr>
          <a:xfrm>
            <a:off x="5879592" y="2350008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4% → ≤ 2,5%</a:t>
            </a:r>
            <a:endParaRPr lang="en-US" sz="2000" dirty="0"/>
          </a:p>
        </p:txBody>
      </p:sp>
      <p:sp>
        <p:nvSpPr>
          <p:cNvPr id="21" name="stat-32"/>
          <p:cNvSpPr/>
          <p:nvPr/>
        </p:nvSpPr>
        <p:spPr>
          <a:xfrm>
            <a:off x="8732520" y="1965960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2" name="text-33"/>
          <p:cNvSpPr txBox="1"/>
          <p:nvPr/>
        </p:nvSpPr>
        <p:spPr>
          <a:xfrm>
            <a:off x="8897112" y="20574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Món sai</a:t>
            </a:r>
            <a:endParaRPr lang="en-US" sz="1300" dirty="0"/>
          </a:p>
        </p:txBody>
      </p:sp>
      <p:sp>
        <p:nvSpPr>
          <p:cNvPr id="23" name="text-34"/>
          <p:cNvSpPr txBox="1"/>
          <p:nvPr/>
        </p:nvSpPr>
        <p:spPr>
          <a:xfrm>
            <a:off x="8897112" y="2350008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3% → ≤ 1%</a:t>
            </a:r>
            <a:endParaRPr lang="en-US" sz="2000" dirty="0"/>
          </a:p>
        </p:txBody>
      </p:sp>
      <p:sp>
        <p:nvSpPr>
          <p:cNvPr id="24" name="stat-35"/>
          <p:cNvSpPr/>
          <p:nvPr/>
        </p:nvSpPr>
        <p:spPr>
          <a:xfrm>
            <a:off x="5715000" y="3081528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5" name="text-36"/>
          <p:cNvSpPr txBox="1"/>
          <p:nvPr/>
        </p:nvSpPr>
        <p:spPr>
          <a:xfrm>
            <a:off x="5879592" y="317296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Thanh toán giờ cao điểm</a:t>
            </a:r>
            <a:endParaRPr lang="en-US" sz="1300" dirty="0"/>
          </a:p>
        </p:txBody>
      </p:sp>
      <p:sp>
        <p:nvSpPr>
          <p:cNvPr id="26" name="text-37"/>
          <p:cNvSpPr txBox="1"/>
          <p:nvPr/>
        </p:nvSpPr>
        <p:spPr>
          <a:xfrm>
            <a:off x="5879592" y="3465576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 → ≤ 3 phút/bàn</a:t>
            </a:r>
            <a:endParaRPr lang="en-US" sz="2000" dirty="0"/>
          </a:p>
        </p:txBody>
      </p:sp>
      <p:sp>
        <p:nvSpPr>
          <p:cNvPr id="27" name="stat-38"/>
          <p:cNvSpPr/>
          <p:nvPr/>
        </p:nvSpPr>
        <p:spPr>
          <a:xfrm>
            <a:off x="8732520" y="3081528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8" name="text-39"/>
          <p:cNvSpPr txBox="1"/>
          <p:nvPr/>
        </p:nvSpPr>
        <p:spPr>
          <a:xfrm>
            <a:off x="8897112" y="317296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Doanh thu, tồn kho chuỗi</a:t>
            </a:r>
            <a:endParaRPr lang="en-US" sz="1300" dirty="0"/>
          </a:p>
        </p:txBody>
      </p:sp>
      <p:sp>
        <p:nvSpPr>
          <p:cNvPr id="29" name="text-40"/>
          <p:cNvSpPr txBox="1"/>
          <p:nvPr/>
        </p:nvSpPr>
        <p:spPr>
          <a:xfrm>
            <a:off x="8897112" y="3465576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T+1 → ≤ 15 phút</a:t>
            </a:r>
            <a:endParaRPr lang="en-US" sz="2000" dirty="0"/>
          </a:p>
        </p:txBody>
      </p:sp>
      <p:sp>
        <p:nvSpPr>
          <p:cNvPr id="30" name="stat-41"/>
          <p:cNvSpPr/>
          <p:nvPr/>
        </p:nvSpPr>
        <p:spPr>
          <a:xfrm>
            <a:off x="5715000" y="4197096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1" name="text-42"/>
          <p:cNvSpPr txBox="1"/>
          <p:nvPr/>
        </p:nvSpPr>
        <p:spPr>
          <a:xfrm>
            <a:off x="5879592" y="4288536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Doanh thu kênh online</a:t>
            </a:r>
            <a:endParaRPr lang="en-US" sz="1300" dirty="0"/>
          </a:p>
        </p:txBody>
      </p:sp>
      <p:sp>
        <p:nvSpPr>
          <p:cNvPr id="32" name="text-43"/>
          <p:cNvSpPr txBox="1"/>
          <p:nvPr/>
        </p:nvSpPr>
        <p:spPr>
          <a:xfrm>
            <a:off x="5879592" y="4581144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8% → ≥ 15%</a:t>
            </a:r>
            <a:endParaRPr lang="en-US" sz="2000" dirty="0"/>
          </a:p>
        </p:txBody>
      </p:sp>
      <p:sp>
        <p:nvSpPr>
          <p:cNvPr id="33" name="stat-44"/>
          <p:cNvSpPr/>
          <p:nvPr/>
        </p:nvSpPr>
        <p:spPr>
          <a:xfrm>
            <a:off x="8732520" y="4197096"/>
            <a:ext cx="2880360" cy="1005840"/>
          </a:xfrm>
          <a:prstGeom prst="roundRect">
            <a:avLst>
              <a:gd name="adj" fmla="val 7273"/>
            </a:avLst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34" name="text-45"/>
          <p:cNvSpPr txBox="1"/>
          <p:nvPr/>
        </p:nvSpPr>
        <p:spPr>
          <a:xfrm>
            <a:off x="8897112" y="4288536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Ràng buộc Charter</a:t>
            </a:r>
            <a:endParaRPr lang="en-US" sz="1300" dirty="0"/>
          </a:p>
        </p:txBody>
      </p:sp>
      <p:sp>
        <p:nvSpPr>
          <p:cNvPr id="35" name="text-46"/>
          <p:cNvSpPr txBox="1"/>
          <p:nvPr/>
        </p:nvSpPr>
        <p:spPr>
          <a:xfrm>
            <a:off x="8897112" y="4581144"/>
            <a:ext cx="2551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26 tuần · 1,5 tỷ</a:t>
            </a:r>
            <a:endParaRPr lang="en-US" sz="2000" dirty="0"/>
          </a:p>
        </p:txBody>
      </p:sp>
      <p:sp>
        <p:nvSpPr>
          <p:cNvPr id="36" name="band-47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7" name="band-text-48"/>
          <p:cNvSpPr txBox="1"/>
          <p:nvPr/>
        </p:nvSpPr>
        <p:spPr>
          <a:xfrm>
            <a:off x="777240" y="553212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Phương án chọn: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nền tảng RMS cloud (≈ 6 tháng, ≈ 1,5 tỷ đồng) – không chọn nâng cấp từng nhà hàng (300 triệu đồng, vẫn rời rạc) hay tự phát triển (&gt; 2 tỷ đồng, &gt; 10 tháng).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Bên liên quan, ràng buộc và tiêu chí thành công</a:t>
            </a:r>
            <a:endParaRPr lang="en-US" sz="2800" dirty="0"/>
          </a:p>
        </p:txBody>
      </p:sp>
      <p:sp>
        <p:nvSpPr>
          <p:cNvPr id="4" name="header-49"/>
          <p:cNvSpPr txBox="1"/>
          <p:nvPr/>
        </p:nvSpPr>
        <p:spPr>
          <a:xfrm>
            <a:off x="5486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Tam giác ràng buộc</a:t>
            </a:r>
            <a:endParaRPr lang="en-US" sz="1800" dirty="0"/>
          </a:p>
        </p:txBody>
      </p:sp>
      <p:sp>
        <p:nvSpPr>
          <p:cNvPr id="5" name="triangle-card-50"/>
          <p:cNvSpPr/>
          <p:nvPr/>
        </p:nvSpPr>
        <p:spPr>
          <a:xfrm>
            <a:off x="548640" y="1965960"/>
            <a:ext cx="56692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" name="chip-51"/>
          <p:cNvSpPr/>
          <p:nvPr/>
        </p:nvSpPr>
        <p:spPr>
          <a:xfrm>
            <a:off x="713232" y="2112264"/>
            <a:ext cx="1051560" cy="36576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7" name="text-52"/>
          <p:cNvSpPr txBox="1"/>
          <p:nvPr/>
        </p:nvSpPr>
        <p:spPr>
          <a:xfrm>
            <a:off x="713232" y="21122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Ưu tiên 1</a:t>
            </a:r>
            <a:endParaRPr lang="en-US" sz="1300" dirty="0"/>
          </a:p>
        </p:txBody>
      </p:sp>
      <p:sp>
        <p:nvSpPr>
          <p:cNvPr id="8" name="text-53"/>
          <p:cNvSpPr txBox="1"/>
          <p:nvPr/>
        </p:nvSpPr>
        <p:spPr>
          <a:xfrm>
            <a:off x="713232" y="25511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Thời gian</a:t>
            </a:r>
            <a:endParaRPr lang="en-US" sz="1800" dirty="0"/>
          </a:p>
        </p:txBody>
      </p:sp>
      <p:sp>
        <p:nvSpPr>
          <p:cNvPr id="9" name="text-54"/>
          <p:cNvSpPr txBox="1"/>
          <p:nvPr/>
        </p:nvSpPr>
        <p:spPr>
          <a:xfrm>
            <a:off x="2011680" y="2057400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 tuần, 5/5 nhà hàng go-live trước 30/07. Linh hoạt thấp nhất: cần ≈ 3 tháng chạy ổn định trước mùa cao điểm cuối năm.</a:t>
            </a:r>
            <a:endParaRPr lang="en-US" sz="1400" dirty="0"/>
          </a:p>
        </p:txBody>
      </p:sp>
      <p:sp>
        <p:nvSpPr>
          <p:cNvPr id="10" name="triangle-card-55"/>
          <p:cNvSpPr/>
          <p:nvPr/>
        </p:nvSpPr>
        <p:spPr>
          <a:xfrm>
            <a:off x="548640" y="3200400"/>
            <a:ext cx="56692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1" name="chip-56"/>
          <p:cNvSpPr/>
          <p:nvPr/>
        </p:nvSpPr>
        <p:spPr>
          <a:xfrm>
            <a:off x="713232" y="3346704"/>
            <a:ext cx="105156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12" name="text-57"/>
          <p:cNvSpPr txBox="1"/>
          <p:nvPr/>
        </p:nvSpPr>
        <p:spPr>
          <a:xfrm>
            <a:off x="713232" y="3346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Ưu tiên 2</a:t>
            </a:r>
            <a:endParaRPr lang="en-US" sz="1300" dirty="0"/>
          </a:p>
        </p:txBody>
      </p:sp>
      <p:sp>
        <p:nvSpPr>
          <p:cNvPr id="13" name="text-58"/>
          <p:cNvSpPr txBox="1"/>
          <p:nvPr/>
        </p:nvSpPr>
        <p:spPr>
          <a:xfrm>
            <a:off x="713232" y="3785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Chi phí</a:t>
            </a:r>
            <a:endParaRPr lang="en-US" sz="1800" dirty="0"/>
          </a:p>
        </p:txBody>
      </p:sp>
      <p:sp>
        <p:nvSpPr>
          <p:cNvPr id="14" name="text-59"/>
          <p:cNvSpPr txBox="1"/>
          <p:nvPr/>
        </p:nvSpPr>
        <p:spPr>
          <a:xfrm>
            <a:off x="2011680" y="3291840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≤ 1,5 tỷ đồng gồm 140 triệu đồng dự phòng; vượt phải Sponsor duyệt; cắt Could have trước khi xin thêm.</a:t>
            </a:r>
            <a:endParaRPr lang="en-US" sz="1400" dirty="0"/>
          </a:p>
        </p:txBody>
      </p:sp>
      <p:sp>
        <p:nvSpPr>
          <p:cNvPr id="15" name="triangle-card-60"/>
          <p:cNvSpPr/>
          <p:nvPr/>
        </p:nvSpPr>
        <p:spPr>
          <a:xfrm>
            <a:off x="548640" y="4434840"/>
            <a:ext cx="566928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6" name="chip-61"/>
          <p:cNvSpPr/>
          <p:nvPr/>
        </p:nvSpPr>
        <p:spPr>
          <a:xfrm>
            <a:off x="713232" y="4581144"/>
            <a:ext cx="1051560" cy="365760"/>
          </a:xfrm>
          <a:prstGeom prst="roundRect">
            <a:avLst>
              <a:gd name="adj" fmla="val 30000"/>
            </a:avLst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17" name="text-62"/>
          <p:cNvSpPr txBox="1"/>
          <p:nvPr/>
        </p:nvSpPr>
        <p:spPr>
          <a:xfrm>
            <a:off x="713232" y="4581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Ưu tiên 3</a:t>
            </a:r>
            <a:endParaRPr lang="en-US" sz="1300" dirty="0"/>
          </a:p>
        </p:txBody>
      </p:sp>
      <p:sp>
        <p:nvSpPr>
          <p:cNvPr id="18" name="text-63"/>
          <p:cNvSpPr txBox="1"/>
          <p:nvPr/>
        </p:nvSpPr>
        <p:spPr>
          <a:xfrm>
            <a:off x="713232" y="5020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Phạm vi</a:t>
            </a:r>
            <a:endParaRPr lang="en-US" sz="1800" dirty="0"/>
          </a:p>
        </p:txBody>
      </p:sp>
      <p:sp>
        <p:nvSpPr>
          <p:cNvPr id="19" name="text-64"/>
          <p:cNvSpPr txBox="1"/>
          <p:nvPr/>
        </p:nvSpPr>
        <p:spPr>
          <a:xfrm>
            <a:off x="2011680" y="4526280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phân hệ, ưu tiên MoSCoW. Linh hoạt nhất: Could have dời sang giai đoạn 2; mọi thay đổi qua CCB.</a:t>
            </a:r>
            <a:endParaRPr lang="en-US" sz="1400" dirty="0"/>
          </a:p>
        </p:txBody>
      </p:sp>
      <p:sp>
        <p:nvSpPr>
          <p:cNvPr id="20" name="header-65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 nhóm bên liên quan</a:t>
            </a:r>
            <a:endParaRPr lang="en-US" sz="1800" dirty="0"/>
          </a:p>
        </p:txBody>
      </p:sp>
      <p:sp>
        <p:nvSpPr>
          <p:cNvPr id="21" name="quad-66"/>
          <p:cNvSpPr/>
          <p:nvPr/>
        </p:nvSpPr>
        <p:spPr>
          <a:xfrm>
            <a:off x="6492240" y="1965960"/>
            <a:ext cx="2514600" cy="1719072"/>
          </a:xfrm>
          <a:prstGeom prst="roundRect">
            <a:avLst>
              <a:gd name="adj" fmla="val 4255"/>
            </a:avLst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22" name="text-67"/>
          <p:cNvSpPr txBox="1"/>
          <p:nvPr/>
        </p:nvSpPr>
        <p:spPr>
          <a:xfrm>
            <a:off x="6656832" y="2093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Quản lý chặt</a:t>
            </a:r>
            <a:endParaRPr lang="en-US" sz="1600" dirty="0"/>
          </a:p>
        </p:txBody>
      </p:sp>
      <p:sp>
        <p:nvSpPr>
          <p:cNvPr id="23" name="text-68"/>
          <p:cNvSpPr txBox="1"/>
          <p:nvPr/>
        </p:nvSpPr>
        <p:spPr>
          <a:xfrm>
            <a:off x="6656832" y="249631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Sponsor, Giám đốc vận hành, Kế toán trưởng, đối tác RMS, Ban QLDA</a:t>
            </a:r>
            <a:endParaRPr lang="en-US" sz="1400" dirty="0"/>
          </a:p>
        </p:txBody>
      </p:sp>
      <p:sp>
        <p:nvSpPr>
          <p:cNvPr id="24" name="quad-69"/>
          <p:cNvSpPr/>
          <p:nvPr/>
        </p:nvSpPr>
        <p:spPr>
          <a:xfrm>
            <a:off x="9098280" y="1965960"/>
            <a:ext cx="2514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5" name="text-70"/>
          <p:cNvSpPr txBox="1"/>
          <p:nvPr/>
        </p:nvSpPr>
        <p:spPr>
          <a:xfrm>
            <a:off x="9262872" y="2093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Thông tin đầy đủ</a:t>
            </a:r>
            <a:endParaRPr lang="en-US" sz="1600" dirty="0"/>
          </a:p>
        </p:txBody>
      </p:sp>
      <p:sp>
        <p:nvSpPr>
          <p:cNvPr id="26" name="text-71"/>
          <p:cNvSpPr txBox="1"/>
          <p:nvPr/>
        </p:nvSpPr>
        <p:spPr>
          <a:xfrm>
            <a:off x="9262872" y="249631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Quản lý nhà hàng, bếp trưởng, IT, nhân viên (≈ 200 người), Marketing</a:t>
            </a:r>
            <a:endParaRPr lang="en-US" sz="1400" dirty="0"/>
          </a:p>
        </p:txBody>
      </p:sp>
      <p:sp>
        <p:nvSpPr>
          <p:cNvPr id="27" name="quad-72"/>
          <p:cNvSpPr/>
          <p:nvPr/>
        </p:nvSpPr>
        <p:spPr>
          <a:xfrm>
            <a:off x="6492240" y="3794760"/>
            <a:ext cx="2514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8" name="text-73"/>
          <p:cNvSpPr txBox="1"/>
          <p:nvPr/>
        </p:nvSpPr>
        <p:spPr>
          <a:xfrm>
            <a:off x="6656832" y="3922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Giữ hài lòng</a:t>
            </a:r>
            <a:endParaRPr lang="en-US" sz="1600" dirty="0"/>
          </a:p>
        </p:txBody>
      </p:sp>
      <p:sp>
        <p:nvSpPr>
          <p:cNvPr id="29" name="text-74"/>
          <p:cNvSpPr txBox="1"/>
          <p:nvPr/>
        </p:nvSpPr>
        <p:spPr>
          <a:xfrm>
            <a:off x="6656832" y="432511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Nhà cung cấp bên thứ ba, cơ quan thuế</a:t>
            </a:r>
            <a:endParaRPr lang="en-US" sz="1400" dirty="0"/>
          </a:p>
        </p:txBody>
      </p:sp>
      <p:sp>
        <p:nvSpPr>
          <p:cNvPr id="30" name="quad-75"/>
          <p:cNvSpPr/>
          <p:nvPr/>
        </p:nvSpPr>
        <p:spPr>
          <a:xfrm>
            <a:off x="9098280" y="3794760"/>
            <a:ext cx="2514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1" name="text-76"/>
          <p:cNvSpPr txBox="1"/>
          <p:nvPr/>
        </p:nvSpPr>
        <p:spPr>
          <a:xfrm>
            <a:off x="9262872" y="39227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Theo dõi</a:t>
            </a:r>
            <a:endParaRPr lang="en-US" sz="1600" dirty="0"/>
          </a:p>
        </p:txBody>
      </p:sp>
      <p:sp>
        <p:nvSpPr>
          <p:cNvPr id="32" name="text-77"/>
          <p:cNvSpPr txBox="1"/>
          <p:nvPr/>
        </p:nvSpPr>
        <p:spPr>
          <a:xfrm>
            <a:off x="9262872" y="432511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Thực khách (khảo sát sau pilot)</a:t>
            </a:r>
            <a:endParaRPr lang="en-US" sz="1400" dirty="0"/>
          </a:p>
        </p:txBody>
      </p:sp>
      <p:sp>
        <p:nvSpPr>
          <p:cNvPr id="33" name="band-78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4" name="band-text-79"/>
          <p:cNvSpPr txBox="1"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Tiêu chí thành công: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nghiệm thu ≤ 27/08/2027 · chi phí ≤ 1,5 tỷ đồng, CPI ≥ 0,95 · 100% Must have, 0 lỗi Critical/High.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Phạm vi dự án và bảng yêu cầu</a:t>
            </a:r>
            <a:endParaRPr lang="en-US" sz="2800" dirty="0"/>
          </a:p>
        </p:txBody>
      </p:sp>
      <p:sp>
        <p:nvSpPr>
          <p:cNvPr id="4" name="header-80"/>
          <p:cNvSpPr txBox="1"/>
          <p:nvPr/>
        </p:nvSpPr>
        <p:spPr>
          <a:xfrm>
            <a:off x="548640" y="1463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9 phân hệ RMS (phạm vi sản phẩm)</a:t>
            </a:r>
            <a:endParaRPr lang="en-US" sz="1800" dirty="0"/>
          </a:p>
        </p:txBody>
      </p:sp>
      <p:sp>
        <p:nvSpPr>
          <p:cNvPr id="5" name="module-81"/>
          <p:cNvSpPr/>
          <p:nvPr/>
        </p:nvSpPr>
        <p:spPr>
          <a:xfrm>
            <a:off x="548640" y="196596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" name="text-82"/>
          <p:cNvSpPr txBox="1"/>
          <p:nvPr/>
        </p:nvSpPr>
        <p:spPr>
          <a:xfrm>
            <a:off x="68580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P1</a:t>
            </a:r>
            <a:endParaRPr lang="en-US" sz="1800" dirty="0"/>
          </a:p>
        </p:txBody>
      </p:sp>
      <p:sp>
        <p:nvSpPr>
          <p:cNvPr id="7" name="text-83"/>
          <p:cNvSpPr txBox="1"/>
          <p:nvPr/>
        </p:nvSpPr>
        <p:spPr>
          <a:xfrm>
            <a:off x="685800" y="2441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Bán hàng (POS)</a:t>
            </a:r>
            <a:endParaRPr lang="en-US" sz="1400" dirty="0"/>
          </a:p>
        </p:txBody>
      </p:sp>
      <p:sp>
        <p:nvSpPr>
          <p:cNvPr id="8" name="module-84"/>
          <p:cNvSpPr/>
          <p:nvPr/>
        </p:nvSpPr>
        <p:spPr>
          <a:xfrm>
            <a:off x="2697480" y="196596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9" name="text-85"/>
          <p:cNvSpPr txBox="1"/>
          <p:nvPr/>
        </p:nvSpPr>
        <p:spPr>
          <a:xfrm>
            <a:off x="28346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P2</a:t>
            </a:r>
            <a:endParaRPr lang="en-US" sz="1800" dirty="0"/>
          </a:p>
        </p:txBody>
      </p:sp>
      <p:sp>
        <p:nvSpPr>
          <p:cNvPr id="10" name="text-86"/>
          <p:cNvSpPr txBox="1"/>
          <p:nvPr/>
        </p:nvSpPr>
        <p:spPr>
          <a:xfrm>
            <a:off x="2834640" y="2441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Order, màn hình bếp</a:t>
            </a:r>
            <a:endParaRPr lang="en-US" sz="1400" dirty="0"/>
          </a:p>
        </p:txBody>
      </p:sp>
      <p:sp>
        <p:nvSpPr>
          <p:cNvPr id="11" name="module-87"/>
          <p:cNvSpPr/>
          <p:nvPr/>
        </p:nvSpPr>
        <p:spPr>
          <a:xfrm>
            <a:off x="4846320" y="196596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2" name="text-88"/>
          <p:cNvSpPr txBox="1"/>
          <p:nvPr/>
        </p:nvSpPr>
        <p:spPr>
          <a:xfrm>
            <a:off x="498348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P3</a:t>
            </a:r>
            <a:endParaRPr lang="en-US" sz="1800" dirty="0"/>
          </a:p>
        </p:txBody>
      </p:sp>
      <p:sp>
        <p:nvSpPr>
          <p:cNvPr id="13" name="text-89"/>
          <p:cNvSpPr txBox="1"/>
          <p:nvPr/>
        </p:nvSpPr>
        <p:spPr>
          <a:xfrm>
            <a:off x="4983480" y="2441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Bàn, đặt bàn</a:t>
            </a:r>
            <a:endParaRPr lang="en-US" sz="1400" dirty="0"/>
          </a:p>
        </p:txBody>
      </p:sp>
      <p:sp>
        <p:nvSpPr>
          <p:cNvPr id="14" name="module-90"/>
          <p:cNvSpPr/>
          <p:nvPr/>
        </p:nvSpPr>
        <p:spPr>
          <a:xfrm>
            <a:off x="548640" y="315468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5" name="text-91"/>
          <p:cNvSpPr txBox="1"/>
          <p:nvPr/>
        </p:nvSpPr>
        <p:spPr>
          <a:xfrm>
            <a:off x="68580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P4</a:t>
            </a:r>
            <a:endParaRPr lang="en-US" sz="1800" dirty="0"/>
          </a:p>
        </p:txBody>
      </p:sp>
      <p:sp>
        <p:nvSpPr>
          <p:cNvPr id="16" name="text-92"/>
          <p:cNvSpPr txBox="1"/>
          <p:nvPr/>
        </p:nvSpPr>
        <p:spPr>
          <a:xfrm>
            <a:off x="685800" y="3630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Thực đơn, giá</a:t>
            </a:r>
            <a:endParaRPr lang="en-US" sz="1400" dirty="0"/>
          </a:p>
        </p:txBody>
      </p:sp>
      <p:sp>
        <p:nvSpPr>
          <p:cNvPr id="17" name="module-93"/>
          <p:cNvSpPr/>
          <p:nvPr/>
        </p:nvSpPr>
        <p:spPr>
          <a:xfrm>
            <a:off x="2697480" y="315468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8" name="text-94"/>
          <p:cNvSpPr txBox="1"/>
          <p:nvPr/>
        </p:nvSpPr>
        <p:spPr>
          <a:xfrm>
            <a:off x="283464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P5</a:t>
            </a:r>
            <a:endParaRPr lang="en-US" sz="1800" dirty="0"/>
          </a:p>
        </p:txBody>
      </p:sp>
      <p:sp>
        <p:nvSpPr>
          <p:cNvPr id="19" name="text-95"/>
          <p:cNvSpPr txBox="1"/>
          <p:nvPr/>
        </p:nvSpPr>
        <p:spPr>
          <a:xfrm>
            <a:off x="2834640" y="3630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Kho nguyên liệu</a:t>
            </a:r>
            <a:endParaRPr lang="en-US" sz="1400" dirty="0"/>
          </a:p>
        </p:txBody>
      </p:sp>
      <p:sp>
        <p:nvSpPr>
          <p:cNvPr id="20" name="module-96"/>
          <p:cNvSpPr/>
          <p:nvPr/>
        </p:nvSpPr>
        <p:spPr>
          <a:xfrm>
            <a:off x="4846320" y="315468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1" name="text-97"/>
          <p:cNvSpPr txBox="1"/>
          <p:nvPr/>
        </p:nvSpPr>
        <p:spPr>
          <a:xfrm>
            <a:off x="498348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P6</a:t>
            </a:r>
            <a:endParaRPr lang="en-US" sz="1800" dirty="0"/>
          </a:p>
        </p:txBody>
      </p:sp>
      <p:sp>
        <p:nvSpPr>
          <p:cNvPr id="22" name="text-98"/>
          <p:cNvSpPr txBox="1"/>
          <p:nvPr/>
        </p:nvSpPr>
        <p:spPr>
          <a:xfrm>
            <a:off x="4983480" y="36301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Kênh online (web, QR)</a:t>
            </a:r>
            <a:endParaRPr lang="en-US" sz="1400" dirty="0"/>
          </a:p>
        </p:txBody>
      </p:sp>
      <p:sp>
        <p:nvSpPr>
          <p:cNvPr id="23" name="module-99"/>
          <p:cNvSpPr/>
          <p:nvPr/>
        </p:nvSpPr>
        <p:spPr>
          <a:xfrm>
            <a:off x="548640" y="434340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4" name="text-100"/>
          <p:cNvSpPr txBox="1"/>
          <p:nvPr/>
        </p:nvSpPr>
        <p:spPr>
          <a:xfrm>
            <a:off x="68580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P7</a:t>
            </a:r>
            <a:endParaRPr lang="en-US" sz="1800" dirty="0"/>
          </a:p>
        </p:txBody>
      </p:sp>
      <p:sp>
        <p:nvSpPr>
          <p:cNvPr id="25" name="text-101"/>
          <p:cNvSpPr txBox="1"/>
          <p:nvPr/>
        </p:nvSpPr>
        <p:spPr>
          <a:xfrm>
            <a:off x="685800" y="48188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Khách hàng thành viên</a:t>
            </a:r>
            <a:endParaRPr lang="en-US" sz="1400" dirty="0"/>
          </a:p>
        </p:txBody>
      </p:sp>
      <p:sp>
        <p:nvSpPr>
          <p:cNvPr id="26" name="module-102"/>
          <p:cNvSpPr/>
          <p:nvPr/>
        </p:nvSpPr>
        <p:spPr>
          <a:xfrm>
            <a:off x="2697480" y="434340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7" name="text-103"/>
          <p:cNvSpPr txBox="1"/>
          <p:nvPr/>
        </p:nvSpPr>
        <p:spPr>
          <a:xfrm>
            <a:off x="283464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P8</a:t>
            </a:r>
            <a:endParaRPr lang="en-US" sz="1800" dirty="0"/>
          </a:p>
        </p:txBody>
      </p:sp>
      <p:sp>
        <p:nvSpPr>
          <p:cNvPr id="28" name="text-104"/>
          <p:cNvSpPr txBox="1"/>
          <p:nvPr/>
        </p:nvSpPr>
        <p:spPr>
          <a:xfrm>
            <a:off x="2834640" y="48188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Báo cáo, dashboard</a:t>
            </a:r>
            <a:endParaRPr lang="en-US" sz="1400" dirty="0"/>
          </a:p>
        </p:txBody>
      </p:sp>
      <p:sp>
        <p:nvSpPr>
          <p:cNvPr id="29" name="module-105"/>
          <p:cNvSpPr/>
          <p:nvPr/>
        </p:nvSpPr>
        <p:spPr>
          <a:xfrm>
            <a:off x="4846320" y="434340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0" name="text-106"/>
          <p:cNvSpPr txBox="1"/>
          <p:nvPr/>
        </p:nvSpPr>
        <p:spPr>
          <a:xfrm>
            <a:off x="4983480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P9</a:t>
            </a:r>
            <a:endParaRPr lang="en-US" sz="1800" dirty="0"/>
          </a:p>
        </p:txBody>
      </p:sp>
      <p:sp>
        <p:nvSpPr>
          <p:cNvPr id="31" name="text-107"/>
          <p:cNvSpPr txBox="1"/>
          <p:nvPr/>
        </p:nvSpPr>
        <p:spPr>
          <a:xfrm>
            <a:off x="4983480" y="48188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Tích hợp bên ngoài</a:t>
            </a:r>
            <a:endParaRPr lang="en-US" sz="1400" dirty="0"/>
          </a:p>
        </p:txBody>
      </p:sp>
      <p:sp>
        <p:nvSpPr>
          <p:cNvPr id="32" name="text-108"/>
          <p:cNvSpPr txBox="1"/>
          <p:nvPr/>
        </p:nvSpPr>
        <p:spPr>
          <a:xfrm>
            <a:off x="548640" y="54681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P9: hóa đơn điện tử, thanh toán QR, GrabFood, ShopeeFood, kế toán</a:t>
            </a:r>
            <a:endParaRPr lang="en-US" sz="1200" dirty="0"/>
          </a:p>
        </p:txBody>
      </p:sp>
      <p:sp>
        <p:nvSpPr>
          <p:cNvPr id="33" name="header-109"/>
          <p:cNvSpPr txBox="1"/>
          <p:nvPr/>
        </p:nvSpPr>
        <p:spPr>
          <a:xfrm>
            <a:off x="7223760" y="14630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25 yêu cầu theo MoSCoW</a:t>
            </a:r>
            <a:endParaRPr lang="en-US" sz="1800" dirty="0"/>
          </a:p>
        </p:txBody>
      </p:sp>
      <p:sp>
        <p:nvSpPr>
          <p:cNvPr id="34" name="moscow-110"/>
          <p:cNvSpPr/>
          <p:nvPr/>
        </p:nvSpPr>
        <p:spPr>
          <a:xfrm>
            <a:off x="7223760" y="1965960"/>
            <a:ext cx="3533242" cy="50292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5" name="moscow-111"/>
          <p:cNvSpPr/>
          <p:nvPr/>
        </p:nvSpPr>
        <p:spPr>
          <a:xfrm>
            <a:off x="10757002" y="1965960"/>
            <a:ext cx="529986" cy="5029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36" name="moscow-112"/>
          <p:cNvSpPr/>
          <p:nvPr/>
        </p:nvSpPr>
        <p:spPr>
          <a:xfrm>
            <a:off x="11286988" y="1965960"/>
            <a:ext cx="353324" cy="502920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37" name="text-113"/>
          <p:cNvSpPr txBox="1"/>
          <p:nvPr/>
        </p:nvSpPr>
        <p:spPr>
          <a:xfrm>
            <a:off x="7223760" y="1965960"/>
            <a:ext cx="35332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Must 20</a:t>
            </a:r>
            <a:endParaRPr lang="en-US" sz="1600" dirty="0"/>
          </a:p>
        </p:txBody>
      </p:sp>
      <p:sp>
        <p:nvSpPr>
          <p:cNvPr id="38" name="text-114"/>
          <p:cNvSpPr txBox="1"/>
          <p:nvPr/>
        </p:nvSpPr>
        <p:spPr>
          <a:xfrm>
            <a:off x="10757002" y="1965960"/>
            <a:ext cx="529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text-115"/>
          <p:cNvSpPr txBox="1"/>
          <p:nvPr/>
        </p:nvSpPr>
        <p:spPr>
          <a:xfrm>
            <a:off x="11286988" y="1965960"/>
            <a:ext cx="353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40" name="text-116"/>
          <p:cNvSpPr txBox="1"/>
          <p:nvPr/>
        </p:nvSpPr>
        <p:spPr>
          <a:xfrm>
            <a:off x="7223760" y="25146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Should 3 · Could 2 · Won't: không làm lần này</a:t>
            </a:r>
            <a:endParaRPr lang="en-US" sz="1200" dirty="0"/>
          </a:p>
        </p:txBody>
      </p:sp>
      <p:sp>
        <p:nvSpPr>
          <p:cNvPr id="41" name="text-117"/>
          <p:cNvSpPr txBox="1"/>
          <p:nvPr/>
        </p:nvSpPr>
        <p:spPr>
          <a:xfrm>
            <a:off x="7223760" y="28346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Kinh doanh 5 · Bên liên quan 5 · Chức năng 8 · Phi chức năng 4 · Chất lượng 3</a:t>
            </a:r>
            <a:endParaRPr lang="en-US" sz="1400" dirty="0"/>
          </a:p>
        </p:txBody>
      </p:sp>
      <p:sp>
        <p:nvSpPr>
          <p:cNvPr id="42" name="scope-card-118"/>
          <p:cNvSpPr/>
          <p:nvPr/>
        </p:nvSpPr>
        <p:spPr>
          <a:xfrm>
            <a:off x="7223760" y="3474720"/>
            <a:ext cx="441655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3" name="text-119"/>
          <p:cNvSpPr txBox="1"/>
          <p:nvPr/>
        </p:nvSpPr>
        <p:spPr>
          <a:xfrm>
            <a:off x="7388352" y="3474720"/>
            <a:ext cx="4087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Ngoài phạm vi: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 di động riêng · nhân sự, tính lương · thay phần mềm kế toán · nhà hàng mở mới</a:t>
            </a:r>
            <a:endParaRPr lang="en-US" sz="1400" dirty="0"/>
          </a:p>
        </p:txBody>
      </p:sp>
      <p:sp>
        <p:nvSpPr>
          <p:cNvPr id="44" name="scope-card-120"/>
          <p:cNvSpPr/>
          <p:nvPr/>
        </p:nvSpPr>
        <p:spPr>
          <a:xfrm>
            <a:off x="7223760" y="4617720"/>
            <a:ext cx="441655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5" name="text-121"/>
          <p:cNvSpPr txBox="1"/>
          <p:nvPr/>
        </p:nvSpPr>
        <p:spPr>
          <a:xfrm>
            <a:off x="7388352" y="4617720"/>
            <a:ext cx="4087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Chấp nhận khi: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 ≤ 2 giây · chịu tải 300 order/giờ · uptime ≥ 99,5% · 0 lỗi Critical/High</a:t>
            </a:r>
            <a:endParaRPr lang="en-US" sz="1400" dirty="0"/>
          </a:p>
        </p:txBody>
      </p:sp>
      <p:sp>
        <p:nvSpPr>
          <p:cNvPr id="46" name="band-122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7" name="band-text-123"/>
          <p:cNvSpPr txBox="1"/>
          <p:nvPr/>
        </p:nvSpPr>
        <p:spPr>
          <a:xfrm>
            <a:off x="777240" y="585216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Mỗi sản phẩm D1 – D10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 tiêu chí chấp nhận đo được và người nghiệm thu; mọi sản phẩm đều có yêu cầu truy vết.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Cấu trúc phân chia công việc (WBS)</a:t>
            </a:r>
            <a:endParaRPr lang="en-US" sz="2800" dirty="0"/>
          </a:p>
        </p:txBody>
      </p:sp>
      <p:sp>
        <p:nvSpPr>
          <p:cNvPr id="4" name="wbs-card-124"/>
          <p:cNvSpPr/>
          <p:nvPr/>
        </p:nvSpPr>
        <p:spPr>
          <a:xfrm>
            <a:off x="548640" y="15087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5" name="text-125"/>
          <p:cNvSpPr txBox="1"/>
          <p:nvPr/>
        </p:nvSpPr>
        <p:spPr>
          <a:xfrm>
            <a:off x="713232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-126"/>
          <p:cNvSpPr txBox="1"/>
          <p:nvPr/>
        </p:nvSpPr>
        <p:spPr>
          <a:xfrm>
            <a:off x="128016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D8</a:t>
            </a:r>
            <a:endParaRPr lang="en-US" sz="1300" dirty="0"/>
          </a:p>
        </p:txBody>
      </p:sp>
      <p:sp>
        <p:nvSpPr>
          <p:cNvPr id="7" name="text-127"/>
          <p:cNvSpPr txBox="1"/>
          <p:nvPr/>
        </p:nvSpPr>
        <p:spPr>
          <a:xfrm>
            <a:off x="713232" y="21305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Quản lý dự án</a:t>
            </a:r>
            <a:endParaRPr lang="en-US" sz="1400" dirty="0"/>
          </a:p>
        </p:txBody>
      </p:sp>
      <p:sp>
        <p:nvSpPr>
          <p:cNvPr id="8" name="text-128"/>
          <p:cNvSpPr txBox="1"/>
          <p:nvPr/>
        </p:nvSpPr>
        <p:spPr>
          <a:xfrm>
            <a:off x="713232" y="28346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 gói quản lý, chạy suốt dự án</a:t>
            </a:r>
            <a:endParaRPr lang="en-US" sz="1200" dirty="0"/>
          </a:p>
        </p:txBody>
      </p:sp>
      <p:sp>
        <p:nvSpPr>
          <p:cNvPr id="9" name="wbs-card-129"/>
          <p:cNvSpPr/>
          <p:nvPr/>
        </p:nvSpPr>
        <p:spPr>
          <a:xfrm>
            <a:off x="2807208" y="15087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0" name="text-130"/>
          <p:cNvSpPr txBox="1"/>
          <p:nvPr/>
        </p:nvSpPr>
        <p:spPr>
          <a:xfrm>
            <a:off x="2971800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-131"/>
          <p:cNvSpPr txBox="1"/>
          <p:nvPr/>
        </p:nvSpPr>
        <p:spPr>
          <a:xfrm>
            <a:off x="3538728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D9</a:t>
            </a:r>
            <a:endParaRPr lang="en-US" sz="1300" dirty="0"/>
          </a:p>
        </p:txBody>
      </p:sp>
      <p:sp>
        <p:nvSpPr>
          <p:cNvPr id="12" name="text-132"/>
          <p:cNvSpPr txBox="1"/>
          <p:nvPr/>
        </p:nvSpPr>
        <p:spPr>
          <a:xfrm>
            <a:off x="2971800" y="21305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Khảo sát, phân tích yêu cầu</a:t>
            </a:r>
            <a:endParaRPr lang="en-US" sz="1400" dirty="0"/>
          </a:p>
        </p:txBody>
      </p:sp>
      <p:sp>
        <p:nvSpPr>
          <p:cNvPr id="13" name="badge-133"/>
          <p:cNvSpPr/>
          <p:nvPr/>
        </p:nvSpPr>
        <p:spPr>
          <a:xfrm>
            <a:off x="2971800" y="28803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4" name="text-134"/>
          <p:cNvSpPr txBox="1"/>
          <p:nvPr/>
        </p:nvSpPr>
        <p:spPr>
          <a:xfrm>
            <a:off x="29718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5" name="badge-135"/>
          <p:cNvSpPr/>
          <p:nvPr/>
        </p:nvSpPr>
        <p:spPr>
          <a:xfrm>
            <a:off x="3429000" y="28803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6" name="text-136"/>
          <p:cNvSpPr txBox="1"/>
          <p:nvPr/>
        </p:nvSpPr>
        <p:spPr>
          <a:xfrm>
            <a:off x="3429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7" name="wbs-card-137"/>
          <p:cNvSpPr/>
          <p:nvPr/>
        </p:nvSpPr>
        <p:spPr>
          <a:xfrm>
            <a:off x="5065776" y="15087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8" name="text-138"/>
          <p:cNvSpPr txBox="1"/>
          <p:nvPr/>
        </p:nvSpPr>
        <p:spPr>
          <a:xfrm>
            <a:off x="5230368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-139"/>
          <p:cNvSpPr txBox="1"/>
          <p:nvPr/>
        </p:nvSpPr>
        <p:spPr>
          <a:xfrm>
            <a:off x="5797296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D9</a:t>
            </a:r>
            <a:endParaRPr lang="en-US" sz="1300" dirty="0"/>
          </a:p>
        </p:txBody>
      </p:sp>
      <p:sp>
        <p:nvSpPr>
          <p:cNvPr id="20" name="text-140"/>
          <p:cNvSpPr txBox="1"/>
          <p:nvPr/>
        </p:nvSpPr>
        <p:spPr>
          <a:xfrm>
            <a:off x="5230368" y="21305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Thiết kế giải pháp</a:t>
            </a:r>
            <a:endParaRPr lang="en-US" sz="1400" dirty="0"/>
          </a:p>
        </p:txBody>
      </p:sp>
      <p:sp>
        <p:nvSpPr>
          <p:cNvPr id="21" name="badge-141"/>
          <p:cNvSpPr/>
          <p:nvPr/>
        </p:nvSpPr>
        <p:spPr>
          <a:xfrm>
            <a:off x="5230368" y="28803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22" name="text-142"/>
          <p:cNvSpPr txBox="1"/>
          <p:nvPr/>
        </p:nvSpPr>
        <p:spPr>
          <a:xfrm>
            <a:off x="523036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23" name="badge-143"/>
          <p:cNvSpPr/>
          <p:nvPr/>
        </p:nvSpPr>
        <p:spPr>
          <a:xfrm>
            <a:off x="5687568" y="28803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24" name="text-144"/>
          <p:cNvSpPr txBox="1"/>
          <p:nvPr/>
        </p:nvSpPr>
        <p:spPr>
          <a:xfrm>
            <a:off x="568756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25" name="wbs-card-145"/>
          <p:cNvSpPr/>
          <p:nvPr/>
        </p:nvSpPr>
        <p:spPr>
          <a:xfrm>
            <a:off x="7324344" y="15087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6" name="text-146"/>
          <p:cNvSpPr txBox="1"/>
          <p:nvPr/>
        </p:nvSpPr>
        <p:spPr>
          <a:xfrm>
            <a:off x="7488936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27" name="text-147"/>
          <p:cNvSpPr txBox="1"/>
          <p:nvPr/>
        </p:nvSpPr>
        <p:spPr>
          <a:xfrm>
            <a:off x="8055864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D1, D2, D3</a:t>
            </a:r>
            <a:endParaRPr lang="en-US" sz="1300" dirty="0"/>
          </a:p>
        </p:txBody>
      </p:sp>
      <p:sp>
        <p:nvSpPr>
          <p:cNvPr id="28" name="text-148"/>
          <p:cNvSpPr txBox="1"/>
          <p:nvPr/>
        </p:nvSpPr>
        <p:spPr>
          <a:xfrm>
            <a:off x="7488936" y="21305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Cấu hình, tích hợp</a:t>
            </a:r>
            <a:endParaRPr lang="en-US" sz="1400" dirty="0"/>
          </a:p>
        </p:txBody>
      </p:sp>
      <p:sp>
        <p:nvSpPr>
          <p:cNvPr id="29" name="badge-149"/>
          <p:cNvSpPr/>
          <p:nvPr/>
        </p:nvSpPr>
        <p:spPr>
          <a:xfrm>
            <a:off x="7488936" y="28803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30" name="text-150"/>
          <p:cNvSpPr txBox="1"/>
          <p:nvPr/>
        </p:nvSpPr>
        <p:spPr>
          <a:xfrm>
            <a:off x="74889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31" name="badge-151"/>
          <p:cNvSpPr/>
          <p:nvPr/>
        </p:nvSpPr>
        <p:spPr>
          <a:xfrm>
            <a:off x="7946136" y="28803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2" name="text-152"/>
          <p:cNvSpPr txBox="1"/>
          <p:nvPr/>
        </p:nvSpPr>
        <p:spPr>
          <a:xfrm>
            <a:off x="79461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33" name="badge-153"/>
          <p:cNvSpPr/>
          <p:nvPr/>
        </p:nvSpPr>
        <p:spPr>
          <a:xfrm>
            <a:off x="8403336" y="28803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4" name="text-154"/>
          <p:cNvSpPr txBox="1"/>
          <p:nvPr/>
        </p:nvSpPr>
        <p:spPr>
          <a:xfrm>
            <a:off x="84033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</a:t>
            </a:r>
            <a:endParaRPr lang="en-US" sz="1300" dirty="0"/>
          </a:p>
        </p:txBody>
      </p:sp>
      <p:sp>
        <p:nvSpPr>
          <p:cNvPr id="35" name="wbs-card-155"/>
          <p:cNvSpPr/>
          <p:nvPr/>
        </p:nvSpPr>
        <p:spPr>
          <a:xfrm>
            <a:off x="9582912" y="15087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6" name="text-156"/>
          <p:cNvSpPr txBox="1"/>
          <p:nvPr/>
        </p:nvSpPr>
        <p:spPr>
          <a:xfrm>
            <a:off x="9747504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</a:t>
            </a:r>
            <a:endParaRPr lang="en-US" sz="2800" dirty="0"/>
          </a:p>
        </p:txBody>
      </p:sp>
      <p:sp>
        <p:nvSpPr>
          <p:cNvPr id="37" name="text-157"/>
          <p:cNvSpPr txBox="1"/>
          <p:nvPr/>
        </p:nvSpPr>
        <p:spPr>
          <a:xfrm>
            <a:off x="10314432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D4</a:t>
            </a:r>
            <a:endParaRPr lang="en-US" sz="1300" dirty="0"/>
          </a:p>
        </p:txBody>
      </p:sp>
      <p:sp>
        <p:nvSpPr>
          <p:cNvPr id="38" name="text-158"/>
          <p:cNvSpPr txBox="1"/>
          <p:nvPr/>
        </p:nvSpPr>
        <p:spPr>
          <a:xfrm>
            <a:off x="9747504" y="21305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Thiết bị, mạng</a:t>
            </a:r>
            <a:endParaRPr lang="en-US" sz="1400" dirty="0"/>
          </a:p>
        </p:txBody>
      </p:sp>
      <p:sp>
        <p:nvSpPr>
          <p:cNvPr id="39" name="badge-159"/>
          <p:cNvSpPr/>
          <p:nvPr/>
        </p:nvSpPr>
        <p:spPr>
          <a:xfrm>
            <a:off x="9747504" y="28803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40" name="text-160"/>
          <p:cNvSpPr txBox="1"/>
          <p:nvPr/>
        </p:nvSpPr>
        <p:spPr>
          <a:xfrm>
            <a:off x="9747504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</a:t>
            </a:r>
            <a:endParaRPr lang="en-US" sz="1300" dirty="0"/>
          </a:p>
        </p:txBody>
      </p:sp>
      <p:sp>
        <p:nvSpPr>
          <p:cNvPr id="41" name="badge-161"/>
          <p:cNvSpPr/>
          <p:nvPr/>
        </p:nvSpPr>
        <p:spPr>
          <a:xfrm>
            <a:off x="10204704" y="28803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42" name="text-162"/>
          <p:cNvSpPr txBox="1"/>
          <p:nvPr/>
        </p:nvSpPr>
        <p:spPr>
          <a:xfrm>
            <a:off x="10204704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</a:t>
            </a:r>
            <a:endParaRPr lang="en-US" sz="1300" dirty="0"/>
          </a:p>
        </p:txBody>
      </p:sp>
      <p:sp>
        <p:nvSpPr>
          <p:cNvPr id="43" name="wbs-card-163"/>
          <p:cNvSpPr/>
          <p:nvPr/>
        </p:nvSpPr>
        <p:spPr>
          <a:xfrm>
            <a:off x="548640" y="35661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4" name="text-164"/>
          <p:cNvSpPr txBox="1"/>
          <p:nvPr/>
        </p:nvSpPr>
        <p:spPr>
          <a:xfrm>
            <a:off x="713232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</a:t>
            </a:r>
            <a:endParaRPr lang="en-US" sz="2800" dirty="0"/>
          </a:p>
        </p:txBody>
      </p:sp>
      <p:sp>
        <p:nvSpPr>
          <p:cNvPr id="45" name="text-165"/>
          <p:cNvSpPr txBox="1"/>
          <p:nvPr/>
        </p:nvSpPr>
        <p:spPr>
          <a:xfrm>
            <a:off x="128016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D5</a:t>
            </a:r>
            <a:endParaRPr lang="en-US" sz="1300" dirty="0"/>
          </a:p>
        </p:txBody>
      </p:sp>
      <p:sp>
        <p:nvSpPr>
          <p:cNvPr id="46" name="text-166"/>
          <p:cNvSpPr txBox="1"/>
          <p:nvPr/>
        </p:nvSpPr>
        <p:spPr>
          <a:xfrm>
            <a:off x="713232" y="41879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Chuyển đổi dữ liệu</a:t>
            </a:r>
            <a:endParaRPr lang="en-US" sz="1400" dirty="0"/>
          </a:p>
        </p:txBody>
      </p:sp>
      <p:sp>
        <p:nvSpPr>
          <p:cNvPr id="47" name="badge-167"/>
          <p:cNvSpPr/>
          <p:nvPr/>
        </p:nvSpPr>
        <p:spPr>
          <a:xfrm>
            <a:off x="713232" y="49377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48" name="text-168"/>
          <p:cNvSpPr txBox="1"/>
          <p:nvPr/>
        </p:nvSpPr>
        <p:spPr>
          <a:xfrm>
            <a:off x="713232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</a:t>
            </a:r>
            <a:endParaRPr lang="en-US" sz="1300" dirty="0"/>
          </a:p>
        </p:txBody>
      </p:sp>
      <p:sp>
        <p:nvSpPr>
          <p:cNvPr id="49" name="badge-169"/>
          <p:cNvSpPr/>
          <p:nvPr/>
        </p:nvSpPr>
        <p:spPr>
          <a:xfrm>
            <a:off x="1170432" y="49377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50" name="text-170"/>
          <p:cNvSpPr txBox="1"/>
          <p:nvPr/>
        </p:nvSpPr>
        <p:spPr>
          <a:xfrm>
            <a:off x="1170432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</a:t>
            </a:r>
            <a:endParaRPr lang="en-US" sz="1300" dirty="0"/>
          </a:p>
        </p:txBody>
      </p:sp>
      <p:sp>
        <p:nvSpPr>
          <p:cNvPr id="51" name="wbs-card-171"/>
          <p:cNvSpPr/>
          <p:nvPr/>
        </p:nvSpPr>
        <p:spPr>
          <a:xfrm>
            <a:off x="2807208" y="35661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52" name="text-172"/>
          <p:cNvSpPr txBox="1"/>
          <p:nvPr/>
        </p:nvSpPr>
        <p:spPr>
          <a:xfrm>
            <a:off x="297180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</a:t>
            </a:r>
            <a:endParaRPr lang="en-US" sz="2800" dirty="0"/>
          </a:p>
        </p:txBody>
      </p:sp>
      <p:sp>
        <p:nvSpPr>
          <p:cNvPr id="53" name="text-173"/>
          <p:cNvSpPr txBox="1"/>
          <p:nvPr/>
        </p:nvSpPr>
        <p:spPr>
          <a:xfrm>
            <a:off x="3538728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D9</a:t>
            </a:r>
            <a:endParaRPr lang="en-US" sz="1300" dirty="0"/>
          </a:p>
        </p:txBody>
      </p:sp>
      <p:sp>
        <p:nvSpPr>
          <p:cNvPr id="54" name="text-174"/>
          <p:cNvSpPr txBox="1"/>
          <p:nvPr/>
        </p:nvSpPr>
        <p:spPr>
          <a:xfrm>
            <a:off x="2971800" y="41879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Kiểm thử</a:t>
            </a:r>
            <a:endParaRPr lang="en-US" sz="1400" dirty="0"/>
          </a:p>
        </p:txBody>
      </p:sp>
      <p:sp>
        <p:nvSpPr>
          <p:cNvPr id="55" name="badge-175"/>
          <p:cNvSpPr/>
          <p:nvPr/>
        </p:nvSpPr>
        <p:spPr>
          <a:xfrm>
            <a:off x="2971800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56" name="text-176"/>
          <p:cNvSpPr txBox="1"/>
          <p:nvPr/>
        </p:nvSpPr>
        <p:spPr>
          <a:xfrm>
            <a:off x="2971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</a:t>
            </a:r>
            <a:endParaRPr lang="en-US" sz="1300" dirty="0"/>
          </a:p>
        </p:txBody>
      </p:sp>
      <p:sp>
        <p:nvSpPr>
          <p:cNvPr id="57" name="badge-177"/>
          <p:cNvSpPr/>
          <p:nvPr/>
        </p:nvSpPr>
        <p:spPr>
          <a:xfrm>
            <a:off x="3429000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58" name="text-178"/>
          <p:cNvSpPr txBox="1"/>
          <p:nvPr/>
        </p:nvSpPr>
        <p:spPr>
          <a:xfrm>
            <a:off x="34290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</a:t>
            </a:r>
            <a:endParaRPr lang="en-US" sz="1300" dirty="0"/>
          </a:p>
        </p:txBody>
      </p:sp>
      <p:sp>
        <p:nvSpPr>
          <p:cNvPr id="59" name="wbs-card-179"/>
          <p:cNvSpPr/>
          <p:nvPr/>
        </p:nvSpPr>
        <p:spPr>
          <a:xfrm>
            <a:off x="5065776" y="35661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0" name="text-180"/>
          <p:cNvSpPr txBox="1"/>
          <p:nvPr/>
        </p:nvSpPr>
        <p:spPr>
          <a:xfrm>
            <a:off x="5230368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</a:t>
            </a:r>
            <a:endParaRPr lang="en-US" sz="2800" dirty="0"/>
          </a:p>
        </p:txBody>
      </p:sp>
      <p:sp>
        <p:nvSpPr>
          <p:cNvPr id="61" name="text-181"/>
          <p:cNvSpPr txBox="1"/>
          <p:nvPr/>
        </p:nvSpPr>
        <p:spPr>
          <a:xfrm>
            <a:off x="5797296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D6</a:t>
            </a:r>
            <a:endParaRPr lang="en-US" sz="1300" dirty="0"/>
          </a:p>
        </p:txBody>
      </p:sp>
      <p:sp>
        <p:nvSpPr>
          <p:cNvPr id="62" name="text-182"/>
          <p:cNvSpPr txBox="1"/>
          <p:nvPr/>
        </p:nvSpPr>
        <p:spPr>
          <a:xfrm>
            <a:off x="5230368" y="41879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Đào tạo, tài liệu</a:t>
            </a:r>
            <a:endParaRPr lang="en-US" sz="1400" dirty="0"/>
          </a:p>
        </p:txBody>
      </p:sp>
      <p:sp>
        <p:nvSpPr>
          <p:cNvPr id="63" name="badge-183"/>
          <p:cNvSpPr/>
          <p:nvPr/>
        </p:nvSpPr>
        <p:spPr>
          <a:xfrm>
            <a:off x="5230368" y="49377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64" name="text-184"/>
          <p:cNvSpPr txBox="1"/>
          <p:nvPr/>
        </p:nvSpPr>
        <p:spPr>
          <a:xfrm>
            <a:off x="523036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</a:t>
            </a:r>
            <a:endParaRPr lang="en-US" sz="1300" dirty="0"/>
          </a:p>
        </p:txBody>
      </p:sp>
      <p:sp>
        <p:nvSpPr>
          <p:cNvPr id="65" name="badge-185"/>
          <p:cNvSpPr/>
          <p:nvPr/>
        </p:nvSpPr>
        <p:spPr>
          <a:xfrm>
            <a:off x="5687568" y="4937760"/>
            <a:ext cx="384048" cy="384048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66" name="text-186"/>
          <p:cNvSpPr txBox="1"/>
          <p:nvPr/>
        </p:nvSpPr>
        <p:spPr>
          <a:xfrm>
            <a:off x="568756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</a:t>
            </a:r>
            <a:endParaRPr lang="en-US" sz="1300" dirty="0"/>
          </a:p>
        </p:txBody>
      </p:sp>
      <p:sp>
        <p:nvSpPr>
          <p:cNvPr id="67" name="wbs-card-187"/>
          <p:cNvSpPr/>
          <p:nvPr/>
        </p:nvSpPr>
        <p:spPr>
          <a:xfrm>
            <a:off x="7324344" y="35661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8" name="text-188"/>
          <p:cNvSpPr txBox="1"/>
          <p:nvPr/>
        </p:nvSpPr>
        <p:spPr>
          <a:xfrm>
            <a:off x="7488936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</a:t>
            </a:r>
            <a:endParaRPr lang="en-US" sz="2800" dirty="0"/>
          </a:p>
        </p:txBody>
      </p:sp>
      <p:sp>
        <p:nvSpPr>
          <p:cNvPr id="69" name="text-189"/>
          <p:cNvSpPr txBox="1"/>
          <p:nvPr/>
        </p:nvSpPr>
        <p:spPr>
          <a:xfrm>
            <a:off x="8055864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D7</a:t>
            </a:r>
            <a:endParaRPr lang="en-US" sz="1300" dirty="0"/>
          </a:p>
        </p:txBody>
      </p:sp>
      <p:sp>
        <p:nvSpPr>
          <p:cNvPr id="70" name="text-190"/>
          <p:cNvSpPr txBox="1"/>
          <p:nvPr/>
        </p:nvSpPr>
        <p:spPr>
          <a:xfrm>
            <a:off x="7488936" y="41879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Triển khai</a:t>
            </a:r>
            <a:endParaRPr lang="en-US" sz="1400" dirty="0"/>
          </a:p>
        </p:txBody>
      </p:sp>
      <p:sp>
        <p:nvSpPr>
          <p:cNvPr id="71" name="badge-191"/>
          <p:cNvSpPr/>
          <p:nvPr/>
        </p:nvSpPr>
        <p:spPr>
          <a:xfrm>
            <a:off x="7488936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72" name="text-192"/>
          <p:cNvSpPr txBox="1"/>
          <p:nvPr/>
        </p:nvSpPr>
        <p:spPr>
          <a:xfrm>
            <a:off x="7488936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</a:t>
            </a:r>
            <a:endParaRPr lang="en-US" sz="1300" dirty="0"/>
          </a:p>
        </p:txBody>
      </p:sp>
      <p:sp>
        <p:nvSpPr>
          <p:cNvPr id="73" name="badge-193"/>
          <p:cNvSpPr/>
          <p:nvPr/>
        </p:nvSpPr>
        <p:spPr>
          <a:xfrm>
            <a:off x="7946136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74" name="text-194"/>
          <p:cNvSpPr txBox="1"/>
          <p:nvPr/>
        </p:nvSpPr>
        <p:spPr>
          <a:xfrm>
            <a:off x="7946136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</a:t>
            </a:r>
            <a:endParaRPr lang="en-US" sz="1300" dirty="0"/>
          </a:p>
        </p:txBody>
      </p:sp>
      <p:sp>
        <p:nvSpPr>
          <p:cNvPr id="75" name="badge-195"/>
          <p:cNvSpPr/>
          <p:nvPr/>
        </p:nvSpPr>
        <p:spPr>
          <a:xfrm>
            <a:off x="8403336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76" name="text-196"/>
          <p:cNvSpPr txBox="1"/>
          <p:nvPr/>
        </p:nvSpPr>
        <p:spPr>
          <a:xfrm>
            <a:off x="8403336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sp>
        <p:nvSpPr>
          <p:cNvPr id="77" name="wbs-card-197"/>
          <p:cNvSpPr/>
          <p:nvPr/>
        </p:nvSpPr>
        <p:spPr>
          <a:xfrm>
            <a:off x="9582912" y="356616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78" name="text-198"/>
          <p:cNvSpPr txBox="1"/>
          <p:nvPr/>
        </p:nvSpPr>
        <p:spPr>
          <a:xfrm>
            <a:off x="9747504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</a:t>
            </a:r>
            <a:endParaRPr lang="en-US" sz="2800" dirty="0"/>
          </a:p>
        </p:txBody>
      </p:sp>
      <p:sp>
        <p:nvSpPr>
          <p:cNvPr id="79" name="text-199"/>
          <p:cNvSpPr txBox="1"/>
          <p:nvPr/>
        </p:nvSpPr>
        <p:spPr>
          <a:xfrm>
            <a:off x="10314432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D10</a:t>
            </a:r>
            <a:endParaRPr lang="en-US" sz="1300" dirty="0"/>
          </a:p>
        </p:txBody>
      </p:sp>
      <p:sp>
        <p:nvSpPr>
          <p:cNvPr id="80" name="text-200"/>
          <p:cNvSpPr txBox="1"/>
          <p:nvPr/>
        </p:nvSpPr>
        <p:spPr>
          <a:xfrm>
            <a:off x="9747504" y="4187952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Nghiệm thu, đóng dự án</a:t>
            </a:r>
            <a:endParaRPr lang="en-US" sz="1400" dirty="0"/>
          </a:p>
        </p:txBody>
      </p:sp>
      <p:sp>
        <p:nvSpPr>
          <p:cNvPr id="81" name="badge-201"/>
          <p:cNvSpPr/>
          <p:nvPr/>
        </p:nvSpPr>
        <p:spPr>
          <a:xfrm>
            <a:off x="9747504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82" name="text-202"/>
          <p:cNvSpPr txBox="1"/>
          <p:nvPr/>
        </p:nvSpPr>
        <p:spPr>
          <a:xfrm>
            <a:off x="9747504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</a:t>
            </a:r>
            <a:endParaRPr lang="en-US" sz="1300" dirty="0"/>
          </a:p>
        </p:txBody>
      </p:sp>
      <p:sp>
        <p:nvSpPr>
          <p:cNvPr id="83" name="badge-203"/>
          <p:cNvSpPr/>
          <p:nvPr/>
        </p:nvSpPr>
        <p:spPr>
          <a:xfrm>
            <a:off x="10204704" y="4937760"/>
            <a:ext cx="384048" cy="384048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84" name="text-204"/>
          <p:cNvSpPr txBox="1"/>
          <p:nvPr/>
        </p:nvSpPr>
        <p:spPr>
          <a:xfrm>
            <a:off x="10204704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</a:t>
            </a:r>
            <a:endParaRPr lang="en-US" sz="1300" dirty="0"/>
          </a:p>
        </p:txBody>
      </p:sp>
      <p:sp>
        <p:nvSpPr>
          <p:cNvPr id="85" name="badge-205"/>
          <p:cNvSpPr/>
          <p:nvPr/>
        </p:nvSpPr>
        <p:spPr>
          <a:xfrm>
            <a:off x="548640" y="5742432"/>
            <a:ext cx="310896" cy="310896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86" name="text-206"/>
          <p:cNvSpPr txBox="1"/>
          <p:nvPr/>
        </p:nvSpPr>
        <p:spPr>
          <a:xfrm>
            <a:off x="548640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87" name="text-207"/>
          <p:cNvSpPr txBox="1"/>
          <p:nvPr/>
        </p:nvSpPr>
        <p:spPr>
          <a:xfrm>
            <a:off x="960120" y="5742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 package trên Critical Path</a:t>
            </a:r>
            <a:endParaRPr lang="en-US" sz="1300" dirty="0"/>
          </a:p>
        </p:txBody>
      </p:sp>
      <p:sp>
        <p:nvSpPr>
          <p:cNvPr id="88" name="badge-208"/>
          <p:cNvSpPr/>
          <p:nvPr/>
        </p:nvSpPr>
        <p:spPr>
          <a:xfrm>
            <a:off x="4297680" y="5742432"/>
            <a:ext cx="310896" cy="310896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89" name="text-209"/>
          <p:cNvSpPr txBox="1"/>
          <p:nvPr/>
        </p:nvSpPr>
        <p:spPr>
          <a:xfrm>
            <a:off x="4297680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90" name="text-210"/>
          <p:cNvSpPr txBox="1"/>
          <p:nvPr/>
        </p:nvSpPr>
        <p:spPr>
          <a:xfrm>
            <a:off x="4709160" y="5742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 package có Slack</a:t>
            </a:r>
            <a:endParaRPr lang="en-US" sz="1300" dirty="0"/>
          </a:p>
        </p:txBody>
      </p:sp>
      <p:sp>
        <p:nvSpPr>
          <p:cNvPr id="91" name="text-211"/>
          <p:cNvSpPr txBox="1"/>
          <p:nvPr/>
        </p:nvSpPr>
        <p:spPr>
          <a:xfrm>
            <a:off x="6949440" y="5742432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WBS 3 cấp: 25 work package = 20 hoạt động A – T + 5 gói quản lý</a:t>
            </a:r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·  6 tiêu chí hoàn thiện cho mỗi gói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Lịch trình và Critical Path</a:t>
            </a:r>
            <a:endParaRPr lang="en-US" sz="2800" dirty="0"/>
          </a:p>
        </p:txBody>
      </p:sp>
      <p:sp>
        <p:nvSpPr>
          <p:cNvPr id="4" name="header-21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Critical Path (tuần 0 – 26, độ rộng ô tỷ lệ với thời lượng)</a:t>
            </a:r>
            <a:endParaRPr lang="en-US" sz="1800" dirty="0"/>
          </a:p>
        </p:txBody>
      </p:sp>
      <p:sp>
        <p:nvSpPr>
          <p:cNvPr id="5" name="cp-box-213"/>
          <p:cNvSpPr/>
          <p:nvPr/>
        </p:nvSpPr>
        <p:spPr>
          <a:xfrm>
            <a:off x="566928" y="1920240"/>
            <a:ext cx="1243232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6" name="text-214"/>
          <p:cNvSpPr txBox="1"/>
          <p:nvPr/>
        </p:nvSpPr>
        <p:spPr>
          <a:xfrm>
            <a:off x="548640" y="1920240"/>
            <a:ext cx="127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cp-box-215"/>
          <p:cNvSpPr/>
          <p:nvPr/>
        </p:nvSpPr>
        <p:spPr>
          <a:xfrm>
            <a:off x="1846736" y="1920240"/>
            <a:ext cx="1243232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8" name="text-216"/>
          <p:cNvSpPr txBox="1"/>
          <p:nvPr/>
        </p:nvSpPr>
        <p:spPr>
          <a:xfrm>
            <a:off x="1828448" y="1920240"/>
            <a:ext cx="127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9" name="cp-box-217"/>
          <p:cNvSpPr/>
          <p:nvPr/>
        </p:nvSpPr>
        <p:spPr>
          <a:xfrm>
            <a:off x="3126545" y="1920240"/>
            <a:ext cx="816630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0" name="text-218"/>
          <p:cNvSpPr txBox="1"/>
          <p:nvPr/>
        </p:nvSpPr>
        <p:spPr>
          <a:xfrm>
            <a:off x="3108257" y="1920240"/>
            <a:ext cx="8532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1" name="cp-box-219"/>
          <p:cNvSpPr/>
          <p:nvPr/>
        </p:nvSpPr>
        <p:spPr>
          <a:xfrm>
            <a:off x="3979750" y="1920240"/>
            <a:ext cx="2523041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2" name="text-220"/>
          <p:cNvSpPr txBox="1"/>
          <p:nvPr/>
        </p:nvSpPr>
        <p:spPr>
          <a:xfrm>
            <a:off x="3961462" y="1920240"/>
            <a:ext cx="25596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13" name="cp-box-221"/>
          <p:cNvSpPr/>
          <p:nvPr/>
        </p:nvSpPr>
        <p:spPr>
          <a:xfrm>
            <a:off x="6539367" y="1920240"/>
            <a:ext cx="390027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4" name="text-222"/>
          <p:cNvSpPr txBox="1"/>
          <p:nvPr/>
        </p:nvSpPr>
        <p:spPr>
          <a:xfrm>
            <a:off x="6521079" y="1920240"/>
            <a:ext cx="4266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</a:t>
            </a:r>
            <a:endParaRPr lang="en-US" sz="1400" dirty="0"/>
          </a:p>
        </p:txBody>
      </p:sp>
      <p:sp>
        <p:nvSpPr>
          <p:cNvPr id="15" name="cp-box-223"/>
          <p:cNvSpPr/>
          <p:nvPr/>
        </p:nvSpPr>
        <p:spPr>
          <a:xfrm>
            <a:off x="6965970" y="1920240"/>
            <a:ext cx="390027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6" name="text-224"/>
          <p:cNvSpPr txBox="1"/>
          <p:nvPr/>
        </p:nvSpPr>
        <p:spPr>
          <a:xfrm>
            <a:off x="6947682" y="1920240"/>
            <a:ext cx="4266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</a:t>
            </a:r>
            <a:endParaRPr lang="en-US" sz="1400" dirty="0"/>
          </a:p>
        </p:txBody>
      </p:sp>
      <p:sp>
        <p:nvSpPr>
          <p:cNvPr id="17" name="cp-box-225"/>
          <p:cNvSpPr/>
          <p:nvPr/>
        </p:nvSpPr>
        <p:spPr>
          <a:xfrm>
            <a:off x="7392572" y="1920240"/>
            <a:ext cx="816630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8" name="text-226"/>
          <p:cNvSpPr txBox="1"/>
          <p:nvPr/>
        </p:nvSpPr>
        <p:spPr>
          <a:xfrm>
            <a:off x="7374284" y="1920240"/>
            <a:ext cx="8532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</a:t>
            </a:r>
            <a:endParaRPr lang="en-US" sz="1400" dirty="0"/>
          </a:p>
        </p:txBody>
      </p:sp>
      <p:sp>
        <p:nvSpPr>
          <p:cNvPr id="19" name="cp-box-227"/>
          <p:cNvSpPr/>
          <p:nvPr/>
        </p:nvSpPr>
        <p:spPr>
          <a:xfrm>
            <a:off x="8245778" y="1920240"/>
            <a:ext cx="1669835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20" name="text-228"/>
          <p:cNvSpPr txBox="1"/>
          <p:nvPr/>
        </p:nvSpPr>
        <p:spPr>
          <a:xfrm>
            <a:off x="8227490" y="1920240"/>
            <a:ext cx="17064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</a:t>
            </a:r>
            <a:endParaRPr lang="en-US" sz="1800" dirty="0"/>
          </a:p>
        </p:txBody>
      </p:sp>
      <p:sp>
        <p:nvSpPr>
          <p:cNvPr id="21" name="cp-box-229"/>
          <p:cNvSpPr/>
          <p:nvPr/>
        </p:nvSpPr>
        <p:spPr>
          <a:xfrm>
            <a:off x="9952189" y="1920240"/>
            <a:ext cx="1243232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22" name="text-230"/>
          <p:cNvSpPr txBox="1"/>
          <p:nvPr/>
        </p:nvSpPr>
        <p:spPr>
          <a:xfrm>
            <a:off x="9933901" y="1920240"/>
            <a:ext cx="127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</a:t>
            </a:r>
            <a:endParaRPr lang="en-US" sz="1800" dirty="0"/>
          </a:p>
        </p:txBody>
      </p:sp>
      <p:sp>
        <p:nvSpPr>
          <p:cNvPr id="23" name="cp-box-231"/>
          <p:cNvSpPr/>
          <p:nvPr/>
        </p:nvSpPr>
        <p:spPr>
          <a:xfrm>
            <a:off x="11231997" y="1920240"/>
            <a:ext cx="390027" cy="73152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24" name="text-232"/>
          <p:cNvSpPr txBox="1"/>
          <p:nvPr/>
        </p:nvSpPr>
        <p:spPr>
          <a:xfrm>
            <a:off x="11213709" y="1920240"/>
            <a:ext cx="4266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S/T</a:t>
            </a:r>
            <a:endParaRPr lang="en-US" sz="1400" dirty="0"/>
          </a:p>
        </p:txBody>
      </p:sp>
      <p:sp>
        <p:nvSpPr>
          <p:cNvPr id="25" name="text-233"/>
          <p:cNvSpPr txBox="1"/>
          <p:nvPr/>
        </p:nvSpPr>
        <p:spPr>
          <a:xfrm>
            <a:off x="320040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0</a:t>
            </a:r>
            <a:endParaRPr lang="en-US" sz="1100" dirty="0"/>
          </a:p>
        </p:txBody>
      </p:sp>
      <p:sp>
        <p:nvSpPr>
          <p:cNvPr id="26" name="text-234"/>
          <p:cNvSpPr txBox="1"/>
          <p:nvPr/>
        </p:nvSpPr>
        <p:spPr>
          <a:xfrm>
            <a:off x="2026451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-235"/>
          <p:cNvSpPr txBox="1"/>
          <p:nvPr/>
        </p:nvSpPr>
        <p:spPr>
          <a:xfrm>
            <a:off x="3732862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8</a:t>
            </a:r>
            <a:endParaRPr lang="en-US" sz="1100" dirty="0"/>
          </a:p>
        </p:txBody>
      </p:sp>
      <p:sp>
        <p:nvSpPr>
          <p:cNvPr id="28" name="text-236"/>
          <p:cNvSpPr txBox="1"/>
          <p:nvPr/>
        </p:nvSpPr>
        <p:spPr>
          <a:xfrm>
            <a:off x="5439273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</a:t>
            </a:r>
            <a:endParaRPr lang="en-US" sz="1100" dirty="0"/>
          </a:p>
        </p:txBody>
      </p:sp>
      <p:sp>
        <p:nvSpPr>
          <p:cNvPr id="29" name="text-237"/>
          <p:cNvSpPr txBox="1"/>
          <p:nvPr/>
        </p:nvSpPr>
        <p:spPr>
          <a:xfrm>
            <a:off x="7145684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16</a:t>
            </a:r>
            <a:endParaRPr lang="en-US" sz="1100" dirty="0"/>
          </a:p>
        </p:txBody>
      </p:sp>
      <p:sp>
        <p:nvSpPr>
          <p:cNvPr id="30" name="text-238"/>
          <p:cNvSpPr txBox="1"/>
          <p:nvPr/>
        </p:nvSpPr>
        <p:spPr>
          <a:xfrm>
            <a:off x="8852095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</a:t>
            </a:r>
            <a:endParaRPr lang="en-US" sz="1100" dirty="0"/>
          </a:p>
        </p:txBody>
      </p:sp>
      <p:sp>
        <p:nvSpPr>
          <p:cNvPr id="31" name="text-239"/>
          <p:cNvSpPr txBox="1"/>
          <p:nvPr/>
        </p:nvSpPr>
        <p:spPr>
          <a:xfrm>
            <a:off x="10558506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24</a:t>
            </a:r>
            <a:endParaRPr lang="en-US" sz="1100" dirty="0"/>
          </a:p>
        </p:txBody>
      </p:sp>
      <p:sp>
        <p:nvSpPr>
          <p:cNvPr id="32" name="text-240"/>
          <p:cNvSpPr txBox="1"/>
          <p:nvPr/>
        </p:nvSpPr>
        <p:spPr>
          <a:xfrm>
            <a:off x="11411712" y="2697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26</a:t>
            </a:r>
            <a:endParaRPr lang="en-US" sz="1100" dirty="0"/>
          </a:p>
        </p:txBody>
      </p:sp>
      <p:sp>
        <p:nvSpPr>
          <p:cNvPr id="33" name="text-241"/>
          <p:cNvSpPr txBox="1"/>
          <p:nvPr/>
        </p:nvSpPr>
        <p:spPr>
          <a:xfrm>
            <a:off x="548640" y="30175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Khảo sát 3 → B SRS 3 → C Thiết kế 2 → E Cấu hình RMS lõi 6 → L SIT 1 → M UAT 1 → P Pilot 2 → Q Rollout 4 → R Hỗ trợ 3 → S/T Nghiệm thu, tổng kết 1</a:t>
            </a:r>
            <a:endParaRPr lang="en-US" sz="1300" dirty="0"/>
          </a:p>
        </p:txBody>
      </p:sp>
      <p:sp>
        <p:nvSpPr>
          <p:cNvPr id="34" name="text-242"/>
          <p:cNvSpPr txBox="1"/>
          <p:nvPr/>
        </p:nvSpPr>
        <p:spPr>
          <a:xfrm>
            <a:off x="548640" y="3822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Gần găng: D → F → L, Slack 1 tuần</a:t>
            </a:r>
            <a:endParaRPr lang="en-US" sz="1300" dirty="0"/>
          </a:p>
        </p:txBody>
      </p:sp>
      <p:sp>
        <p:nvSpPr>
          <p:cNvPr id="35" name="near-box-243"/>
          <p:cNvSpPr/>
          <p:nvPr/>
        </p:nvSpPr>
        <p:spPr>
          <a:xfrm>
            <a:off x="3126545" y="3749040"/>
            <a:ext cx="816630" cy="59436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6" name="text-244"/>
          <p:cNvSpPr txBox="1"/>
          <p:nvPr/>
        </p:nvSpPr>
        <p:spPr>
          <a:xfrm>
            <a:off x="3108257" y="3749040"/>
            <a:ext cx="8532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37" name="near-box-245"/>
          <p:cNvSpPr/>
          <p:nvPr/>
        </p:nvSpPr>
        <p:spPr>
          <a:xfrm>
            <a:off x="3979750" y="3749040"/>
            <a:ext cx="2096438" cy="59436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8" name="text-246"/>
          <p:cNvSpPr txBox="1"/>
          <p:nvPr/>
        </p:nvSpPr>
        <p:spPr>
          <a:xfrm>
            <a:off x="3961462" y="3749040"/>
            <a:ext cx="21330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 Tích hợp ngoài 5</a:t>
            </a:r>
            <a:endParaRPr lang="en-US" sz="1400" dirty="0"/>
          </a:p>
        </p:txBody>
      </p:sp>
      <p:sp>
        <p:nvSpPr>
          <p:cNvPr id="39" name="slack-box-247"/>
          <p:cNvSpPr/>
          <p:nvPr/>
        </p:nvSpPr>
        <p:spPr>
          <a:xfrm>
            <a:off x="6112764" y="3749040"/>
            <a:ext cx="390027" cy="594360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40" name="text-248"/>
          <p:cNvSpPr txBox="1"/>
          <p:nvPr/>
        </p:nvSpPr>
        <p:spPr>
          <a:xfrm>
            <a:off x="6094476" y="3749040"/>
            <a:ext cx="4266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41" name="cp-stat-249"/>
          <p:cNvSpPr/>
          <p:nvPr/>
        </p:nvSpPr>
        <p:spPr>
          <a:xfrm>
            <a:off x="548640" y="4709160"/>
            <a:ext cx="359359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2" name="text-250"/>
          <p:cNvSpPr txBox="1"/>
          <p:nvPr/>
        </p:nvSpPr>
        <p:spPr>
          <a:xfrm>
            <a:off x="73152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26 tuần</a:t>
            </a:r>
            <a:endParaRPr lang="en-US" sz="3600" dirty="0"/>
          </a:p>
        </p:txBody>
      </p:sp>
      <p:sp>
        <p:nvSpPr>
          <p:cNvPr id="43" name="text-251"/>
          <p:cNvSpPr txBox="1"/>
          <p:nvPr/>
        </p:nvSpPr>
        <p:spPr>
          <a:xfrm>
            <a:off x="731520" y="54681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bằng hạn Charter: không còn dự trữ thời gian</a:t>
            </a:r>
            <a:endParaRPr lang="en-US" sz="1400" dirty="0"/>
          </a:p>
        </p:txBody>
      </p:sp>
      <p:sp>
        <p:nvSpPr>
          <p:cNvPr id="44" name="cp-stat-252"/>
          <p:cNvSpPr/>
          <p:nvPr/>
        </p:nvSpPr>
        <p:spPr>
          <a:xfrm>
            <a:off x="4297680" y="4709160"/>
            <a:ext cx="359359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5" name="text-253"/>
          <p:cNvSpPr txBox="1"/>
          <p:nvPr/>
        </p:nvSpPr>
        <p:spPr>
          <a:xfrm>
            <a:off x="448056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50%</a:t>
            </a:r>
            <a:endParaRPr lang="en-US" sz="3600" dirty="0"/>
          </a:p>
        </p:txBody>
      </p:sp>
      <p:sp>
        <p:nvSpPr>
          <p:cNvPr id="46" name="text-254"/>
          <p:cNvSpPr txBox="1"/>
          <p:nvPr/>
        </p:nvSpPr>
        <p:spPr>
          <a:xfrm>
            <a:off x="4480560" y="54681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xác suất đúng hạn: Te = 26, σ = 0,67 tuần (chỉ E bất định)</a:t>
            </a:r>
            <a:endParaRPr lang="en-US" sz="1400" dirty="0"/>
          </a:p>
        </p:txBody>
      </p:sp>
      <p:sp>
        <p:nvSpPr>
          <p:cNvPr id="47" name="cp-stat-255"/>
          <p:cNvSpPr/>
          <p:nvPr/>
        </p:nvSpPr>
        <p:spPr>
          <a:xfrm>
            <a:off x="8046720" y="4709160"/>
            <a:ext cx="359359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8" name="text-256"/>
          <p:cNvSpPr txBox="1"/>
          <p:nvPr/>
        </p:nvSpPr>
        <p:spPr>
          <a:xfrm>
            <a:off x="822960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77%</a:t>
            </a:r>
            <a:endParaRPr lang="en-US" sz="3600" dirty="0"/>
          </a:p>
        </p:txBody>
      </p:sp>
      <p:sp>
        <p:nvSpPr>
          <p:cNvPr id="49" name="text-257"/>
          <p:cNvSpPr txBox="1"/>
          <p:nvPr/>
        </p:nvSpPr>
        <p:spPr>
          <a:xfrm>
            <a:off x="8229600" y="546811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đường D → F: Te = 25, σ = 1,33. Rủi ro lớn nhất: bên thứ ba cấp API chậm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Biểu đồ Gantt và phương án nén lịch</a:t>
            </a:r>
            <a:endParaRPr lang="en-US" sz="2800" dirty="0"/>
          </a:p>
        </p:txBody>
      </p:sp>
      <p:sp>
        <p:nvSpPr>
          <p:cNvPr id="4" name="text-258"/>
          <p:cNvSpPr txBox="1"/>
          <p:nvPr/>
        </p:nvSpPr>
        <p:spPr>
          <a:xfrm>
            <a:off x="2468880" y="1536192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-259"/>
          <p:cNvSpPr txBox="1"/>
          <p:nvPr/>
        </p:nvSpPr>
        <p:spPr>
          <a:xfrm>
            <a:off x="3255264" y="1536192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text-260"/>
          <p:cNvSpPr txBox="1"/>
          <p:nvPr/>
        </p:nvSpPr>
        <p:spPr>
          <a:xfrm>
            <a:off x="4238244" y="1536192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</a:t>
            </a:r>
            <a:endParaRPr lang="en-US" sz="1100" dirty="0"/>
          </a:p>
        </p:txBody>
      </p:sp>
      <p:sp>
        <p:nvSpPr>
          <p:cNvPr id="7" name="text-261"/>
          <p:cNvSpPr txBox="1"/>
          <p:nvPr/>
        </p:nvSpPr>
        <p:spPr>
          <a:xfrm>
            <a:off x="5221224" y="1536192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15</a:t>
            </a:r>
            <a:endParaRPr lang="en-US" sz="1100" dirty="0"/>
          </a:p>
        </p:txBody>
      </p:sp>
      <p:sp>
        <p:nvSpPr>
          <p:cNvPr id="8" name="text-262"/>
          <p:cNvSpPr txBox="1"/>
          <p:nvPr/>
        </p:nvSpPr>
        <p:spPr>
          <a:xfrm>
            <a:off x="6204204" y="1536192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</a:t>
            </a:r>
            <a:endParaRPr lang="en-US" sz="1100" dirty="0"/>
          </a:p>
        </p:txBody>
      </p:sp>
      <p:sp>
        <p:nvSpPr>
          <p:cNvPr id="9" name="text-263"/>
          <p:cNvSpPr txBox="1"/>
          <p:nvPr/>
        </p:nvSpPr>
        <p:spPr>
          <a:xfrm>
            <a:off x="7187184" y="1536192"/>
            <a:ext cx="379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25</a:t>
            </a:r>
            <a:endParaRPr lang="en-US" sz="1100" dirty="0"/>
          </a:p>
        </p:txBody>
      </p:sp>
      <p:sp>
        <p:nvSpPr>
          <p:cNvPr id="10" name="text-264"/>
          <p:cNvSpPr txBox="1"/>
          <p:nvPr/>
        </p:nvSpPr>
        <p:spPr>
          <a:xfrm>
            <a:off x="54864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Tuần</a:t>
            </a:r>
            <a:endParaRPr lang="en-US" sz="1100" dirty="0"/>
          </a:p>
        </p:txBody>
      </p:sp>
      <p:sp>
        <p:nvSpPr>
          <p:cNvPr id="11" name="gantt-row-265"/>
          <p:cNvSpPr/>
          <p:nvPr/>
        </p:nvSpPr>
        <p:spPr>
          <a:xfrm>
            <a:off x="548640" y="182880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2" name="text-266"/>
          <p:cNvSpPr txBox="1"/>
          <p:nvPr/>
        </p:nvSpPr>
        <p:spPr>
          <a:xfrm>
            <a:off x="59436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A. Khảo sát</a:t>
            </a:r>
            <a:endParaRPr lang="en-US" sz="1000" dirty="0"/>
          </a:p>
        </p:txBody>
      </p:sp>
      <p:sp>
        <p:nvSpPr>
          <p:cNvPr id="13" name="gantt-bar-267"/>
          <p:cNvSpPr/>
          <p:nvPr/>
        </p:nvSpPr>
        <p:spPr>
          <a:xfrm>
            <a:off x="2560320" y="1860804"/>
            <a:ext cx="589788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4" name="text-268"/>
          <p:cNvSpPr txBox="1"/>
          <p:nvPr/>
        </p:nvSpPr>
        <p:spPr>
          <a:xfrm>
            <a:off x="594360" y="20116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B. SRS</a:t>
            </a:r>
            <a:endParaRPr lang="en-US" sz="1000" dirty="0"/>
          </a:p>
        </p:txBody>
      </p:sp>
      <p:sp>
        <p:nvSpPr>
          <p:cNvPr id="15" name="gantt-bar-269"/>
          <p:cNvSpPr/>
          <p:nvPr/>
        </p:nvSpPr>
        <p:spPr>
          <a:xfrm>
            <a:off x="3150108" y="2043684"/>
            <a:ext cx="589788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6" name="gantt-row-270"/>
          <p:cNvSpPr/>
          <p:nvPr/>
        </p:nvSpPr>
        <p:spPr>
          <a:xfrm>
            <a:off x="548640" y="219456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7" name="text-271"/>
          <p:cNvSpPr txBox="1"/>
          <p:nvPr/>
        </p:nvSpPr>
        <p:spPr>
          <a:xfrm>
            <a:off x="594360" y="2194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C. Thiết kế</a:t>
            </a:r>
            <a:endParaRPr lang="en-US" sz="1000" dirty="0"/>
          </a:p>
        </p:txBody>
      </p:sp>
      <p:sp>
        <p:nvSpPr>
          <p:cNvPr id="18" name="gantt-bar-272"/>
          <p:cNvSpPr/>
          <p:nvPr/>
        </p:nvSpPr>
        <p:spPr>
          <a:xfrm>
            <a:off x="3739896" y="2226564"/>
            <a:ext cx="393192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9" name="text-273"/>
          <p:cNvSpPr txBox="1"/>
          <p:nvPr/>
        </p:nvSpPr>
        <p:spPr>
          <a:xfrm>
            <a:off x="594360" y="23774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D. Kiến trúc</a:t>
            </a:r>
            <a:endParaRPr lang="en-US" sz="1000" dirty="0"/>
          </a:p>
        </p:txBody>
      </p:sp>
      <p:sp>
        <p:nvSpPr>
          <p:cNvPr id="20" name="gantt-slack-274"/>
          <p:cNvSpPr/>
          <p:nvPr/>
        </p:nvSpPr>
        <p:spPr>
          <a:xfrm>
            <a:off x="4133088" y="241401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21" name="gantt-bar-275"/>
          <p:cNvSpPr/>
          <p:nvPr/>
        </p:nvSpPr>
        <p:spPr>
          <a:xfrm>
            <a:off x="3739896" y="2409444"/>
            <a:ext cx="393192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22" name="gantt-row-276"/>
          <p:cNvSpPr/>
          <p:nvPr/>
        </p:nvSpPr>
        <p:spPr>
          <a:xfrm>
            <a:off x="548640" y="256032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3" name="text-277"/>
          <p:cNvSpPr txBox="1"/>
          <p:nvPr/>
        </p:nvSpPr>
        <p:spPr>
          <a:xfrm>
            <a:off x="594360" y="2560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E. RMS lõi</a:t>
            </a:r>
            <a:endParaRPr lang="en-US" sz="1000" dirty="0"/>
          </a:p>
        </p:txBody>
      </p:sp>
      <p:sp>
        <p:nvSpPr>
          <p:cNvPr id="24" name="gantt-bar-278"/>
          <p:cNvSpPr/>
          <p:nvPr/>
        </p:nvSpPr>
        <p:spPr>
          <a:xfrm>
            <a:off x="4133088" y="2592324"/>
            <a:ext cx="1179576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25" name="text-279"/>
          <p:cNvSpPr txBox="1"/>
          <p:nvPr/>
        </p:nvSpPr>
        <p:spPr>
          <a:xfrm>
            <a:off x="594360" y="2743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F. Tích hợp</a:t>
            </a:r>
            <a:endParaRPr lang="en-US" sz="1000" dirty="0"/>
          </a:p>
        </p:txBody>
      </p:sp>
      <p:sp>
        <p:nvSpPr>
          <p:cNvPr id="26" name="gantt-slack-280"/>
          <p:cNvSpPr/>
          <p:nvPr/>
        </p:nvSpPr>
        <p:spPr>
          <a:xfrm>
            <a:off x="5116068" y="277977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27" name="gantt-bar-281"/>
          <p:cNvSpPr/>
          <p:nvPr/>
        </p:nvSpPr>
        <p:spPr>
          <a:xfrm>
            <a:off x="4133088" y="2775204"/>
            <a:ext cx="982980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28" name="gantt-row-282"/>
          <p:cNvSpPr/>
          <p:nvPr/>
        </p:nvSpPr>
        <p:spPr>
          <a:xfrm>
            <a:off x="548640" y="292608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9" name="text-283"/>
          <p:cNvSpPr txBox="1"/>
          <p:nvPr/>
        </p:nvSpPr>
        <p:spPr>
          <a:xfrm>
            <a:off x="594360" y="2926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G. Online</a:t>
            </a:r>
            <a:endParaRPr lang="en-US" sz="1000" dirty="0"/>
          </a:p>
        </p:txBody>
      </p:sp>
      <p:sp>
        <p:nvSpPr>
          <p:cNvPr id="30" name="gantt-slack-284"/>
          <p:cNvSpPr/>
          <p:nvPr/>
        </p:nvSpPr>
        <p:spPr>
          <a:xfrm>
            <a:off x="4919472" y="2962656"/>
            <a:ext cx="393192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31" name="gantt-bar-285"/>
          <p:cNvSpPr/>
          <p:nvPr/>
        </p:nvSpPr>
        <p:spPr>
          <a:xfrm>
            <a:off x="4133088" y="2958084"/>
            <a:ext cx="786384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2" name="text-286"/>
          <p:cNvSpPr txBox="1"/>
          <p:nvPr/>
        </p:nvSpPr>
        <p:spPr>
          <a:xfrm>
            <a:off x="594360" y="31089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H. TB đợt 1</a:t>
            </a:r>
            <a:endParaRPr lang="en-US" sz="1000" dirty="0"/>
          </a:p>
        </p:txBody>
      </p:sp>
      <p:sp>
        <p:nvSpPr>
          <p:cNvPr id="33" name="gantt-slack-287"/>
          <p:cNvSpPr/>
          <p:nvPr/>
        </p:nvSpPr>
        <p:spPr>
          <a:xfrm>
            <a:off x="4919472" y="314553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34" name="gantt-bar-288"/>
          <p:cNvSpPr/>
          <p:nvPr/>
        </p:nvSpPr>
        <p:spPr>
          <a:xfrm>
            <a:off x="4133088" y="3140964"/>
            <a:ext cx="786384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5" name="gantt-row-289"/>
          <p:cNvSpPr/>
          <p:nvPr/>
        </p:nvSpPr>
        <p:spPr>
          <a:xfrm>
            <a:off x="548640" y="329184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6" name="text-290"/>
          <p:cNvSpPr txBox="1"/>
          <p:nvPr/>
        </p:nvSpPr>
        <p:spPr>
          <a:xfrm>
            <a:off x="594360" y="3291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I. TB đợt 2</a:t>
            </a:r>
            <a:endParaRPr lang="en-US" sz="1000" dirty="0"/>
          </a:p>
        </p:txBody>
      </p:sp>
      <p:sp>
        <p:nvSpPr>
          <p:cNvPr id="37" name="gantt-slack-291"/>
          <p:cNvSpPr/>
          <p:nvPr/>
        </p:nvSpPr>
        <p:spPr>
          <a:xfrm>
            <a:off x="5902452" y="332841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38" name="gantt-bar-292"/>
          <p:cNvSpPr/>
          <p:nvPr/>
        </p:nvSpPr>
        <p:spPr>
          <a:xfrm>
            <a:off x="4919472" y="3323844"/>
            <a:ext cx="982980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39" name="text-293"/>
          <p:cNvSpPr txBox="1"/>
          <p:nvPr/>
        </p:nvSpPr>
        <p:spPr>
          <a:xfrm>
            <a:off x="594360" y="3474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J. Thực đơn</a:t>
            </a:r>
            <a:endParaRPr lang="en-US" sz="1000" dirty="0"/>
          </a:p>
        </p:txBody>
      </p:sp>
      <p:sp>
        <p:nvSpPr>
          <p:cNvPr id="40" name="gantt-slack-294"/>
          <p:cNvSpPr/>
          <p:nvPr/>
        </p:nvSpPr>
        <p:spPr>
          <a:xfrm>
            <a:off x="4919472" y="351129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41" name="gantt-bar-295"/>
          <p:cNvSpPr/>
          <p:nvPr/>
        </p:nvSpPr>
        <p:spPr>
          <a:xfrm>
            <a:off x="4133088" y="3506724"/>
            <a:ext cx="786384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42" name="gantt-row-296"/>
          <p:cNvSpPr/>
          <p:nvPr/>
        </p:nvSpPr>
        <p:spPr>
          <a:xfrm>
            <a:off x="548640" y="365760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3" name="text-297"/>
          <p:cNvSpPr txBox="1"/>
          <p:nvPr/>
        </p:nvSpPr>
        <p:spPr>
          <a:xfrm>
            <a:off x="594360" y="3657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K. Khách, kho</a:t>
            </a:r>
            <a:endParaRPr lang="en-US" sz="1000" dirty="0"/>
          </a:p>
        </p:txBody>
      </p:sp>
      <p:sp>
        <p:nvSpPr>
          <p:cNvPr id="44" name="gantt-slack-298"/>
          <p:cNvSpPr/>
          <p:nvPr/>
        </p:nvSpPr>
        <p:spPr>
          <a:xfrm>
            <a:off x="5509260" y="369417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45" name="gantt-bar-299"/>
          <p:cNvSpPr/>
          <p:nvPr/>
        </p:nvSpPr>
        <p:spPr>
          <a:xfrm>
            <a:off x="4919472" y="3689604"/>
            <a:ext cx="589788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46" name="text-300"/>
          <p:cNvSpPr txBox="1"/>
          <p:nvPr/>
        </p:nvSpPr>
        <p:spPr>
          <a:xfrm>
            <a:off x="594360" y="3840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L. SIT</a:t>
            </a:r>
            <a:endParaRPr lang="en-US" sz="1000" dirty="0"/>
          </a:p>
        </p:txBody>
      </p:sp>
      <p:sp>
        <p:nvSpPr>
          <p:cNvPr id="47" name="gantt-bar-301"/>
          <p:cNvSpPr/>
          <p:nvPr/>
        </p:nvSpPr>
        <p:spPr>
          <a:xfrm>
            <a:off x="5312664" y="3872484"/>
            <a:ext cx="196596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48" name="gantt-row-302"/>
          <p:cNvSpPr/>
          <p:nvPr/>
        </p:nvSpPr>
        <p:spPr>
          <a:xfrm>
            <a:off x="548640" y="402336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49" name="text-303"/>
          <p:cNvSpPr txBox="1"/>
          <p:nvPr/>
        </p:nvSpPr>
        <p:spPr>
          <a:xfrm>
            <a:off x="594360" y="4023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M. UAT</a:t>
            </a:r>
            <a:endParaRPr lang="en-US" sz="1000" dirty="0"/>
          </a:p>
        </p:txBody>
      </p:sp>
      <p:sp>
        <p:nvSpPr>
          <p:cNvPr id="50" name="gantt-bar-304"/>
          <p:cNvSpPr/>
          <p:nvPr/>
        </p:nvSpPr>
        <p:spPr>
          <a:xfrm>
            <a:off x="5509260" y="4055364"/>
            <a:ext cx="196596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51" name="text-305"/>
          <p:cNvSpPr txBox="1"/>
          <p:nvPr/>
        </p:nvSpPr>
        <p:spPr>
          <a:xfrm>
            <a:off x="594360" y="42062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N. Trainer</a:t>
            </a:r>
            <a:endParaRPr lang="en-US" sz="1000" dirty="0"/>
          </a:p>
        </p:txBody>
      </p:sp>
      <p:sp>
        <p:nvSpPr>
          <p:cNvPr id="52" name="gantt-slack-306"/>
          <p:cNvSpPr/>
          <p:nvPr/>
        </p:nvSpPr>
        <p:spPr>
          <a:xfrm>
            <a:off x="5312664" y="424281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53" name="gantt-bar-307"/>
          <p:cNvSpPr/>
          <p:nvPr/>
        </p:nvSpPr>
        <p:spPr>
          <a:xfrm>
            <a:off x="4722876" y="4238244"/>
            <a:ext cx="589788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54" name="gantt-row-308"/>
          <p:cNvSpPr/>
          <p:nvPr/>
        </p:nvSpPr>
        <p:spPr>
          <a:xfrm>
            <a:off x="548640" y="438912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55" name="text-309"/>
          <p:cNvSpPr txBox="1"/>
          <p:nvPr/>
        </p:nvSpPr>
        <p:spPr>
          <a:xfrm>
            <a:off x="594360" y="43891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O. Đào tạo</a:t>
            </a:r>
            <a:endParaRPr lang="en-US" sz="1000" dirty="0"/>
          </a:p>
        </p:txBody>
      </p:sp>
      <p:sp>
        <p:nvSpPr>
          <p:cNvPr id="56" name="gantt-slack-310"/>
          <p:cNvSpPr/>
          <p:nvPr/>
        </p:nvSpPr>
        <p:spPr>
          <a:xfrm>
            <a:off x="6492240" y="4425696"/>
            <a:ext cx="196596" cy="109728"/>
          </a:xfrm>
          <a:prstGeom prst="rect">
            <a:avLst/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57" name="gantt-bar-311"/>
          <p:cNvSpPr/>
          <p:nvPr/>
        </p:nvSpPr>
        <p:spPr>
          <a:xfrm>
            <a:off x="5312664" y="4421124"/>
            <a:ext cx="1179576" cy="11887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58" name="text-312"/>
          <p:cNvSpPr txBox="1"/>
          <p:nvPr/>
        </p:nvSpPr>
        <p:spPr>
          <a:xfrm>
            <a:off x="594360" y="45720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P. Pilot</a:t>
            </a:r>
            <a:endParaRPr lang="en-US" sz="1000" dirty="0"/>
          </a:p>
        </p:txBody>
      </p:sp>
      <p:sp>
        <p:nvSpPr>
          <p:cNvPr id="59" name="gantt-bar-313"/>
          <p:cNvSpPr/>
          <p:nvPr/>
        </p:nvSpPr>
        <p:spPr>
          <a:xfrm>
            <a:off x="5705856" y="4604004"/>
            <a:ext cx="393192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60" name="gantt-row-314"/>
          <p:cNvSpPr/>
          <p:nvPr/>
        </p:nvSpPr>
        <p:spPr>
          <a:xfrm>
            <a:off x="548640" y="475488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1" name="text-315"/>
          <p:cNvSpPr txBox="1"/>
          <p:nvPr/>
        </p:nvSpPr>
        <p:spPr>
          <a:xfrm>
            <a:off x="594360" y="47548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Q. Rollout</a:t>
            </a:r>
            <a:endParaRPr lang="en-US" sz="1000" dirty="0"/>
          </a:p>
        </p:txBody>
      </p:sp>
      <p:sp>
        <p:nvSpPr>
          <p:cNvPr id="62" name="gantt-bar-316"/>
          <p:cNvSpPr/>
          <p:nvPr/>
        </p:nvSpPr>
        <p:spPr>
          <a:xfrm>
            <a:off x="6099048" y="4786884"/>
            <a:ext cx="786384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63" name="text-317"/>
          <p:cNvSpPr txBox="1"/>
          <p:nvPr/>
        </p:nvSpPr>
        <p:spPr>
          <a:xfrm>
            <a:off x="594360" y="49377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R. Hỗ trợ</a:t>
            </a:r>
            <a:endParaRPr lang="en-US" sz="1000" dirty="0"/>
          </a:p>
        </p:txBody>
      </p:sp>
      <p:sp>
        <p:nvSpPr>
          <p:cNvPr id="64" name="gantt-bar-318"/>
          <p:cNvSpPr/>
          <p:nvPr/>
        </p:nvSpPr>
        <p:spPr>
          <a:xfrm>
            <a:off x="6885432" y="4969764"/>
            <a:ext cx="589788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65" name="gantt-row-319"/>
          <p:cNvSpPr/>
          <p:nvPr/>
        </p:nvSpPr>
        <p:spPr>
          <a:xfrm>
            <a:off x="548640" y="5120640"/>
            <a:ext cx="7123176" cy="182880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6" name="text-320"/>
          <p:cNvSpPr txBox="1"/>
          <p:nvPr/>
        </p:nvSpPr>
        <p:spPr>
          <a:xfrm>
            <a:off x="594360" y="51206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S. Nghiệm thu</a:t>
            </a:r>
            <a:endParaRPr lang="en-US" sz="1000" dirty="0"/>
          </a:p>
        </p:txBody>
      </p:sp>
      <p:sp>
        <p:nvSpPr>
          <p:cNvPr id="67" name="gantt-bar-321"/>
          <p:cNvSpPr/>
          <p:nvPr/>
        </p:nvSpPr>
        <p:spPr>
          <a:xfrm>
            <a:off x="7475220" y="5152644"/>
            <a:ext cx="196596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68" name="text-322"/>
          <p:cNvSpPr txBox="1"/>
          <p:nvPr/>
        </p:nvSpPr>
        <p:spPr>
          <a:xfrm>
            <a:off x="594360" y="5303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T. Tổng kết</a:t>
            </a:r>
            <a:endParaRPr lang="en-US" sz="1000" dirty="0"/>
          </a:p>
        </p:txBody>
      </p:sp>
      <p:sp>
        <p:nvSpPr>
          <p:cNvPr id="69" name="gantt-bar-323"/>
          <p:cNvSpPr/>
          <p:nvPr/>
        </p:nvSpPr>
        <p:spPr>
          <a:xfrm>
            <a:off x="7475220" y="5335524"/>
            <a:ext cx="196596" cy="118872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70" name="text-324"/>
          <p:cNvSpPr txBox="1"/>
          <p:nvPr/>
        </p:nvSpPr>
        <p:spPr>
          <a:xfrm>
            <a:off x="594360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Mốc</a:t>
            </a:r>
            <a:endParaRPr lang="en-US" sz="1000" dirty="0"/>
          </a:p>
        </p:txBody>
      </p:sp>
      <p:sp>
        <p:nvSpPr>
          <p:cNvPr id="71" name="milestone-325"/>
          <p:cNvSpPr/>
          <p:nvPr/>
        </p:nvSpPr>
        <p:spPr>
          <a:xfrm>
            <a:off x="2576322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72" name="text-326"/>
          <p:cNvSpPr txBox="1"/>
          <p:nvPr/>
        </p:nvSpPr>
        <p:spPr>
          <a:xfrm>
            <a:off x="2384298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M0</a:t>
            </a:r>
            <a:endParaRPr lang="en-US" sz="1000" dirty="0"/>
          </a:p>
        </p:txBody>
      </p:sp>
      <p:sp>
        <p:nvSpPr>
          <p:cNvPr id="73" name="milestone-327"/>
          <p:cNvSpPr/>
          <p:nvPr/>
        </p:nvSpPr>
        <p:spPr>
          <a:xfrm>
            <a:off x="3559302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74" name="text-328"/>
          <p:cNvSpPr txBox="1"/>
          <p:nvPr/>
        </p:nvSpPr>
        <p:spPr>
          <a:xfrm>
            <a:off x="3367278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M1</a:t>
            </a:r>
            <a:endParaRPr lang="en-US" sz="1000" dirty="0"/>
          </a:p>
        </p:txBody>
      </p:sp>
      <p:sp>
        <p:nvSpPr>
          <p:cNvPr id="75" name="milestone-329"/>
          <p:cNvSpPr/>
          <p:nvPr/>
        </p:nvSpPr>
        <p:spPr>
          <a:xfrm>
            <a:off x="3952494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76" name="text-330"/>
          <p:cNvSpPr txBox="1"/>
          <p:nvPr/>
        </p:nvSpPr>
        <p:spPr>
          <a:xfrm>
            <a:off x="3760470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M2</a:t>
            </a:r>
            <a:endParaRPr lang="en-US" sz="1000" dirty="0"/>
          </a:p>
        </p:txBody>
      </p:sp>
      <p:sp>
        <p:nvSpPr>
          <p:cNvPr id="77" name="milestone-331"/>
          <p:cNvSpPr/>
          <p:nvPr/>
        </p:nvSpPr>
        <p:spPr>
          <a:xfrm>
            <a:off x="5328666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78" name="text-332"/>
          <p:cNvSpPr txBox="1"/>
          <p:nvPr/>
        </p:nvSpPr>
        <p:spPr>
          <a:xfrm>
            <a:off x="5136642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M3</a:t>
            </a:r>
            <a:endParaRPr lang="en-US" sz="1000" dirty="0"/>
          </a:p>
        </p:txBody>
      </p:sp>
      <p:sp>
        <p:nvSpPr>
          <p:cNvPr id="79" name="milestone-333"/>
          <p:cNvSpPr/>
          <p:nvPr/>
        </p:nvSpPr>
        <p:spPr>
          <a:xfrm>
            <a:off x="5525262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80" name="text-334"/>
          <p:cNvSpPr txBox="1"/>
          <p:nvPr/>
        </p:nvSpPr>
        <p:spPr>
          <a:xfrm>
            <a:off x="5333238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M4</a:t>
            </a:r>
            <a:endParaRPr lang="en-US" sz="1000" dirty="0"/>
          </a:p>
        </p:txBody>
      </p:sp>
      <p:sp>
        <p:nvSpPr>
          <p:cNvPr id="81" name="milestone-335"/>
          <p:cNvSpPr/>
          <p:nvPr/>
        </p:nvSpPr>
        <p:spPr>
          <a:xfrm>
            <a:off x="5721858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82" name="text-336"/>
          <p:cNvSpPr txBox="1"/>
          <p:nvPr/>
        </p:nvSpPr>
        <p:spPr>
          <a:xfrm>
            <a:off x="5529834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M5</a:t>
            </a:r>
            <a:endParaRPr lang="en-US" sz="1000" dirty="0"/>
          </a:p>
        </p:txBody>
      </p:sp>
      <p:sp>
        <p:nvSpPr>
          <p:cNvPr id="83" name="milestone-337"/>
          <p:cNvSpPr/>
          <p:nvPr/>
        </p:nvSpPr>
        <p:spPr>
          <a:xfrm>
            <a:off x="6704838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84" name="text-338"/>
          <p:cNvSpPr txBox="1"/>
          <p:nvPr/>
        </p:nvSpPr>
        <p:spPr>
          <a:xfrm>
            <a:off x="6512814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M6</a:t>
            </a:r>
            <a:endParaRPr lang="en-US" sz="1000" dirty="0"/>
          </a:p>
        </p:txBody>
      </p:sp>
      <p:sp>
        <p:nvSpPr>
          <p:cNvPr id="85" name="milestone-339"/>
          <p:cNvSpPr/>
          <p:nvPr/>
        </p:nvSpPr>
        <p:spPr>
          <a:xfrm>
            <a:off x="7491222" y="5586984"/>
            <a:ext cx="164592" cy="164592"/>
          </a:xfrm>
          <a:prstGeom prst="diamond">
            <a:avLst/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86" name="text-340"/>
          <p:cNvSpPr txBox="1"/>
          <p:nvPr/>
        </p:nvSpPr>
        <p:spPr>
          <a:xfrm>
            <a:off x="7299198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M7</a:t>
            </a:r>
            <a:endParaRPr lang="en-US" sz="1000" dirty="0"/>
          </a:p>
        </p:txBody>
      </p:sp>
      <p:sp>
        <p:nvSpPr>
          <p:cNvPr id="87" name="chip-341"/>
          <p:cNvSpPr/>
          <p:nvPr/>
        </p:nvSpPr>
        <p:spPr>
          <a:xfrm>
            <a:off x="548640" y="5943600"/>
            <a:ext cx="137160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88" name="text-342"/>
          <p:cNvSpPr txBox="1"/>
          <p:nvPr/>
        </p:nvSpPr>
        <p:spPr>
          <a:xfrm>
            <a:off x="548640" y="5943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 activity</a:t>
            </a:r>
            <a:endParaRPr lang="en-US" sz="1100" dirty="0"/>
          </a:p>
        </p:txBody>
      </p:sp>
      <p:sp>
        <p:nvSpPr>
          <p:cNvPr id="89" name="chip-343"/>
          <p:cNvSpPr/>
          <p:nvPr/>
        </p:nvSpPr>
        <p:spPr>
          <a:xfrm>
            <a:off x="2057400" y="5943600"/>
            <a:ext cx="914400" cy="27432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90" name="text-344"/>
          <p:cNvSpPr txBox="1"/>
          <p:nvPr/>
        </p:nvSpPr>
        <p:spPr>
          <a:xfrm>
            <a:off x="2057400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Có Slack</a:t>
            </a:r>
            <a:endParaRPr lang="en-US" sz="1100" dirty="0"/>
          </a:p>
        </p:txBody>
      </p:sp>
      <p:sp>
        <p:nvSpPr>
          <p:cNvPr id="91" name="chip-345"/>
          <p:cNvSpPr/>
          <p:nvPr/>
        </p:nvSpPr>
        <p:spPr>
          <a:xfrm>
            <a:off x="3108960" y="5943600"/>
            <a:ext cx="731520" cy="274320"/>
          </a:xfrm>
          <a:prstGeom prst="roundRect">
            <a:avLst>
              <a:gd name="adj" fmla="val 40000"/>
            </a:avLst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92" name="text-346"/>
          <p:cNvSpPr txBox="1"/>
          <p:nvPr/>
        </p:nvSpPr>
        <p:spPr>
          <a:xfrm>
            <a:off x="3108960" y="5943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Slack</a:t>
            </a:r>
            <a:endParaRPr lang="en-US" sz="1100" dirty="0"/>
          </a:p>
        </p:txBody>
      </p:sp>
      <p:sp>
        <p:nvSpPr>
          <p:cNvPr id="93" name="header-347"/>
          <p:cNvSpPr txBox="1"/>
          <p:nvPr/>
        </p:nvSpPr>
        <p:spPr>
          <a:xfrm>
            <a:off x="8229600" y="14630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phương án rút 1 tuần</a:t>
            </a:r>
            <a:endParaRPr lang="en-US" sz="1800" dirty="0"/>
          </a:p>
        </p:txBody>
      </p:sp>
      <p:sp>
        <p:nvSpPr>
          <p:cNvPr id="94" name="option-348"/>
          <p:cNvSpPr/>
          <p:nvPr/>
        </p:nvSpPr>
        <p:spPr>
          <a:xfrm>
            <a:off x="8229600" y="1920240"/>
            <a:ext cx="3410712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95" name="badge-349"/>
          <p:cNvSpPr/>
          <p:nvPr/>
        </p:nvSpPr>
        <p:spPr>
          <a:xfrm>
            <a:off x="8339328" y="2029968"/>
            <a:ext cx="365760" cy="36576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</p:spPr>
      </p:sp>
      <p:sp>
        <p:nvSpPr>
          <p:cNvPr id="96" name="text-350"/>
          <p:cNvSpPr txBox="1"/>
          <p:nvPr/>
        </p:nvSpPr>
        <p:spPr>
          <a:xfrm>
            <a:off x="833932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97" name="text-351"/>
          <p:cNvSpPr txBox="1"/>
          <p:nvPr/>
        </p:nvSpPr>
        <p:spPr>
          <a:xfrm>
            <a:off x="8823960" y="199339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Fast Tracking A → B (SS+2)</a:t>
            </a:r>
            <a:endParaRPr lang="en-US" sz="1400" dirty="0"/>
          </a:p>
        </p:txBody>
      </p:sp>
      <p:sp>
        <p:nvSpPr>
          <p:cNvPr id="98" name="text-352"/>
          <p:cNvSpPr txBox="1"/>
          <p:nvPr/>
        </p:nvSpPr>
        <p:spPr>
          <a:xfrm>
            <a:off x="8823960" y="230428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+7,5 triệu đồng · đúng hạn 50% → 93,3%</a:t>
            </a:r>
            <a:endParaRPr lang="en-US" sz="1200" dirty="0"/>
          </a:p>
        </p:txBody>
      </p:sp>
      <p:sp>
        <p:nvSpPr>
          <p:cNvPr id="99" name="option-353"/>
          <p:cNvSpPr/>
          <p:nvPr/>
        </p:nvSpPr>
        <p:spPr>
          <a:xfrm>
            <a:off x="8229600" y="2944368"/>
            <a:ext cx="3410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00" name="badge-354"/>
          <p:cNvSpPr/>
          <p:nvPr/>
        </p:nvSpPr>
        <p:spPr>
          <a:xfrm>
            <a:off x="8339328" y="3054096"/>
            <a:ext cx="365760" cy="36576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101" name="text-355"/>
          <p:cNvSpPr txBox="1"/>
          <p:nvPr/>
        </p:nvSpPr>
        <p:spPr>
          <a:xfrm>
            <a:off x="8339328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2" name="text-356"/>
          <p:cNvSpPr txBox="1"/>
          <p:nvPr/>
        </p:nvSpPr>
        <p:spPr>
          <a:xfrm>
            <a:off x="8823960" y="301752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Fast Tracking B → C, D</a:t>
            </a:r>
            <a:endParaRPr lang="en-US" sz="1400" dirty="0"/>
          </a:p>
        </p:txBody>
      </p:sp>
      <p:sp>
        <p:nvSpPr>
          <p:cNvPr id="103" name="text-357"/>
          <p:cNvSpPr txBox="1"/>
          <p:nvPr/>
        </p:nvSpPr>
        <p:spPr>
          <a:xfrm>
            <a:off x="8823960" y="3328416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≈ 0, làm lại ≈ 20 triệu · bỏ cổng duyệt M1</a:t>
            </a:r>
            <a:endParaRPr lang="en-US" sz="1200" dirty="0"/>
          </a:p>
        </p:txBody>
      </p:sp>
      <p:sp>
        <p:nvSpPr>
          <p:cNvPr id="104" name="option-358"/>
          <p:cNvSpPr/>
          <p:nvPr/>
        </p:nvSpPr>
        <p:spPr>
          <a:xfrm>
            <a:off x="8229600" y="3968496"/>
            <a:ext cx="3410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05" name="badge-359"/>
          <p:cNvSpPr/>
          <p:nvPr/>
        </p:nvSpPr>
        <p:spPr>
          <a:xfrm>
            <a:off x="8339328" y="4078224"/>
            <a:ext cx="365760" cy="36576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106" name="text-360"/>
          <p:cNvSpPr txBox="1"/>
          <p:nvPr/>
        </p:nvSpPr>
        <p:spPr>
          <a:xfrm>
            <a:off x="8339328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7" name="text-361"/>
          <p:cNvSpPr txBox="1"/>
          <p:nvPr/>
        </p:nvSpPr>
        <p:spPr>
          <a:xfrm>
            <a:off x="8823960" y="404164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Crashing E (6 → 5 tuần)</a:t>
            </a:r>
            <a:endParaRPr lang="en-US" sz="1400" dirty="0"/>
          </a:p>
        </p:txBody>
      </p:sp>
      <p:sp>
        <p:nvSpPr>
          <p:cNvPr id="108" name="text-362"/>
          <p:cNvSpPr txBox="1"/>
          <p:nvPr/>
        </p:nvSpPr>
        <p:spPr>
          <a:xfrm>
            <a:off x="8823960" y="435254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+50 triệu đồng · 19/20 việc thành găng</a:t>
            </a:r>
            <a:endParaRPr lang="en-US" sz="1200" dirty="0"/>
          </a:p>
        </p:txBody>
      </p:sp>
      <p:sp>
        <p:nvSpPr>
          <p:cNvPr id="109" name="option-363"/>
          <p:cNvSpPr/>
          <p:nvPr/>
        </p:nvSpPr>
        <p:spPr>
          <a:xfrm>
            <a:off x="8229600" y="4992624"/>
            <a:ext cx="34107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10" name="badge-364"/>
          <p:cNvSpPr/>
          <p:nvPr/>
        </p:nvSpPr>
        <p:spPr>
          <a:xfrm>
            <a:off x="8339328" y="5102352"/>
            <a:ext cx="365760" cy="36576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111" name="text-365"/>
          <p:cNvSpPr txBox="1"/>
          <p:nvPr/>
        </p:nvSpPr>
        <p:spPr>
          <a:xfrm>
            <a:off x="8339328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12" name="text-366"/>
          <p:cNvSpPr txBox="1"/>
          <p:nvPr/>
        </p:nvSpPr>
        <p:spPr>
          <a:xfrm>
            <a:off x="8823960" y="506577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Crashing Q (4 → 3 tuần)</a:t>
            </a:r>
            <a:endParaRPr lang="en-US" sz="1400" dirty="0"/>
          </a:p>
        </p:txBody>
      </p:sp>
      <p:sp>
        <p:nvSpPr>
          <p:cNvPr id="113" name="text-367"/>
          <p:cNvSpPr txBox="1"/>
          <p:nvPr/>
        </p:nvSpPr>
        <p:spPr>
          <a:xfrm>
            <a:off x="8823960" y="537667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+10 triệu đồng · trái Charter</a:t>
            </a:r>
            <a:endParaRPr lang="en-US" sz="1200" dirty="0"/>
          </a:p>
        </p:txBody>
      </p:sp>
      <p:sp>
        <p:nvSpPr>
          <p:cNvPr id="114" name="text-368"/>
          <p:cNvSpPr txBox="1"/>
          <p:nvPr/>
        </p:nvSpPr>
        <p:spPr>
          <a:xfrm>
            <a:off x="8229600" y="60350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Không rút tuần thứ hai: phương án 2 bỏ cổng duyệt, phương án 3 đắt và gần như mọi việc thành găng.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Nguồn lực và chi phí bottom-up</a:t>
            </a:r>
            <a:endParaRPr lang="en-US" sz="2800" dirty="0"/>
          </a:p>
        </p:txBody>
      </p:sp>
      <p:sp>
        <p:nvSpPr>
          <p:cNvPr id="4" name="text-369"/>
          <p:cNvSpPr txBox="1"/>
          <p:nvPr/>
        </p:nvSpPr>
        <p:spPr>
          <a:xfrm>
            <a:off x="548640" y="1463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Chi phí ước tính theo nhóm (triệu đồng) – tổng 1.360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-370"/>
          <p:cNvSpPr txBox="1"/>
          <p:nvPr/>
        </p:nvSpPr>
        <p:spPr>
          <a:xfrm>
            <a:off x="548640" y="5669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Trực tiếp 1.300 + gián tiếp 60 = 1.360 (BAC) · 25 work package, đủ ở Phụ lục D</a:t>
            </a:r>
            <a:endParaRPr lang="en-US" sz="1300" dirty="0"/>
          </a:p>
        </p:txBody>
      </p:sp>
      <p:sp>
        <p:nvSpPr>
          <p:cNvPr id="7" name="contingency-371"/>
          <p:cNvSpPr/>
          <p:nvPr/>
        </p:nvSpPr>
        <p:spPr>
          <a:xfrm>
            <a:off x="6583680" y="1508760"/>
            <a:ext cx="5056632" cy="1325880"/>
          </a:xfrm>
          <a:prstGeom prst="roundRect">
            <a:avLst>
              <a:gd name="adj" fmla="val 5517"/>
            </a:avLst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8" name="text-372"/>
          <p:cNvSpPr txBox="1"/>
          <p:nvPr/>
        </p:nvSpPr>
        <p:spPr>
          <a:xfrm>
            <a:off x="6784848" y="160020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Dự phòng 140 triệu đồng (10,3%)</a:t>
            </a:r>
            <a:endParaRPr lang="en-US" sz="1800" dirty="0"/>
          </a:p>
        </p:txBody>
      </p:sp>
      <p:sp>
        <p:nvSpPr>
          <p:cNvPr id="9" name="text-373"/>
          <p:cNvSpPr txBox="1"/>
          <p:nvPr/>
        </p:nvSpPr>
        <p:spPr>
          <a:xfrm>
            <a:off x="6784848" y="201168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= 40 + 30 + 24 + 20 + 20 + 6 cho 6 rủi ro đã nhận diện; chỉ dùng khi CCB duyệt, không có management reserve</a:t>
            </a:r>
            <a:endParaRPr lang="en-US" sz="1400" dirty="0"/>
          </a:p>
        </p:txBody>
      </p:sp>
      <p:sp>
        <p:nvSpPr>
          <p:cNvPr id="10" name="header-374"/>
          <p:cNvSpPr txBox="1"/>
          <p:nvPr/>
        </p:nvSpPr>
        <p:spPr>
          <a:xfrm>
            <a:off x="6583680" y="301752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Tối ưu chi phí: chỉ chi khi dùng</a:t>
            </a:r>
            <a:endParaRPr lang="en-US" sz="1800" dirty="0"/>
          </a:p>
        </p:txBody>
      </p:sp>
      <p:sp>
        <p:nvSpPr>
          <p:cNvPr id="11" name="save-375"/>
          <p:cNvSpPr/>
          <p:nvPr/>
        </p:nvSpPr>
        <p:spPr>
          <a:xfrm>
            <a:off x="6583680" y="3474720"/>
            <a:ext cx="505663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2" name="text-376"/>
          <p:cNvSpPr txBox="1"/>
          <p:nvPr/>
        </p:nvSpPr>
        <p:spPr>
          <a:xfrm>
            <a:off x="6766560" y="354787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 đối tác theo gói</a:t>
            </a:r>
            <a:endParaRPr lang="en-US" sz="1400" dirty="0"/>
          </a:p>
        </p:txBody>
      </p:sp>
      <p:sp>
        <p:nvSpPr>
          <p:cNvPr id="13" name="text-377"/>
          <p:cNvSpPr txBox="1"/>
          <p:nvPr/>
        </p:nvSpPr>
        <p:spPr>
          <a:xfrm>
            <a:off x="6766560" y="3840480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 ngày công thay vì 130: tránh ≈ 135 triệu đồng</a:t>
            </a:r>
            <a:endParaRPr lang="en-US" sz="1300" dirty="0"/>
          </a:p>
        </p:txBody>
      </p:sp>
      <p:sp>
        <p:nvSpPr>
          <p:cNvPr id="14" name="save-378"/>
          <p:cNvSpPr/>
          <p:nvPr/>
        </p:nvSpPr>
        <p:spPr>
          <a:xfrm>
            <a:off x="6583680" y="4370832"/>
            <a:ext cx="505663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5" name="text-379"/>
          <p:cNvSpPr txBox="1"/>
          <p:nvPr/>
        </p:nvSpPr>
        <p:spPr>
          <a:xfrm>
            <a:off x="6766560" y="444398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Thuê bao RMS từ ngày go-live</a:t>
            </a:r>
            <a:endParaRPr lang="en-US" sz="1400" dirty="0"/>
          </a:p>
        </p:txBody>
      </p:sp>
      <p:sp>
        <p:nvSpPr>
          <p:cNvPr id="16" name="text-380"/>
          <p:cNvSpPr txBox="1"/>
          <p:nvPr/>
        </p:nvSpPr>
        <p:spPr>
          <a:xfrm>
            <a:off x="6766560" y="4736592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33 + 6 triệu đồng môi trường thử, thay vì ≈ 90 triệu đồng</a:t>
            </a:r>
            <a:endParaRPr lang="en-US" sz="1300" dirty="0"/>
          </a:p>
        </p:txBody>
      </p:sp>
      <p:sp>
        <p:nvSpPr>
          <p:cNvPr id="17" name="save-381"/>
          <p:cNvSpPr/>
          <p:nvPr/>
        </p:nvSpPr>
        <p:spPr>
          <a:xfrm>
            <a:off x="6583680" y="5266944"/>
            <a:ext cx="505663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8" name="text-382"/>
          <p:cNvSpPr txBox="1"/>
          <p:nvPr/>
        </p:nvSpPr>
        <p:spPr>
          <a:xfrm>
            <a:off x="6766560" y="534009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Thiết bị đặt 2 đợt</a:t>
            </a:r>
            <a:endParaRPr lang="en-US" sz="1400" dirty="0"/>
          </a:p>
        </p:txBody>
      </p:sp>
      <p:sp>
        <p:nvSpPr>
          <p:cNvPr id="19" name="text-383"/>
          <p:cNvSpPr txBox="1"/>
          <p:nvPr/>
        </p:nvSpPr>
        <p:spPr>
          <a:xfrm>
            <a:off x="6766560" y="5632704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Đợt 2 (368 triệu đồng) chỉ đặt khi đợt 1 chạy thử ổn tại Cầu Giấy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Ngân sách theo tháng và hiệu quả tài chính</a:t>
            </a:r>
            <a:endParaRPr lang="en-US" sz="2800" dirty="0"/>
          </a:p>
        </p:txBody>
      </p:sp>
      <p:sp>
        <p:nvSpPr>
          <p:cNvPr id="4" name="text-384"/>
          <p:cNvSpPr txBox="1"/>
          <p:nvPr/>
        </p:nvSpPr>
        <p:spPr>
          <a:xfrm>
            <a:off x="548640" y="1463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Cost baseline theo tháng 2027 (triệu đồng)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309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-385"/>
          <p:cNvSpPr txBox="1"/>
          <p:nvPr/>
        </p:nvSpPr>
        <p:spPr>
          <a:xfrm>
            <a:off x="548640" y="56692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Lũy kế (triệu đồng): 110,5 · 307,6 · 753,8 · 1.223,3 · 1.289,2 · 1.360,0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Tháng 5 – 6 chi 916 triệu đồng (67% BAC): công ty cần chuẩn bị tiền cho hai tháng này</a:t>
            </a:r>
            <a:endParaRPr lang="en-US" sz="1300" dirty="0"/>
          </a:p>
        </p:txBody>
      </p:sp>
      <p:sp>
        <p:nvSpPr>
          <p:cNvPr id="7" name="kpi-386"/>
          <p:cNvSpPr/>
          <p:nvPr/>
        </p:nvSpPr>
        <p:spPr>
          <a:xfrm>
            <a:off x="7223760" y="1508760"/>
            <a:ext cx="4416552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8" name="text-387"/>
          <p:cNvSpPr txBox="1"/>
          <p:nvPr/>
        </p:nvSpPr>
        <p:spPr>
          <a:xfrm>
            <a:off x="7406640" y="158191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NPV (chiết khấu 12%, 2027 – 2030)</a:t>
            </a:r>
            <a:endParaRPr lang="en-US" sz="1300" dirty="0"/>
          </a:p>
        </p:txBody>
      </p:sp>
      <p:sp>
        <p:nvSpPr>
          <p:cNvPr id="9" name="text-388"/>
          <p:cNvSpPr txBox="1"/>
          <p:nvPr/>
        </p:nvSpPr>
        <p:spPr>
          <a:xfrm>
            <a:off x="7406640" y="18562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+1.243,2</a:t>
            </a:r>
            <a:endParaRPr lang="en-US" sz="2600" dirty="0"/>
          </a:p>
        </p:txBody>
      </p:sp>
      <p:sp>
        <p:nvSpPr>
          <p:cNvPr id="10" name="text-389"/>
          <p:cNvSpPr txBox="1"/>
          <p:nvPr/>
        </p:nvSpPr>
        <p:spPr>
          <a:xfrm>
            <a:off x="9464040" y="187452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triệu đồng; NPV &gt; 0: dự án tạo thêm giá trị</a:t>
            </a:r>
            <a:endParaRPr lang="en-US" sz="1300" dirty="0"/>
          </a:p>
        </p:txBody>
      </p:sp>
      <p:sp>
        <p:nvSpPr>
          <p:cNvPr id="11" name="kpi-390"/>
          <p:cNvSpPr/>
          <p:nvPr/>
        </p:nvSpPr>
        <p:spPr>
          <a:xfrm>
            <a:off x="7223760" y="2697480"/>
            <a:ext cx="4416552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2" name="text-391"/>
          <p:cNvSpPr txBox="1"/>
          <p:nvPr/>
        </p:nvSpPr>
        <p:spPr>
          <a:xfrm>
            <a:off x="7406640" y="277063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ROI sau 3 năm</a:t>
            </a:r>
            <a:endParaRPr lang="en-US" sz="1300" dirty="0"/>
          </a:p>
        </p:txBody>
      </p:sp>
      <p:sp>
        <p:nvSpPr>
          <p:cNvPr id="13" name="text-392"/>
          <p:cNvSpPr txBox="1"/>
          <p:nvPr/>
        </p:nvSpPr>
        <p:spPr>
          <a:xfrm>
            <a:off x="7406640" y="30449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59,4%</a:t>
            </a:r>
            <a:endParaRPr lang="en-US" sz="2600" dirty="0"/>
          </a:p>
        </p:txBody>
      </p:sp>
      <p:sp>
        <p:nvSpPr>
          <p:cNvPr id="14" name="text-393"/>
          <p:cNvSpPr txBox="1"/>
          <p:nvPr/>
        </p:nvSpPr>
        <p:spPr>
          <a:xfrm>
            <a:off x="9464040" y="306324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vượt ngưỡng 20% công ty áp dụng cho dự án CNTT</a:t>
            </a:r>
            <a:endParaRPr lang="en-US" sz="1300" dirty="0"/>
          </a:p>
        </p:txBody>
      </p:sp>
      <p:sp>
        <p:nvSpPr>
          <p:cNvPr id="15" name="kpi-394"/>
          <p:cNvSpPr/>
          <p:nvPr/>
        </p:nvSpPr>
        <p:spPr>
          <a:xfrm>
            <a:off x="7223760" y="3886200"/>
            <a:ext cx="4416552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6" name="text-395"/>
          <p:cNvSpPr txBox="1"/>
          <p:nvPr/>
        </p:nvSpPr>
        <p:spPr>
          <a:xfrm>
            <a:off x="7406640" y="39593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Thời gian hoàn vốn giản đơn</a:t>
            </a:r>
            <a:endParaRPr lang="en-US" sz="1300" dirty="0"/>
          </a:p>
        </p:txBody>
      </p:sp>
      <p:sp>
        <p:nvSpPr>
          <p:cNvPr id="17" name="text-396"/>
          <p:cNvSpPr txBox="1"/>
          <p:nvPr/>
        </p:nvSpPr>
        <p:spPr>
          <a:xfrm>
            <a:off x="7406640" y="42336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1,29 năm</a:t>
            </a:r>
            <a:endParaRPr lang="en-US" sz="2600" dirty="0"/>
          </a:p>
        </p:txBody>
      </p:sp>
      <p:sp>
        <p:nvSpPr>
          <p:cNvPr id="18" name="text-397"/>
          <p:cNvSpPr txBox="1"/>
          <p:nvPr/>
        </p:nvSpPr>
        <p:spPr>
          <a:xfrm>
            <a:off x="9464040" y="425196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 chiết khấu: 1,72 năm</a:t>
            </a:r>
            <a:endParaRPr lang="en-US" sz="1300" dirty="0"/>
          </a:p>
        </p:txBody>
      </p:sp>
      <p:sp>
        <p:nvSpPr>
          <p:cNvPr id="19" name="verdict-398"/>
          <p:cNvSpPr/>
          <p:nvPr/>
        </p:nvSpPr>
        <p:spPr>
          <a:xfrm>
            <a:off x="7223760" y="5120640"/>
            <a:ext cx="4416552" cy="1097280"/>
          </a:xfrm>
          <a:prstGeom prst="roundRect">
            <a:avLst>
              <a:gd name="adj" fmla="val 6667"/>
            </a:avLst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20" name="text-399"/>
          <p:cNvSpPr txBox="1"/>
          <p:nvPr/>
        </p:nvSpPr>
        <p:spPr>
          <a:xfrm>
            <a:off x="7424928" y="5120640"/>
            <a:ext cx="4014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Nên thực hiện dự án. </a:t>
            </a:r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NPV = 0 khi lợi ích chỉ đạt 62,8% ước tính: còn đệm an toàn.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Theo dõi bằng EVM: kỳ tháng 5/2027</a:t>
            </a:r>
            <a:endParaRPr lang="en-US" sz="2800" dirty="0"/>
          </a:p>
        </p:txBody>
      </p:sp>
      <p:sp>
        <p:nvSpPr>
          <p:cNvPr id="4" name="text-400"/>
          <p:cNvSpPr txBox="1"/>
          <p:nvPr/>
        </p:nvSpPr>
        <p:spPr>
          <a:xfrm>
            <a:off x="548640" y="1463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Giá trị lũy kế đến hết tuần 13 (triệu đồng)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4480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evm-kpi-401"/>
          <p:cNvSpPr/>
          <p:nvPr/>
        </p:nvSpPr>
        <p:spPr>
          <a:xfrm>
            <a:off x="5394960" y="1508760"/>
            <a:ext cx="30175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7" name="text-402"/>
          <p:cNvSpPr txBox="1"/>
          <p:nvPr/>
        </p:nvSpPr>
        <p:spPr>
          <a:xfrm>
            <a:off x="557784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CV = EV − AC</a:t>
            </a:r>
            <a:endParaRPr lang="en-US" sz="1300" dirty="0"/>
          </a:p>
        </p:txBody>
      </p:sp>
      <p:sp>
        <p:nvSpPr>
          <p:cNvPr id="8" name="text-403"/>
          <p:cNvSpPr txBox="1"/>
          <p:nvPr/>
        </p:nvSpPr>
        <p:spPr>
          <a:xfrm>
            <a:off x="5577840" y="1892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−64,6</a:t>
            </a:r>
            <a:endParaRPr lang="en-US" sz="3000" dirty="0"/>
          </a:p>
        </p:txBody>
      </p:sp>
      <p:sp>
        <p:nvSpPr>
          <p:cNvPr id="9" name="text-404"/>
          <p:cNvSpPr txBox="1"/>
          <p:nvPr/>
        </p:nvSpPr>
        <p:spPr>
          <a:xfrm>
            <a:off x="557784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vượt chi phí 64,6 triệu đồng</a:t>
            </a:r>
            <a:endParaRPr lang="en-US" sz="1200" dirty="0"/>
          </a:p>
        </p:txBody>
      </p:sp>
      <p:sp>
        <p:nvSpPr>
          <p:cNvPr id="10" name="evm-kpi-405"/>
          <p:cNvSpPr/>
          <p:nvPr/>
        </p:nvSpPr>
        <p:spPr>
          <a:xfrm>
            <a:off x="8549640" y="1508760"/>
            <a:ext cx="30175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1" name="text-406"/>
          <p:cNvSpPr txBox="1"/>
          <p:nvPr/>
        </p:nvSpPr>
        <p:spPr>
          <a:xfrm>
            <a:off x="873252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SV = EV − PV</a:t>
            </a:r>
            <a:endParaRPr lang="en-US" sz="1300" dirty="0"/>
          </a:p>
        </p:txBody>
      </p:sp>
      <p:sp>
        <p:nvSpPr>
          <p:cNvPr id="12" name="text-407"/>
          <p:cNvSpPr txBox="1"/>
          <p:nvPr/>
        </p:nvSpPr>
        <p:spPr>
          <a:xfrm>
            <a:off x="8732520" y="1892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−41,6</a:t>
            </a:r>
            <a:endParaRPr lang="en-US" sz="3000" dirty="0"/>
          </a:p>
        </p:txBody>
      </p:sp>
      <p:sp>
        <p:nvSpPr>
          <p:cNvPr id="13" name="text-408"/>
          <p:cNvSpPr txBox="1"/>
          <p:nvPr/>
        </p:nvSpPr>
        <p:spPr>
          <a:xfrm>
            <a:off x="873252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chậm 41,6 triệu đồng giá trị</a:t>
            </a:r>
            <a:endParaRPr lang="en-US" sz="1200" dirty="0"/>
          </a:p>
        </p:txBody>
      </p:sp>
      <p:sp>
        <p:nvSpPr>
          <p:cNvPr id="14" name="evm-kpi-409"/>
          <p:cNvSpPr/>
          <p:nvPr/>
        </p:nvSpPr>
        <p:spPr>
          <a:xfrm>
            <a:off x="5394960" y="2926080"/>
            <a:ext cx="3017520" cy="1298448"/>
          </a:xfrm>
          <a:prstGeom prst="roundRect">
            <a:avLst>
              <a:gd name="adj" fmla="val 5634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5" name="text-410"/>
          <p:cNvSpPr txBox="1"/>
          <p:nvPr/>
        </p:nvSpPr>
        <p:spPr>
          <a:xfrm>
            <a:off x="55778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CPI = EV / AC</a:t>
            </a:r>
            <a:endParaRPr lang="en-US" sz="1300" dirty="0"/>
          </a:p>
        </p:txBody>
      </p:sp>
      <p:sp>
        <p:nvSpPr>
          <p:cNvPr id="16" name="text-411"/>
          <p:cNvSpPr txBox="1"/>
          <p:nvPr/>
        </p:nvSpPr>
        <p:spPr>
          <a:xfrm>
            <a:off x="5577840" y="3310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0,92</a:t>
            </a:r>
            <a:endParaRPr lang="en-US" sz="3000" dirty="0"/>
          </a:p>
        </p:txBody>
      </p:sp>
      <p:sp>
        <p:nvSpPr>
          <p:cNvPr id="17" name="text-412"/>
          <p:cNvSpPr txBox="1"/>
          <p:nvPr/>
        </p:nvSpPr>
        <p:spPr>
          <a:xfrm>
            <a:off x="557784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dưới ngưỡng 0,95 (vàng)</a:t>
            </a:r>
            <a:endParaRPr lang="en-US" sz="1200" dirty="0"/>
          </a:p>
        </p:txBody>
      </p:sp>
      <p:sp>
        <p:nvSpPr>
          <p:cNvPr id="18" name="evm-kpi-413"/>
          <p:cNvSpPr/>
          <p:nvPr/>
        </p:nvSpPr>
        <p:spPr>
          <a:xfrm>
            <a:off x="8549640" y="2926080"/>
            <a:ext cx="3017520" cy="1298448"/>
          </a:xfrm>
          <a:prstGeom prst="roundRect">
            <a:avLst>
              <a:gd name="adj" fmla="val 5634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9" name="text-414"/>
          <p:cNvSpPr txBox="1"/>
          <p:nvPr/>
        </p:nvSpPr>
        <p:spPr>
          <a:xfrm>
            <a:off x="873252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SPI = EV / PV</a:t>
            </a:r>
            <a:endParaRPr lang="en-US" sz="1300" dirty="0"/>
          </a:p>
        </p:txBody>
      </p:sp>
      <p:sp>
        <p:nvSpPr>
          <p:cNvPr id="20" name="text-415"/>
          <p:cNvSpPr txBox="1"/>
          <p:nvPr/>
        </p:nvSpPr>
        <p:spPr>
          <a:xfrm>
            <a:off x="8732520" y="3310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0,94</a:t>
            </a:r>
            <a:endParaRPr lang="en-US" sz="3000" dirty="0"/>
          </a:p>
        </p:txBody>
      </p:sp>
      <p:sp>
        <p:nvSpPr>
          <p:cNvPr id="21" name="text-416"/>
          <p:cNvSpPr txBox="1"/>
          <p:nvPr/>
        </p:nvSpPr>
        <p:spPr>
          <a:xfrm>
            <a:off x="873252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dưới ngưỡng 0,95 (vàng)</a:t>
            </a:r>
            <a:endParaRPr lang="en-US" sz="1200" dirty="0"/>
          </a:p>
        </p:txBody>
      </p:sp>
      <p:sp>
        <p:nvSpPr>
          <p:cNvPr id="22" name="evm-card-417"/>
          <p:cNvSpPr/>
          <p:nvPr/>
        </p:nvSpPr>
        <p:spPr>
          <a:xfrm>
            <a:off x="548640" y="4480560"/>
            <a:ext cx="359359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3" name="text-418"/>
          <p:cNvSpPr txBox="1"/>
          <p:nvPr/>
        </p:nvSpPr>
        <p:spPr>
          <a:xfrm>
            <a:off x="73152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Nguyên nhân</a:t>
            </a:r>
            <a:endParaRPr lang="en-US" sz="1600" dirty="0"/>
          </a:p>
        </p:txBody>
      </p:sp>
      <p:sp>
        <p:nvSpPr>
          <p:cNvPr id="24" name="text-419"/>
          <p:cNvSpPr txBox="1"/>
          <p:nvPr/>
        </p:nvSpPr>
        <p:spPr>
          <a:xfrm>
            <a:off x="731520" y="49560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Gói 4.2.1 Tích hợp ngoài: quyền API ShopeeFood cấp chậm 2 tuần → 77% chênh lệch chi phí, toàn bộ chậm tiến độ</a:t>
            </a:r>
            <a:endParaRPr lang="en-US" sz="1400" dirty="0"/>
          </a:p>
        </p:txBody>
      </p:sp>
      <p:sp>
        <p:nvSpPr>
          <p:cNvPr id="25" name="evm-card-420"/>
          <p:cNvSpPr/>
          <p:nvPr/>
        </p:nvSpPr>
        <p:spPr>
          <a:xfrm>
            <a:off x="4297680" y="4480560"/>
            <a:ext cx="359359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6" name="text-421"/>
          <p:cNvSpPr txBox="1"/>
          <p:nvPr/>
        </p:nvSpPr>
        <p:spPr>
          <a:xfrm>
            <a:off x="448056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Dự báo</a:t>
            </a:r>
            <a:endParaRPr lang="en-US" sz="1600" dirty="0"/>
          </a:p>
        </p:txBody>
      </p:sp>
      <p:sp>
        <p:nvSpPr>
          <p:cNvPr id="27" name="text-422"/>
          <p:cNvSpPr txBox="1"/>
          <p:nvPr/>
        </p:nvSpPr>
        <p:spPr>
          <a:xfrm>
            <a:off x="4480560" y="49560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 1.424,6 – 1.483,4 triệu đồng, trong ngân sách 1.500; dự phòng đã dùng 46% – 88%</a:t>
            </a:r>
            <a:endParaRPr lang="en-US" sz="1400" dirty="0"/>
          </a:p>
        </p:txBody>
      </p:sp>
      <p:sp>
        <p:nvSpPr>
          <p:cNvPr id="28" name="evm-card-423"/>
          <p:cNvSpPr/>
          <p:nvPr/>
        </p:nvSpPr>
        <p:spPr>
          <a:xfrm>
            <a:off x="8046720" y="4480560"/>
            <a:ext cx="3593592" cy="1737360"/>
          </a:xfrm>
          <a:prstGeom prst="roundRect">
            <a:avLst>
              <a:gd name="adj" fmla="val 4211"/>
            </a:avLst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29" name="text-424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Hành động</a:t>
            </a:r>
            <a:endParaRPr lang="en-US" sz="1600" dirty="0"/>
          </a:p>
        </p:txBody>
      </p:sp>
      <p:sp>
        <p:nvSpPr>
          <p:cNvPr id="30" name="text-425"/>
          <p:cNvSpPr txBox="1"/>
          <p:nvPr/>
        </p:nvSpPr>
        <p:spPr>
          <a:xfrm>
            <a:off x="8229600" y="49560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Thêm 1 tư vấn tuần 14 (+2 triệu đồng) để giữ 26 tuần; chờ API không tính công; báo cáo EVM 2 tuần/lần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Yêu cầu thay đổi CR-01: ứng dụng di động riêng</a:t>
            </a:r>
            <a:endParaRPr lang="en-US" sz="2800" dirty="0"/>
          </a:p>
        </p:txBody>
      </p:sp>
      <p:sp>
        <p:nvSpPr>
          <p:cNvPr id="4" name="stat-426"/>
          <p:cNvSpPr/>
          <p:nvPr/>
        </p:nvSpPr>
        <p:spPr>
          <a:xfrm>
            <a:off x="548640" y="1463040"/>
            <a:ext cx="21488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5" name="text-427"/>
          <p:cNvSpPr txBox="1"/>
          <p:nvPr/>
        </p:nvSpPr>
        <p:spPr>
          <a:xfrm>
            <a:off x="713232" y="155448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Thời gian</a:t>
            </a:r>
            <a:endParaRPr lang="en-US" sz="1300" dirty="0"/>
          </a:p>
        </p:txBody>
      </p:sp>
      <p:sp>
        <p:nvSpPr>
          <p:cNvPr id="6" name="text-428"/>
          <p:cNvSpPr txBox="1"/>
          <p:nvPr/>
        </p:nvSpPr>
        <p:spPr>
          <a:xfrm>
            <a:off x="713232" y="184708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+8 tuần</a:t>
            </a:r>
            <a:endParaRPr lang="en-US" sz="2800" dirty="0"/>
          </a:p>
        </p:txBody>
      </p:sp>
      <p:sp>
        <p:nvSpPr>
          <p:cNvPr id="7" name="stat-429"/>
          <p:cNvSpPr/>
          <p:nvPr/>
        </p:nvSpPr>
        <p:spPr>
          <a:xfrm>
            <a:off x="2834640" y="146304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8" name="text-430"/>
          <p:cNvSpPr txBox="1"/>
          <p:nvPr/>
        </p:nvSpPr>
        <p:spPr>
          <a:xfrm>
            <a:off x="2999232" y="155448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Chi phí</a:t>
            </a:r>
            <a:endParaRPr lang="en-US" sz="1300" dirty="0"/>
          </a:p>
        </p:txBody>
      </p:sp>
      <p:sp>
        <p:nvSpPr>
          <p:cNvPr id="9" name="text-431"/>
          <p:cNvSpPr txBox="1"/>
          <p:nvPr/>
        </p:nvSpPr>
        <p:spPr>
          <a:xfrm>
            <a:off x="2999232" y="184708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+300 triệu đồng</a:t>
            </a:r>
            <a:endParaRPr lang="en-US" sz="2400" dirty="0"/>
          </a:p>
        </p:txBody>
      </p:sp>
      <p:sp>
        <p:nvSpPr>
          <p:cNvPr id="10" name="stat-432"/>
          <p:cNvSpPr/>
          <p:nvPr/>
        </p:nvSpPr>
        <p:spPr>
          <a:xfrm>
            <a:off x="5486400" y="1463040"/>
            <a:ext cx="21488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1" name="text-433"/>
          <p:cNvSpPr txBox="1"/>
          <p:nvPr/>
        </p:nvSpPr>
        <p:spPr>
          <a:xfrm>
            <a:off x="5650992" y="155448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Đề xuất</a:t>
            </a:r>
            <a:endParaRPr lang="en-US" sz="1300" dirty="0"/>
          </a:p>
        </p:txBody>
      </p:sp>
      <p:sp>
        <p:nvSpPr>
          <p:cNvPr id="12" name="text-434"/>
          <p:cNvSpPr txBox="1"/>
          <p:nvPr/>
        </p:nvSpPr>
        <p:spPr>
          <a:xfrm>
            <a:off x="5650992" y="184708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Marketing, 31/05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70866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148840"/>
                <a:gridCol w="23317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Chỉ tiêu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Hiện tại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Nếu chấp nhận CR-01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8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Tổng thời gian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26 tuần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F19"/>
                          </a:solidFill>
                        </a:rPr>
                        <a:t>34 tuần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Nghiệm thu M7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27/08/2027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F19"/>
                          </a:solidFill>
                        </a:rPr>
                        <a:t>22/10/2027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Chạy ổn định trước 01/12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4,1 tháng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F19"/>
                          </a:solidFill>
                        </a:rPr>
                        <a:t>2,2 tháng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EAC (triệu đồng)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1.424,6 – 1.483,4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64F19"/>
                          </a:solidFill>
                        </a:rPr>
                        <a:t>1.724,6 – 1.783,4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NPV (triệu đồng)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1.243,2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943,2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ROI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59,4%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39,4%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Hoàn vốn giản đơn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1,29 năm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1,55 năm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-435"/>
          <p:cNvSpPr txBox="1"/>
          <p:nvPr/>
        </p:nvSpPr>
        <p:spPr>
          <a:xfrm>
            <a:off x="548640" y="603504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Ngân sách 1.500; dự phòng còn 75,4 – 16,6 triệu đồng: không đủ cho 224,6 – 283,4 triệu đồng vượt thêm</a:t>
            </a:r>
            <a:endParaRPr lang="en-US" sz="1100" dirty="0"/>
          </a:p>
        </p:txBody>
      </p:sp>
      <p:sp>
        <p:nvSpPr>
          <p:cNvPr id="15" name="decision-436"/>
          <p:cNvSpPr/>
          <p:nvPr/>
        </p:nvSpPr>
        <p:spPr>
          <a:xfrm>
            <a:off x="7955280" y="1463040"/>
            <a:ext cx="3685032" cy="4754880"/>
          </a:xfrm>
          <a:prstGeom prst="roundRect">
            <a:avLst>
              <a:gd name="adj" fmla="val 1985"/>
            </a:avLst>
          </a:prstGeom>
          <a:solidFill>
            <a:schemeClr val="accent5">
              <a:alpha val="38000"/>
            </a:schemeClr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16" name="text-437"/>
          <p:cNvSpPr txBox="1"/>
          <p:nvPr/>
        </p:nvSpPr>
        <p:spPr>
          <a:xfrm>
            <a:off x="8183880" y="157276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Quyết định của CCB</a:t>
            </a:r>
            <a:endParaRPr lang="en-US" sz="1400" dirty="0"/>
          </a:p>
        </p:txBody>
      </p:sp>
      <p:sp>
        <p:nvSpPr>
          <p:cNvPr id="17" name="text-438"/>
          <p:cNvSpPr txBox="1"/>
          <p:nvPr/>
        </p:nvSpPr>
        <p:spPr>
          <a:xfrm>
            <a:off x="8183880" y="187452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TỪ CHỐI</a:t>
            </a:r>
            <a:endParaRPr lang="en-US" sz="4000" dirty="0"/>
          </a:p>
        </p:txBody>
      </p:sp>
      <p:sp>
        <p:nvSpPr>
          <p:cNvPr id="18" name="text-439"/>
          <p:cNvSpPr txBox="1"/>
          <p:nvPr/>
        </p:nvSpPr>
        <p:spPr>
          <a:xfrm>
            <a:off x="8183880" y="260604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Họp 04/06/2027 · chủ trì: Lê Văn Thành, Tổng Giám đốc</a:t>
            </a:r>
            <a:endParaRPr lang="en-US" sz="1300" dirty="0"/>
          </a:p>
        </p:txBody>
      </p:sp>
      <p:sp>
        <p:nvSpPr>
          <p:cNvPr id="19" name="text-440"/>
          <p:cNvSpPr txBox="1"/>
          <p:nvPr/>
        </p:nvSpPr>
        <p:spPr>
          <a:xfrm>
            <a:off x="8183880" y="3154680"/>
            <a:ext cx="3227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 phạm ưu tiên 1: M7 trễ 8 tuần, chỉ còn 2,2 tháng chạy ổn định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 vượt ngân sách, dự phòng không đủ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Lợi ích chưa lượng hóa; web đặt món và QR order đã phục vụ mục tiêu doanh thu online</a:t>
            </a:r>
            <a:endParaRPr lang="en-US" sz="1400" dirty="0"/>
          </a:p>
        </p:txBody>
      </p:sp>
      <p:sp>
        <p:nvSpPr>
          <p:cNvPr id="20" name="text-441"/>
          <p:cNvSpPr txBox="1"/>
          <p:nvPr/>
        </p:nvSpPr>
        <p:spPr>
          <a:xfrm>
            <a:off x="8183880" y="512064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Baseline giữ nguyên · đưa vào giai đoạn 2 · đánh giá lại khi có doanh thu online 07/2028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Tổng hợp: tính nhất quán, hạn chế và bài học</a:t>
            </a:r>
            <a:endParaRPr lang="en-US" sz="2800" dirty="0"/>
          </a:p>
        </p:txBody>
      </p:sp>
      <p:sp>
        <p:nvSpPr>
          <p:cNvPr id="4" name="check-total-442"/>
          <p:cNvSpPr txBox="1"/>
          <p:nvPr/>
        </p:nvSpPr>
        <p:spPr>
          <a:xfrm>
            <a:off x="548640" y="16002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29/29</a:t>
            </a:r>
            <a:endParaRPr lang="en-US" sz="8000" dirty="0"/>
          </a:p>
        </p:txBody>
      </p:sp>
      <p:sp>
        <p:nvSpPr>
          <p:cNvPr id="5" name="text-443"/>
          <p:cNvSpPr txBox="1"/>
          <p:nvPr/>
        </p:nvSpPr>
        <p:spPr>
          <a:xfrm>
            <a:off x="548640" y="2971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điểm đối chiếu khớp: Charter – WBS – lịch – ngân sách</a:t>
            </a:r>
            <a:endParaRPr lang="en-US" sz="1600" dirty="0"/>
          </a:p>
        </p:txBody>
      </p:sp>
      <p:sp>
        <p:nvSpPr>
          <p:cNvPr id="6" name="text-444"/>
          <p:cNvSpPr txBox="1"/>
          <p:nvPr/>
        </p:nvSpPr>
        <p:spPr>
          <a:xfrm>
            <a:off x="54864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 công thức trong sheet Nhất quán của file Excel + 3 phép truy vết WBS ↔ sản phẩm, yêu cầu, mốc</a:t>
            </a:r>
            <a:endParaRPr lang="en-US" sz="1400" dirty="0"/>
          </a:p>
        </p:txBody>
      </p:sp>
      <p:sp>
        <p:nvSpPr>
          <p:cNvPr id="7" name="text-445"/>
          <p:cNvSpPr txBox="1"/>
          <p:nvPr/>
        </p:nvSpPr>
        <p:spPr>
          <a:xfrm>
            <a:off x="475488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 hạn chế</a:t>
            </a:r>
            <a:endParaRPr lang="en-US" sz="2200" dirty="0"/>
          </a:p>
        </p:txBody>
      </p:sp>
      <p:sp>
        <p:nvSpPr>
          <p:cNvPr id="8" name="closing-card-446"/>
          <p:cNvSpPr/>
          <p:nvPr/>
        </p:nvSpPr>
        <p:spPr>
          <a:xfrm>
            <a:off x="4754880" y="2148840"/>
            <a:ext cx="338328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-447"/>
          <p:cNvSpPr txBox="1"/>
          <p:nvPr/>
        </p:nvSpPr>
        <p:spPr>
          <a:xfrm>
            <a:off x="4919472" y="2194560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Không có dự trữ thời gian: 26 tuần = Critical Path, đúng hạn 50%</a:t>
            </a:r>
            <a:endParaRPr lang="en-US" sz="1400" dirty="0"/>
          </a:p>
        </p:txBody>
      </p:sp>
      <p:sp>
        <p:nvSpPr>
          <p:cNvPr id="10" name="closing-card-448"/>
          <p:cNvSpPr/>
          <p:nvPr/>
        </p:nvSpPr>
        <p:spPr>
          <a:xfrm>
            <a:off x="4754880" y="3337560"/>
            <a:ext cx="338328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-449"/>
          <p:cNvSpPr txBox="1"/>
          <p:nvPr/>
        </p:nvSpPr>
        <p:spPr>
          <a:xfrm>
            <a:off x="4919472" y="3383280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Rủi ro dồn ở bên thứ ba: E, F chiếm 260 triệu đồng; API gây 77% chênh lệch chi phí</a:t>
            </a:r>
            <a:endParaRPr lang="en-US" sz="1400" dirty="0"/>
          </a:p>
        </p:txBody>
      </p:sp>
      <p:sp>
        <p:nvSpPr>
          <p:cNvPr id="12" name="closing-card-450"/>
          <p:cNvSpPr/>
          <p:nvPr/>
        </p:nvSpPr>
        <p:spPr>
          <a:xfrm>
            <a:off x="4754880" y="4526280"/>
            <a:ext cx="338328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-451"/>
          <p:cNvSpPr txBox="1"/>
          <p:nvPr/>
        </p:nvSpPr>
        <p:spPr>
          <a:xfrm>
            <a:off x="4919472" y="4572000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Dự phòng mỏng: 140 triệu đồng, đã dùng 46 – 88% khi mới hết nửa thời gian</a:t>
            </a:r>
            <a:endParaRPr lang="en-US" sz="1400" dirty="0"/>
          </a:p>
        </p:txBody>
      </p:sp>
      <p:sp>
        <p:nvSpPr>
          <p:cNvPr id="14" name="text-452"/>
          <p:cNvSpPr txBox="1"/>
          <p:nvPr/>
        </p:nvSpPr>
        <p:spPr>
          <a:xfrm>
            <a:off x="822960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 bài học</a:t>
            </a:r>
            <a:endParaRPr lang="en-US" sz="2200" dirty="0"/>
          </a:p>
        </p:txBody>
      </p:sp>
      <p:sp>
        <p:nvSpPr>
          <p:cNvPr id="15" name="closing-card-453"/>
          <p:cNvSpPr/>
          <p:nvPr/>
        </p:nvSpPr>
        <p:spPr>
          <a:xfrm>
            <a:off x="8229600" y="2148840"/>
            <a:ext cx="338328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-454"/>
          <p:cNvSpPr txBox="1"/>
          <p:nvPr/>
        </p:nvSpPr>
        <p:spPr>
          <a:xfrm>
            <a:off x="8394192" y="2194560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Đối chiếu top-down với bottom-up trước khi duyệt baseline</a:t>
            </a:r>
            <a:endParaRPr lang="en-US" sz="1400" dirty="0"/>
          </a:p>
        </p:txBody>
      </p:sp>
      <p:sp>
        <p:nvSpPr>
          <p:cNvPr id="17" name="closing-card-455"/>
          <p:cNvSpPr/>
          <p:nvPr/>
        </p:nvSpPr>
        <p:spPr>
          <a:xfrm>
            <a:off x="8229600" y="3337560"/>
            <a:ext cx="338328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-456"/>
          <p:cNvSpPr txBox="1"/>
          <p:nvPr/>
        </p:nvSpPr>
        <p:spPr>
          <a:xfrm>
            <a:off x="8394192" y="3383280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 theo thời điểm dùng: tiết kiệm ≈ 186 triệu đồng (≈ 12% ngân sách)</a:t>
            </a:r>
            <a:endParaRPr lang="en-US" sz="1400" dirty="0"/>
          </a:p>
        </p:txBody>
      </p:sp>
      <p:sp>
        <p:nvSpPr>
          <p:cNvPr id="19" name="closing-card-457"/>
          <p:cNvSpPr/>
          <p:nvPr/>
        </p:nvSpPr>
        <p:spPr>
          <a:xfrm>
            <a:off x="8229600" y="4526280"/>
            <a:ext cx="338328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317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-458"/>
          <p:cNvSpPr txBox="1"/>
          <p:nvPr/>
        </p:nvSpPr>
        <p:spPr>
          <a:xfrm>
            <a:off x="8394192" y="4572000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Hợp đồng có điều khoản chờ API; báo cáo EVM 2 tuần/lần</a:t>
            </a:r>
            <a:endParaRPr lang="en-US" sz="1400" dirty="0"/>
          </a:p>
        </p:txBody>
      </p:sp>
      <p:sp>
        <p:nvSpPr>
          <p:cNvPr id="21" name="text-459"/>
          <p:cNvSpPr txBox="1"/>
          <p:nvPr/>
        </p:nvSpPr>
        <p:spPr>
          <a:xfrm>
            <a:off x="54864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Xin cảm ơn – mời Ban giám đốc đặt câu hỏi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 RMS">
  <a:themeElements>
    <a:clrScheme name="Atlas RMS">
      <a:dk1>
        <a:srgbClr val="262626"/>
      </a:dk1>
      <a:lt1>
        <a:srgbClr val="FFFFFF"/>
      </a:lt1>
      <a:dk2>
        <a:srgbClr val="4A2F55"/>
      </a:dk2>
      <a:lt2>
        <a:srgbClr val="F4EEF6"/>
      </a:lt2>
      <a:accent1>
        <a:srgbClr val="7E4E92"/>
      </a:accent1>
      <a:accent2>
        <a:srgbClr val="D64F19"/>
      </a:accent2>
      <a:accent3>
        <a:srgbClr val="2A78D6"/>
      </a:accent3>
      <a:accent4>
        <a:srgbClr val="E9AB51"/>
      </a:accent4>
      <a:accent5>
        <a:srgbClr val="B9A3C4"/>
      </a:accent5>
      <a:accent6>
        <a:srgbClr val="6B6B76"/>
      </a:accent6>
      <a:hlink>
        <a:srgbClr val="2A78D6"/>
      </a:hlink>
      <a:folHlink>
        <a:srgbClr val="7E4E92"/>
      </a:folHlink>
    </a:clrScheme>
    <a:fontScheme name="Atlas R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Công ty Cổ phần Ẩm thực Atlas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RMS – Kế hoạch quản lý dự án</dc:title>
  <dc:subject>Kế hoạch quản lý dự án Atlas RMS (AT-RMS-2027)</dc:subject>
  <dc:creator>Ban QLDA Atlas RMS</dc:creator>
  <cp:lastModifiedBy>Ban QLDA Atlas RMS</cp:lastModifiedBy>
  <cp:revision>1</cp:revision>
  <dcterms:created xsi:type="dcterms:W3CDTF">2026-10-27T17:05:24Z</dcterms:created>
  <dcterms:modified xsi:type="dcterms:W3CDTF">2026-10-27T17:05:24Z</dcterms:modified>
</cp:coreProperties>
</file>