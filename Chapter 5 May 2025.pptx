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66" r:id="rId6"/>
  </p:sldMasterIdLst>
  <p:sldIdLst>
    <p:sldId id="256" r:id="rId7"/>
    <p:sldId id="279" r:id="rId8"/>
    <p:sldId id="334" r:id="rId9"/>
    <p:sldId id="335" r:id="rId10"/>
    <p:sldId id="257" r:id="rId11"/>
    <p:sldId id="347" r:id="rId12"/>
    <p:sldId id="336" r:id="rId13"/>
    <p:sldId id="337" r:id="rId14"/>
    <p:sldId id="381" r:id="rId15"/>
    <p:sldId id="344" r:id="rId16"/>
    <p:sldId id="382" r:id="rId17"/>
    <p:sldId id="383" r:id="rId18"/>
    <p:sldId id="384" r:id="rId19"/>
    <p:sldId id="385" r:id="rId20"/>
    <p:sldId id="386" r:id="rId21"/>
    <p:sldId id="387" r:id="rId22"/>
    <p:sldId id="388" r:id="rId23"/>
    <p:sldId id="338" r:id="rId24"/>
    <p:sldId id="281" r:id="rId25"/>
    <p:sldId id="389" r:id="rId26"/>
    <p:sldId id="397" r:id="rId27"/>
    <p:sldId id="398" r:id="rId28"/>
    <p:sldId id="399" r:id="rId29"/>
    <p:sldId id="396" r:id="rId30"/>
    <p:sldId id="380" r:id="rId31"/>
    <p:sldId id="390" r:id="rId32"/>
    <p:sldId id="391" r:id="rId33"/>
    <p:sldId id="392" r:id="rId34"/>
    <p:sldId id="393" r:id="rId35"/>
    <p:sldId id="394" r:id="rId36"/>
    <p:sldId id="395" r:id="rId37"/>
    <p:sldId id="339" r:id="rId38"/>
    <p:sldId id="373" r:id="rId39"/>
    <p:sldId id="292" r:id="rId40"/>
  </p:sldIdLst>
  <p:sldSz cx="12192000" cy="6858000"/>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C586A-3CA7-A6B6-6B3B-4583D57BE5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51776E-AB3C-97F0-AA67-BD2E18056A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57923A-7CEC-4869-8AF4-836E8C807E7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8E91799-8705-EA78-77FB-A8D1418A0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750114-BB6A-8616-2731-F1950849203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309654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253F8-D7EF-0AA8-3598-5AC952F1DC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31DE3F-5386-056B-1DEC-19911D2C22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05957-DD56-E507-21A2-8C0A5BE9F660}"/>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98EB9A55-8E66-EC08-7034-455A1E5E90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AF6D1F-72C9-BA38-AAB4-6FAC937E22B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7705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42EB5-995E-9071-E3A1-95E9D7E50C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ACF681-C1B8-C11A-F353-03F536F244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95EFDC-3504-A413-429F-299170D34B2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369A7B8-12DD-1BF3-FD41-6B3061949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061D4-168A-8F5C-1AF2-EEEE97F41137}"/>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67714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4875-A6FD-8948-4493-B9CE9F5BBE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319F30-A0D3-1FEA-6295-76618F64BC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2E2052-690E-6A4A-BF02-E46FD4005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FEBC34-12BA-F9D2-9978-AA8576AA8E1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7896469-2D3A-F487-7765-67182F6A0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9E2A04-E436-414E-4B0C-2404C44E969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527235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D2111-8CAE-1681-AEAC-2079D2AEC8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EEED81-28F4-4AD3-11E7-6FFF955226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3B50D-C434-C047-6A82-F515AB35F1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91BF45-750B-EE49-DA72-E92AF974D3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79E4D8-3EBB-E193-27A5-094D18445F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71CCED-E4D2-1960-BB38-F574A862185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8" name="Footer Placeholder 7">
            <a:extLst>
              <a:ext uri="{FF2B5EF4-FFF2-40B4-BE49-F238E27FC236}">
                <a16:creationId xmlns:a16="http://schemas.microsoft.com/office/drawing/2014/main" id="{39E36CFE-AD2A-D7D2-B7AC-0E6731A1D4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59C0B5-F8AA-4571-AFA6-A6728C20434F}"/>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81064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E519E-BDB0-6C86-F8A0-76A5F77C27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38157-D72D-588F-3ADF-121F60C6DC9A}"/>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4" name="Footer Placeholder 3">
            <a:extLst>
              <a:ext uri="{FF2B5EF4-FFF2-40B4-BE49-F238E27FC236}">
                <a16:creationId xmlns:a16="http://schemas.microsoft.com/office/drawing/2014/main" id="{57717323-0A37-5519-2211-CB5A46A701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E187EF-3568-6D06-B0CC-CC03B437E3F6}"/>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047579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DA75DE-3AA6-3D68-4B0D-E41DC289D11E}"/>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3" name="Footer Placeholder 2">
            <a:extLst>
              <a:ext uri="{FF2B5EF4-FFF2-40B4-BE49-F238E27FC236}">
                <a16:creationId xmlns:a16="http://schemas.microsoft.com/office/drawing/2014/main" id="{9AC2F1D1-1AE5-9EFB-5C41-D0BA282D35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39EC7-3610-4119-B990-AAC57BFAB70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20235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A1C0-DF73-59F9-7F79-1E20888F5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80BE31-A6CE-0A68-9049-46835F690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EBAC79-BA96-6289-CE87-A607DC7FE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EEFF55-5B90-350B-AAD2-357346686E34}"/>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2545FB3-ADD8-2ECF-805C-BE68FADBA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833929-8CD9-1DA0-4C06-B6934F51B11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68578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5A5F-7783-499E-9377-3210199834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CA243A-C284-88CE-16D1-09F73127C4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E3E7FA-2738-CC66-3A33-AF2665F889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52B17-F93D-D397-FB9D-F548BD362AB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8A648A4A-D02F-90AA-6306-2A3C8C61D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1AF598-401C-397D-5CF5-3A9D5CA82750}"/>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772381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A2BB-D4CC-5B9B-2348-E67CC05EB3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7E9190-84A6-F9EA-2390-7756FA27F3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E116-5473-7F3F-8433-5244C90E7BD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FC5FA76-460F-9D21-A59E-4B4E1DD5E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0A51C-B070-BA37-CF7D-21A317D5AB3E}"/>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83250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743B3-1526-7C42-5D1E-F800423F8A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823CF1-92A9-379B-2137-1E6179E6A4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BC939-1232-F1BE-40EE-926F7F3221E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49314AEF-05BD-1B4A-FFF2-7F78AB001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DB8F82-AEF6-1E0B-765F-D74DBC30156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806874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4574F-8BA0-4DD9-8A0D-88DF8E86708B}"/>
              </a:ext>
            </a:extLst>
          </p:cNvPr>
          <p:cNvSpPr>
            <a:spLocks noGrp="1"/>
          </p:cNvSpPr>
          <p:nvPr>
            <p:ph type="ctrTitle"/>
          </p:nvPr>
        </p:nvSpPr>
        <p:spPr>
          <a:xfrm>
            <a:off x="5193437" y="1600199"/>
            <a:ext cx="6998563" cy="2732103"/>
          </a:xfrm>
          <a:prstGeom prst="rect">
            <a:avLst/>
          </a:prstGeom>
        </p:spPr>
        <p:txBody>
          <a:bodyPr anchor="b"/>
          <a:lstStyle>
            <a:lvl1pPr algn="l">
              <a:defRPr sz="6000">
                <a:latin typeface="Cambria" panose="02040503050406030204" pitchFamily="18" charset="0"/>
                <a:ea typeface="Cambria" panose="020405030504060302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E082D7F5-BC12-43B2-9B38-EB14BFE04EE1}"/>
              </a:ext>
            </a:extLst>
          </p:cNvPr>
          <p:cNvSpPr>
            <a:spLocks noGrp="1"/>
          </p:cNvSpPr>
          <p:nvPr>
            <p:ph type="subTitle" idx="1"/>
          </p:nvPr>
        </p:nvSpPr>
        <p:spPr>
          <a:xfrm>
            <a:off x="5193437" y="4422159"/>
            <a:ext cx="6998564" cy="365125"/>
          </a:xfrm>
          <a:prstGeom prst="rect">
            <a:avLst/>
          </a:prstGeom>
        </p:spPr>
        <p:txBody>
          <a:bodyPr/>
          <a:lstStyle>
            <a:lvl1pPr marL="0" indent="0" algn="l">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91443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311370" y="18257"/>
            <a:ext cx="8880629" cy="7896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dirty="0"/>
          </a:p>
        </p:txBody>
      </p:sp>
      <p:sp>
        <p:nvSpPr>
          <p:cNvPr id="6" name="Title Placeholder 1">
            <a:extLst>
              <a:ext uri="{FF2B5EF4-FFF2-40B4-BE49-F238E27FC236}">
                <a16:creationId xmlns:a16="http://schemas.microsoft.com/office/drawing/2014/main" id="{05D78967-21EF-4AA2-8BE4-2FCA6F8A7653}"/>
              </a:ext>
            </a:extLst>
          </p:cNvPr>
          <p:cNvSpPr>
            <a:spLocks noGrp="1"/>
          </p:cNvSpPr>
          <p:nvPr>
            <p:ph type="title"/>
          </p:nvPr>
        </p:nvSpPr>
        <p:spPr>
          <a:xfrm>
            <a:off x="628176" y="1"/>
            <a:ext cx="8187350" cy="571499"/>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1259163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628176" y="1597981"/>
            <a:ext cx="10966059" cy="4578982"/>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6E3DAE31-D39D-4D91-8F50-8D056054A62F}"/>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4165683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628176" y="1597981"/>
            <a:ext cx="10941322" cy="4580877"/>
          </a:xfrm>
        </p:spPr>
        <p:txBody>
          <a:bodyPr/>
          <a:lstStyle>
            <a:lvl1pPr marL="0" indent="0">
              <a:buNone/>
              <a:defRPr sz="2400">
                <a:solidFill>
                  <a:srgbClr val="0070C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Title Placeholder 1">
            <a:extLst>
              <a:ext uri="{FF2B5EF4-FFF2-40B4-BE49-F238E27FC236}">
                <a16:creationId xmlns:a16="http://schemas.microsoft.com/office/drawing/2014/main" id="{4381502F-F4F5-47E5-A036-3E8E88EBED0C}"/>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Tree>
    <p:extLst>
      <p:ext uri="{BB962C8B-B14F-4D97-AF65-F5344CB8AC3E}">
        <p14:creationId xmlns:p14="http://schemas.microsoft.com/office/powerpoint/2010/main" val="3411103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612560"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6096001"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A06B0EA4-C8A7-4132-BFEF-0DDFF81DF1AE}"/>
              </a:ext>
            </a:extLst>
          </p:cNvPr>
          <p:cNvSpPr>
            <a:spLocks noGrp="1"/>
          </p:cNvSpPr>
          <p:nvPr>
            <p:ph type="title"/>
          </p:nvPr>
        </p:nvSpPr>
        <p:spPr>
          <a:xfrm>
            <a:off x="628176" y="1"/>
            <a:ext cx="8222861"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1567322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628175"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628175" y="2512381"/>
            <a:ext cx="5462626"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6090802"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6090801" y="2512381"/>
            <a:ext cx="5467825"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A49F13EA-C024-48AE-90B5-68F588A6D2CF}"/>
              </a:ext>
            </a:extLst>
          </p:cNvPr>
          <p:cNvSpPr>
            <a:spLocks noGrp="1"/>
          </p:cNvSpPr>
          <p:nvPr>
            <p:ph type="title"/>
          </p:nvPr>
        </p:nvSpPr>
        <p:spPr>
          <a:xfrm>
            <a:off x="628176" y="1"/>
            <a:ext cx="8231739" cy="55244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0127848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747FC4C-9430-4B68-AD2B-005799395D39}"/>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
        <p:nvSpPr>
          <p:cNvPr id="4" name="TextBox 3"/>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5" name="TextBox 4"/>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2245505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051394" y="1606858"/>
            <a:ext cx="6507234" cy="456312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628176" y="1606859"/>
            <a:ext cx="4165766" cy="456312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38BBB283-F300-4A19-B448-60B2206B6F55}"/>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317415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183188" y="1606858"/>
            <a:ext cx="6375440" cy="4554244"/>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628175" y="1606859"/>
            <a:ext cx="4245665" cy="4554244"/>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64732130-B38F-4E21-8A3C-589F26725E53}"/>
              </a:ext>
            </a:extLst>
          </p:cNvPr>
          <p:cNvSpPr>
            <a:spLocks noGrp="1"/>
          </p:cNvSpPr>
          <p:nvPr>
            <p:ph type="title"/>
          </p:nvPr>
        </p:nvSpPr>
        <p:spPr>
          <a:xfrm>
            <a:off x="628176" y="1"/>
            <a:ext cx="8222861" cy="581024"/>
          </a:xfrm>
          <a:prstGeom prst="rect">
            <a:avLst/>
          </a:prstGeom>
        </p:spPr>
        <p:txBody>
          <a:bodyPr vert="horz" lIns="91440" tIns="45720" rIns="91440" bIns="45720" rtlCol="0" anchor="ctr">
            <a:normAutofit/>
          </a:bodyPr>
          <a:lstStyle/>
          <a:p>
            <a:endParaRPr lang="en-US" dirty="0"/>
          </a:p>
        </p:txBody>
      </p:sp>
      <p:sp>
        <p:nvSpPr>
          <p:cNvPr id="6" name="TextBox 5"/>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7" name="TextBox 6"/>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4722815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628176" y="1597981"/>
            <a:ext cx="10941322" cy="45789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Placeholder 1">
            <a:extLst>
              <a:ext uri="{FF2B5EF4-FFF2-40B4-BE49-F238E27FC236}">
                <a16:creationId xmlns:a16="http://schemas.microsoft.com/office/drawing/2014/main" id="{3086777C-386E-4DFE-9BE7-63682A461485}"/>
              </a:ext>
            </a:extLst>
          </p:cNvPr>
          <p:cNvSpPr>
            <a:spLocks noGrp="1"/>
          </p:cNvSpPr>
          <p:nvPr>
            <p:ph type="title"/>
          </p:nvPr>
        </p:nvSpPr>
        <p:spPr>
          <a:xfrm>
            <a:off x="628176" y="1"/>
            <a:ext cx="8213983" cy="57149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8665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628175" y="1589103"/>
            <a:ext cx="10941322" cy="458786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AABDBED6-01BA-4F2B-9569-ED8032753950}"/>
              </a:ext>
            </a:extLst>
          </p:cNvPr>
          <p:cNvSpPr>
            <a:spLocks noGrp="1"/>
          </p:cNvSpPr>
          <p:nvPr>
            <p:ph type="title"/>
          </p:nvPr>
        </p:nvSpPr>
        <p:spPr>
          <a:xfrm>
            <a:off x="628176" y="1"/>
            <a:ext cx="8205106" cy="56197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9598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3.jp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3.xml"/><Relationship Id="rId5" Type="http://schemas.openxmlformats.org/officeDocument/2006/relationships/slideLayout" Target="../slideLayouts/slideLayout17.xml"/><Relationship Id="rId15" Type="http://schemas.openxmlformats.org/officeDocument/2006/relationships/image" Target="../media/image6.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796FF-222D-1E2E-7D23-7C2CDFE1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41ED22-2335-D77A-68F2-5BD129B13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4A63B-33FC-3D66-67A2-4F63979F6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F7709777-C88E-DEB1-2C91-66BDF4E70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DB51AD0-DD74-2C46-CF95-2202E3B9F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103FC1-3A4E-448F-B845-A3E46F94BBE5}" type="slidenum">
              <a:rPr lang="en-US" smtClean="0"/>
              <a:t>‹#›</a:t>
            </a:fld>
            <a:endParaRPr lang="en-US"/>
          </a:p>
        </p:txBody>
      </p:sp>
    </p:spTree>
    <p:extLst>
      <p:ext uri="{BB962C8B-B14F-4D97-AF65-F5344CB8AC3E}">
        <p14:creationId xmlns:p14="http://schemas.microsoft.com/office/powerpoint/2010/main" val="477498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236DA72-9373-413D-90C2-B12F84A4BF3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13" name="Rectangle 12">
            <a:extLst>
              <a:ext uri="{FF2B5EF4-FFF2-40B4-BE49-F238E27FC236}">
                <a16:creationId xmlns:a16="http://schemas.microsoft.com/office/drawing/2014/main" id="{B700E21E-0BA2-4C89-8691-A6161B41AA11}"/>
              </a:ext>
            </a:extLst>
          </p:cNvPr>
          <p:cNvSpPr/>
          <p:nvPr userDrawn="1"/>
        </p:nvSpPr>
        <p:spPr>
          <a:xfrm>
            <a:off x="5184559" y="1600200"/>
            <a:ext cx="7007441" cy="365760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Logo&#10;&#10;Description automatically generated">
            <a:extLst>
              <a:ext uri="{FF2B5EF4-FFF2-40B4-BE49-F238E27FC236}">
                <a16:creationId xmlns:a16="http://schemas.microsoft.com/office/drawing/2014/main" id="{437EFD07-DCAC-4344-A296-7B657609E7D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28178" y="183674"/>
            <a:ext cx="2736460" cy="499085"/>
          </a:xfrm>
          <a:prstGeom prst="rect">
            <a:avLst/>
          </a:prstGeom>
        </p:spPr>
      </p:pic>
    </p:spTree>
    <p:extLst>
      <p:ext uri="{BB962C8B-B14F-4D97-AF65-F5344CB8AC3E}">
        <p14:creationId xmlns:p14="http://schemas.microsoft.com/office/powerpoint/2010/main" val="116522316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EDE25AE-F103-49BC-9B89-0B1E7BCFB6DE}"/>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2000" cy="572738"/>
          </a:xfrm>
          <a:prstGeom prst="rect">
            <a:avLst/>
          </a:prstGeom>
        </p:spPr>
      </p:pic>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28176" y="1"/>
            <a:ext cx="8213983" cy="572737"/>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628176" y="1313895"/>
            <a:ext cx="10941323" cy="48630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a:extLst>
              <a:ext uri="{FF2B5EF4-FFF2-40B4-BE49-F238E27FC236}">
                <a16:creationId xmlns:a16="http://schemas.microsoft.com/office/drawing/2014/main" id="{24CB6BFF-A477-48C9-AA27-0D5A005B4CC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407121"/>
            <a:ext cx="12192000" cy="450879"/>
          </a:xfrm>
          <a:prstGeom prst="rect">
            <a:avLst/>
          </a:prstGeom>
        </p:spPr>
      </p:pic>
      <p:pic>
        <p:nvPicPr>
          <p:cNvPr id="16" name="Picture 15" descr="Logo&#10;&#10;Description automatically generated">
            <a:extLst>
              <a:ext uri="{FF2B5EF4-FFF2-40B4-BE49-F238E27FC236}">
                <a16:creationId xmlns:a16="http://schemas.microsoft.com/office/drawing/2014/main" id="{5381A15E-FFCE-435E-9C14-6C629375BFF6}"/>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9229725" y="73518"/>
            <a:ext cx="2334099" cy="425701"/>
          </a:xfrm>
          <a:prstGeom prst="rect">
            <a:avLst/>
          </a:prstGeom>
        </p:spPr>
      </p:pic>
      <p:pic>
        <p:nvPicPr>
          <p:cNvPr id="17" name="Picture 16" descr="Shape&#10;&#10;Description automatically generated with medium confidence">
            <a:extLst>
              <a:ext uri="{FF2B5EF4-FFF2-40B4-BE49-F238E27FC236}">
                <a16:creationId xmlns:a16="http://schemas.microsoft.com/office/drawing/2014/main" id="{290B9EB1-B956-4D5D-A294-4C2DE882032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524479" y="6585209"/>
            <a:ext cx="3743535" cy="321429"/>
          </a:xfrm>
          <a:prstGeom prst="rect">
            <a:avLst/>
          </a:prstGeom>
        </p:spPr>
      </p:pic>
    </p:spTree>
    <p:extLst>
      <p:ext uri="{BB962C8B-B14F-4D97-AF65-F5344CB8AC3E}">
        <p14:creationId xmlns:p14="http://schemas.microsoft.com/office/powerpoint/2010/main" val="251509094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algn="l" defTabSz="914400" rtl="0" eaLnBrk="1" latinLnBrk="0" hangingPunct="1">
        <a:lnSpc>
          <a:spcPct val="90000"/>
        </a:lnSpc>
        <a:spcBef>
          <a:spcPct val="0"/>
        </a:spcBef>
        <a:buNone/>
        <a:defRPr sz="30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hyperlink" Target="https://www.atoha.com/blogs/kien-thuc/cac-ben-lien-quan-trong-du-an"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br>
              <a:rPr lang="en-US" sz="4000" b="0" dirty="0">
                <a:solidFill>
                  <a:schemeClr val="bg1"/>
                </a:solidFill>
                <a:effectLst/>
                <a:latin typeface="Cambria" panose="02040503050406030204" pitchFamily="18" charset="0"/>
                <a:ea typeface="Cambria" panose="02040503050406030204" pitchFamily="18" charset="0"/>
              </a:rPr>
            </a:br>
            <a:r>
              <a:rPr lang="en-US" sz="4000" b="0" dirty="0">
                <a:solidFill>
                  <a:schemeClr val="bg1"/>
                </a:solidFill>
                <a:effectLst/>
                <a:latin typeface="Cambria" panose="02040503050406030204" pitchFamily="18" charset="0"/>
                <a:ea typeface="Cambria" panose="02040503050406030204" pitchFamily="18" charset="0"/>
              </a:rPr>
              <a:t>INFORMATION TECHNOLOGY PROJECT MANAGEMENT </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en-US" sz="2700" dirty="0">
                <a:solidFill>
                  <a:schemeClr val="accent1">
                    <a:lumMod val="40000"/>
                    <a:lumOff val="60000"/>
                  </a:schemeClr>
                </a:solidFill>
                <a:latin typeface="Cambria" panose="02040503050406030204" pitchFamily="18" charset="0"/>
                <a:ea typeface="Cambria" panose="02040503050406030204" pitchFamily="18" charset="0"/>
              </a:rPr>
              <a:t>Chap V: </a:t>
            </a:r>
            <a:r>
              <a:rPr lang="vi-VN" sz="2700" dirty="0">
                <a:solidFill>
                  <a:schemeClr val="accent1">
                    <a:lumMod val="40000"/>
                    <a:lumOff val="60000"/>
                  </a:schemeClr>
                </a:solidFill>
                <a:latin typeface="Cambria" panose="02040503050406030204" pitchFamily="18" charset="0"/>
                <a:ea typeface="Cambria" panose="02040503050406030204" pitchFamily="18" charset="0"/>
              </a:rPr>
              <a:t>IT </a:t>
            </a:r>
            <a:r>
              <a:rPr lang="en-US" sz="2700" dirty="0">
                <a:solidFill>
                  <a:schemeClr val="accent1">
                    <a:lumMod val="40000"/>
                    <a:lumOff val="60000"/>
                  </a:schemeClr>
                </a:solidFill>
                <a:latin typeface="Cambria" panose="02040503050406030204" pitchFamily="18" charset="0"/>
                <a:ea typeface="Cambria" panose="02040503050406030204" pitchFamily="18" charset="0"/>
              </a:rPr>
              <a:t>project HR</a:t>
            </a:r>
            <a:r>
              <a:rPr lang="vi-VN" sz="2700" dirty="0">
                <a:solidFill>
                  <a:schemeClr val="accent1">
                    <a:lumMod val="40000"/>
                    <a:lumOff val="60000"/>
                  </a:schemeClr>
                </a:solidFill>
                <a:latin typeface="Cambria" panose="02040503050406030204" pitchFamily="18" charset="0"/>
                <a:ea typeface="Cambria" panose="02040503050406030204" pitchFamily="18" charset="0"/>
              </a:rPr>
              <a:t> management</a:t>
            </a:r>
            <a:br>
              <a:rPr lang="en-US" sz="2700" dirty="0">
                <a:solidFill>
                  <a:schemeClr val="bg1"/>
                </a:solidFill>
                <a:latin typeface="Cambria" panose="02040503050406030204" pitchFamily="18" charset="0"/>
                <a:ea typeface="Cambria" panose="02040503050406030204" pitchFamily="18" charset="0"/>
              </a:rPr>
            </a:br>
            <a:r>
              <a:rPr lang="en-US" sz="2000" dirty="0">
                <a:solidFill>
                  <a:schemeClr val="accent1">
                    <a:lumMod val="60000"/>
                    <a:lumOff val="40000"/>
                  </a:schemeClr>
                </a:solidFill>
                <a:latin typeface="Cambria" panose="02040503050406030204" pitchFamily="18" charset="0"/>
                <a:ea typeface="Cambria" panose="02040503050406030204" pitchFamily="18" charset="0"/>
              </a:rPr>
              <a:t>Lecturer:  </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684941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58055" y="975092"/>
            <a:ext cx="10788691" cy="20116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TẦM QUAN TRỌNG CỦA VIỆC QUẢN LÝ NGUỒN NHÂN LỰC DỰ ÁN</a:t>
            </a: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QUI TRÌNH QUẢN LÝ NGUỒN NHÂN LỰC DỰ ÁN</a:t>
            </a: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KIỂM SOÁT VÀ ĐIỀU CHỈNH NGUỒN NHÂN LỰC DỰ ÁN</a:t>
            </a: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PHÂN TÍCH TÀI CHÍNH DỰ ÁN</a:t>
            </a:r>
          </a:p>
          <a:p>
            <a:pPr marL="346075" indent="-346075">
              <a:lnSpc>
                <a:spcPct val="100000"/>
              </a:lnSpc>
              <a:spcBef>
                <a:spcPts val="0"/>
              </a:spcBef>
              <a:spcAft>
                <a:spcPts val="600"/>
              </a:spcAft>
              <a:buFont typeface="+mj-lt"/>
              <a:buAutoNum type="arabicPeriod"/>
            </a:pPr>
            <a:endParaRPr lang="en-US" sz="1800" b="1" dirty="0">
              <a:solidFill>
                <a:schemeClr val="bg1"/>
              </a:solidFill>
              <a:latin typeface="Cambria" panose="02040503050406030204" pitchFamily="18" charset="0"/>
              <a:ea typeface="Cambria" panose="02040503050406030204" pitchFamily="18" charset="0"/>
            </a:endParaRPr>
          </a:p>
        </p:txBody>
      </p:sp>
      <p:sp>
        <p:nvSpPr>
          <p:cNvPr id="5" name="Rectangle 4">
            <a:extLst>
              <a:ext uri="{FF2B5EF4-FFF2-40B4-BE49-F238E27FC236}">
                <a16:creationId xmlns:a16="http://schemas.microsoft.com/office/drawing/2014/main" id="{A95C758D-1344-FC52-DE08-DE5407E409D5}"/>
              </a:ext>
            </a:extLst>
          </p:cNvPr>
          <p:cNvSpPr/>
          <p:nvPr/>
        </p:nvSpPr>
        <p:spPr>
          <a:xfrm>
            <a:off x="458055" y="451872"/>
            <a:ext cx="1787221" cy="523220"/>
          </a:xfrm>
          <a:prstGeom prst="rect">
            <a:avLst/>
          </a:prstGeom>
        </p:spPr>
        <p:txBody>
          <a:bodyPr wrap="square">
            <a:spAutoFit/>
          </a:bodyPr>
          <a:lstStyle/>
          <a:p>
            <a:r>
              <a:rPr lang="en-AU" sz="2800" b="1" dirty="0">
                <a:solidFill>
                  <a:schemeClr val="accent5"/>
                </a:solidFill>
                <a:latin typeface="Cambria" panose="02040503050406030204" pitchFamily="18" charset="0"/>
                <a:ea typeface="Cambria" panose="02040503050406030204" pitchFamily="18" charset="0"/>
              </a:rPr>
              <a:t>CONTENT</a:t>
            </a:r>
          </a:p>
        </p:txBody>
      </p:sp>
    </p:spTree>
    <p:extLst>
      <p:ext uri="{BB962C8B-B14F-4D97-AF65-F5344CB8AC3E}">
        <p14:creationId xmlns:p14="http://schemas.microsoft.com/office/powerpoint/2010/main" val="275841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7D571B-31DC-DFD8-0B63-31E0DE77B32B}"/>
              </a:ext>
            </a:extLst>
          </p:cNvPr>
          <p:cNvSpPr txBox="1"/>
          <p:nvPr/>
        </p:nvSpPr>
        <p:spPr>
          <a:xfrm>
            <a:off x="423429" y="443567"/>
            <a:ext cx="10803371" cy="2446824"/>
          </a:xfrm>
          <a:prstGeom prst="rect">
            <a:avLst/>
          </a:prstGeom>
          <a:noFill/>
        </p:spPr>
        <p:txBody>
          <a:bodyPr wrap="square">
            <a:spAutoFit/>
          </a:bodyPr>
          <a:lstStyle/>
          <a:p>
            <a:pPr>
              <a:lnSpc>
                <a:spcPct val="100000"/>
              </a:lnSpc>
              <a:spcBef>
                <a:spcPts val="0"/>
              </a:spcBef>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MỤC TIÊU CỦA CHAPTER V – QUẢN LÝ NGUỒN NHÂN LỰC DỰ ÁN</a:t>
            </a:r>
          </a:p>
          <a:p>
            <a:pPr marL="742950" lvl="1" indent="-285750" algn="just">
              <a:spcBef>
                <a:spcPct val="0"/>
              </a:spcBef>
              <a:spcAft>
                <a:spcPts val="6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Nắm được tầm quan trọng của việc quản lý nguồn nhân lực trong dự án.</a:t>
            </a:r>
          </a:p>
          <a:p>
            <a:pPr marL="742950" lvl="1" indent="-285750" algn="just">
              <a:spcBef>
                <a:spcPct val="0"/>
              </a:spcBef>
              <a:spcAft>
                <a:spcPts val="6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Hiểu được các khai niệm cơ bản về quản lý con người qua các học thuyết của Abraham Maslow,</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Frederick Herzberg, David McClelland, and Douglas McGregor về động cơ, H. J. Thamhain và D. L.</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Wilemon, về việc gây ảnh hưởng đối với nhân viên và Stephen Covey.</a:t>
            </a:r>
          </a:p>
          <a:p>
            <a:pPr marL="742950" lvl="1" indent="-285750" algn="just">
              <a:spcBef>
                <a:spcPct val="0"/>
              </a:spcBef>
              <a:spcAft>
                <a:spcPts val="6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Nắm được qui trình quản lý nguồn nhân lực.</a:t>
            </a:r>
          </a:p>
          <a:p>
            <a:pPr marL="742950" lvl="1" indent="-285750" algn="just">
              <a:spcBef>
                <a:spcPct val="0"/>
              </a:spcBef>
              <a:spcAft>
                <a:spcPts val="6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Dùng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nguồn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lực</a:t>
            </a:r>
            <a:r>
              <a:rPr lang="en-US" dirty="0">
                <a:latin typeface="Cambria" panose="02040503050406030204" pitchFamily="18" charset="0"/>
                <a:ea typeface="Cambria" panose="02040503050406030204" pitchFamily="18" charset="0"/>
              </a:rPr>
              <a:t>.</a:t>
            </a:r>
          </a:p>
        </p:txBody>
      </p:sp>
      <p:pic>
        <p:nvPicPr>
          <p:cNvPr id="3" name="Picture 2">
            <a:extLst>
              <a:ext uri="{FF2B5EF4-FFF2-40B4-BE49-F238E27FC236}">
                <a16:creationId xmlns:a16="http://schemas.microsoft.com/office/drawing/2014/main" id="{977491E0-9479-2DB6-D211-7F5C4AC06118}"/>
              </a:ext>
            </a:extLst>
          </p:cNvPr>
          <p:cNvPicPr>
            <a:picLocks noChangeAspect="1"/>
          </p:cNvPicPr>
          <p:nvPr/>
        </p:nvPicPr>
        <p:blipFill>
          <a:blip r:embed="rId2"/>
          <a:stretch>
            <a:fillRect/>
          </a:stretch>
        </p:blipFill>
        <p:spPr>
          <a:xfrm>
            <a:off x="5656938" y="3147344"/>
            <a:ext cx="6535062" cy="3200847"/>
          </a:xfrm>
          <a:prstGeom prst="rect">
            <a:avLst/>
          </a:prstGeom>
        </p:spPr>
      </p:pic>
    </p:spTree>
    <p:extLst>
      <p:ext uri="{BB962C8B-B14F-4D97-AF65-F5344CB8AC3E}">
        <p14:creationId xmlns:p14="http://schemas.microsoft.com/office/powerpoint/2010/main" val="1948131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346075" indent="-346075">
              <a:lnSpc>
                <a:spcPct val="100000"/>
              </a:lnSpc>
              <a:spcBef>
                <a:spcPts val="0"/>
              </a:spcBef>
              <a:spcAft>
                <a:spcPts val="600"/>
              </a:spcAft>
              <a:buFont typeface="+mj-lt"/>
              <a:buAutoNum type="arabicPeriod"/>
            </a:pPr>
            <a:r>
              <a:rPr lang="en-US" sz="3200" b="1" dirty="0">
                <a:solidFill>
                  <a:schemeClr val="bg1"/>
                </a:solidFill>
                <a:latin typeface="Cambria" panose="02040503050406030204" pitchFamily="18" charset="0"/>
                <a:ea typeface="Cambria" panose="02040503050406030204" pitchFamily="18" charset="0"/>
              </a:rPr>
              <a:t> TẦM QUAN TRỌNG CỦA VIỆC QUẢN LÝ NGUỒN LỰC</a:t>
            </a: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1083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958413" y="8636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507834" cy="78483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1. TẦM QUAN TRỌNG CỦA VIỆC QUẢN LÝ NGUỒN LỰC</a:t>
            </a: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754326"/>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HR management</a:t>
            </a:r>
          </a:p>
          <a:p>
            <a:pPr eaLnBrk="1" hangingPunct="1">
              <a:spcBef>
                <a:spcPct val="20000"/>
              </a:spcBef>
            </a:pPr>
            <a:endParaRPr lang="en-US" altLang="en-US" sz="2000" b="1" dirty="0">
              <a:solidFill>
                <a:schemeClr val="bg1"/>
              </a:solidFill>
              <a:latin typeface="Cambria" panose="02040503050406030204" pitchFamily="18" charset="0"/>
              <a:ea typeface="Cambria" panose="02040503050406030204" pitchFamily="18" charset="0"/>
            </a:endParaRPr>
          </a:p>
          <a:p>
            <a:pPr algn="r">
              <a:spcBef>
                <a:spcPct val="20000"/>
              </a:spcBef>
            </a:pPr>
            <a:r>
              <a:rPr lang="en-US" sz="2000" i="1" dirty="0">
                <a:solidFill>
                  <a:schemeClr val="bg1"/>
                </a:solidFill>
                <a:latin typeface="Cambria" panose="02040503050406030204" pitchFamily="18" charset="0"/>
                <a:ea typeface="Cambria" panose="02040503050406030204" pitchFamily="18" charset="0"/>
              </a:rPr>
              <a:t>“</a:t>
            </a:r>
            <a:r>
              <a:rPr lang="en-US" sz="1600" i="1" dirty="0">
                <a:solidFill>
                  <a:schemeClr val="bg1"/>
                </a:solidFill>
                <a:latin typeface="Cambria" panose="02040503050406030204" pitchFamily="18" charset="0"/>
                <a:ea typeface="Cambria" panose="02040503050406030204" pitchFamily="18" charset="0"/>
              </a:rPr>
              <a:t>People determine the success and failure of organizations and projects”</a:t>
            </a:r>
          </a:p>
          <a:p>
            <a:pPr algn="r">
              <a:spcBef>
                <a:spcPct val="20000"/>
              </a:spcBef>
            </a:pPr>
            <a:endParaRPr lang="en-US" altLang="en-US" sz="2000" i="1"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FE714B9-5A5F-472B-6C92-566A3A41D434}"/>
              </a:ext>
            </a:extLst>
          </p:cNvPr>
          <p:cNvSpPr txBox="1"/>
          <p:nvPr/>
        </p:nvSpPr>
        <p:spPr>
          <a:xfrm>
            <a:off x="337583" y="784286"/>
            <a:ext cx="7492216" cy="5262979"/>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“Nguồn nhân lực“ là một phần quan trọng của nguồn lực tổ chức và đề cập đến các cá nhân trong tổ chức có kỹ năng, kiến thức, kinh nghiệm và năng lực cần thiết để thực hiện các nhiệm vụ và mục tiêu của tổ chức. Nguồn nhân lực được coi là một tài sản quan trọng và là một trong những yếu tố quan trọng để đảm bảo sự thành công của một tổ chức.</a:t>
            </a:r>
          </a:p>
          <a:p>
            <a:pPr marL="0" lvl="1" algn="just">
              <a:spcBef>
                <a:spcPts val="600"/>
              </a:spcBef>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Các năng lực nhân sự có thể được phân loại theo nhiều cách khác nhau, bao gồm:</a:t>
            </a:r>
          </a:p>
          <a:p>
            <a:pPr marL="285750" lvl="1" indent="-285750" algn="just">
              <a:spcBef>
                <a:spcPts val="600"/>
              </a:spcBef>
              <a:buClr>
                <a:schemeClr val="accent2">
                  <a:lumMod val="75000"/>
                </a:schemeClr>
              </a:buClr>
              <a:buSzPct val="140000"/>
              <a:buFont typeface="Wingdings" panose="05000000000000000000" pitchFamily="2" charset="2"/>
              <a:buChar char="§"/>
            </a:pPr>
            <a:r>
              <a:rPr lang="vi-VN" i="1" dirty="0">
                <a:latin typeface="Cambria" panose="02040503050406030204" pitchFamily="18" charset="0"/>
                <a:ea typeface="Cambria" panose="02040503050406030204" pitchFamily="18" charset="0"/>
              </a:rPr>
              <a:t>Kỹ năng: Bao gồm các kỹ năng kỹ thuật và kỹ năng mềm như kỹ năng quản lý, giao tiếp, giải quyết vấn đề, làm việc nhóm, lãnh đạo, và quản lý thời gian.</a:t>
            </a:r>
          </a:p>
          <a:p>
            <a:pPr marL="285750" lvl="1" indent="-285750" algn="just">
              <a:spcBef>
                <a:spcPts val="600"/>
              </a:spcBef>
              <a:buClr>
                <a:schemeClr val="accent2">
                  <a:lumMod val="75000"/>
                </a:schemeClr>
              </a:buClr>
              <a:buSzPct val="140000"/>
              <a:buFont typeface="Wingdings" panose="05000000000000000000" pitchFamily="2" charset="2"/>
              <a:buChar char="§"/>
            </a:pPr>
            <a:r>
              <a:rPr lang="vi-VN" i="1" dirty="0">
                <a:latin typeface="Cambria" panose="02040503050406030204" pitchFamily="18" charset="0"/>
                <a:ea typeface="Cambria" panose="02040503050406030204" pitchFamily="18" charset="0"/>
              </a:rPr>
              <a:t>Kiến thức: Bao gồm các kiến thức chuyên môn, kiến thức về tổ chức và ngành nghề, kiến thức về thị trường và khách hàng, và các kiến thức khác liên quan đến công việc.</a:t>
            </a:r>
          </a:p>
          <a:p>
            <a:pPr marL="285750" lvl="1" indent="-285750" algn="just">
              <a:spcBef>
                <a:spcPts val="600"/>
              </a:spcBef>
              <a:buClr>
                <a:schemeClr val="accent2">
                  <a:lumMod val="75000"/>
                </a:schemeClr>
              </a:buClr>
              <a:buSzPct val="140000"/>
              <a:buFont typeface="Wingdings" panose="05000000000000000000" pitchFamily="2" charset="2"/>
              <a:buChar char="§"/>
            </a:pPr>
            <a:r>
              <a:rPr lang="vi-VN" i="1" dirty="0">
                <a:latin typeface="Cambria" panose="02040503050406030204" pitchFamily="18" charset="0"/>
                <a:ea typeface="Cambria" panose="02040503050406030204" pitchFamily="18" charset="0"/>
              </a:rPr>
              <a:t>Kinh nghiệm: Đây là sự tích lũy kinh nghiệm trong lĩnh vực và trong công việc cụ thể của cá nhân.</a:t>
            </a:r>
          </a:p>
          <a:p>
            <a:pPr marL="285750" lvl="1" indent="-285750" algn="just">
              <a:spcBef>
                <a:spcPts val="600"/>
              </a:spcBef>
              <a:buClr>
                <a:schemeClr val="accent2">
                  <a:lumMod val="75000"/>
                </a:schemeClr>
              </a:buClr>
              <a:buSzPct val="140000"/>
              <a:buFont typeface="Wingdings" panose="05000000000000000000" pitchFamily="2" charset="2"/>
              <a:buChar char="§"/>
            </a:pPr>
            <a:r>
              <a:rPr lang="vi-VN" i="1" dirty="0">
                <a:latin typeface="Cambria" panose="02040503050406030204" pitchFamily="18" charset="0"/>
                <a:ea typeface="Cambria" panose="02040503050406030204" pitchFamily="18" charset="0"/>
              </a:rPr>
              <a:t>Năng lực: Bao gồm khả năng đối phó với áp lực, khả năng phát triển bản thân và khả năng thích ứng với các thay đổi và tình huống mới.</a:t>
            </a:r>
          </a:p>
        </p:txBody>
      </p:sp>
    </p:spTree>
    <p:extLst>
      <p:ext uri="{BB962C8B-B14F-4D97-AF65-F5344CB8AC3E}">
        <p14:creationId xmlns:p14="http://schemas.microsoft.com/office/powerpoint/2010/main" val="2115531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88D0FE2-4BFF-480C-AC4A-4043EC366C6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0A18D69-D511-6314-DCBD-89280C11BD6A}"/>
              </a:ext>
            </a:extLst>
          </p:cNvPr>
          <p:cNvSpPr txBox="1"/>
          <p:nvPr/>
        </p:nvSpPr>
        <p:spPr>
          <a:xfrm>
            <a:off x="347568" y="735998"/>
            <a:ext cx="11454332" cy="4785926"/>
          </a:xfrm>
          <a:prstGeom prst="rect">
            <a:avLst/>
          </a:prstGeom>
          <a:noFill/>
        </p:spPr>
        <p:txBody>
          <a:bodyPr wrap="square">
            <a:spAutoFit/>
          </a:bodyPr>
          <a:lstStyle/>
          <a:p>
            <a:pPr marL="0" lvl="1" algn="just">
              <a:spcBef>
                <a:spcPts val="600"/>
              </a:spcBef>
              <a:buClr>
                <a:schemeClr val="accent2">
                  <a:lumMod val="75000"/>
                </a:schemeClr>
              </a:buClr>
              <a:buSzPct val="140000"/>
            </a:pPr>
            <a:r>
              <a:rPr lang="vi-VN" dirty="0">
                <a:latin typeface="Cambria" panose="02040503050406030204" pitchFamily="18" charset="0"/>
                <a:ea typeface="Cambria" panose="02040503050406030204" pitchFamily="18" charset="0"/>
              </a:rPr>
              <a:t>Tầm quan trọng của việc </a:t>
            </a:r>
            <a:r>
              <a:rPr lang="en-US" dirty="0" err="1">
                <a:latin typeface="Cambria" panose="02040503050406030204" pitchFamily="18" charset="0"/>
                <a:ea typeface="Cambria" panose="02040503050406030204" pitchFamily="18" charset="0"/>
              </a:rPr>
              <a:t>quản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lý</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nguồn lực trong quản lý dự 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lý</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nguồn lực hợp lý đóng một vai trò quan trọng trong sự thành công của dự án. </a:t>
            </a:r>
            <a:r>
              <a:rPr lang="en-US" dirty="0">
                <a:latin typeface="Cambria" panose="02040503050406030204" pitchFamily="18" charset="0"/>
                <a:ea typeface="Cambria" panose="02040503050406030204" pitchFamily="18" charset="0"/>
              </a:rPr>
              <a:t> </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600" b="1" i="1" dirty="0">
                <a:latin typeface="Cambria" panose="02040503050406030204" pitchFamily="18" charset="0"/>
                <a:ea typeface="Cambria" panose="02040503050406030204" pitchFamily="18" charset="0"/>
              </a:rPr>
              <a:t>Sử dụng nguồn lực tối ưu: </a:t>
            </a:r>
            <a:r>
              <a:rPr lang="vi-VN" sz="1600" i="1" dirty="0">
                <a:latin typeface="Cambria" panose="02040503050406030204" pitchFamily="18" charset="0"/>
                <a:ea typeface="Cambria" panose="02040503050406030204" pitchFamily="18" charset="0"/>
              </a:rPr>
              <a:t>Bằng cách phân bổ nguồn lực một cách hiệu quả, project manager có thể đảm bảo rằng các nguồn lực sẵn có được sử dụng với tiềm năng tối đa, tránh sử dụng quá mức và sử dụng không đúng mức. Điều này giúp tiết kiệm chi phí, cải thiện năng suất và hiệu suất tổng thể của dự án tốt hơn.</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600" b="1" i="1" dirty="0">
                <a:latin typeface="Cambria" panose="02040503050406030204" pitchFamily="18" charset="0"/>
                <a:ea typeface="Cambria" panose="02040503050406030204" pitchFamily="18" charset="0"/>
              </a:rPr>
              <a:t>Phân bổ nguồn lực hiệu quả </a:t>
            </a:r>
            <a:r>
              <a:rPr lang="vi-VN" sz="1600" i="1" dirty="0">
                <a:latin typeface="Cambria" panose="02040503050406030204" pitchFamily="18" charset="0"/>
                <a:ea typeface="Cambria" panose="02040503050406030204" pitchFamily="18" charset="0"/>
              </a:rPr>
              <a:t>cho phép người quản lý dự án phân bổ nguồn lực dựa trên mức độ ưu tiên và thời hạn của nhiệm vụ. Bằng cách đảm bảo rằng các nguồn lực phù hợp có sẵn vào đúng thời điểm, lịch trình dự án có thể được tối ưu hóa, độ trễ có thể được giảm thiểu và các mốc thời gian của dự án có thể được đáp ứng một cách nhất quán hơn.</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600" b="1" i="1" dirty="0">
                <a:latin typeface="Cambria" panose="02040503050406030204" pitchFamily="18" charset="0"/>
                <a:ea typeface="Cambria" panose="02040503050406030204" pitchFamily="18" charset="0"/>
              </a:rPr>
              <a:t>Quản lý rủi ro tốt hơn: </a:t>
            </a:r>
            <a:r>
              <a:rPr lang="vi-VN" sz="1600" i="1" dirty="0">
                <a:latin typeface="Cambria" panose="02040503050406030204" pitchFamily="18" charset="0"/>
                <a:ea typeface="Cambria" panose="02040503050406030204" pitchFamily="18" charset="0"/>
              </a:rPr>
              <a:t>Phân bổ nguồn lực cho phép người quản lý dự án xác định trước các tình trạng thiếu hoặc xung đột tài nguyên tiềm ẩn, giảm thiểu rủi ro và ngăn ngừa sự chậm trễ của dự án. Bằng cách có cái nhìn tổng quan rõ ràng về nguồn lực sẵn có, người quản lý dự án có thể chủ động giải quyết các thách thức liên quan đến tài nguyên và thực hiện các kế hoạch dự phòng nếu cần.</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600" b="1" i="1" dirty="0">
                <a:latin typeface="Cambria" panose="02040503050406030204" pitchFamily="18" charset="0"/>
                <a:ea typeface="Cambria" panose="02040503050406030204" pitchFamily="18" charset="0"/>
              </a:rPr>
              <a:t>Tăng cường Quy trình phối hợp giữa các phòng ban: </a:t>
            </a:r>
            <a:r>
              <a:rPr lang="vi-VN" sz="1600" i="1" dirty="0">
                <a:latin typeface="Cambria" panose="02040503050406030204" pitchFamily="18" charset="0"/>
                <a:ea typeface="Cambria" panose="02040503050406030204" pitchFamily="18" charset="0"/>
              </a:rPr>
              <a:t>Phân bổ nguồn lực hợp lý tạo điều kiện cho sự hợp tác và phối hợp của nhóm. Bằng cách phân công nguồn lực cho các nhiệm vụ hoặc hoạt động cụ thể, người quản lý dự án có thể tối ưu hóa giao tiếp nhóm, giảm thiểu sự phụ thuộc và thúc đẩy môi trường làm việc hợp tác.</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600" b="1" i="1" dirty="0">
                <a:latin typeface="Cambria" panose="02040503050406030204" pitchFamily="18" charset="0"/>
                <a:ea typeface="Cambria" panose="02040503050406030204" pitchFamily="18" charset="0"/>
              </a:rPr>
              <a:t>Tăng sự hài lòng của các bên liên quan: </a:t>
            </a:r>
            <a:r>
              <a:rPr lang="vi-VN" sz="1600" i="1" dirty="0">
                <a:latin typeface="Cambria" panose="02040503050406030204" pitchFamily="18" charset="0"/>
                <a:ea typeface="Cambria" panose="02040503050406030204" pitchFamily="18" charset="0"/>
              </a:rPr>
              <a:t>Khi nguồn lực được phân bổ hiệu quả, Sản phẩm bàn giao dự án  được hoàn thành đúng thời hạn và trong phạm vi ngân sách. </a:t>
            </a:r>
          </a:p>
        </p:txBody>
      </p:sp>
    </p:spTree>
    <p:extLst>
      <p:ext uri="{BB962C8B-B14F-4D97-AF65-F5344CB8AC3E}">
        <p14:creationId xmlns:p14="http://schemas.microsoft.com/office/powerpoint/2010/main" val="574836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0" indent="0">
              <a:lnSpc>
                <a:spcPct val="100000"/>
              </a:lnSpc>
              <a:spcBef>
                <a:spcPts val="0"/>
              </a:spcBef>
              <a:spcAft>
                <a:spcPts val="600"/>
              </a:spcAft>
              <a:buNone/>
            </a:pPr>
            <a:r>
              <a:rPr lang="en-US" sz="3200" b="1" dirty="0">
                <a:solidFill>
                  <a:schemeClr val="bg1"/>
                </a:solidFill>
                <a:latin typeface="Cambria" panose="02040503050406030204" pitchFamily="18" charset="0"/>
                <a:ea typeface="Cambria" panose="02040503050406030204" pitchFamily="18" charset="0"/>
              </a:rPr>
              <a:t>2. </a:t>
            </a:r>
            <a:r>
              <a:rPr lang="vi-VN" sz="3200" b="1" dirty="0">
                <a:solidFill>
                  <a:schemeClr val="bg1"/>
                </a:solidFill>
                <a:latin typeface="Cambria" panose="02040503050406030204" pitchFamily="18" charset="0"/>
                <a:ea typeface="Cambria" panose="02040503050406030204" pitchFamily="18" charset="0"/>
              </a:rPr>
              <a:t>QUẢN LÝ CON NGƯỜI</a:t>
            </a:r>
            <a:endParaRPr lang="en-US" sz="3200" b="1" dirty="0">
              <a:solidFill>
                <a:schemeClr val="bg1"/>
              </a:solidFill>
              <a:latin typeface="Cambria" panose="02040503050406030204" pitchFamily="18" charset="0"/>
              <a:ea typeface="Cambria" panose="02040503050406030204" pitchFamily="18" charset="0"/>
            </a:endParaRPr>
          </a:p>
          <a:p>
            <a:pPr marL="346075" indent="-346075">
              <a:lnSpc>
                <a:spcPct val="100000"/>
              </a:lnSpc>
              <a:spcBef>
                <a:spcPts val="0"/>
              </a:spcBef>
              <a:spcAft>
                <a:spcPts val="600"/>
              </a:spcAft>
              <a:buFont typeface="+mj-lt"/>
              <a:buAutoNum type="arabicPeriod"/>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68288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78483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2</a:t>
            </a:r>
            <a:r>
              <a:rPr lang="vi-VN" sz="2000" b="1" dirty="0">
                <a:solidFill>
                  <a:schemeClr val="accent2">
                    <a:lumMod val="75000"/>
                  </a:schemeClr>
                </a:solidFill>
                <a:latin typeface="Cambria" panose="02040503050406030204" pitchFamily="18" charset="0"/>
                <a:ea typeface="Cambria" panose="02040503050406030204" pitchFamily="18" charset="0"/>
              </a:rPr>
              <a:t>. QUẢN LÝ CON NGƯỜI </a:t>
            </a:r>
            <a:endParaRPr lang="en-US" sz="2000" b="1" dirty="0">
              <a:solidFill>
                <a:schemeClr val="accent2">
                  <a:lumMod val="75000"/>
                </a:schemeClr>
              </a:solidFill>
              <a:latin typeface="Cambria" panose="02040503050406030204" pitchFamily="18" charset="0"/>
              <a:ea typeface="Cambria" panose="02040503050406030204" pitchFamily="18" charset="0"/>
            </a:endParaRP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754326"/>
          </a:xfrm>
          <a:prstGeom prst="rect">
            <a:avLst/>
          </a:prstGeom>
          <a:noFill/>
        </p:spPr>
        <p:txBody>
          <a:bodyPr wrap="square">
            <a:spAutoFit/>
          </a:bodyPr>
          <a:lstStyle/>
          <a:p>
            <a:pPr algn="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HR management</a:t>
            </a:r>
          </a:p>
          <a:p>
            <a:pPr eaLnBrk="1" hangingPunct="1">
              <a:spcBef>
                <a:spcPct val="20000"/>
              </a:spcBef>
            </a:pPr>
            <a:endParaRPr lang="en-US" altLang="en-US" sz="2000" b="1" dirty="0">
              <a:solidFill>
                <a:schemeClr val="bg1"/>
              </a:solidFill>
              <a:latin typeface="Cambria" panose="02040503050406030204" pitchFamily="18" charset="0"/>
              <a:ea typeface="Cambria" panose="02040503050406030204" pitchFamily="18" charset="0"/>
            </a:endParaRPr>
          </a:p>
          <a:p>
            <a:pPr algn="r">
              <a:spcBef>
                <a:spcPct val="20000"/>
              </a:spcBef>
            </a:pPr>
            <a:r>
              <a:rPr lang="en-US" sz="2000" i="1" dirty="0">
                <a:solidFill>
                  <a:schemeClr val="bg1"/>
                </a:solidFill>
                <a:latin typeface="Cambria" panose="02040503050406030204" pitchFamily="18" charset="0"/>
                <a:ea typeface="Cambria" panose="02040503050406030204" pitchFamily="18" charset="0"/>
              </a:rPr>
              <a:t>“</a:t>
            </a:r>
            <a:r>
              <a:rPr lang="en-US" sz="1600" i="1" dirty="0">
                <a:solidFill>
                  <a:schemeClr val="bg1"/>
                </a:solidFill>
                <a:latin typeface="Cambria" panose="02040503050406030204" pitchFamily="18" charset="0"/>
                <a:ea typeface="Cambria" panose="02040503050406030204" pitchFamily="18" charset="0"/>
              </a:rPr>
              <a:t>You don't lead by hitting people over the head - that's assault, not leadership.”</a:t>
            </a:r>
          </a:p>
          <a:p>
            <a:pPr algn="r">
              <a:spcBef>
                <a:spcPct val="20000"/>
              </a:spcBef>
            </a:pPr>
            <a:endParaRPr lang="en-US" altLang="en-US" sz="2000" i="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C5F9D55-C61E-3350-F71E-41EE62480A56}"/>
              </a:ext>
            </a:extLst>
          </p:cNvPr>
          <p:cNvSpPr txBox="1"/>
          <p:nvPr/>
        </p:nvSpPr>
        <p:spPr>
          <a:xfrm>
            <a:off x="339355" y="776591"/>
            <a:ext cx="7409618" cy="1469633"/>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Một số yếu tố liên quan đến Quản lý con người</a:t>
            </a:r>
          </a:p>
          <a:p>
            <a:pPr marL="285750" lvl="1" indent="-285750" algn="just">
              <a:spcBef>
                <a:spcPts val="600"/>
              </a:spcBef>
              <a:buClr>
                <a:schemeClr val="accent2">
                  <a:lumMod val="75000"/>
                </a:schemeClr>
              </a:buClr>
              <a:buSzPct val="140000"/>
              <a:buFont typeface="Wingdings" panose="05000000000000000000" pitchFamily="2" charset="2"/>
              <a:buChar char="§"/>
            </a:pPr>
            <a:r>
              <a:rPr lang="vi-VN" i="1" dirty="0">
                <a:latin typeface="Cambria" panose="02040503050406030204" pitchFamily="18" charset="0"/>
                <a:ea typeface="Cambria" panose="02040503050406030204" pitchFamily="18" charset="0"/>
              </a:rPr>
              <a:t>Động cơ (Bên trong &amp; bên ngoài)</a:t>
            </a:r>
          </a:p>
          <a:p>
            <a:pPr marL="285750" lvl="1" indent="-285750" algn="just">
              <a:spcBef>
                <a:spcPts val="600"/>
              </a:spcBef>
              <a:buClr>
                <a:schemeClr val="accent2">
                  <a:lumMod val="75000"/>
                </a:schemeClr>
              </a:buClr>
              <a:buSzPct val="140000"/>
              <a:buFont typeface="Wingdings" panose="05000000000000000000" pitchFamily="2" charset="2"/>
              <a:buChar char="§"/>
            </a:pPr>
            <a:r>
              <a:rPr lang="vi-VN" i="1" dirty="0">
                <a:latin typeface="Cambria" panose="02040503050406030204" pitchFamily="18" charset="0"/>
                <a:ea typeface="Cambria" panose="02040503050406030204" pitchFamily="18" charset="0"/>
              </a:rPr>
              <a:t>Ảnh hưởng và Sức mạnh (Quyền lực).</a:t>
            </a:r>
          </a:p>
          <a:p>
            <a:pPr marL="285750" lvl="1" indent="-285750" algn="just">
              <a:spcBef>
                <a:spcPts val="600"/>
              </a:spcBef>
              <a:buClr>
                <a:schemeClr val="accent2">
                  <a:lumMod val="75000"/>
                </a:schemeClr>
              </a:buClr>
              <a:buSzPct val="140000"/>
              <a:buFont typeface="Wingdings" panose="05000000000000000000" pitchFamily="2" charset="2"/>
              <a:buChar char="§"/>
            </a:pPr>
            <a:r>
              <a:rPr lang="en-US" i="1" dirty="0" err="1">
                <a:latin typeface="Cambria" panose="02040503050406030204" pitchFamily="18" charset="0"/>
                <a:ea typeface="Cambria" panose="02040503050406030204" pitchFamily="18" charset="0"/>
              </a:rPr>
              <a:t>Hiệu</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quả</a:t>
            </a:r>
            <a:r>
              <a:rPr lang="en-US" i="1" dirty="0">
                <a:latin typeface="Cambria" panose="02040503050406030204" pitchFamily="18" charset="0"/>
                <a:ea typeface="Cambria" panose="02040503050406030204" pitchFamily="18" charset="0"/>
              </a:rPr>
              <a:t>.</a:t>
            </a:r>
            <a:endParaRPr lang="vi-VN" i="1"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A46407BC-FFC4-06FE-0FBB-5EE883B48AE0}"/>
              </a:ext>
            </a:extLst>
          </p:cNvPr>
          <p:cNvPicPr>
            <a:picLocks noChangeAspect="1"/>
          </p:cNvPicPr>
          <p:nvPr/>
        </p:nvPicPr>
        <p:blipFill>
          <a:blip r:embed="rId3"/>
          <a:stretch>
            <a:fillRect/>
          </a:stretch>
        </p:blipFill>
        <p:spPr>
          <a:xfrm>
            <a:off x="0" y="2882430"/>
            <a:ext cx="5601645" cy="3198979"/>
          </a:xfrm>
          <a:prstGeom prst="rect">
            <a:avLst/>
          </a:prstGeom>
        </p:spPr>
      </p:pic>
    </p:spTree>
    <p:extLst>
      <p:ext uri="{BB962C8B-B14F-4D97-AF65-F5344CB8AC3E}">
        <p14:creationId xmlns:p14="http://schemas.microsoft.com/office/powerpoint/2010/main" val="2063106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QUẢN LÝ CON NGƯỜI</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3" name="TextBox 2">
            <a:extLst>
              <a:ext uri="{FF2B5EF4-FFF2-40B4-BE49-F238E27FC236}">
                <a16:creationId xmlns:a16="http://schemas.microsoft.com/office/drawing/2014/main" id="{B5F014F0-A170-35A0-6640-3E89954B63B2}"/>
              </a:ext>
            </a:extLst>
          </p:cNvPr>
          <p:cNvSpPr txBox="1"/>
          <p:nvPr/>
        </p:nvSpPr>
        <p:spPr>
          <a:xfrm>
            <a:off x="339354" y="724376"/>
            <a:ext cx="7990913" cy="2200602"/>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Việc quản lý con người trong dự án hướng đến các vấn đề sau đây</a:t>
            </a: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Quản lý con người:</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Sử dụng đúng người đúng khả năng đúng việc đúng lúc.</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Phân</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phối</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công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việc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đúng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mức</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Kiểm</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soát</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tiến</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độ</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thực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hiện</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công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việc</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Giúp</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đỡ</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giải</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quyết</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khó</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khăn</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Giúp</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cân</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bằng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giữa</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công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việc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và</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cuộc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sống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cá</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nhân</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Tạo sự tin tưởng, gắn bó.</a:t>
            </a:r>
          </a:p>
        </p:txBody>
      </p:sp>
      <p:pic>
        <p:nvPicPr>
          <p:cNvPr id="7" name="Picture 6">
            <a:extLst>
              <a:ext uri="{FF2B5EF4-FFF2-40B4-BE49-F238E27FC236}">
                <a16:creationId xmlns:a16="http://schemas.microsoft.com/office/drawing/2014/main" id="{3979D065-8526-13CA-0CFD-B960D03D01B6}"/>
              </a:ext>
            </a:extLst>
          </p:cNvPr>
          <p:cNvPicPr>
            <a:picLocks noChangeAspect="1"/>
          </p:cNvPicPr>
          <p:nvPr/>
        </p:nvPicPr>
        <p:blipFill>
          <a:blip r:embed="rId2"/>
          <a:stretch>
            <a:fillRect/>
          </a:stretch>
        </p:blipFill>
        <p:spPr>
          <a:xfrm>
            <a:off x="8347849" y="2551057"/>
            <a:ext cx="3675100" cy="3542493"/>
          </a:xfrm>
          <a:prstGeom prst="rect">
            <a:avLst/>
          </a:prstGeom>
        </p:spPr>
      </p:pic>
    </p:spTree>
    <p:extLst>
      <p:ext uri="{BB962C8B-B14F-4D97-AF65-F5344CB8AC3E}">
        <p14:creationId xmlns:p14="http://schemas.microsoft.com/office/powerpoint/2010/main" val="3294418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QUẢN LÝ CON NGƯỜI</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3" name="TextBox 2">
            <a:extLst>
              <a:ext uri="{FF2B5EF4-FFF2-40B4-BE49-F238E27FC236}">
                <a16:creationId xmlns:a16="http://schemas.microsoft.com/office/drawing/2014/main" id="{B5F014F0-A170-35A0-6640-3E89954B63B2}"/>
              </a:ext>
            </a:extLst>
          </p:cNvPr>
          <p:cNvSpPr txBox="1"/>
          <p:nvPr/>
        </p:nvSpPr>
        <p:spPr>
          <a:xfrm>
            <a:off x="339354" y="724376"/>
            <a:ext cx="7990913" cy="2446824"/>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Việc quản lý con người trong dự án hướng đến các vấn đề sau đây</a:t>
            </a: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Phát triển con người:</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Tạo</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sự</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thích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thú</a:t>
            </a:r>
            <a:r>
              <a:rPr lang="en-US" sz="1600" i="1" dirty="0">
                <a:latin typeface="Cambria" panose="02040503050406030204" pitchFamily="18" charset="0"/>
                <a:ea typeface="Cambria" panose="02040503050406030204" pitchFamily="18" charset="0"/>
              </a:rPr>
              <a:t> say </a:t>
            </a:r>
            <a:r>
              <a:rPr lang="en-US" sz="1600" i="1" dirty="0" err="1">
                <a:latin typeface="Cambria" panose="02040503050406030204" pitchFamily="18" charset="0"/>
                <a:ea typeface="Cambria" panose="02040503050406030204" pitchFamily="18" charset="0"/>
              </a:rPr>
              <a:t>mê</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trong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công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việc</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Tạo cơ hội trong công việc liên quan đến năng khiếu, sở thích.</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Tạo thêm cơ hội học tập để phát triển kiến thức.</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Tư vấn và định hướng phát triển.</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Kế</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hoạch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ngắn</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hạn</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Kế</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hoạch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dài</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hạn</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Các bước phát triển/thăng tiến trong nghề nghiệp …</a:t>
            </a:r>
            <a:endParaRPr lang="en-US" sz="1600" i="1" dirty="0">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59CDD59B-8CF8-5F1A-6F85-16C350BB57BE}"/>
              </a:ext>
            </a:extLst>
          </p:cNvPr>
          <p:cNvPicPr>
            <a:picLocks noChangeAspect="1"/>
          </p:cNvPicPr>
          <p:nvPr/>
        </p:nvPicPr>
        <p:blipFill>
          <a:blip r:embed="rId2"/>
          <a:stretch>
            <a:fillRect/>
          </a:stretch>
        </p:blipFill>
        <p:spPr>
          <a:xfrm>
            <a:off x="8347849" y="2551057"/>
            <a:ext cx="3675100" cy="3542493"/>
          </a:xfrm>
          <a:prstGeom prst="rect">
            <a:avLst/>
          </a:prstGeom>
        </p:spPr>
      </p:pic>
    </p:spTree>
    <p:extLst>
      <p:ext uri="{BB962C8B-B14F-4D97-AF65-F5344CB8AC3E}">
        <p14:creationId xmlns:p14="http://schemas.microsoft.com/office/powerpoint/2010/main" val="1510710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QUẢN LÝ CON NGƯỜI</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3" name="TextBox 2">
            <a:extLst>
              <a:ext uri="{FF2B5EF4-FFF2-40B4-BE49-F238E27FC236}">
                <a16:creationId xmlns:a16="http://schemas.microsoft.com/office/drawing/2014/main" id="{B5F014F0-A170-35A0-6640-3E89954B63B2}"/>
              </a:ext>
            </a:extLst>
          </p:cNvPr>
          <p:cNvSpPr txBox="1"/>
          <p:nvPr/>
        </p:nvSpPr>
        <p:spPr>
          <a:xfrm>
            <a:off x="339354" y="724376"/>
            <a:ext cx="11574038" cy="2939266"/>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Việc quản lý con người trong dự án hướng đến các vấn đề sau đây</a:t>
            </a:r>
          </a:p>
          <a:p>
            <a:pPr marL="285750" lvl="1" indent="-285750" algn="just">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Nhận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xét</a:t>
            </a:r>
            <a:r>
              <a:rPr lang="vi-VN"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đánh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khách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bằng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đánh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yếu tố </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Năng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lực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năng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suất</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hiệu</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quả</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làm</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việc</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pt-BR" sz="1600" i="1" dirty="0">
                <a:latin typeface="Cambria" panose="02040503050406030204" pitchFamily="18" charset="0"/>
                <a:ea typeface="Cambria" panose="02040503050406030204" pitchFamily="18" charset="0"/>
              </a:rPr>
              <a:t>Tinh thần làm việc.</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Khả năng cộng tác và hỗ trợ giúp đỡ người khác.</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Khả</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năng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giải</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quyết</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vấn</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đề</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Khả</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năng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tự</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nâng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cao</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trình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độ</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Tính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kỷ</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luật</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và</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tinh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thần</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trách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nhiệm</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Kinh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nghiệm</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làm</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việc</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pt-BR" sz="1600" i="1" dirty="0">
                <a:latin typeface="Cambria" panose="02040503050406030204" pitchFamily="18" charset="0"/>
                <a:ea typeface="Cambria" panose="02040503050406030204" pitchFamily="18" charset="0"/>
              </a:rPr>
              <a:t>Khả năng bao quát (*).</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Kỹ</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năng</a:t>
            </a:r>
            <a:r>
              <a:rPr lang="en-US" sz="1600" i="1" dirty="0">
                <a:latin typeface="Cambria" panose="02040503050406030204" pitchFamily="18" charset="0"/>
                <a:ea typeface="Cambria" panose="02040503050406030204" pitchFamily="18" charset="0"/>
              </a:rPr>
              <a:t>/</a:t>
            </a:r>
            <a:r>
              <a:rPr lang="en-US" sz="1600" i="1" dirty="0" err="1">
                <a:latin typeface="Cambria" panose="02040503050406030204" pitchFamily="18" charset="0"/>
                <a:ea typeface="Cambria" panose="02040503050406030204" pitchFamily="18" charset="0"/>
              </a:rPr>
              <a:t>khả</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năng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giao</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tiếp</a:t>
            </a:r>
            <a:r>
              <a:rPr lang="en-US" sz="1600" i="1" dirty="0">
                <a:latin typeface="Cambria" panose="02040503050406030204" pitchFamily="18" charset="0"/>
                <a:ea typeface="Cambria" panose="02040503050406030204" pitchFamily="18" charset="0"/>
              </a:rPr>
              <a:t>.</a:t>
            </a:r>
          </a:p>
        </p:txBody>
      </p:sp>
      <p:pic>
        <p:nvPicPr>
          <p:cNvPr id="9" name="Picture 8">
            <a:extLst>
              <a:ext uri="{FF2B5EF4-FFF2-40B4-BE49-F238E27FC236}">
                <a16:creationId xmlns:a16="http://schemas.microsoft.com/office/drawing/2014/main" id="{59CDD59B-8CF8-5F1A-6F85-16C350BB57BE}"/>
              </a:ext>
            </a:extLst>
          </p:cNvPr>
          <p:cNvPicPr>
            <a:picLocks noChangeAspect="1"/>
          </p:cNvPicPr>
          <p:nvPr/>
        </p:nvPicPr>
        <p:blipFill>
          <a:blip r:embed="rId2"/>
          <a:stretch>
            <a:fillRect/>
          </a:stretch>
        </p:blipFill>
        <p:spPr>
          <a:xfrm>
            <a:off x="8347849" y="2551057"/>
            <a:ext cx="3675100" cy="3542493"/>
          </a:xfrm>
          <a:prstGeom prst="rect">
            <a:avLst/>
          </a:prstGeom>
        </p:spPr>
      </p:pic>
    </p:spTree>
    <p:extLst>
      <p:ext uri="{BB962C8B-B14F-4D97-AF65-F5344CB8AC3E}">
        <p14:creationId xmlns:p14="http://schemas.microsoft.com/office/powerpoint/2010/main" val="1549377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QUẢN LÝ CON NGƯỜI</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3" name="TextBox 2">
            <a:extLst>
              <a:ext uri="{FF2B5EF4-FFF2-40B4-BE49-F238E27FC236}">
                <a16:creationId xmlns:a16="http://schemas.microsoft.com/office/drawing/2014/main" id="{B5F014F0-A170-35A0-6640-3E89954B63B2}"/>
              </a:ext>
            </a:extLst>
          </p:cNvPr>
          <p:cNvSpPr txBox="1"/>
          <p:nvPr/>
        </p:nvSpPr>
        <p:spPr>
          <a:xfrm>
            <a:off x="339354" y="724376"/>
            <a:ext cx="11574038" cy="1985159"/>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Việc quản lý con người trong dự án hướng đến các vấn đề sau đây</a:t>
            </a:r>
          </a:p>
          <a:p>
            <a:pPr marL="285750" lvl="1" indent="-285750" algn="just">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Giải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quyết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vấn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sinh</a:t>
            </a:r>
            <a:endParaRPr lang="en-US" dirty="0">
              <a:latin typeface="Cambria" panose="02040503050406030204" pitchFamily="18" charset="0"/>
              <a:ea typeface="Cambria" panose="02040503050406030204" pitchFamily="18" charset="0"/>
            </a:endParaRP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Cạnh tranh không công khai về việc đề bạt/khen thưởng/tăng lương.</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Năng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lực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làm</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việc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kém</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thụ</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động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không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hoàn</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tất</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công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việc</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pt-BR" sz="1600" i="1" dirty="0">
                <a:latin typeface="Cambria" panose="02040503050406030204" pitchFamily="18" charset="0"/>
                <a:ea typeface="Cambria" panose="02040503050406030204" pitchFamily="18" charset="0"/>
              </a:rPr>
              <a:t>Các yêu sách/yêu cầu.</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Kỷ</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luật</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làm</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việc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kém</a:t>
            </a:r>
            <a:r>
              <a:rPr lang="en-US" sz="1600" i="1" dirty="0">
                <a:latin typeface="Cambria" panose="02040503050406030204" pitchFamily="18" charset="0"/>
                <a:ea typeface="Cambria" panose="02040503050406030204" pitchFamily="18" charset="0"/>
              </a:rPr>
              <a:t>.</a:t>
            </a:r>
          </a:p>
          <a:p>
            <a:pPr marL="742950" lvl="1" indent="-285750">
              <a:buClr>
                <a:schemeClr val="accent2">
                  <a:lumMod val="75000"/>
                </a:schemeClr>
              </a:buClr>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Sự</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cộng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tác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quan</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hệ</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giữa</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các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thành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viên</a:t>
            </a:r>
            <a:r>
              <a:rPr lang="en-US" sz="1600" i="1" dirty="0">
                <a:latin typeface="Cambria" panose="02040503050406030204" pitchFamily="18" charset="0"/>
                <a:ea typeface="Cambria" panose="02040503050406030204" pitchFamily="18" charset="0"/>
              </a:rPr>
              <a:t>.</a:t>
            </a:r>
          </a:p>
        </p:txBody>
      </p:sp>
      <p:pic>
        <p:nvPicPr>
          <p:cNvPr id="9" name="Picture 8">
            <a:extLst>
              <a:ext uri="{FF2B5EF4-FFF2-40B4-BE49-F238E27FC236}">
                <a16:creationId xmlns:a16="http://schemas.microsoft.com/office/drawing/2014/main" id="{59CDD59B-8CF8-5F1A-6F85-16C350BB57BE}"/>
              </a:ext>
            </a:extLst>
          </p:cNvPr>
          <p:cNvPicPr>
            <a:picLocks noChangeAspect="1"/>
          </p:cNvPicPr>
          <p:nvPr/>
        </p:nvPicPr>
        <p:blipFill>
          <a:blip r:embed="rId2"/>
          <a:stretch>
            <a:fillRect/>
          </a:stretch>
        </p:blipFill>
        <p:spPr>
          <a:xfrm>
            <a:off x="8347849" y="2551057"/>
            <a:ext cx="3675100" cy="3542493"/>
          </a:xfrm>
          <a:prstGeom prst="rect">
            <a:avLst/>
          </a:prstGeom>
        </p:spPr>
      </p:pic>
    </p:spTree>
    <p:extLst>
      <p:ext uri="{BB962C8B-B14F-4D97-AF65-F5344CB8AC3E}">
        <p14:creationId xmlns:p14="http://schemas.microsoft.com/office/powerpoint/2010/main" val="593543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244293"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QUẢN LÝ CON NGƯỜI – MỘT SỐ LÝ THUYẾT VỀ ĐỘNG LỰC </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3" name="TextBox 2">
            <a:extLst>
              <a:ext uri="{FF2B5EF4-FFF2-40B4-BE49-F238E27FC236}">
                <a16:creationId xmlns:a16="http://schemas.microsoft.com/office/drawing/2014/main" id="{B5F014F0-A170-35A0-6640-3E89954B63B2}"/>
              </a:ext>
            </a:extLst>
          </p:cNvPr>
          <p:cNvSpPr txBox="1"/>
          <p:nvPr/>
        </p:nvSpPr>
        <p:spPr>
          <a:xfrm>
            <a:off x="339354" y="724376"/>
            <a:ext cx="11574038" cy="369332"/>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b="1" dirty="0">
                <a:latin typeface="Cambria" panose="02040503050406030204" pitchFamily="18" charset="0"/>
                <a:ea typeface="Cambria" panose="02040503050406030204" pitchFamily="18" charset="0"/>
              </a:rPr>
              <a:t>Lý </a:t>
            </a:r>
            <a:r>
              <a:rPr lang="en-US" b="1" dirty="0" err="1">
                <a:latin typeface="Cambria" panose="02040503050406030204" pitchFamily="18" charset="0"/>
                <a:ea typeface="Cambria" panose="02040503050406030204" pitchFamily="18" charset="0"/>
              </a:rPr>
              <a:t>thuyết</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thức</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bậc</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nhu</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cầu</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của</a:t>
            </a:r>
            <a:r>
              <a:rPr lang="en-US" b="1" dirty="0">
                <a:latin typeface="Cambria" panose="02040503050406030204" pitchFamily="18" charset="0"/>
                <a:ea typeface="Cambria" panose="02040503050406030204" pitchFamily="18" charset="0"/>
              </a:rPr>
              <a:t> A. Maslow</a:t>
            </a:r>
            <a:endParaRPr lang="vi-VN" b="1"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3361CFD1-5D49-0526-FAF7-A54051F987C8}"/>
              </a:ext>
            </a:extLst>
          </p:cNvPr>
          <p:cNvPicPr>
            <a:picLocks noChangeAspect="1"/>
          </p:cNvPicPr>
          <p:nvPr/>
        </p:nvPicPr>
        <p:blipFill>
          <a:blip r:embed="rId2"/>
          <a:stretch>
            <a:fillRect/>
          </a:stretch>
        </p:blipFill>
        <p:spPr>
          <a:xfrm>
            <a:off x="4138260" y="1243231"/>
            <a:ext cx="7940294" cy="4773471"/>
          </a:xfrm>
          <a:prstGeom prst="rect">
            <a:avLst/>
          </a:prstGeom>
        </p:spPr>
      </p:pic>
    </p:spTree>
    <p:extLst>
      <p:ext uri="{BB962C8B-B14F-4D97-AF65-F5344CB8AC3E}">
        <p14:creationId xmlns:p14="http://schemas.microsoft.com/office/powerpoint/2010/main" val="3268381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244293"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QUẢN LÝ CON NGƯỜI – MỘT SỐ LÝ THUYẾT VỀ ĐỘNG LỰC </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3" name="TextBox 2">
            <a:extLst>
              <a:ext uri="{FF2B5EF4-FFF2-40B4-BE49-F238E27FC236}">
                <a16:creationId xmlns:a16="http://schemas.microsoft.com/office/drawing/2014/main" id="{B5F014F0-A170-35A0-6640-3E89954B63B2}"/>
              </a:ext>
            </a:extLst>
          </p:cNvPr>
          <p:cNvSpPr txBox="1"/>
          <p:nvPr/>
        </p:nvSpPr>
        <p:spPr>
          <a:xfrm>
            <a:off x="339354" y="724376"/>
            <a:ext cx="11574038" cy="369332"/>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b="1" dirty="0">
                <a:latin typeface="Cambria" panose="02040503050406030204" pitchFamily="18" charset="0"/>
                <a:ea typeface="Cambria" panose="02040503050406030204" pitchFamily="18" charset="0"/>
              </a:rPr>
              <a:t>Lý </a:t>
            </a:r>
            <a:r>
              <a:rPr lang="en-US" b="1" dirty="0" err="1">
                <a:latin typeface="Cambria" panose="02040503050406030204" pitchFamily="18" charset="0"/>
                <a:ea typeface="Cambria" panose="02040503050406030204" pitchFamily="18" charset="0"/>
              </a:rPr>
              <a:t>thuyết</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hai</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yếu</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tố</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của</a:t>
            </a:r>
            <a:r>
              <a:rPr lang="en-US" b="1" dirty="0">
                <a:latin typeface="Cambria" panose="02040503050406030204" pitchFamily="18" charset="0"/>
                <a:ea typeface="Cambria" panose="02040503050406030204" pitchFamily="18" charset="0"/>
              </a:rPr>
              <a:t> F.</a:t>
            </a:r>
            <a:r>
              <a:rPr lang="vi-VN" b="1"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Herzberg</a:t>
            </a:r>
            <a:endParaRPr lang="vi-VN" b="1" dirty="0">
              <a:latin typeface="Cambria" panose="02040503050406030204" pitchFamily="18" charset="0"/>
              <a:ea typeface="Cambria" panose="02040503050406030204" pitchFamily="18" charset="0"/>
            </a:endParaRPr>
          </a:p>
        </p:txBody>
      </p:sp>
      <p:sp>
        <p:nvSpPr>
          <p:cNvPr id="9" name="TextBox 8">
            <a:extLst>
              <a:ext uri="{FF2B5EF4-FFF2-40B4-BE49-F238E27FC236}">
                <a16:creationId xmlns:a16="http://schemas.microsoft.com/office/drawing/2014/main" id="{02123F41-A191-E8EB-A5C3-BB428E7375F6}"/>
              </a:ext>
            </a:extLst>
          </p:cNvPr>
          <p:cNvSpPr txBox="1"/>
          <p:nvPr/>
        </p:nvSpPr>
        <p:spPr>
          <a:xfrm>
            <a:off x="346718" y="1119630"/>
            <a:ext cx="11505927" cy="2185214"/>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dirty="0" err="1">
                <a:latin typeface="Cambria" panose="02040503050406030204" pitchFamily="18" charset="0"/>
                <a:ea typeface="Cambria" panose="02040503050406030204" pitchFamily="18" charset="0"/>
              </a:rPr>
              <a:t>Năm</a:t>
            </a:r>
            <a:r>
              <a:rPr lang="en-US" dirty="0">
                <a:latin typeface="Cambria" panose="02040503050406030204" pitchFamily="18" charset="0"/>
                <a:ea typeface="Cambria" panose="02040503050406030204" pitchFamily="18" charset="0"/>
              </a:rPr>
              <a:t> 1966, F. Herzberg </a:t>
            </a:r>
            <a:r>
              <a:rPr lang="en-US" dirty="0" err="1">
                <a:latin typeface="Cambria" panose="02040503050406030204" pitchFamily="18" charset="0"/>
                <a:ea typeface="Cambria" panose="02040503050406030204" pitchFamily="18" charset="0"/>
              </a:rPr>
              <a:t>đã</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quyển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sách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nổi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tiếng“Work</a:t>
            </a:r>
            <a:r>
              <a:rPr lang="en-US" dirty="0">
                <a:latin typeface="Cambria" panose="02040503050406030204" pitchFamily="18" charset="0"/>
                <a:ea typeface="Cambria" panose="02040503050406030204" pitchFamily="18" charset="0"/>
              </a:rPr>
              <a:t> &amp; Nature of Man” </a:t>
            </a:r>
            <a:r>
              <a:rPr lang="en-US" dirty="0" err="1">
                <a:latin typeface="Cambria" panose="02040503050406030204" pitchFamily="18" charset="0"/>
                <a:ea typeface="Cambria" panose="02040503050406030204" pitchFamily="18" charset="0"/>
              </a:rPr>
              <a:t>về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động</a:t>
            </a:r>
            <a:r>
              <a:rPr lang="vi-VN" dirty="0">
                <a:latin typeface="Cambria" panose="02040503050406030204" pitchFamily="18" charset="0"/>
                <a:ea typeface="Cambria" panose="02040503050406030204" pitchFamily="18" charset="0"/>
              </a:rPr>
              <a:t> cơ con người. Ông ta phân biệt giữa:</a:t>
            </a: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Các Yếu tố hài lòng (motivational factors): </a:t>
            </a:r>
            <a:r>
              <a:rPr lang="vi-VN" i="1" dirty="0">
                <a:latin typeface="Cambria" panose="02040503050406030204" pitchFamily="18" charset="0"/>
                <a:ea typeface="Cambria" panose="02040503050406030204" pitchFamily="18" charset="0"/>
              </a:rPr>
              <a:t>thành tựu, được công nhận, tự làm việc, </a:t>
            </a:r>
            <a:r>
              <a:rPr lang="en-US" i="1" dirty="0" err="1">
                <a:latin typeface="Cambria" panose="02040503050406030204" pitchFamily="18" charset="0"/>
                <a:ea typeface="Cambria" panose="02040503050406030204" pitchFamily="18" charset="0"/>
              </a:rPr>
              <a:t>trách</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nhiệm</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thăng</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tiến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và</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phát</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triển</a:t>
            </a:r>
            <a:r>
              <a:rPr lang="en-US" i="1" dirty="0">
                <a:latin typeface="Cambria" panose="02040503050406030204" pitchFamily="18" charset="0"/>
                <a:ea typeface="Cambria" panose="02040503050406030204" pitchFamily="18" charset="0"/>
              </a:rPr>
              <a:t> - </a:t>
            </a:r>
            <a:r>
              <a:rPr lang="en-US" i="1" dirty="0" err="1">
                <a:latin typeface="Cambria" panose="02040503050406030204" pitchFamily="18" charset="0"/>
                <a:ea typeface="Cambria" panose="02040503050406030204" pitchFamily="18" charset="0"/>
              </a:rPr>
              <a:t>tất</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cả</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những</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điều</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này</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tạo</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nên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sự</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thõa</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mãn</a:t>
            </a:r>
            <a:r>
              <a:rPr lang="vi-VN"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với</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công</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việc</a:t>
            </a:r>
            <a:r>
              <a:rPr lang="en-US" i="1" dirty="0">
                <a:latin typeface="Cambria" panose="02040503050406030204" pitchFamily="18" charset="0"/>
                <a:ea typeface="Cambria" panose="02040503050406030204" pitchFamily="18" charset="0"/>
              </a:rPr>
              <a:t>.</a:t>
            </a:r>
          </a:p>
          <a:p>
            <a:pPr marL="285750" lvl="1" indent="-285750" algn="just">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hài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lòng</a:t>
            </a:r>
            <a:r>
              <a:rPr lang="en-US" dirty="0">
                <a:latin typeface="Cambria" panose="02040503050406030204" pitchFamily="18" charset="0"/>
                <a:ea typeface="Cambria" panose="02040503050406030204" pitchFamily="18" charset="0"/>
              </a:rPr>
              <a:t> (hygiene factors): </a:t>
            </a:r>
            <a:r>
              <a:rPr lang="en-US" i="1" dirty="0" err="1">
                <a:latin typeface="Cambria" panose="02040503050406030204" pitchFamily="18" charset="0"/>
                <a:ea typeface="Cambria" panose="02040503050406030204" pitchFamily="18" charset="0"/>
              </a:rPr>
              <a:t>Gây</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nên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sự</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không</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thõa</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mãn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nếu</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không</a:t>
            </a:r>
            <a:r>
              <a:rPr lang="vi-VN" i="1" dirty="0">
                <a:latin typeface="Cambria" panose="02040503050406030204" pitchFamily="18" charset="0"/>
                <a:ea typeface="Cambria" panose="02040503050406030204" pitchFamily="18" charset="0"/>
              </a:rPr>
              <a:t> được đáp ứng, và không thúc đẩy con người làm việc nữa. Các ví dụ bao gồm: đòi hỏi lương cao, được quan tâm hơn, và môi trường làm việc hấp dẫn hơn.</a:t>
            </a:r>
            <a:endParaRPr lang="en-US" i="1" dirty="0">
              <a:latin typeface="Cambria" panose="02040503050406030204" pitchFamily="18" charset="0"/>
              <a:ea typeface="Cambria" panose="02040503050406030204" pitchFamily="18" charset="0"/>
            </a:endParaRPr>
          </a:p>
        </p:txBody>
      </p:sp>
      <p:pic>
        <p:nvPicPr>
          <p:cNvPr id="12" name="Picture 11">
            <a:extLst>
              <a:ext uri="{FF2B5EF4-FFF2-40B4-BE49-F238E27FC236}">
                <a16:creationId xmlns:a16="http://schemas.microsoft.com/office/drawing/2014/main" id="{0765BCE2-42A8-326E-A496-B8FB5F566433}"/>
              </a:ext>
            </a:extLst>
          </p:cNvPr>
          <p:cNvPicPr>
            <a:picLocks noChangeAspect="1"/>
          </p:cNvPicPr>
          <p:nvPr/>
        </p:nvPicPr>
        <p:blipFill>
          <a:blip r:embed="rId2"/>
          <a:stretch>
            <a:fillRect/>
          </a:stretch>
        </p:blipFill>
        <p:spPr>
          <a:xfrm>
            <a:off x="6244373" y="3418685"/>
            <a:ext cx="5608272" cy="2714939"/>
          </a:xfrm>
          <a:prstGeom prst="rect">
            <a:avLst/>
          </a:prstGeom>
        </p:spPr>
      </p:pic>
    </p:spTree>
    <p:extLst>
      <p:ext uri="{BB962C8B-B14F-4D97-AF65-F5344CB8AC3E}">
        <p14:creationId xmlns:p14="http://schemas.microsoft.com/office/powerpoint/2010/main" val="1048032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mountain landscape with a quote&#10;&#10;Description automatically generated with medium confidence">
            <a:extLst>
              <a:ext uri="{FF2B5EF4-FFF2-40B4-BE49-F238E27FC236}">
                <a16:creationId xmlns:a16="http://schemas.microsoft.com/office/drawing/2014/main" id="{828242F1-4501-A4F5-8C3D-2839181ED9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20669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244293"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QUẢN LÝ CON NGƯỜI – MỘT SỐ LÝ THUYẾT VỀ ĐỘNG LỰC </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3" name="TextBox 2">
            <a:extLst>
              <a:ext uri="{FF2B5EF4-FFF2-40B4-BE49-F238E27FC236}">
                <a16:creationId xmlns:a16="http://schemas.microsoft.com/office/drawing/2014/main" id="{B5F014F0-A170-35A0-6640-3E89954B63B2}"/>
              </a:ext>
            </a:extLst>
          </p:cNvPr>
          <p:cNvSpPr txBox="1"/>
          <p:nvPr/>
        </p:nvSpPr>
        <p:spPr>
          <a:xfrm>
            <a:off x="339354" y="724376"/>
            <a:ext cx="11574038" cy="369332"/>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vi-VN" b="1" dirty="0">
                <a:latin typeface="Cambria" panose="02040503050406030204" pitchFamily="18" charset="0"/>
                <a:ea typeface="Cambria" panose="02040503050406030204" pitchFamily="18" charset="0"/>
              </a:rPr>
              <a:t>Lý thuyết về nhu cầu đã được thỏa của D. McClelland</a:t>
            </a:r>
          </a:p>
        </p:txBody>
      </p:sp>
      <p:sp>
        <p:nvSpPr>
          <p:cNvPr id="9" name="TextBox 8">
            <a:extLst>
              <a:ext uri="{FF2B5EF4-FFF2-40B4-BE49-F238E27FC236}">
                <a16:creationId xmlns:a16="http://schemas.microsoft.com/office/drawing/2014/main" id="{02123F41-A191-E8EB-A5C3-BB428E7375F6}"/>
              </a:ext>
            </a:extLst>
          </p:cNvPr>
          <p:cNvSpPr txBox="1"/>
          <p:nvPr/>
        </p:nvSpPr>
        <p:spPr>
          <a:xfrm>
            <a:off x="346718" y="1119630"/>
            <a:ext cx="11505927" cy="2500685"/>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Các nhu cầu cụ thể đạt được hay được biết và được hình thành bởi kinh nghiệm </a:t>
            </a:r>
            <a:r>
              <a:rPr lang="en-US" dirty="0" err="1">
                <a:latin typeface="Cambria" panose="02040503050406030204" pitchFamily="18" charset="0"/>
                <a:ea typeface="Cambria" panose="02040503050406030204" pitchFamily="18" charset="0"/>
              </a:rPr>
              <a:t>sống</a:t>
            </a:r>
            <a:r>
              <a:rPr lang="en-US" dirty="0">
                <a:latin typeface="Cambria" panose="02040503050406030204" pitchFamily="18" charset="0"/>
                <a:ea typeface="Cambria" panose="02040503050406030204" pitchFamily="18" charset="0"/>
              </a:rPr>
              <a:t>, bao </a:t>
            </a:r>
            <a:r>
              <a:rPr lang="en-US" dirty="0" err="1">
                <a:latin typeface="Cambria" panose="02040503050406030204" pitchFamily="18" charset="0"/>
                <a:ea typeface="Cambria" panose="02040503050406030204" pitchFamily="18" charset="0"/>
              </a:rPr>
              <a:t>gồm</a:t>
            </a:r>
            <a:r>
              <a:rPr lang="en-US" dirty="0">
                <a:latin typeface="Cambria" panose="02040503050406030204" pitchFamily="18" charset="0"/>
                <a:ea typeface="Cambria" panose="02040503050406030204" pitchFamily="18" charset="0"/>
              </a:rPr>
              <a:t>:</a:t>
            </a: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Thành tựu (Achievement-nAch): Kiểu người thành tựu thích các dự án thử thách, có những mục tiêu có thể thực hiện được và một số ý kiến phản hồi.</a:t>
            </a: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Hòa hợp (Affinity-nAff): Kiểu người có tính nAff cao, mong muốn có các mối quan hệ hòa thuận, và có nhu cầu cần người khác chấp nhận, vì thế người quản lý nên cố tạo một mội trường làm việc hợp tác cho họ.</a:t>
            </a: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Quyền lực: (Power-nPow): Kiểu người có nhu cầu quyền lực mong muốn quyền lực,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quyền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tốt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hai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quyền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tập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tốt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tổ</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chức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Mang</a:t>
            </a:r>
            <a:r>
              <a:rPr lang="vi-VN" dirty="0">
                <a:latin typeface="Cambria" panose="02040503050406030204" pitchFamily="18" charset="0"/>
                <a:ea typeface="Cambria" panose="02040503050406030204" pitchFamily="18" charset="0"/>
              </a:rPr>
              <a:t> lại cho những người tìm kiếm quyền lực tập thể các cơ hội quản lý.</a:t>
            </a:r>
            <a:endParaRPr lang="en-US"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C996B769-F623-A9DC-B05F-A6749CD527FC}"/>
              </a:ext>
            </a:extLst>
          </p:cNvPr>
          <p:cNvPicPr>
            <a:picLocks noChangeAspect="1"/>
          </p:cNvPicPr>
          <p:nvPr/>
        </p:nvPicPr>
        <p:blipFill>
          <a:blip r:embed="rId2"/>
          <a:stretch>
            <a:fillRect/>
          </a:stretch>
        </p:blipFill>
        <p:spPr>
          <a:xfrm>
            <a:off x="7201644" y="4014997"/>
            <a:ext cx="4793069" cy="2057299"/>
          </a:xfrm>
          <a:prstGeom prst="rect">
            <a:avLst/>
          </a:prstGeom>
        </p:spPr>
      </p:pic>
    </p:spTree>
    <p:extLst>
      <p:ext uri="{BB962C8B-B14F-4D97-AF65-F5344CB8AC3E}">
        <p14:creationId xmlns:p14="http://schemas.microsoft.com/office/powerpoint/2010/main" val="2387860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244293"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QUẢN LÝ CON NGƯỜI – MỘT SỐ LÝ THUYẾT VỀ ĐỘNG LỰC </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3" name="TextBox 2">
            <a:extLst>
              <a:ext uri="{FF2B5EF4-FFF2-40B4-BE49-F238E27FC236}">
                <a16:creationId xmlns:a16="http://schemas.microsoft.com/office/drawing/2014/main" id="{B5F014F0-A170-35A0-6640-3E89954B63B2}"/>
              </a:ext>
            </a:extLst>
          </p:cNvPr>
          <p:cNvSpPr txBox="1"/>
          <p:nvPr/>
        </p:nvSpPr>
        <p:spPr>
          <a:xfrm>
            <a:off x="339354" y="724376"/>
            <a:ext cx="11574038" cy="369332"/>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b="1" dirty="0">
                <a:latin typeface="Cambria" panose="02040503050406030204" pitchFamily="18" charset="0"/>
                <a:ea typeface="Cambria" panose="02040503050406030204" pitchFamily="18" charset="0"/>
              </a:rPr>
              <a:t>Lý </a:t>
            </a:r>
            <a:r>
              <a:rPr lang="en-US" b="1" dirty="0" err="1">
                <a:latin typeface="Cambria" panose="02040503050406030204" pitchFamily="18" charset="0"/>
                <a:ea typeface="Cambria" panose="02040503050406030204" pitchFamily="18" charset="0"/>
              </a:rPr>
              <a:t>thuyết</a:t>
            </a:r>
            <a:r>
              <a:rPr lang="en-US" b="1" dirty="0">
                <a:latin typeface="Cambria" panose="02040503050406030204" pitchFamily="18" charset="0"/>
                <a:ea typeface="Cambria" panose="02040503050406030204" pitchFamily="18" charset="0"/>
              </a:rPr>
              <a:t> X </a:t>
            </a:r>
            <a:r>
              <a:rPr lang="en-US" b="1" dirty="0" err="1">
                <a:latin typeface="Cambria" panose="02040503050406030204" pitchFamily="18" charset="0"/>
                <a:ea typeface="Cambria" panose="02040503050406030204" pitchFamily="18" charset="0"/>
              </a:rPr>
              <a:t>và</a:t>
            </a:r>
            <a:r>
              <a:rPr lang="en-US" b="1" dirty="0">
                <a:latin typeface="Cambria" panose="02040503050406030204" pitchFamily="18" charset="0"/>
                <a:ea typeface="Cambria" panose="02040503050406030204" pitchFamily="18" charset="0"/>
              </a:rPr>
              <a:t> Y </a:t>
            </a:r>
            <a:r>
              <a:rPr lang="en-US" b="1" dirty="0" err="1">
                <a:latin typeface="Cambria" panose="02040503050406030204" pitchFamily="18" charset="0"/>
                <a:ea typeface="Cambria" panose="02040503050406030204" pitchFamily="18" charset="0"/>
              </a:rPr>
              <a:t>của</a:t>
            </a:r>
            <a:r>
              <a:rPr lang="en-US" b="1" dirty="0">
                <a:latin typeface="Cambria" panose="02040503050406030204" pitchFamily="18" charset="0"/>
                <a:ea typeface="Cambria" panose="02040503050406030204" pitchFamily="18" charset="0"/>
              </a:rPr>
              <a:t> D.</a:t>
            </a:r>
            <a:r>
              <a:rPr lang="vi-VN" b="1"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McGregor</a:t>
            </a:r>
            <a:endParaRPr lang="vi-VN" b="1" dirty="0">
              <a:latin typeface="Cambria" panose="02040503050406030204" pitchFamily="18" charset="0"/>
              <a:ea typeface="Cambria" panose="02040503050406030204" pitchFamily="18" charset="0"/>
            </a:endParaRPr>
          </a:p>
        </p:txBody>
      </p:sp>
      <p:sp>
        <p:nvSpPr>
          <p:cNvPr id="9" name="TextBox 8">
            <a:extLst>
              <a:ext uri="{FF2B5EF4-FFF2-40B4-BE49-F238E27FC236}">
                <a16:creationId xmlns:a16="http://schemas.microsoft.com/office/drawing/2014/main" id="{02123F41-A191-E8EB-A5C3-BB428E7375F6}"/>
              </a:ext>
            </a:extLst>
          </p:cNvPr>
          <p:cNvSpPr txBox="1"/>
          <p:nvPr/>
        </p:nvSpPr>
        <p:spPr>
          <a:xfrm>
            <a:off x="346718" y="1119630"/>
            <a:ext cx="11514356" cy="3654847"/>
          </a:xfrm>
          <a:prstGeom prst="rect">
            <a:avLst/>
          </a:prstGeom>
          <a:noFill/>
        </p:spPr>
        <p:txBody>
          <a:bodyPr wrap="square">
            <a:spAutoFit/>
          </a:bodyPr>
          <a:lstStyle/>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Thuyết X: </a:t>
            </a:r>
            <a:r>
              <a:rPr lang="vi-VN" i="1" dirty="0">
                <a:latin typeface="Cambria" panose="02040503050406030204" pitchFamily="18" charset="0"/>
                <a:ea typeface="Cambria" panose="02040503050406030204" pitchFamily="18" charset="0"/>
              </a:rPr>
              <a:t>Cho rằng nhân viên không thích và né tránh công việc, vì thế người quản lý phải sử dụng các biện sự bắt buộc, đe dọa và các phương pháp kiểm soát để làm </a:t>
            </a:r>
            <a:r>
              <a:rPr lang="en-US" i="1" dirty="0" err="1">
                <a:latin typeface="Cambria" panose="02040503050406030204" pitchFamily="18" charset="0"/>
                <a:ea typeface="Cambria" panose="02040503050406030204" pitchFamily="18" charset="0"/>
              </a:rPr>
              <a:t>cho</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nhân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viên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phải</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đáp</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ứng</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các</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mục</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tiêu</a:t>
            </a:r>
            <a:r>
              <a:rPr lang="en-US" i="1" dirty="0">
                <a:latin typeface="Cambria" panose="02040503050406030204" pitchFamily="18" charset="0"/>
                <a:ea typeface="Cambria" panose="02040503050406030204" pitchFamily="18" charset="0"/>
              </a:rPr>
              <a:t>.</a:t>
            </a:r>
            <a:r>
              <a:rPr lang="vi-VN" i="1" dirty="0">
                <a:latin typeface="Cambria" panose="02040503050406030204" pitchFamily="18" charset="0"/>
                <a:ea typeface="Cambria" panose="02040503050406030204" pitchFamily="18" charset="0"/>
              </a:rPr>
              <a:t> </a:t>
            </a:r>
          </a:p>
          <a:p>
            <a:pPr marL="287338" lvl="1" algn="just" defTabSz="144463">
              <a:spcAft>
                <a:spcPts val="300"/>
              </a:spcAft>
              <a:buClr>
                <a:schemeClr val="accent2">
                  <a:lumMod val="75000"/>
                </a:schemeClr>
              </a:buClr>
            </a:pPr>
            <a:r>
              <a:rPr lang="vi-VN" i="1" dirty="0">
                <a:latin typeface="Cambria" panose="02040503050406030204" pitchFamily="18" charset="0"/>
                <a:ea typeface="Cambria" panose="02040503050406030204" pitchFamily="18" charset="0"/>
              </a:rPr>
              <a:t>	Tuy nhiên, học thuyết X được đánh giá khá tiêu cực và không đem lại kết quả nổi bật cho doanh nghiệp nên 	hầu hết các tổ chức đều lựa chọn học thuyết Y để ứng dụng cho mô hình quản trị nguồn lực của mình.</a:t>
            </a:r>
            <a:endParaRPr lang="en-US" i="1"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Thuyết Y: </a:t>
            </a:r>
            <a:r>
              <a:rPr lang="vi-VN" i="1" dirty="0">
                <a:latin typeface="Cambria" panose="02040503050406030204" pitchFamily="18" charset="0"/>
                <a:ea typeface="Cambria" panose="02040503050406030204" pitchFamily="18" charset="0"/>
              </a:rPr>
              <a:t>được coi là sự cải tiến vượt trội hơn về lý thuyết, quan điểm, góc nhìn trong quản trị nguồn lực doanh nghiệp. Xuất phát từ việc nhìn nhận được những chỗ sai lầm trong học thuyết X, học thuyết Y đã đưa ra những giả thiết tích cực, khách quan hơn về bản chất con người là:</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Lười nhác không phải là bản tính bẩm sinh của con người nói chung. Lao động trí óc, lao động chân tay cũng như nghỉ ngơi, giải trí đều là hiện tượng, hành vi bình thường của con người.</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Điều khiển và đe dọa không phải là biện pháp duy nhất thúc đẩy con người thực hiện mục tiêu của tổ chức.</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Tài năng con người luôn tiềm ẩn vấn đề là làm sao để khơi gợi dậy được tiềm năng đó.</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Con người sẽ làm việc tốt hơn nếu đạt được sự thỏa mãn cá nhân.</a:t>
            </a:r>
          </a:p>
          <a:p>
            <a:pPr marL="285750" lvl="1" indent="-285750" algn="just">
              <a:spcAft>
                <a:spcPts val="300"/>
              </a:spcAft>
              <a:buClr>
                <a:schemeClr val="accent2">
                  <a:lumMod val="75000"/>
                </a:schemeClr>
              </a:buClr>
              <a:buFont typeface="Wingdings" panose="05000000000000000000" pitchFamily="2" charset="2"/>
              <a:buChar char="§"/>
            </a:pPr>
            <a:endParaRPr lang="vi-VN" i="1" dirty="0">
              <a:latin typeface="Cambria" panose="02040503050406030204" pitchFamily="18" charset="0"/>
              <a:ea typeface="Cambria" panose="02040503050406030204" pitchFamily="18" charset="0"/>
            </a:endParaRPr>
          </a:p>
        </p:txBody>
      </p:sp>
      <p:pic>
        <p:nvPicPr>
          <p:cNvPr id="13" name="Picture 12">
            <a:extLst>
              <a:ext uri="{FF2B5EF4-FFF2-40B4-BE49-F238E27FC236}">
                <a16:creationId xmlns:a16="http://schemas.microsoft.com/office/drawing/2014/main" id="{5634C9CA-9E2F-392E-9D2D-96DBFE444EFE}"/>
              </a:ext>
            </a:extLst>
          </p:cNvPr>
          <p:cNvPicPr>
            <a:picLocks noChangeAspect="1"/>
          </p:cNvPicPr>
          <p:nvPr/>
        </p:nvPicPr>
        <p:blipFill>
          <a:blip r:embed="rId2"/>
          <a:stretch>
            <a:fillRect/>
          </a:stretch>
        </p:blipFill>
        <p:spPr>
          <a:xfrm>
            <a:off x="8874520" y="4362206"/>
            <a:ext cx="3120193" cy="1985985"/>
          </a:xfrm>
          <a:prstGeom prst="rect">
            <a:avLst/>
          </a:prstGeom>
        </p:spPr>
      </p:pic>
    </p:spTree>
    <p:extLst>
      <p:ext uri="{BB962C8B-B14F-4D97-AF65-F5344CB8AC3E}">
        <p14:creationId xmlns:p14="http://schemas.microsoft.com/office/powerpoint/2010/main" val="1487953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0" indent="0">
              <a:lnSpc>
                <a:spcPct val="100000"/>
              </a:lnSpc>
              <a:spcBef>
                <a:spcPts val="0"/>
              </a:spcBef>
              <a:spcAft>
                <a:spcPts val="600"/>
              </a:spcAft>
              <a:buNone/>
            </a:pPr>
            <a:r>
              <a:rPr lang="en-US" sz="3200" b="1" dirty="0">
                <a:solidFill>
                  <a:schemeClr val="bg1"/>
                </a:solidFill>
                <a:latin typeface="Cambria" panose="02040503050406030204" pitchFamily="18" charset="0"/>
                <a:ea typeface="Cambria" panose="02040503050406030204" pitchFamily="18" charset="0"/>
              </a:rPr>
              <a:t>3. </a:t>
            </a:r>
            <a:r>
              <a:rPr lang="vi-VN" sz="3200" b="1" dirty="0">
                <a:solidFill>
                  <a:schemeClr val="bg1"/>
                </a:solidFill>
                <a:latin typeface="Cambria" panose="02040503050406030204" pitchFamily="18" charset="0"/>
                <a:ea typeface="Cambria" panose="02040503050406030204" pitchFamily="18" charset="0"/>
              </a:rPr>
              <a:t>QUY TRÌNH QUẢN LÝ NGUỒN NHÂN LỰC </a:t>
            </a:r>
            <a:endParaRPr lang="en-US" sz="3200" b="1" dirty="0">
              <a:solidFill>
                <a:schemeClr val="bg1"/>
              </a:solidFill>
              <a:latin typeface="Cambria" panose="02040503050406030204" pitchFamily="18" charset="0"/>
              <a:ea typeface="Cambria" panose="02040503050406030204" pitchFamily="18" charset="0"/>
            </a:endParaRPr>
          </a:p>
          <a:p>
            <a:pPr marL="346075" indent="-346075">
              <a:lnSpc>
                <a:spcPct val="100000"/>
              </a:lnSpc>
              <a:spcBef>
                <a:spcPts val="0"/>
              </a:spcBef>
              <a:spcAft>
                <a:spcPts val="600"/>
              </a:spcAft>
              <a:buFont typeface="+mj-lt"/>
              <a:buAutoNum type="arabicPeriod"/>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86799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3. </a:t>
            </a:r>
            <a:r>
              <a:rPr lang="vi-VN" sz="2000" b="1" dirty="0">
                <a:solidFill>
                  <a:schemeClr val="accent2">
                    <a:lumMod val="75000"/>
                  </a:schemeClr>
                </a:solidFill>
                <a:latin typeface="Cambria" panose="02040503050406030204" pitchFamily="18" charset="0"/>
                <a:ea typeface="Cambria" panose="02040503050406030204" pitchFamily="18" charset="0"/>
              </a:rPr>
              <a:t>QUY TRÌNH QUẢN LÝ NGUỒN NHÂN LỰC </a:t>
            </a: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F17B2001-CA8C-70EA-0637-325BE64AB4BE}"/>
              </a:ext>
            </a:extLst>
          </p:cNvPr>
          <p:cNvSpPr txBox="1"/>
          <p:nvPr/>
        </p:nvSpPr>
        <p:spPr>
          <a:xfrm>
            <a:off x="337582" y="784286"/>
            <a:ext cx="7492711" cy="2223686"/>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dirty="0" err="1">
                <a:latin typeface="Cambria" panose="02040503050406030204" pitchFamily="18" charset="0"/>
                <a:ea typeface="Cambria" panose="02040503050406030204" pitchFamily="18" charset="0"/>
              </a:rPr>
              <a:t>Quản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nguồn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bao </a:t>
            </a:r>
            <a:r>
              <a:rPr lang="en-US" dirty="0" err="1">
                <a:latin typeface="Cambria" panose="02040503050406030204" pitchFamily="18" charset="0"/>
                <a:ea typeface="Cambria" panose="02040503050406030204" pitchFamily="18" charset="0"/>
              </a:rPr>
              <a:t>gồm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trình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đòi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hỏi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phải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hiệu</a:t>
            </a:r>
            <a:r>
              <a:rPr lang="vi-VN" dirty="0">
                <a:latin typeface="Cambria" panose="02040503050406030204" pitchFamily="18" charset="0"/>
                <a:ea typeface="Cambria" panose="02040503050406030204" pitchFamily="18" charset="0"/>
              </a:rPr>
              <a:t> quả nhất con người liên quan đến dự án. Các quá trình bao gồm</a:t>
            </a:r>
          </a:p>
          <a:p>
            <a:pPr marL="285750" lvl="1" indent="-285750" algn="just">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Lập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Hoạch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tổ</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chức</a:t>
            </a:r>
            <a:r>
              <a:rPr lang="en-US" dirty="0">
                <a:latin typeface="Cambria" panose="02040503050406030204" pitchFamily="18" charset="0"/>
                <a:ea typeface="Cambria" panose="02040503050406030204" pitchFamily="18" charset="0"/>
              </a:rPr>
              <a:t> (Human resource management planning).</a:t>
            </a:r>
          </a:p>
          <a:p>
            <a:pPr marL="285750" lvl="1" indent="-285750" algn="just">
              <a:spcAft>
                <a:spcPts val="300"/>
              </a:spcAft>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Thu </a:t>
            </a:r>
            <a:r>
              <a:rPr lang="en-US" dirty="0" err="1">
                <a:latin typeface="Cambria" panose="02040503050406030204" pitchFamily="18" charset="0"/>
                <a:ea typeface="Cambria" panose="02040503050406030204" pitchFamily="18" charset="0"/>
              </a:rPr>
              <a:t>nhận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viên</a:t>
            </a:r>
            <a:r>
              <a:rPr lang="en-US" dirty="0">
                <a:latin typeface="Cambria" panose="02040503050406030204" pitchFamily="18" charset="0"/>
                <a:ea typeface="Cambria" panose="02040503050406030204" pitchFamily="18" charset="0"/>
              </a:rPr>
              <a:t> (Acquire project team).</a:t>
            </a:r>
          </a:p>
          <a:p>
            <a:pPr marL="285750" lvl="1" indent="-285750" algn="just">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Phát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triển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Nhóm</a:t>
            </a:r>
            <a:r>
              <a:rPr lang="en-US" dirty="0">
                <a:latin typeface="Cambria" panose="02040503050406030204" pitchFamily="18" charset="0"/>
                <a:ea typeface="Cambria" panose="02040503050406030204" pitchFamily="18" charset="0"/>
              </a:rPr>
              <a:t> (Develop project team).</a:t>
            </a:r>
          </a:p>
          <a:p>
            <a:pPr marL="285750" lvl="1" indent="-285750" algn="just">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Quản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Nhóm</a:t>
            </a:r>
            <a:r>
              <a:rPr lang="en-US" dirty="0">
                <a:latin typeface="Cambria" panose="02040503050406030204" pitchFamily="18" charset="0"/>
                <a:ea typeface="Cambria" panose="02040503050406030204" pitchFamily="18" charset="0"/>
              </a:rPr>
              <a:t> (Project team management).</a:t>
            </a:r>
          </a:p>
          <a:p>
            <a:pPr marL="0" lvl="1" algn="just">
              <a:spcAft>
                <a:spcPts val="300"/>
              </a:spcAft>
              <a:buClr>
                <a:schemeClr val="accent2">
                  <a:lumMod val="75000"/>
                </a:schemeClr>
              </a:buClr>
            </a:pPr>
            <a:endParaRPr lang="en-US"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CF49E226-5D3A-8372-08B6-7CBA11417E13}"/>
              </a:ext>
            </a:extLst>
          </p:cNvPr>
          <p:cNvSpPr txBox="1"/>
          <p:nvPr/>
        </p:nvSpPr>
        <p:spPr>
          <a:xfrm>
            <a:off x="8027580" y="367844"/>
            <a:ext cx="4164420" cy="2031325"/>
          </a:xfrm>
          <a:prstGeom prst="rect">
            <a:avLst/>
          </a:prstGeom>
          <a:noFill/>
        </p:spPr>
        <p:txBody>
          <a:bodyPr wrap="square">
            <a:spAutoFit/>
          </a:bodyPr>
          <a:lstStyle/>
          <a:p>
            <a:pPr algn="r"/>
            <a:r>
              <a:rPr lang="en-US" altLang="en-US" sz="1800" b="1" dirty="0">
                <a:solidFill>
                  <a:schemeClr val="bg1"/>
                </a:solidFill>
                <a:latin typeface="Cambria" panose="02040503050406030204" pitchFamily="18" charset="0"/>
                <a:ea typeface="Cambria" panose="02040503050406030204" pitchFamily="18" charset="0"/>
              </a:rPr>
              <a:t>Project </a:t>
            </a:r>
            <a:r>
              <a:rPr lang="vi-VN" altLang="en-US" sz="1800" b="1" dirty="0">
                <a:solidFill>
                  <a:schemeClr val="bg1"/>
                </a:solidFill>
                <a:latin typeface="Cambria" panose="02040503050406030204" pitchFamily="18" charset="0"/>
                <a:ea typeface="Cambria" panose="02040503050406030204" pitchFamily="18" charset="0"/>
              </a:rPr>
              <a:t>HR management </a:t>
            </a:r>
            <a:endParaRPr lang="en-US" altLang="en-US" sz="1800" b="1" dirty="0">
              <a:solidFill>
                <a:schemeClr val="bg1"/>
              </a:solidFill>
              <a:latin typeface="Cambria" panose="02040503050406030204" pitchFamily="18" charset="0"/>
              <a:ea typeface="Cambria" panose="02040503050406030204" pitchFamily="18" charset="0"/>
            </a:endParaRPr>
          </a:p>
          <a:p>
            <a:pPr algn="r"/>
            <a:endParaRPr lang="en-US" b="1" i="0" dirty="0">
              <a:solidFill>
                <a:srgbClr val="5F6368"/>
              </a:solidFill>
              <a:effectLst/>
              <a:latin typeface="arial" panose="020B0604020202020204" pitchFamily="34" charset="0"/>
            </a:endParaRPr>
          </a:p>
          <a:p>
            <a:pPr algn="r"/>
            <a:r>
              <a:rPr lang="vi-VN" i="1" dirty="0">
                <a:solidFill>
                  <a:schemeClr val="bg1"/>
                </a:solidFill>
                <a:latin typeface="Cambria" panose="02040503050406030204" pitchFamily="18" charset="0"/>
                <a:ea typeface="Cambria" panose="02040503050406030204" pitchFamily="18" charset="0"/>
              </a:rPr>
              <a:t>“</a:t>
            </a:r>
            <a:r>
              <a:rPr lang="en-US" i="1" dirty="0">
                <a:solidFill>
                  <a:schemeClr val="bg1"/>
                </a:solidFill>
                <a:latin typeface="Cambria" panose="02040503050406030204" pitchFamily="18" charset="0"/>
                <a:ea typeface="Cambria" panose="02040503050406030204" pitchFamily="18" charset="0"/>
              </a:rPr>
              <a:t>When all members of a team are working towards the same goal and supporting and helping each other along the way, the chances of success increase significantly</a:t>
            </a:r>
            <a:r>
              <a:rPr lang="vi-VN" i="1" dirty="0">
                <a:solidFill>
                  <a:schemeClr val="bg1"/>
                </a:solidFill>
                <a:latin typeface="Cambria" panose="02040503050406030204" pitchFamily="18" charset="0"/>
                <a:ea typeface="Cambria" panose="02040503050406030204" pitchFamily="18" charset="0"/>
              </a:rPr>
              <a:t>”</a:t>
            </a:r>
            <a:r>
              <a:rPr lang="en-US" i="1" dirty="0">
                <a:solidFill>
                  <a:schemeClr val="bg1"/>
                </a:solidFill>
                <a:latin typeface="Cambria" panose="02040503050406030204" pitchFamily="18" charset="0"/>
                <a:ea typeface="Cambria" panose="02040503050406030204" pitchFamily="18" charset="0"/>
              </a:rPr>
              <a:t>.</a:t>
            </a:r>
          </a:p>
        </p:txBody>
      </p:sp>
      <p:pic>
        <p:nvPicPr>
          <p:cNvPr id="5" name="Picture 4">
            <a:extLst>
              <a:ext uri="{FF2B5EF4-FFF2-40B4-BE49-F238E27FC236}">
                <a16:creationId xmlns:a16="http://schemas.microsoft.com/office/drawing/2014/main" id="{DEF2546F-3479-61CB-FBB8-DB1F940A4BF7}"/>
              </a:ext>
            </a:extLst>
          </p:cNvPr>
          <p:cNvPicPr>
            <a:picLocks noChangeAspect="1"/>
          </p:cNvPicPr>
          <p:nvPr/>
        </p:nvPicPr>
        <p:blipFill>
          <a:blip r:embed="rId3"/>
          <a:stretch>
            <a:fillRect/>
          </a:stretch>
        </p:blipFill>
        <p:spPr>
          <a:xfrm>
            <a:off x="4257248" y="4184609"/>
            <a:ext cx="3476875" cy="2481986"/>
          </a:xfrm>
          <a:prstGeom prst="rect">
            <a:avLst/>
          </a:prstGeom>
        </p:spPr>
      </p:pic>
    </p:spTree>
    <p:extLst>
      <p:ext uri="{BB962C8B-B14F-4D97-AF65-F5344CB8AC3E}">
        <p14:creationId xmlns:p14="http://schemas.microsoft.com/office/powerpoint/2010/main" val="3450066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F7E45A9-C329-AA6F-F38F-017217BF07BD}"/>
              </a:ext>
            </a:extLst>
          </p:cNvPr>
          <p:cNvSpPr txBox="1"/>
          <p:nvPr/>
        </p:nvSpPr>
        <p:spPr>
          <a:xfrm>
            <a:off x="339353" y="684708"/>
            <a:ext cx="11655359" cy="1569660"/>
          </a:xfrm>
          <a:prstGeom prst="rect">
            <a:avLst/>
          </a:prstGeom>
          <a:noFill/>
        </p:spPr>
        <p:txBody>
          <a:bodyPr wrap="square">
            <a:spAutoFit/>
          </a:bodyPr>
          <a:lstStyle/>
          <a:p>
            <a:pPr marL="0" marR="0" algn="just">
              <a:spcBef>
                <a:spcPts val="0"/>
              </a:spcBef>
              <a:spcAft>
                <a:spcPts val="0"/>
              </a:spcAft>
            </a:pPr>
            <a:r>
              <a:rPr lang="en-US" altLang="zh-CN" sz="1600" dirty="0">
                <a:latin typeface="Cambria" panose="02040503050406030204" pitchFamily="18" charset="0"/>
                <a:ea typeface="Cambria" panose="02040503050406030204" pitchFamily="18" charset="0"/>
              </a:rPr>
              <a:t>Kế hoạch quản lý nguồn nhân lực dự án là quá trình xác định và tài liệu hóa các vai trò (project roles), trách nhiệm (responsibilities), kỹ năng cần thiết, mối quan hệ giữa các roles và tạo kế hoạch quản lý nhân viên trong một dự án. Lợi ích chính yếu của quá trình này là nó thiết lập được vai trò, trách nhiệm trong dự án cho mỗi cá nhân, sơ đồ tổ chức dự án, và kế hoạch quản lý nhân sự bao gồm việc khi nào thì cần người đổ vào dự án khi nào thì rút người ra. Các input đầu vào, kỹ thuật áp dụng và đầu ra của quá trình này các bạn có thể tham khảo hình bên </a:t>
            </a:r>
            <a:r>
              <a:rPr lang="en-US" altLang="zh-CN" sz="1600" dirty="0" err="1">
                <a:latin typeface="Cambria" panose="02040503050406030204" pitchFamily="18" charset="0"/>
                <a:ea typeface="Cambria" panose="02040503050406030204" pitchFamily="18" charset="0"/>
              </a:rPr>
              <a:t>dưới</a:t>
            </a:r>
            <a:r>
              <a:rPr lang="en-US" altLang="zh-CN" sz="1600" dirty="0">
                <a:latin typeface="Cambria" panose="02040503050406030204" pitchFamily="18" charset="0"/>
                <a:ea typeface="Cambria" panose="02040503050406030204" pitchFamily="18" charset="0"/>
              </a:rPr>
              <a:t>.</a:t>
            </a:r>
          </a:p>
          <a:p>
            <a:pPr marL="0" marR="0" algn="just">
              <a:spcBef>
                <a:spcPts val="0"/>
              </a:spcBef>
              <a:spcAft>
                <a:spcPts val="0"/>
              </a:spcAft>
            </a:pPr>
            <a:endParaRPr lang="en-US" sz="1600" dirty="0">
              <a:latin typeface="Cambria" panose="02040503050406030204" pitchFamily="18" charset="0"/>
              <a:ea typeface="Cambria" panose="02040503050406030204" pitchFamily="18" charset="0"/>
            </a:endParaRPr>
          </a:p>
        </p:txBody>
      </p:sp>
      <p:graphicFrame>
        <p:nvGraphicFramePr>
          <p:cNvPr id="12" name="Table 11">
            <a:extLst>
              <a:ext uri="{FF2B5EF4-FFF2-40B4-BE49-F238E27FC236}">
                <a16:creationId xmlns:a16="http://schemas.microsoft.com/office/drawing/2014/main" id="{82E2669D-634E-D6C4-3748-062A5563298F}"/>
              </a:ext>
            </a:extLst>
          </p:cNvPr>
          <p:cNvGraphicFramePr>
            <a:graphicFrameLocks noGrp="1"/>
          </p:cNvGraphicFramePr>
          <p:nvPr>
            <p:extLst>
              <p:ext uri="{D42A27DB-BD31-4B8C-83A1-F6EECF244321}">
                <p14:modId xmlns:p14="http://schemas.microsoft.com/office/powerpoint/2010/main" val="2134392406"/>
              </p:ext>
            </p:extLst>
          </p:nvPr>
        </p:nvGraphicFramePr>
        <p:xfrm>
          <a:off x="423418" y="2319828"/>
          <a:ext cx="11454332" cy="1005840"/>
        </p:xfrm>
        <a:graphic>
          <a:graphicData uri="http://schemas.openxmlformats.org/drawingml/2006/table">
            <a:tbl>
              <a:tblPr firstRow="1" firstCol="1" bandRow="1">
                <a:tableStyleId>{5C22544A-7EE6-4342-B048-85BDC9FD1C3A}</a:tableStyleId>
              </a:tblPr>
              <a:tblGrid>
                <a:gridCol w="4977922">
                  <a:extLst>
                    <a:ext uri="{9D8B030D-6E8A-4147-A177-3AD203B41FA5}">
                      <a16:colId xmlns:a16="http://schemas.microsoft.com/office/drawing/2014/main" val="2062471233"/>
                    </a:ext>
                  </a:extLst>
                </a:gridCol>
                <a:gridCol w="4008474">
                  <a:extLst>
                    <a:ext uri="{9D8B030D-6E8A-4147-A177-3AD203B41FA5}">
                      <a16:colId xmlns:a16="http://schemas.microsoft.com/office/drawing/2014/main" val="1003637032"/>
                    </a:ext>
                  </a:extLst>
                </a:gridCol>
                <a:gridCol w="2467936">
                  <a:extLst>
                    <a:ext uri="{9D8B030D-6E8A-4147-A177-3AD203B41FA5}">
                      <a16:colId xmlns:a16="http://schemas.microsoft.com/office/drawing/2014/main" val="3756429719"/>
                    </a:ext>
                  </a:extLst>
                </a:gridCol>
              </a:tblGrid>
              <a:tr h="0">
                <a:tc>
                  <a:txBody>
                    <a:bodyPr/>
                    <a:lstStyle/>
                    <a:p>
                      <a:pPr marL="0" marR="0" algn="ctr">
                        <a:spcBef>
                          <a:spcPts val="0"/>
                        </a:spcBef>
                        <a:spcAft>
                          <a:spcPts val="0"/>
                        </a:spcAft>
                      </a:pPr>
                      <a:r>
                        <a:rPr lang="en-US" sz="1100" dirty="0">
                          <a:solidFill>
                            <a:schemeClr val="tx1"/>
                          </a:solidFill>
                          <a:effectLst/>
                          <a:latin typeface="Cambria" panose="02040503050406030204" pitchFamily="18" charset="0"/>
                          <a:ea typeface="Cambria" panose="02040503050406030204" pitchFamily="18" charset="0"/>
                        </a:rPr>
                        <a:t>INPUT</a:t>
                      </a:r>
                      <a:endParaRPr lang="en-US" sz="110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alpha val="56000"/>
                      </a:schemeClr>
                    </a:solidFill>
                  </a:tcPr>
                </a:tc>
                <a:tc>
                  <a:txBody>
                    <a:bodyPr/>
                    <a:lstStyle/>
                    <a:p>
                      <a:pPr marL="0" marR="0" algn="ctr">
                        <a:spcBef>
                          <a:spcPts val="0"/>
                        </a:spcBef>
                        <a:spcAft>
                          <a:spcPts val="0"/>
                        </a:spcAft>
                      </a:pPr>
                      <a:r>
                        <a:rPr lang="en-US" sz="1100">
                          <a:solidFill>
                            <a:schemeClr val="tx1"/>
                          </a:solidFill>
                          <a:effectLst/>
                          <a:latin typeface="Cambria" panose="02040503050406030204" pitchFamily="18" charset="0"/>
                          <a:ea typeface="Cambria" panose="02040503050406030204" pitchFamily="18" charset="0"/>
                        </a:rPr>
                        <a:t>Tools &amp; Techniques</a:t>
                      </a:r>
                      <a:endParaRPr lang="en-US" sz="110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alpha val="56000"/>
                      </a:schemeClr>
                    </a:solidFill>
                  </a:tcPr>
                </a:tc>
                <a:tc>
                  <a:txBody>
                    <a:bodyPr/>
                    <a:lstStyle/>
                    <a:p>
                      <a:pPr marL="0" marR="0" algn="ctr">
                        <a:spcBef>
                          <a:spcPts val="0"/>
                        </a:spcBef>
                        <a:spcAft>
                          <a:spcPts val="0"/>
                        </a:spcAft>
                      </a:pPr>
                      <a:r>
                        <a:rPr lang="en-US" sz="1100" dirty="0">
                          <a:solidFill>
                            <a:schemeClr val="tx1"/>
                          </a:solidFill>
                          <a:effectLst/>
                          <a:latin typeface="Cambria" panose="02040503050406030204" pitchFamily="18" charset="0"/>
                          <a:ea typeface="Cambria" panose="02040503050406030204" pitchFamily="18" charset="0"/>
                        </a:rPr>
                        <a:t>OUTPUT</a:t>
                      </a:r>
                      <a:endParaRPr lang="en-US" sz="110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alpha val="56000"/>
                      </a:schemeClr>
                    </a:solidFill>
                  </a:tcPr>
                </a:tc>
                <a:extLst>
                  <a:ext uri="{0D108BD9-81ED-4DB2-BD59-A6C34878D82A}">
                    <a16:rowId xmlns:a16="http://schemas.microsoft.com/office/drawing/2014/main" val="2985805985"/>
                  </a:ext>
                </a:extLst>
              </a:tr>
              <a:tr h="0">
                <a:tc>
                  <a:txBody>
                    <a:bodyPr/>
                    <a:lstStyle/>
                    <a:p>
                      <a:pPr marL="0" marR="0">
                        <a:spcBef>
                          <a:spcPts val="0"/>
                        </a:spcBef>
                        <a:spcAft>
                          <a:spcPts val="0"/>
                        </a:spcAft>
                      </a:pPr>
                      <a:r>
                        <a:rPr lang="en-US" sz="1100" dirty="0">
                          <a:solidFill>
                            <a:schemeClr val="tx1"/>
                          </a:solidFill>
                          <a:effectLst/>
                          <a:latin typeface="Cambria" panose="02040503050406030204" pitchFamily="18" charset="0"/>
                          <a:ea typeface="Cambria" panose="02040503050406030204" pitchFamily="18" charset="0"/>
                        </a:rPr>
                        <a:t>1. Project management plan / </a:t>
                      </a:r>
                      <a:r>
                        <a:rPr lang="en-US" sz="1100" dirty="0" err="1">
                          <a:solidFill>
                            <a:schemeClr val="tx1"/>
                          </a:solidFill>
                          <a:effectLst/>
                          <a:latin typeface="Cambria" panose="02040503050406030204" pitchFamily="18" charset="0"/>
                          <a:ea typeface="Cambria" panose="02040503050406030204" pitchFamily="18" charset="0"/>
                        </a:rPr>
                        <a:t>Kế</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hoạch</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quản</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lý</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dự</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án</a:t>
                      </a:r>
                      <a:endParaRPr lang="en-US" sz="1100" dirty="0">
                        <a:solidFill>
                          <a:schemeClr val="tx1"/>
                        </a:solidFill>
                        <a:effectLst/>
                        <a:latin typeface="Cambria" panose="02040503050406030204" pitchFamily="18" charset="0"/>
                        <a:ea typeface="Cambria" panose="02040503050406030204" pitchFamily="18" charset="0"/>
                      </a:endParaRPr>
                    </a:p>
                    <a:p>
                      <a:pPr marL="0" marR="0">
                        <a:spcBef>
                          <a:spcPts val="0"/>
                        </a:spcBef>
                        <a:spcAft>
                          <a:spcPts val="0"/>
                        </a:spcAft>
                      </a:pPr>
                      <a:r>
                        <a:rPr lang="en-US" sz="1100" dirty="0">
                          <a:solidFill>
                            <a:schemeClr val="tx1"/>
                          </a:solidFill>
                          <a:effectLst/>
                          <a:latin typeface="Cambria" panose="02040503050406030204" pitchFamily="18" charset="0"/>
                          <a:ea typeface="Cambria" panose="02040503050406030204" pitchFamily="18" charset="0"/>
                        </a:rPr>
                        <a:t>2.Activity resource plan / </a:t>
                      </a:r>
                      <a:r>
                        <a:rPr lang="en-US" sz="1100" dirty="0" err="1">
                          <a:solidFill>
                            <a:schemeClr val="tx1"/>
                          </a:solidFill>
                          <a:effectLst/>
                          <a:latin typeface="Cambria" panose="02040503050406030204" pitchFamily="18" charset="0"/>
                          <a:ea typeface="Cambria" panose="02040503050406030204" pitchFamily="18" charset="0"/>
                        </a:rPr>
                        <a:t>Kế</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hoạch</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hoạt</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động</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nguông</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lực</a:t>
                      </a:r>
                      <a:endParaRPr lang="en-US" sz="1100" dirty="0">
                        <a:solidFill>
                          <a:schemeClr val="tx1"/>
                        </a:solidFill>
                        <a:effectLst/>
                        <a:latin typeface="Cambria" panose="02040503050406030204" pitchFamily="18" charset="0"/>
                        <a:ea typeface="Cambria" panose="02040503050406030204" pitchFamily="18" charset="0"/>
                      </a:endParaRPr>
                    </a:p>
                    <a:p>
                      <a:pPr marL="0" marR="0">
                        <a:spcBef>
                          <a:spcPts val="0"/>
                        </a:spcBef>
                        <a:spcAft>
                          <a:spcPts val="0"/>
                        </a:spcAft>
                      </a:pPr>
                      <a:r>
                        <a:rPr lang="en-US" sz="1100" dirty="0">
                          <a:solidFill>
                            <a:schemeClr val="tx1"/>
                          </a:solidFill>
                          <a:effectLst/>
                          <a:latin typeface="Cambria" panose="02040503050406030204" pitchFamily="18" charset="0"/>
                          <a:ea typeface="Cambria" panose="02040503050406030204" pitchFamily="18" charset="0"/>
                        </a:rPr>
                        <a:t>3.Enterprise environmental factors / </a:t>
                      </a:r>
                      <a:r>
                        <a:rPr lang="en-US" sz="1100" dirty="0" err="1">
                          <a:solidFill>
                            <a:schemeClr val="tx1"/>
                          </a:solidFill>
                          <a:effectLst/>
                          <a:latin typeface="Cambria" panose="02040503050406030204" pitchFamily="18" charset="0"/>
                          <a:ea typeface="Cambria" panose="02040503050406030204" pitchFamily="18" charset="0"/>
                        </a:rPr>
                        <a:t>Các</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yếu</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tố</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môi</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trường</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doanh</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nghiệp</a:t>
                      </a:r>
                      <a:endParaRPr lang="en-US" sz="1100" dirty="0">
                        <a:solidFill>
                          <a:schemeClr val="tx1"/>
                        </a:solidFill>
                        <a:effectLst/>
                        <a:latin typeface="Cambria" panose="02040503050406030204" pitchFamily="18" charset="0"/>
                        <a:ea typeface="Cambria" panose="02040503050406030204" pitchFamily="18" charset="0"/>
                      </a:endParaRPr>
                    </a:p>
                    <a:p>
                      <a:pPr marL="0" marR="0">
                        <a:spcBef>
                          <a:spcPts val="0"/>
                        </a:spcBef>
                        <a:spcAft>
                          <a:spcPts val="0"/>
                        </a:spcAft>
                      </a:pPr>
                      <a:r>
                        <a:rPr lang="en-US" sz="1100" dirty="0">
                          <a:solidFill>
                            <a:schemeClr val="tx1"/>
                          </a:solidFill>
                          <a:effectLst/>
                          <a:latin typeface="Cambria" panose="02040503050406030204" pitchFamily="18" charset="0"/>
                          <a:ea typeface="Cambria" panose="02040503050406030204" pitchFamily="18" charset="0"/>
                        </a:rPr>
                        <a:t>4.Organizational process assets / Quy </a:t>
                      </a:r>
                      <a:r>
                        <a:rPr lang="en-US" sz="1100" dirty="0" err="1">
                          <a:solidFill>
                            <a:schemeClr val="tx1"/>
                          </a:solidFill>
                          <a:effectLst/>
                          <a:latin typeface="Cambria" panose="02040503050406030204" pitchFamily="18" charset="0"/>
                          <a:ea typeface="Cambria" panose="02040503050406030204" pitchFamily="18" charset="0"/>
                        </a:rPr>
                        <a:t>trình</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tài</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sản</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của</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tổ</a:t>
                      </a:r>
                      <a:r>
                        <a:rPr lang="en-US" sz="1100" dirty="0">
                          <a:solidFill>
                            <a:schemeClr val="tx1"/>
                          </a:solidFill>
                          <a:effectLst/>
                          <a:latin typeface="Cambria" panose="02040503050406030204" pitchFamily="18" charset="0"/>
                          <a:ea typeface="Cambria" panose="02040503050406030204" pitchFamily="18" charset="0"/>
                        </a:rPr>
                        <a:t> </a:t>
                      </a:r>
                      <a:r>
                        <a:rPr lang="en-US" sz="1100" dirty="0" err="1">
                          <a:solidFill>
                            <a:schemeClr val="tx1"/>
                          </a:solidFill>
                          <a:effectLst/>
                          <a:latin typeface="Cambria" panose="02040503050406030204" pitchFamily="18" charset="0"/>
                          <a:ea typeface="Cambria" panose="02040503050406030204" pitchFamily="18" charset="0"/>
                        </a:rPr>
                        <a:t>chức</a:t>
                      </a:r>
                      <a:endParaRPr lang="en-US" sz="1100" dirty="0">
                        <a:solidFill>
                          <a:schemeClr val="tx1"/>
                        </a:solidFill>
                        <a:effectLst/>
                        <a:latin typeface="Cambria" panose="02040503050406030204" pitchFamily="18" charset="0"/>
                        <a:ea typeface="Cambria" panose="02040503050406030204" pitchFamily="18" charset="0"/>
                      </a:endParaRPr>
                    </a:p>
                    <a:p>
                      <a:pPr marL="0" marR="0" algn="just">
                        <a:spcBef>
                          <a:spcPts val="0"/>
                        </a:spcBef>
                        <a:spcAft>
                          <a:spcPts val="0"/>
                        </a:spcAft>
                      </a:pPr>
                      <a:r>
                        <a:rPr lang="en-US" sz="1100" dirty="0">
                          <a:solidFill>
                            <a:schemeClr val="tx1"/>
                          </a:solidFill>
                          <a:effectLst/>
                          <a:latin typeface="Cambria" panose="02040503050406030204" pitchFamily="18" charset="0"/>
                          <a:ea typeface="Cambria" panose="02040503050406030204" pitchFamily="18" charset="0"/>
                        </a:rPr>
                        <a:t> </a:t>
                      </a:r>
                      <a:endParaRPr lang="en-US" sz="110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alpha val="56000"/>
                      </a:schemeClr>
                    </a:solidFill>
                  </a:tcPr>
                </a:tc>
                <a:tc>
                  <a:txBody>
                    <a:bodyPr/>
                    <a:lstStyle/>
                    <a:p>
                      <a:pPr marL="0" marR="0" algn="just">
                        <a:spcBef>
                          <a:spcPts val="0"/>
                        </a:spcBef>
                        <a:spcAft>
                          <a:spcPts val="0"/>
                        </a:spcAft>
                      </a:pPr>
                      <a:r>
                        <a:rPr lang="en-US" sz="1100">
                          <a:solidFill>
                            <a:schemeClr val="tx1"/>
                          </a:solidFill>
                          <a:effectLst/>
                          <a:latin typeface="Cambria" panose="02040503050406030204" pitchFamily="18" charset="0"/>
                          <a:ea typeface="Cambria" panose="02040503050406030204" pitchFamily="18" charset="0"/>
                        </a:rPr>
                        <a:t>1.Organization charts and position descriptions</a:t>
                      </a:r>
                    </a:p>
                    <a:p>
                      <a:pPr marL="0" marR="0" algn="just">
                        <a:spcBef>
                          <a:spcPts val="0"/>
                        </a:spcBef>
                        <a:spcAft>
                          <a:spcPts val="0"/>
                        </a:spcAft>
                      </a:pPr>
                      <a:r>
                        <a:rPr lang="en-US" sz="1100">
                          <a:solidFill>
                            <a:schemeClr val="tx1"/>
                          </a:solidFill>
                          <a:effectLst/>
                          <a:latin typeface="Cambria" panose="02040503050406030204" pitchFamily="18" charset="0"/>
                          <a:ea typeface="Cambria" panose="02040503050406030204" pitchFamily="18" charset="0"/>
                        </a:rPr>
                        <a:t>2.Networking</a:t>
                      </a:r>
                    </a:p>
                    <a:p>
                      <a:pPr marL="0" marR="0" algn="just">
                        <a:spcBef>
                          <a:spcPts val="0"/>
                        </a:spcBef>
                        <a:spcAft>
                          <a:spcPts val="0"/>
                        </a:spcAft>
                      </a:pPr>
                      <a:r>
                        <a:rPr lang="en-US" sz="1100">
                          <a:solidFill>
                            <a:schemeClr val="tx1"/>
                          </a:solidFill>
                          <a:effectLst/>
                          <a:latin typeface="Cambria" panose="02040503050406030204" pitchFamily="18" charset="0"/>
                          <a:ea typeface="Cambria" panose="02040503050406030204" pitchFamily="18" charset="0"/>
                        </a:rPr>
                        <a:t>3. Organizational theory</a:t>
                      </a:r>
                    </a:p>
                    <a:p>
                      <a:pPr marL="0" marR="0" algn="just">
                        <a:spcBef>
                          <a:spcPts val="0"/>
                        </a:spcBef>
                        <a:spcAft>
                          <a:spcPts val="0"/>
                        </a:spcAft>
                      </a:pPr>
                      <a:r>
                        <a:rPr lang="en-US" sz="1100">
                          <a:solidFill>
                            <a:schemeClr val="tx1"/>
                          </a:solidFill>
                          <a:effectLst/>
                          <a:latin typeface="Cambria" panose="02040503050406030204" pitchFamily="18" charset="0"/>
                          <a:ea typeface="Cambria" panose="02040503050406030204" pitchFamily="18" charset="0"/>
                        </a:rPr>
                        <a:t>4.Expert judgment</a:t>
                      </a:r>
                    </a:p>
                    <a:p>
                      <a:pPr marL="0" marR="0" algn="just">
                        <a:spcBef>
                          <a:spcPts val="0"/>
                        </a:spcBef>
                        <a:spcAft>
                          <a:spcPts val="0"/>
                        </a:spcAft>
                      </a:pPr>
                      <a:r>
                        <a:rPr lang="en-US" sz="1100">
                          <a:solidFill>
                            <a:schemeClr val="tx1"/>
                          </a:solidFill>
                          <a:effectLst/>
                          <a:latin typeface="Cambria" panose="02040503050406030204" pitchFamily="18" charset="0"/>
                          <a:ea typeface="Cambria" panose="02040503050406030204" pitchFamily="18" charset="0"/>
                        </a:rPr>
                        <a:t>5.Meetings</a:t>
                      </a:r>
                      <a:endParaRPr lang="en-US" sz="110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alpha val="56000"/>
                      </a:schemeClr>
                    </a:solidFill>
                  </a:tcPr>
                </a:tc>
                <a:tc>
                  <a:txBody>
                    <a:bodyPr/>
                    <a:lstStyle/>
                    <a:p>
                      <a:pPr marL="0" marR="0" algn="just">
                        <a:spcBef>
                          <a:spcPts val="0"/>
                        </a:spcBef>
                        <a:spcAft>
                          <a:spcPts val="0"/>
                        </a:spcAft>
                      </a:pPr>
                      <a:r>
                        <a:rPr lang="en-US" sz="1100" dirty="0">
                          <a:solidFill>
                            <a:schemeClr val="tx1"/>
                          </a:solidFill>
                          <a:effectLst/>
                          <a:latin typeface="Cambria" panose="02040503050406030204" pitchFamily="18" charset="0"/>
                          <a:ea typeface="Cambria" panose="02040503050406030204" pitchFamily="18" charset="0"/>
                        </a:rPr>
                        <a:t>1. Human resource management plan</a:t>
                      </a:r>
                      <a:endParaRPr lang="en-US" sz="110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alpha val="56000"/>
                      </a:schemeClr>
                    </a:solidFill>
                  </a:tcPr>
                </a:tc>
                <a:extLst>
                  <a:ext uri="{0D108BD9-81ED-4DB2-BD59-A6C34878D82A}">
                    <a16:rowId xmlns:a16="http://schemas.microsoft.com/office/drawing/2014/main" val="2225101266"/>
                  </a:ext>
                </a:extLst>
              </a:tr>
            </a:tbl>
          </a:graphicData>
        </a:graphic>
      </p:graphicFrame>
      <p:sp>
        <p:nvSpPr>
          <p:cNvPr id="14" name="TextBox 13">
            <a:extLst>
              <a:ext uri="{FF2B5EF4-FFF2-40B4-BE49-F238E27FC236}">
                <a16:creationId xmlns:a16="http://schemas.microsoft.com/office/drawing/2014/main" id="{09BD4625-A51D-BBDA-39B3-5CFAB98FAA20}"/>
              </a:ext>
            </a:extLst>
          </p:cNvPr>
          <p:cNvSpPr txBox="1"/>
          <p:nvPr/>
        </p:nvSpPr>
        <p:spPr>
          <a:xfrm>
            <a:off x="339353" y="3109270"/>
            <a:ext cx="11655358" cy="2631490"/>
          </a:xfrm>
          <a:prstGeom prst="rect">
            <a:avLst/>
          </a:prstGeom>
          <a:noFill/>
        </p:spPr>
        <p:txBody>
          <a:bodyPr wrap="square">
            <a:spAutoFit/>
          </a:bodyPr>
          <a:lstStyle/>
          <a:p>
            <a:pPr marL="0" marR="0" algn="just">
              <a:spcBef>
                <a:spcPts val="0"/>
              </a:spcBef>
              <a:spcAft>
                <a:spcPts val="0"/>
              </a:spcAft>
            </a:pPr>
            <a:endParaRPr lang="en-US" sz="1600" dirty="0">
              <a:latin typeface="Cambria" panose="02040503050406030204" pitchFamily="18" charset="0"/>
              <a:ea typeface="Cambria" panose="02040503050406030204" pitchFamily="18" charset="0"/>
            </a:endParaRPr>
          </a:p>
          <a:p>
            <a:pPr marL="0" marR="0" algn="just">
              <a:spcBef>
                <a:spcPts val="0"/>
              </a:spcBef>
              <a:spcAft>
                <a:spcPts val="0"/>
              </a:spcAft>
            </a:pPr>
            <a:endParaRPr lang="en-US" sz="1600" dirty="0">
              <a:latin typeface="Cambria" panose="02040503050406030204" pitchFamily="18" charset="0"/>
              <a:ea typeface="Cambria" panose="02040503050406030204" pitchFamily="18" charset="0"/>
            </a:endParaRPr>
          </a:p>
          <a:p>
            <a:pPr marL="0" marR="0" algn="just">
              <a:spcBef>
                <a:spcPts val="0"/>
              </a:spcBef>
              <a:spcAft>
                <a:spcPts val="0"/>
              </a:spcAft>
            </a:pPr>
            <a:r>
              <a:rPr lang="en-US" sz="1600" dirty="0" err="1">
                <a:latin typeface="Cambria" panose="02040503050406030204" pitchFamily="18" charset="0"/>
                <a:ea typeface="Cambria" panose="02040503050406030204" pitchFamily="18" charset="0"/>
              </a:rPr>
              <a:t>V</a:t>
            </a:r>
            <a:r>
              <a:rPr lang="en-US" altLang="zh-CN" sz="1600" dirty="0" err="1">
                <a:latin typeface="Cambria" panose="02040503050406030204" pitchFamily="18" charset="0"/>
                <a:ea typeface="Cambria" panose="02040503050406030204" pitchFamily="18" charset="0"/>
              </a:rPr>
              <a:t>iệc</a:t>
            </a:r>
            <a:r>
              <a:rPr lang="en-US" altLang="zh-CN" sz="1600" dirty="0">
                <a:latin typeface="Cambria" panose="02040503050406030204" pitchFamily="18" charset="0"/>
                <a:ea typeface="Cambria" panose="02040503050406030204" pitchFamily="18" charset="0"/>
              </a:rPr>
              <a:t> lập kế hoạch quản lý nguồn nhân lực được sử dụng để </a:t>
            </a:r>
            <a:r>
              <a:rPr lang="en-US" altLang="zh-CN" sz="1600" b="1" dirty="0">
                <a:solidFill>
                  <a:srgbClr val="0070C0"/>
                </a:solidFill>
                <a:latin typeface="Cambria" panose="02040503050406030204" pitchFamily="18" charset="0"/>
                <a:ea typeface="Cambria" panose="02040503050406030204" pitchFamily="18" charset="0"/>
              </a:rPr>
              <a:t>xác định và nhận biết nguồn nhân lực cùng các kỹ năng cần thiết cho sự thành công của dự án</a:t>
            </a:r>
            <a:r>
              <a:rPr lang="en-US" altLang="zh-CN" sz="1600" dirty="0">
                <a:latin typeface="Cambria" panose="02040503050406030204" pitchFamily="18" charset="0"/>
                <a:ea typeface="Cambria" panose="02040503050406030204" pitchFamily="18" charset="0"/>
              </a:rPr>
              <a:t>. Ngoài những điểm đã đề cập ở trên như vai trò, trách nhiệm, thời gian load người vào dự án, thời gian release người khỏi dự án thì nó còn chỉ ra nhu cầu đào tạo, chiến lược xây dựng team, kế hoạch công nhận và khen thưởng nhân viên trong dự án, xem xét việc tuân thủ, vấn đề an toàn, và tác động của kế hoạch quản lý nhân sự đối với công ty, tổ chức.</a:t>
            </a:r>
            <a:endParaRPr lang="en-US" sz="1600" dirty="0">
              <a:latin typeface="Cambria" panose="02040503050406030204" pitchFamily="18" charset="0"/>
              <a:ea typeface="Cambria" panose="02040503050406030204" pitchFamily="18" charset="0"/>
            </a:endParaRPr>
          </a:p>
          <a:p>
            <a:pPr marL="285750" marR="0" lvl="1" indent="-285750" algn="just">
              <a:spcBef>
                <a:spcPts val="600"/>
              </a:spcBef>
              <a:spcAft>
                <a:spcPts val="300"/>
              </a:spcAft>
              <a:buClr>
                <a:schemeClr val="accent2">
                  <a:lumMod val="75000"/>
                </a:schemeClr>
              </a:buClr>
              <a:buSzPct val="140000"/>
              <a:buFont typeface="Wingdings" panose="05000000000000000000" pitchFamily="2" charset="2"/>
              <a:buChar char="§"/>
              <a:tabLst>
                <a:tab pos="285750" algn="l"/>
              </a:tabLst>
            </a:pPr>
            <a:r>
              <a:rPr lang="en-US" altLang="zh-CN" sz="1600" dirty="0">
                <a:latin typeface="Cambria" panose="02040503050406030204" pitchFamily="18" charset="0"/>
                <a:ea typeface="Cambria" panose="02040503050406030204" pitchFamily="18" charset="0"/>
              </a:rPr>
              <a:t>Vai trò của dự án có thể </a:t>
            </a:r>
            <a:r>
              <a:rPr lang="en-US" sz="1600" dirty="0" err="1">
                <a:latin typeface="Cambria" panose="02040503050406030204" pitchFamily="18" charset="0"/>
                <a:ea typeface="Cambria" panose="02040503050406030204" pitchFamily="18" charset="0"/>
              </a:rPr>
              <a:t>giao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phó</a:t>
            </a:r>
            <a:r>
              <a:rPr lang="zh-CN" altLang="en-US" sz="1600" dirty="0">
                <a:latin typeface="Cambria" panose="02040503050406030204" pitchFamily="18" charset="0"/>
              </a:rPr>
              <a:t> </a:t>
            </a:r>
            <a:r>
              <a:rPr lang="en-US" altLang="zh-CN" sz="1600" dirty="0">
                <a:latin typeface="Cambria" panose="02040503050406030204" pitchFamily="18" charset="0"/>
                <a:ea typeface="Cambria" panose="02040503050406030204" pitchFamily="18" charset="0"/>
              </a:rPr>
              <a:t>cho cá nhân hoặc cho </a:t>
            </a:r>
            <a:r>
              <a:rPr lang="en-US" altLang="zh-CN" sz="1600" dirty="0" err="1">
                <a:latin typeface="Cambria" panose="02040503050406030204" pitchFamily="18" charset="0"/>
                <a:ea typeface="Cambria" panose="02040503050406030204" pitchFamily="18" charset="0"/>
              </a:rPr>
              <a:t>một</a:t>
            </a:r>
            <a:r>
              <a:rPr lang="en-US" altLang="zh-CN"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nhóm</a:t>
            </a:r>
            <a:r>
              <a:rPr lang="en-US" altLang="zh-CN" sz="1600" dirty="0">
                <a:latin typeface="Cambria" panose="02040503050406030204" pitchFamily="18" charset="0"/>
                <a:ea typeface="Cambria" panose="02040503050406030204" pitchFamily="18" charset="0"/>
              </a:rPr>
              <a:t>. </a:t>
            </a:r>
            <a:r>
              <a:rPr lang="en-US" altLang="zh-CN" sz="1600" dirty="0" err="1">
                <a:latin typeface="Cambria" panose="02040503050406030204" pitchFamily="18" charset="0"/>
                <a:ea typeface="Cambria" panose="02040503050406030204" pitchFamily="18" charset="0"/>
              </a:rPr>
              <a:t>Các</a:t>
            </a:r>
            <a:r>
              <a:rPr lang="en-US" altLang="zh-CN"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nhóm</a:t>
            </a:r>
            <a:r>
              <a:rPr lang="zh-CN" altLang="en-US" sz="1600" dirty="0">
                <a:latin typeface="Cambria" panose="02040503050406030204" pitchFamily="18" charset="0"/>
              </a:rPr>
              <a:t> </a:t>
            </a:r>
            <a:r>
              <a:rPr lang="en-US" altLang="zh-CN" sz="1600" dirty="0">
                <a:latin typeface="Cambria" panose="02040503050406030204" pitchFamily="18" charset="0"/>
                <a:ea typeface="Cambria" panose="02040503050406030204" pitchFamily="18" charset="0"/>
              </a:rPr>
              <a:t>hoặc các </a:t>
            </a:r>
            <a:r>
              <a:rPr lang="en-US" sz="1600" dirty="0" err="1">
                <a:latin typeface="Cambria" panose="02040503050406030204" pitchFamily="18" charset="0"/>
                <a:ea typeface="Cambria" panose="02040503050406030204" pitchFamily="18" charset="0"/>
              </a:rPr>
              <a:t>thành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viên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nhóm</a:t>
            </a:r>
            <a:r>
              <a:rPr lang="zh-CN" altLang="en-US" sz="1600" dirty="0">
                <a:latin typeface="Cambria" panose="02040503050406030204" pitchFamily="18" charset="0"/>
              </a:rPr>
              <a:t> </a:t>
            </a:r>
            <a:r>
              <a:rPr lang="en-US" altLang="zh-CN" sz="1600" dirty="0">
                <a:latin typeface="Cambria" panose="02040503050406030204" pitchFamily="18" charset="0"/>
                <a:ea typeface="Cambria" panose="02040503050406030204" pitchFamily="18" charset="0"/>
              </a:rPr>
              <a:t>có thể là nhân viên trong hoặc ngoài công ty. Thường trong một tổ chức chắc chắn sẽ có nhiều dự án khác chạy song song cùng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zh-CN" altLang="en-US" sz="1600" dirty="0">
                <a:latin typeface="Cambria" panose="02040503050406030204" pitchFamily="18" charset="0"/>
              </a:rPr>
              <a:t> </a:t>
            </a:r>
            <a:r>
              <a:rPr lang="en-US" altLang="zh-CN" sz="1600" dirty="0">
                <a:latin typeface="Cambria" panose="02040503050406030204" pitchFamily="18" charset="0"/>
                <a:ea typeface="Cambria" panose="02040503050406030204" pitchFamily="18" charset="0"/>
              </a:rPr>
              <a:t>của bạn và việc cạnh tranh nguồn nhân lực. Với những yếu tố đó có thể ảnh hưởng tới chi phí, rủi ro và chất lượng của dự án. Đó là lý do tại sao một bản kế hoạch quản lý nhân lực hiệu quả cần phải cân nhắc và plan kỹ lưỡng cho tình huống đó.</a:t>
            </a:r>
            <a:endParaRPr lang="en-US"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9282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3E7D884-9BED-E669-4BDF-05997B7B21F9}"/>
              </a:ext>
            </a:extLst>
          </p:cNvPr>
          <p:cNvSpPr txBox="1"/>
          <p:nvPr/>
        </p:nvSpPr>
        <p:spPr>
          <a:xfrm>
            <a:off x="339354" y="724376"/>
            <a:ext cx="11538396" cy="5893921"/>
          </a:xfrm>
          <a:prstGeom prst="rect">
            <a:avLst/>
          </a:prstGeom>
          <a:noFill/>
        </p:spPr>
        <p:txBody>
          <a:bodyPr wrap="square">
            <a:spAutoFit/>
          </a:bodyPr>
          <a:lstStyle/>
          <a:p>
            <a:pPr marR="0" lvl="0" algn="just">
              <a:spcBef>
                <a:spcPts val="0"/>
              </a:spcBef>
              <a:spcAft>
                <a:spcPts val="0"/>
              </a:spcAft>
              <a:tabLst>
                <a:tab pos="228600" algn="l"/>
              </a:tabLst>
            </a:pPr>
            <a:r>
              <a:rPr lang="zh-CN" sz="1300" b="1" dirty="0">
                <a:solidFill>
                  <a:srgbClr val="000000"/>
                </a:solidFill>
                <a:effectLst/>
                <a:latin typeface="Cambria" panose="02040503050406030204" pitchFamily="18" charset="0"/>
                <a:ea typeface="Cambria" panose="02040503050406030204" pitchFamily="18" charset="0"/>
                <a:cs typeface="Times New Roman" panose="02020603050405020304" pitchFamily="18" charset="0"/>
              </a:rPr>
              <a:t>Đầu vào (Inputs) của kế hoạch quản lý nguồn nhân lực</a:t>
            </a:r>
            <a:endParaRPr lang="en-US" sz="1300" b="1" dirty="0">
              <a:solidFill>
                <a:srgbClr val="2F5496"/>
              </a:solidFill>
              <a:effectLst/>
              <a:latin typeface="Cambria" panose="02040503050406030204" pitchFamily="18" charset="0"/>
              <a:ea typeface="Cambria" panose="02040503050406030204" pitchFamily="18" charset="0"/>
              <a:cs typeface="Times New Roman" panose="02020603050405020304" pitchFamily="18" charset="0"/>
            </a:endParaRPr>
          </a:p>
          <a:p>
            <a:pPr marL="233363" marR="0" lvl="0" indent="-222250" algn="just">
              <a:spcBef>
                <a:spcPts val="0"/>
              </a:spcBef>
              <a:spcAft>
                <a:spcPts val="0"/>
              </a:spcAft>
              <a:buClr>
                <a:schemeClr val="accent2">
                  <a:lumMod val="75000"/>
                </a:schemeClr>
              </a:buClr>
              <a:buSzPts val="1000"/>
              <a:buFont typeface="Wingdings" panose="05000000000000000000" pitchFamily="2" charset="2"/>
              <a:buChar char="§"/>
              <a:tabLst>
                <a:tab pos="287338" algn="l"/>
              </a:tabLst>
            </a:pPr>
            <a:r>
              <a:rPr lang="zh-CN" sz="1300" dirty="0">
                <a:solidFill>
                  <a:srgbClr val="000000"/>
                </a:solidFill>
                <a:effectLst/>
                <a:latin typeface="Cambria" panose="02040503050406030204" pitchFamily="18" charset="0"/>
                <a:ea typeface="Cambria" panose="02040503050406030204" pitchFamily="18" charset="0"/>
                <a:cs typeface="Times New Roman" panose="02020603050405020304" pitchFamily="18" charset="0"/>
              </a:rPr>
              <a:t>Project managemnet plan / Kế hoạch quản lý dự án</a:t>
            </a:r>
            <a:endParaRPr lang="en-US" sz="1300" dirty="0">
              <a:effectLst/>
              <a:latin typeface="Cambria" panose="02040503050406030204" pitchFamily="18" charset="0"/>
              <a:ea typeface="Cambria" panose="02040503050406030204" pitchFamily="18" charset="0"/>
              <a:cs typeface="Times New Roman" panose="02020603050405020304" pitchFamily="18" charset="0"/>
            </a:endParaRPr>
          </a:p>
          <a:p>
            <a:pPr marL="233363" marR="0" lvl="0" indent="-222250" algn="just">
              <a:spcBef>
                <a:spcPts val="0"/>
              </a:spcBef>
              <a:spcAft>
                <a:spcPts val="0"/>
              </a:spcAft>
              <a:buClr>
                <a:schemeClr val="accent2">
                  <a:lumMod val="75000"/>
                </a:schemeClr>
              </a:buClr>
              <a:buSzPts val="1000"/>
              <a:buFont typeface="Wingdings" panose="05000000000000000000" pitchFamily="2" charset="2"/>
              <a:buChar char="§"/>
              <a:tabLst>
                <a:tab pos="287338" algn="l"/>
              </a:tabLst>
            </a:pPr>
            <a:r>
              <a:rPr lang="zh-CN" sz="1300" dirty="0">
                <a:solidFill>
                  <a:srgbClr val="000000"/>
                </a:solidFill>
                <a:effectLst/>
                <a:latin typeface="Cambria" panose="02040503050406030204" pitchFamily="18" charset="0"/>
                <a:ea typeface="Cambria" panose="02040503050406030204" pitchFamily="18" charset="0"/>
                <a:cs typeface="Times New Roman" panose="02020603050405020304" pitchFamily="18" charset="0"/>
              </a:rPr>
              <a:t>Activity resource plan / Yêu cầu resource để hoàn thành activity trong project</a:t>
            </a:r>
            <a:endParaRPr lang="en-US" sz="1300" dirty="0">
              <a:effectLst/>
              <a:latin typeface="Cambria" panose="02040503050406030204" pitchFamily="18" charset="0"/>
              <a:ea typeface="Cambria" panose="02040503050406030204" pitchFamily="18" charset="0"/>
              <a:cs typeface="Times New Roman" panose="02020603050405020304" pitchFamily="18" charset="0"/>
            </a:endParaRPr>
          </a:p>
          <a:p>
            <a:pPr marL="233363" marR="0" lvl="0" indent="-222250" algn="just">
              <a:spcBef>
                <a:spcPts val="0"/>
              </a:spcBef>
              <a:spcAft>
                <a:spcPts val="0"/>
              </a:spcAft>
              <a:buClr>
                <a:schemeClr val="accent2">
                  <a:lumMod val="75000"/>
                </a:schemeClr>
              </a:buClr>
              <a:buSzPts val="1000"/>
              <a:buFont typeface="Wingdings" panose="05000000000000000000" pitchFamily="2" charset="2"/>
              <a:buChar char="§"/>
              <a:tabLst>
                <a:tab pos="287338" algn="l"/>
              </a:tabLst>
            </a:pPr>
            <a:r>
              <a:rPr lang="zh-CN" sz="1300" dirty="0">
                <a:solidFill>
                  <a:srgbClr val="000000"/>
                </a:solidFill>
                <a:effectLst/>
                <a:latin typeface="Cambria" panose="02040503050406030204" pitchFamily="18" charset="0"/>
                <a:ea typeface="Cambria" panose="02040503050406030204" pitchFamily="18" charset="0"/>
                <a:cs typeface="Times New Roman" panose="02020603050405020304" pitchFamily="18" charset="0"/>
              </a:rPr>
              <a:t>Enterprise environmental factors / Các yếu tố môi trường doanh nghiệp</a:t>
            </a:r>
            <a:endParaRPr lang="en-US" sz="1300" dirty="0">
              <a:effectLst/>
              <a:latin typeface="Cambria" panose="02040503050406030204" pitchFamily="18" charset="0"/>
              <a:ea typeface="Cambria" panose="02040503050406030204" pitchFamily="18" charset="0"/>
              <a:cs typeface="Times New Roman" panose="02020603050405020304" pitchFamily="18" charset="0"/>
            </a:endParaRPr>
          </a:p>
          <a:p>
            <a:pPr marL="233363" marR="0" lvl="0" indent="-222250" algn="just">
              <a:spcBef>
                <a:spcPts val="0"/>
              </a:spcBef>
              <a:spcAft>
                <a:spcPts val="0"/>
              </a:spcAft>
              <a:buClr>
                <a:schemeClr val="accent2">
                  <a:lumMod val="75000"/>
                </a:schemeClr>
              </a:buClr>
              <a:buSzPts val="1000"/>
              <a:buFont typeface="Wingdings" panose="05000000000000000000" pitchFamily="2" charset="2"/>
              <a:buChar char="§"/>
              <a:tabLst>
                <a:tab pos="287338" algn="l"/>
              </a:tabLst>
            </a:pPr>
            <a:r>
              <a:rPr lang="zh-CN" sz="1300" dirty="0">
                <a:solidFill>
                  <a:srgbClr val="000000"/>
                </a:solidFill>
                <a:effectLst/>
                <a:latin typeface="Cambria" panose="02040503050406030204" pitchFamily="18" charset="0"/>
                <a:ea typeface="Cambria" panose="02040503050406030204" pitchFamily="18" charset="0"/>
                <a:cs typeface="Times New Roman" panose="02020603050405020304" pitchFamily="18" charset="0"/>
              </a:rPr>
              <a:t>Organizational process assets / Quy trình tài sản của tổ chức</a:t>
            </a:r>
            <a:endParaRPr lang="en-US" sz="1300" dirty="0">
              <a:effectLst/>
              <a:latin typeface="Cambria" panose="02040503050406030204" pitchFamily="18" charset="0"/>
              <a:ea typeface="Cambria" panose="02040503050406030204" pitchFamily="18" charset="0"/>
              <a:cs typeface="Times New Roman" panose="02020603050405020304" pitchFamily="18" charset="0"/>
            </a:endParaRPr>
          </a:p>
          <a:p>
            <a:pPr marL="0" marR="0" algn="just">
              <a:spcBef>
                <a:spcPts val="0"/>
              </a:spcBef>
              <a:spcAft>
                <a:spcPts val="0"/>
              </a:spcAft>
            </a:pPr>
            <a:r>
              <a:rPr lang="en-US" sz="1300" b="1" dirty="0">
                <a:solidFill>
                  <a:srgbClr val="0070C0"/>
                </a:solidFill>
                <a:effectLst/>
                <a:latin typeface="Cambria" panose="02040503050406030204" pitchFamily="18" charset="0"/>
                <a:ea typeface="Cambria" panose="02040503050406030204" pitchFamily="18" charset="0"/>
              </a:rPr>
              <a:t>(1). </a:t>
            </a:r>
            <a:r>
              <a:rPr lang="en-US" sz="1300" b="1" dirty="0" err="1">
                <a:solidFill>
                  <a:srgbClr val="0070C0"/>
                </a:solidFill>
                <a:effectLst/>
                <a:latin typeface="Cambria" panose="02040503050406030204" pitchFamily="18" charset="0"/>
                <a:ea typeface="Cambria" panose="02040503050406030204" pitchFamily="18" charset="0"/>
              </a:rPr>
              <a:t>Kế</a:t>
            </a:r>
            <a:r>
              <a:rPr lang="en-US" sz="1300" b="1" dirty="0">
                <a:solidFill>
                  <a:srgbClr val="0070C0"/>
                </a:solidFill>
                <a:effectLst/>
                <a:latin typeface="Cambria" panose="02040503050406030204" pitchFamily="18" charset="0"/>
                <a:ea typeface="Cambria" panose="02040503050406030204" pitchFamily="18" charset="0"/>
              </a:rPr>
              <a:t> </a:t>
            </a:r>
            <a:r>
              <a:rPr lang="en-US" sz="1300" b="1" dirty="0" err="1">
                <a:solidFill>
                  <a:srgbClr val="0070C0"/>
                </a:solidFill>
                <a:effectLst/>
                <a:latin typeface="Cambria" panose="02040503050406030204" pitchFamily="18" charset="0"/>
                <a:ea typeface="Cambria" panose="02040503050406030204" pitchFamily="18" charset="0"/>
              </a:rPr>
              <a:t>hoạch</a:t>
            </a:r>
            <a:r>
              <a:rPr lang="en-US" sz="1300" b="1" dirty="0">
                <a:solidFill>
                  <a:srgbClr val="0070C0"/>
                </a:solidFill>
                <a:effectLst/>
                <a:latin typeface="Cambria" panose="02040503050406030204" pitchFamily="18" charset="0"/>
                <a:ea typeface="Cambria" panose="02040503050406030204" pitchFamily="18" charset="0"/>
              </a:rPr>
              <a:t> </a:t>
            </a:r>
            <a:r>
              <a:rPr lang="en-US" sz="1300" b="1" dirty="0" err="1">
                <a:solidFill>
                  <a:srgbClr val="0070C0"/>
                </a:solidFill>
                <a:effectLst/>
                <a:latin typeface="Cambria" panose="02040503050406030204" pitchFamily="18" charset="0"/>
                <a:ea typeface="Cambria" panose="02040503050406030204" pitchFamily="18" charset="0"/>
              </a:rPr>
              <a:t>quản</a:t>
            </a:r>
            <a:r>
              <a:rPr lang="en-US" sz="1300" b="1" dirty="0">
                <a:solidFill>
                  <a:srgbClr val="0070C0"/>
                </a:solidFill>
                <a:effectLst/>
                <a:latin typeface="Cambria" panose="02040503050406030204" pitchFamily="18" charset="0"/>
                <a:ea typeface="Cambria" panose="02040503050406030204" pitchFamily="18" charset="0"/>
              </a:rPr>
              <a:t> </a:t>
            </a:r>
            <a:r>
              <a:rPr lang="en-US" sz="1300" b="1" dirty="0" err="1">
                <a:solidFill>
                  <a:srgbClr val="0070C0"/>
                </a:solidFill>
                <a:effectLst/>
                <a:latin typeface="Cambria" panose="02040503050406030204" pitchFamily="18" charset="0"/>
                <a:ea typeface="Cambria" panose="02040503050406030204" pitchFamily="18" charset="0"/>
              </a:rPr>
              <a:t>lý</a:t>
            </a:r>
            <a:r>
              <a:rPr lang="en-US" sz="1300" b="1" dirty="0">
                <a:solidFill>
                  <a:srgbClr val="0070C0"/>
                </a:solidFill>
                <a:effectLst/>
                <a:latin typeface="Cambria" panose="02040503050406030204" pitchFamily="18" charset="0"/>
                <a:ea typeface="Cambria" panose="02040503050406030204" pitchFamily="18" charset="0"/>
              </a:rPr>
              <a:t> </a:t>
            </a:r>
            <a:r>
              <a:rPr lang="en-US" sz="1300" b="1" dirty="0" err="1">
                <a:solidFill>
                  <a:srgbClr val="0070C0"/>
                </a:solidFill>
                <a:effectLst/>
                <a:latin typeface="Cambria" panose="02040503050406030204" pitchFamily="18" charset="0"/>
                <a:ea typeface="Cambria" panose="02040503050406030204" pitchFamily="18" charset="0"/>
              </a:rPr>
              <a:t>dự</a:t>
            </a:r>
            <a:r>
              <a:rPr lang="en-US" sz="1300" b="1" dirty="0">
                <a:solidFill>
                  <a:srgbClr val="0070C0"/>
                </a:solidFill>
                <a:effectLst/>
                <a:latin typeface="Cambria" panose="02040503050406030204" pitchFamily="18" charset="0"/>
                <a:ea typeface="Cambria" panose="02040503050406030204" pitchFamily="18" charset="0"/>
              </a:rPr>
              <a:t> </a:t>
            </a:r>
            <a:r>
              <a:rPr lang="en-US" sz="1300" b="1" dirty="0" err="1">
                <a:solidFill>
                  <a:srgbClr val="0070C0"/>
                </a:solidFill>
                <a:effectLst/>
                <a:latin typeface="Cambria" panose="02040503050406030204" pitchFamily="18" charset="0"/>
                <a:ea typeface="Cambria" panose="02040503050406030204" pitchFamily="18" charset="0"/>
              </a:rPr>
              <a:t>án</a:t>
            </a:r>
            <a:endParaRPr lang="en-US" sz="1300" b="1" dirty="0">
              <a:solidFill>
                <a:srgbClr val="0070C0"/>
              </a:solidFill>
              <a:effectLst/>
              <a:latin typeface="Cambria" panose="02040503050406030204" pitchFamily="18" charset="0"/>
              <a:ea typeface="Cambria" panose="02040503050406030204" pitchFamily="18" charset="0"/>
            </a:endParaRPr>
          </a:p>
          <a:p>
            <a:pPr marL="233363" indent="-222250" algn="just">
              <a:buClr>
                <a:schemeClr val="accent2">
                  <a:lumMod val="75000"/>
                </a:schemeClr>
              </a:buClr>
              <a:buSzPts val="1000"/>
              <a:buFont typeface="Wingdings" panose="05000000000000000000" pitchFamily="2" charset="2"/>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Kế hoạch quản lý dự án được sử dụng làm đầu vào để phát triển kế hoạch quản lý nguồn nhân lực. Những thông tin thường được sử dụng cho việc lập kế hoạch nhân lực bao gồm những yếu tố dưới đây, nhưng không hạn chế</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zh-CN" sz="1300" dirty="0">
                <a:solidFill>
                  <a:srgbClr val="000000"/>
                </a:solidFill>
                <a:effectLst/>
                <a:latin typeface="Cambria" panose="02040503050406030204" pitchFamily="18" charset="0"/>
                <a:ea typeface="Cambria" panose="02040503050406030204" pitchFamily="18" charset="0"/>
                <a:cs typeface="Times New Roman" panose="02020603050405020304" pitchFamily="18" charset="0"/>
              </a:rPr>
              <a:t>Vòng đời của dự án và quy trình sẽ được áp dụng cho từng giai đoạn của dự án.</a:t>
            </a:r>
            <a:endParaRPr lang="en-US" sz="1300" dirty="0">
              <a:effectLst/>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zh-CN" sz="1300" dirty="0">
                <a:solidFill>
                  <a:srgbClr val="000000"/>
                </a:solidFill>
                <a:effectLst/>
                <a:latin typeface="Cambria" panose="02040503050406030204" pitchFamily="18" charset="0"/>
                <a:ea typeface="Cambria" panose="02040503050406030204" pitchFamily="18" charset="0"/>
                <a:cs typeface="Times New Roman" panose="02020603050405020304" pitchFamily="18" charset="0"/>
              </a:rPr>
              <a:t>Công việc sẽ được làm như thế nào để hoàn thành mục tiêu của dự án</a:t>
            </a:r>
            <a:endParaRPr lang="en-US" sz="1300" dirty="0">
              <a:effectLst/>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zh-CN" sz="1300" dirty="0">
                <a:solidFill>
                  <a:srgbClr val="000000"/>
                </a:solidFill>
                <a:effectLst/>
                <a:latin typeface="Cambria" panose="02040503050406030204" pitchFamily="18" charset="0"/>
                <a:ea typeface="Cambria" panose="02040503050406030204" pitchFamily="18" charset="0"/>
                <a:cs typeface="Times New Roman" panose="02020603050405020304" pitchFamily="18" charset="0"/>
              </a:rPr>
              <a:t>Kế hoạch quản trị thay đổi thể hiện tài liệu thay đổi sẽ được quản lý, kiểm soát như thế nào.</a:t>
            </a:r>
            <a:endParaRPr lang="en-US" sz="1300" dirty="0">
              <a:effectLst/>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zh-CN" sz="1300" dirty="0">
                <a:solidFill>
                  <a:srgbClr val="000000"/>
                </a:solidFill>
                <a:effectLst/>
                <a:latin typeface="Cambria" panose="02040503050406030204" pitchFamily="18" charset="0"/>
                <a:ea typeface="Cambria" panose="02040503050406030204" pitchFamily="18" charset="0"/>
                <a:cs typeface="Times New Roman" panose="02020603050405020304" pitchFamily="18" charset="0"/>
              </a:rPr>
              <a:t>Kế hoạch quản lý cấu hình thể hiện việc quản lý cấu hình tài liệu làm như thế nào.</a:t>
            </a:r>
            <a:endParaRPr lang="en-US" sz="1300" dirty="0">
              <a:effectLst/>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zh-CN" sz="1300" dirty="0">
                <a:solidFill>
                  <a:srgbClr val="000000"/>
                </a:solidFill>
                <a:effectLst/>
                <a:latin typeface="Cambria" panose="02040503050406030204" pitchFamily="18" charset="0"/>
                <a:ea typeface="Cambria" panose="02040503050406030204" pitchFamily="18" charset="0"/>
                <a:cs typeface="Times New Roman" panose="02020603050405020304" pitchFamily="18" charset="0"/>
              </a:rPr>
              <a:t>Đường cơ sở của dự án  được đảm bảo như thế nào.</a:t>
            </a:r>
            <a:endParaRPr lang="en-US" sz="1300" dirty="0">
              <a:effectLst/>
              <a:latin typeface="Cambria" panose="02040503050406030204" pitchFamily="18" charset="0"/>
              <a:ea typeface="Cambria" panose="02040503050406030204" pitchFamily="18" charset="0"/>
              <a:cs typeface="Times New Roman" panose="02020603050405020304" pitchFamily="18" charset="0"/>
            </a:endParaRPr>
          </a:p>
          <a:p>
            <a:pPr algn="just"/>
            <a:r>
              <a:rPr lang="en-US" sz="1300" b="1" dirty="0">
                <a:solidFill>
                  <a:srgbClr val="0070C0"/>
                </a:solidFill>
                <a:latin typeface="Cambria" panose="02040503050406030204" pitchFamily="18" charset="0"/>
                <a:ea typeface="Cambria" panose="02040503050406030204" pitchFamily="18" charset="0"/>
              </a:rPr>
              <a:t>(2). </a:t>
            </a:r>
            <a:r>
              <a:rPr lang="en-US" sz="1300" b="1" dirty="0" err="1">
                <a:solidFill>
                  <a:srgbClr val="0070C0"/>
                </a:solidFill>
                <a:latin typeface="Cambria" panose="02040503050406030204" pitchFamily="18" charset="0"/>
                <a:ea typeface="Cambria" panose="02040503050406030204" pitchFamily="18" charset="0"/>
              </a:rPr>
              <a:t>Yêu</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cầu</a:t>
            </a:r>
            <a:r>
              <a:rPr lang="en-US" sz="1300" b="1" dirty="0">
                <a:solidFill>
                  <a:srgbClr val="0070C0"/>
                </a:solidFill>
                <a:latin typeface="Cambria" panose="02040503050406030204" pitchFamily="18" charset="0"/>
                <a:ea typeface="Cambria" panose="02040503050406030204" pitchFamily="18" charset="0"/>
              </a:rPr>
              <a:t> resource</a:t>
            </a:r>
          </a:p>
          <a:p>
            <a:pPr marL="233363" marR="0" lvl="0" indent="-222250" algn="just">
              <a:spcBef>
                <a:spcPts val="0"/>
              </a:spcBef>
              <a:spcAft>
                <a:spcPts val="0"/>
              </a:spcAft>
              <a:buClr>
                <a:schemeClr val="accent2">
                  <a:lumMod val="75000"/>
                </a:schemeClr>
              </a:buClr>
              <a:buSzPts val="1000"/>
              <a:buFont typeface="Wingdings" panose="05000000000000000000" pitchFamily="2" charset="2"/>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Việc hoạch định nguồn nhân lực sử dụng yêu cầu resource để hoàn thành </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hoạt</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động</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để xác định số nhân lực cần cho dự án. </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R="0" algn="just">
              <a:spcBef>
                <a:spcPts val="0"/>
              </a:spcBef>
              <a:spcAft>
                <a:spcPts val="0"/>
              </a:spcAft>
            </a:pPr>
            <a:r>
              <a:rPr lang="en-US" sz="1300" b="1" dirty="0">
                <a:solidFill>
                  <a:srgbClr val="0070C0"/>
                </a:solidFill>
                <a:latin typeface="Cambria" panose="02040503050406030204" pitchFamily="18" charset="0"/>
                <a:ea typeface="Cambria" panose="02040503050406030204" pitchFamily="18" charset="0"/>
              </a:rPr>
              <a:t>(3). </a:t>
            </a:r>
            <a:r>
              <a:rPr lang="en-US" sz="1300" b="1" dirty="0" err="1">
                <a:solidFill>
                  <a:srgbClr val="0070C0"/>
                </a:solidFill>
                <a:latin typeface="Cambria" panose="02040503050406030204" pitchFamily="18" charset="0"/>
                <a:ea typeface="Cambria" panose="02040503050406030204" pitchFamily="18" charset="0"/>
              </a:rPr>
              <a:t>Các</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yếu</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tố</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môi</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trường</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doanh</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nghiệp</a:t>
            </a:r>
            <a:endParaRPr lang="en-US" sz="1300" b="1" dirty="0">
              <a:solidFill>
                <a:srgbClr val="0070C0"/>
              </a:solidFill>
              <a:latin typeface="Cambria" panose="02040503050406030204" pitchFamily="18" charset="0"/>
              <a:ea typeface="Cambria" panose="02040503050406030204" pitchFamily="18" charset="0"/>
            </a:endParaRPr>
          </a:p>
          <a:p>
            <a:pPr marL="233363" indent="-222250" algn="just">
              <a:buClr>
                <a:schemeClr val="accent2">
                  <a:lumMod val="75000"/>
                </a:schemeClr>
              </a:buClr>
              <a:buSzPts val="1000"/>
              <a:buFont typeface="Wingdings" panose="05000000000000000000" pitchFamily="2" charset="2"/>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Các yếu tố môi trường doanh nghiệp có thể ảnh hưởng tới kế hoạch quản trị nguồn nhân lực bao gồm</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lvl="1" indent="-285750" algn="jus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Văn hóa và cấu trúc doanh nghiệp</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lvl="1" indent="-285750" algn="jus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Nguồn nhân lực hiện có</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lvl="1" indent="-285750" algn="jus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Việc phân tán về mặt địa lý của các thành viên trong nhóm</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lvl="1" indent="-285750" algn="jus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Chính sách quản lý nhân sự</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lvl="1" indent="-285750" algn="jus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Điều kiện thị trường</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algn="just"/>
            <a:r>
              <a:rPr lang="en-US" sz="1300" b="1" dirty="0">
                <a:solidFill>
                  <a:srgbClr val="0070C0"/>
                </a:solidFill>
                <a:latin typeface="Cambria" panose="02040503050406030204" pitchFamily="18" charset="0"/>
                <a:ea typeface="Cambria" panose="02040503050406030204" pitchFamily="18" charset="0"/>
              </a:rPr>
              <a:t>(4). Quy </a:t>
            </a:r>
            <a:r>
              <a:rPr lang="en-US" sz="1300" b="1" dirty="0" err="1">
                <a:solidFill>
                  <a:srgbClr val="0070C0"/>
                </a:solidFill>
                <a:latin typeface="Cambria" panose="02040503050406030204" pitchFamily="18" charset="0"/>
                <a:ea typeface="Cambria" panose="02040503050406030204" pitchFamily="18" charset="0"/>
              </a:rPr>
              <a:t>trình</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tài</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sản</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của</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tổ</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chức</a:t>
            </a:r>
            <a:endParaRPr lang="en-US" sz="1300" b="1" dirty="0">
              <a:solidFill>
                <a:srgbClr val="0070C0"/>
              </a:solidFill>
              <a:latin typeface="Cambria" panose="02040503050406030204" pitchFamily="18" charset="0"/>
              <a:ea typeface="Cambria" panose="02040503050406030204" pitchFamily="18" charset="0"/>
            </a:endParaRPr>
          </a:p>
          <a:p>
            <a:pPr marL="233363" marR="0" lvl="0" indent="-222250" algn="just">
              <a:spcBef>
                <a:spcPts val="0"/>
              </a:spcBef>
              <a:spcAft>
                <a:spcPts val="0"/>
              </a:spcAft>
              <a:buClr>
                <a:schemeClr val="accent2">
                  <a:lumMod val="75000"/>
                </a:schemeClr>
              </a:buClr>
              <a:buSzPts val="1000"/>
              <a:buFont typeface="Wingdings" panose="05000000000000000000" pitchFamily="2" charset="2"/>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Cũng như các yếu tố môi trường Quy trình, tài sản của tổ chức cũng là nhân tố ảnh hưởng tới kế hoạch quản trị nguồn nhân lực.</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Quy trình tiêu chuẩn, chính sách và mô tả vai trò của tổ chức</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Các template cho sơ đồ tổ chức và mô tả vị trí</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Bài học kinh nghiệm (Lession learn) từ các project trước</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Các thủ tục để xử lý vấn đề trong dự án và trong team</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31869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3E7D884-9BED-E669-4BDF-05997B7B21F9}"/>
              </a:ext>
            </a:extLst>
          </p:cNvPr>
          <p:cNvSpPr txBox="1"/>
          <p:nvPr/>
        </p:nvSpPr>
        <p:spPr>
          <a:xfrm>
            <a:off x="339354" y="724376"/>
            <a:ext cx="11538396" cy="5819606"/>
          </a:xfrm>
          <a:prstGeom prst="rect">
            <a:avLst/>
          </a:prstGeom>
          <a:noFill/>
        </p:spPr>
        <p:txBody>
          <a:bodyPr wrap="square">
            <a:spAutoFit/>
          </a:bodyPr>
          <a:lstStyle/>
          <a:p>
            <a:pPr marR="0" lvl="0" algn="just">
              <a:spcBef>
                <a:spcPts val="0"/>
              </a:spcBef>
              <a:spcAft>
                <a:spcPts val="0"/>
              </a:spcAft>
              <a:tabLst>
                <a:tab pos="228600" algn="l"/>
              </a:tabLst>
            </a:pPr>
            <a:r>
              <a:rPr lang="en-US" altLang="zh-CN" sz="13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Công cụ và kỹ thuật (Tool &amp; Techniques) trong lập </a:t>
            </a:r>
            <a:r>
              <a:rPr lang="en-US" altLang="zh-CN" sz="1300" b="1"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kế</a:t>
            </a:r>
            <a:r>
              <a:rPr lang="en-US" altLang="zh-CN" sz="13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 </a:t>
            </a:r>
            <a:r>
              <a:rPr lang="en-US" altLang="zh-CN" sz="1300" b="1"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hoạc</a:t>
            </a:r>
            <a:r>
              <a:rPr lang="en-US" altLang="zh-CN" sz="1300" b="1" dirty="0" err="1">
                <a:solidFill>
                  <a:srgbClr val="000000"/>
                </a:solidFill>
                <a:latin typeface="Calibri Light" panose="020F0302020204030204" pitchFamily="34" charset="0"/>
                <a:ea typeface="Cambria" panose="02040503050406030204" pitchFamily="18" charset="0"/>
                <a:cs typeface="Times New Roman" panose="02020603050405020304" pitchFamily="18" charset="0"/>
              </a:rPr>
              <a:t>h</a:t>
            </a:r>
            <a:endParaRPr lang="en-US" sz="13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gn="just"/>
            <a:r>
              <a:rPr lang="en-US" sz="1300" b="1" dirty="0">
                <a:solidFill>
                  <a:srgbClr val="0070C0"/>
                </a:solidFill>
                <a:latin typeface="Cambria" panose="02040503050406030204" pitchFamily="18" charset="0"/>
                <a:ea typeface="Cambria" panose="02040503050406030204" pitchFamily="18" charset="0"/>
              </a:rPr>
              <a:t>(1). </a:t>
            </a:r>
            <a:r>
              <a:rPr lang="en-US" sz="1300" b="1" dirty="0" err="1">
                <a:solidFill>
                  <a:srgbClr val="0070C0"/>
                </a:solidFill>
                <a:latin typeface="Cambria" panose="02040503050406030204" pitchFamily="18" charset="0"/>
                <a:ea typeface="Cambria" panose="02040503050406030204" pitchFamily="18" charset="0"/>
              </a:rPr>
              <a:t>Sơ</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đồ</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tổ</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chức</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và</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Mô</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tả</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vị</a:t>
            </a:r>
            <a:r>
              <a:rPr lang="en-US" sz="1300" b="1" dirty="0">
                <a:solidFill>
                  <a:srgbClr val="0070C0"/>
                </a:solidFill>
                <a:latin typeface="Cambria" panose="02040503050406030204" pitchFamily="18" charset="0"/>
                <a:ea typeface="Cambria" panose="02040503050406030204" pitchFamily="18" charset="0"/>
              </a:rPr>
              <a:t> </a:t>
            </a:r>
            <a:r>
              <a:rPr lang="en-US" sz="1300" b="1" dirty="0" err="1">
                <a:solidFill>
                  <a:srgbClr val="0070C0"/>
                </a:solidFill>
                <a:latin typeface="Cambria" panose="02040503050406030204" pitchFamily="18" charset="0"/>
                <a:ea typeface="Cambria" panose="02040503050406030204" pitchFamily="18" charset="0"/>
              </a:rPr>
              <a:t>trí</a:t>
            </a:r>
            <a:endParaRPr lang="en-US" sz="1300" b="1" dirty="0">
              <a:solidFill>
                <a:srgbClr val="0070C0"/>
              </a:solidFill>
              <a:latin typeface="Cambria" panose="02040503050406030204" pitchFamily="18" charset="0"/>
              <a:ea typeface="Cambria" panose="02040503050406030204" pitchFamily="18" charset="0"/>
            </a:endParaRPr>
          </a:p>
          <a:p>
            <a:pPr marL="0" marR="0" algn="just">
              <a:lnSpc>
                <a:spcPts val="1900"/>
              </a:lnSpc>
              <a:spcBef>
                <a:spcPts val="0"/>
              </a:spcBef>
              <a:spcAft>
                <a:spcPts val="0"/>
              </a:spcAf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Có rất nhiều dạng format để tài liệu hóa vai trò và trách nhiệm của </a:t>
            </a:r>
            <a:r>
              <a:rPr lang="en-US"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thành</a:t>
            </a:r>
            <a:r>
              <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a:t>
            </a:r>
            <a:r>
              <a:rPr lang="en-US"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viên</a:t>
            </a:r>
            <a:r>
              <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a:t>
            </a:r>
            <a:r>
              <a:rPr lang="en-US"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nhóm</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Hầu hết các định dạng rơi vào một trong ba loại sau: phân cấp (hierarchical), ma trận (matrix) và hướng văn bản (text-oriented).</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233363" marR="0" lvl="0" indent="-222250" algn="just">
              <a:lnSpc>
                <a:spcPts val="1900"/>
              </a:lnSpc>
              <a:spcBef>
                <a:spcPts val="0"/>
              </a:spcBef>
              <a:spcAft>
                <a:spcPts val="0"/>
              </a:spcAft>
              <a:buClr>
                <a:schemeClr val="accent2">
                  <a:lumMod val="75000"/>
                </a:schemeClr>
              </a:buClr>
              <a:buSzPts val="1000"/>
              <a:buFont typeface="Wingdings" panose="05000000000000000000" pitchFamily="2" charset="2"/>
              <a:buChar char="§"/>
              <a:tabLst>
                <a:tab pos="287338" algn="l"/>
              </a:tabLst>
            </a:pPr>
            <a:r>
              <a:rPr lang="en-US" altLang="zh-CN" sz="13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Sơ đồ phân </a:t>
            </a:r>
            <a:r>
              <a:rPr lang="en-US" altLang="zh-CN" sz="1300" b="1"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cấp</a:t>
            </a:r>
            <a:r>
              <a:rPr lang="en-US" altLang="zh-CN" sz="13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a:t>
            </a:r>
            <a:r>
              <a:rPr lang="zh-CN" altLang="en-US" sz="1300" b="1" dirty="0">
                <a:solidFill>
                  <a:srgbClr val="000000"/>
                </a:solidFill>
                <a:latin typeface="Cambria" panose="02040503050406030204" pitchFamily="18" charset="0"/>
                <a:cs typeface="Times New Roman" panose="02020603050405020304" pitchFamily="18" charset="0"/>
              </a:rPr>
              <a:t> </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Đây là sơ đồ cấu trúc tổ chức truyền thống có thể được sử dụng để thể hiện vị trí và mối quan hệ trong dự án qua hình vẽ theo format từ trên xuống dưới. Trong khi WBS thể hiện những deliverables của dự án thì Cấu trúc phân cấp của tổ chức-OBS (Organizational Breakdown Structure) được sắp xếp theo phòng ban, đơn vi, team của tổ chức với các activity của project. Các stakeholders nhìn vào sơ đồ đó có thể hiểu được trách nhiệm của phòng ban trong dự án, mối quan hệ và cách thức communication giữa các bộ phận.</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233363" marR="0" lvl="0" indent="-222250" algn="just">
              <a:lnSpc>
                <a:spcPts val="1900"/>
              </a:lnSpc>
              <a:spcBef>
                <a:spcPts val="0"/>
              </a:spcBef>
              <a:spcAft>
                <a:spcPts val="0"/>
              </a:spcAft>
              <a:buClr>
                <a:schemeClr val="accent2">
                  <a:lumMod val="75000"/>
                </a:schemeClr>
              </a:buClr>
              <a:buSzPts val="1000"/>
              <a:buFont typeface="Wingdings" panose="05000000000000000000" pitchFamily="2" charset="2"/>
              <a:buChar char="§"/>
              <a:tabLst>
                <a:tab pos="287338" algn="l"/>
              </a:tabLst>
            </a:pPr>
            <a:r>
              <a:rPr lang="en-US" altLang="zh-CN" sz="13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Sơ đồ ma </a:t>
            </a:r>
            <a:r>
              <a:rPr lang="en-US" altLang="zh-CN" sz="1300" b="1"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trận</a:t>
            </a:r>
            <a:r>
              <a:rPr lang="en-US" altLang="zh-CN" sz="13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a:t>
            </a:r>
            <a:r>
              <a:rPr lang="zh-CN" altLang="en-US" sz="1300" b="1" dirty="0">
                <a:solidFill>
                  <a:srgbClr val="000000"/>
                </a:solidFill>
                <a:latin typeface="Cambria" panose="02040503050406030204" pitchFamily="18" charset="0"/>
                <a:cs typeface="Times New Roman" panose="02020603050405020304" pitchFamily="18" charset="0"/>
              </a:rPr>
              <a:t> </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Sơ đồ ma trận phân công trách nhiệm (RAM - Responsibility assignment matrix) là một mạng lưới thể hiện nguồn lực của dự án được được assigned cho mỗi gói công việc. Nó được sử dụng để minh họa cho sự kết nối giữa các gói công việc hoặc các activity với mỗi thành viên trong dự án. Trong các dự án lớn thì RAM được phát triển theo nhiều level khác nhau. Ví dụ ở level cao thì gán trách nhiệm cho group nào, team nào phụ trách component hay package nào. Ở level thấp hơn thì RAM được sử dụng trong nhóm để định nghĩa vai trò, trách nhiệm và quyền hạn cho các activity cụ thể.</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233363" marR="0" lvl="0" indent="-222250" algn="just">
              <a:lnSpc>
                <a:spcPts val="1900"/>
              </a:lnSpc>
              <a:spcBef>
                <a:spcPts val="0"/>
              </a:spcBef>
              <a:spcAft>
                <a:spcPts val="0"/>
              </a:spcAft>
              <a:buClr>
                <a:schemeClr val="accent2">
                  <a:lumMod val="75000"/>
                </a:schemeClr>
              </a:buClr>
              <a:buSzPts val="1000"/>
              <a:buFont typeface="Wingdings" panose="05000000000000000000" pitchFamily="2" charset="2"/>
              <a:buChar char="§"/>
              <a:tabLst>
                <a:tab pos="287338" algn="l"/>
              </a:tabLst>
            </a:pPr>
            <a:r>
              <a:rPr lang="en-US" altLang="zh-CN" sz="13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Format hướng văn </a:t>
            </a:r>
            <a:r>
              <a:rPr lang="en-US" altLang="zh-CN" sz="1300" b="1"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bản</a:t>
            </a:r>
            <a:r>
              <a:rPr lang="en-US" altLang="zh-CN" sz="13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a:t>
            </a:r>
            <a:r>
              <a:rPr lang="zh-CN" altLang="en-US" sz="1300" b="1" dirty="0">
                <a:solidFill>
                  <a:srgbClr val="000000"/>
                </a:solidFill>
                <a:latin typeface="Cambria" panose="02040503050406030204" pitchFamily="18" charset="0"/>
                <a:cs typeface="Times New Roman" panose="02020603050405020304" pitchFamily="18" charset="0"/>
              </a:rPr>
              <a:t> </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Trách nhiệm của team được yêu cầu mô tả chi tiết trong tài liệu theo format định sẵn. Thông thường ở các dạng phác thảo nhằm cung cấp các thông tin cơ bản như trách nhiệm, quyền hạn, năng lực, trình </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độ</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a:t>
            </a:r>
            <a:endParaRPr lang="en-US" sz="1300" b="1" dirty="0">
              <a:solidFill>
                <a:srgbClr val="0070C0"/>
              </a:solidFill>
              <a:latin typeface="Cambria" panose="02040503050406030204" pitchFamily="18" charset="0"/>
              <a:ea typeface="Cambria" panose="02040503050406030204" pitchFamily="18" charset="0"/>
            </a:endParaRPr>
          </a:p>
          <a:p>
            <a:pPr marR="0" lvl="0" algn="just">
              <a:spcBef>
                <a:spcPts val="0"/>
              </a:spcBef>
              <a:spcAft>
                <a:spcPts val="0"/>
              </a:spcAft>
              <a:buSzPts val="1000"/>
              <a:tabLst>
                <a:tab pos="457200" algn="l"/>
              </a:tabLst>
            </a:pPr>
            <a:r>
              <a:rPr lang="en-US" altLang="zh-CN" sz="1300" b="1" dirty="0">
                <a:solidFill>
                  <a:srgbClr val="0070C0"/>
                </a:solidFill>
                <a:latin typeface="Cambria" panose="02040503050406030204" pitchFamily="18" charset="0"/>
                <a:ea typeface="Cambria" panose="02040503050406030204" pitchFamily="18" charset="0"/>
              </a:rPr>
              <a:t>(4). Phán xét chuyên môn</a:t>
            </a:r>
            <a:endParaRPr lang="en-US" sz="1300" b="1" dirty="0">
              <a:solidFill>
                <a:srgbClr val="0070C0"/>
              </a:solidFill>
              <a:latin typeface="Cambria" panose="02040503050406030204" pitchFamily="18" charset="0"/>
              <a:ea typeface="Cambria" panose="02040503050406030204" pitchFamily="18" charset="0"/>
            </a:endParaRPr>
          </a:p>
          <a:p>
            <a:pPr marL="233363" indent="-222250" algn="just">
              <a:lnSpc>
                <a:spcPts val="1900"/>
              </a:lnSpc>
              <a:buClr>
                <a:schemeClr val="accent2">
                  <a:lumMod val="75000"/>
                </a:schemeClr>
              </a:buClr>
              <a:buSzPts val="1000"/>
              <a:buFont typeface="Wingdings" panose="05000000000000000000" pitchFamily="2" charset="2"/>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Khi xây dựng kế hoạch quản trị nguồn nhân lực thì phán xét chuyên môn được sử dụng để</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Liệt kê yêu cầu sơ bộ cho các kỹ năng cần thiết</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Đánh giá các role cần thiết cho dự án dựa trên mô tả role tiêu chuẩn trong tổ chức (ví dụ ở CMC có mô tả Dev rank mấy phải có tiêu chuẩn gì, etc...)</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Xác đinh sơ </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bộ</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số</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nhân</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sự</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số</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công</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để đạt được objectives của dự án</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Cung cấp guideline về thời gian cần thiết để chuẩn bị nhân lực dựa trên bài học từ các dự án trước</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Xác định rủi ro liên quan đến việc thu nhận, giữ và release nhân sự</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algn="just">
              <a:buSzPts val="1000"/>
              <a:tabLst>
                <a:tab pos="457200" algn="l"/>
              </a:tabLst>
            </a:pPr>
            <a:r>
              <a:rPr lang="en-US" sz="1300" b="1" dirty="0">
                <a:solidFill>
                  <a:srgbClr val="0070C0"/>
                </a:solidFill>
                <a:latin typeface="Cambria" panose="02040503050406030204" pitchFamily="18" charset="0"/>
                <a:ea typeface="Cambria" panose="02040503050406030204" pitchFamily="18" charset="0"/>
              </a:rPr>
              <a:t>(5). Meetings</a:t>
            </a:r>
          </a:p>
          <a:p>
            <a:pPr marL="233363" marR="0" lvl="0" indent="-222250" algn="just">
              <a:lnSpc>
                <a:spcPts val="1900"/>
              </a:lnSpc>
              <a:spcBef>
                <a:spcPts val="0"/>
              </a:spcBef>
              <a:spcAft>
                <a:spcPts val="0"/>
              </a:spcAft>
              <a:buClr>
                <a:schemeClr val="accent2">
                  <a:lumMod val="75000"/>
                </a:schemeClr>
              </a:buClr>
              <a:buSzPts val="1000"/>
              <a:buFont typeface="Wingdings" panose="05000000000000000000" pitchFamily="2" charset="2"/>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Khi lập kế hoạch quản lý nguồn nhân lực của dự án, đội ngũ quản lý dự án sẽ tổ chức các cuộc họp để lên kế hoạch. Những cuộc họp này sử dụng kết hợp các công cụ và kỹ thuật khác nhau để tất cả các thành viên trong nhóm quản lý dự án đạt được sự đồng thuận về kế hoạch quản lý nguồn nhân lực.</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233363" marR="0" lvl="0" indent="-222250" algn="just">
              <a:lnSpc>
                <a:spcPts val="1900"/>
              </a:lnSpc>
              <a:spcBef>
                <a:spcPts val="0"/>
              </a:spcBef>
              <a:spcAft>
                <a:spcPts val="0"/>
              </a:spcAft>
              <a:buClr>
                <a:schemeClr val="accent2">
                  <a:lumMod val="75000"/>
                </a:schemeClr>
              </a:buClr>
              <a:buSzPts val="1000"/>
              <a:buFont typeface="Wingdings" panose="05000000000000000000" pitchFamily="2" charset="2"/>
              <a:buChar char="§"/>
              <a:tabLst>
                <a:tab pos="287338" algn="l"/>
              </a:tabLst>
            </a:pP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7422377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3E7D884-9BED-E669-4BDF-05997B7B21F9}"/>
              </a:ext>
            </a:extLst>
          </p:cNvPr>
          <p:cNvSpPr txBox="1"/>
          <p:nvPr/>
        </p:nvSpPr>
        <p:spPr>
          <a:xfrm>
            <a:off x="339354" y="724376"/>
            <a:ext cx="6454851" cy="5714449"/>
          </a:xfrm>
          <a:prstGeom prst="rect">
            <a:avLst/>
          </a:prstGeom>
          <a:noFill/>
        </p:spPr>
        <p:txBody>
          <a:bodyPr wrap="square">
            <a:spAutoFit/>
          </a:bodyPr>
          <a:lstStyle/>
          <a:p>
            <a:pPr algn="just">
              <a:tabLst>
                <a:tab pos="228600" algn="l"/>
              </a:tabLst>
            </a:pPr>
            <a:r>
              <a:rPr lang="en-US" altLang="zh-CN" sz="13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Output của kế hoạch quản lý nguồn nhân lực</a:t>
            </a:r>
            <a:endParaRPr lang="en-US" sz="1300" b="1"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233363" indent="-222250" algn="just">
              <a:buClr>
                <a:schemeClr val="accent2">
                  <a:lumMod val="75000"/>
                </a:schemeClr>
              </a:buClr>
              <a:buSzPts val="1000"/>
              <a:buFont typeface="Wingdings" panose="05000000000000000000" pitchFamily="2" charset="2"/>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Output của quá </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trình</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chính</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là Bản kế hoạch quản lý nguồn nhân lực (Human resource Management Plan ). Nó là một phần của kế hoạch quản lý dự án (Project Management Plan), cung cấp hướng dẫn về cách thức nguồn nhân lực của dự án cần được xác định, tuyển dụng, quản lý, và cuối cùng là release.</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233363" indent="-222250" algn="just">
              <a:buClr>
                <a:schemeClr val="accent2">
                  <a:lumMod val="75000"/>
                </a:schemeClr>
              </a:buClr>
              <a:buSzPts val="1000"/>
              <a:buFont typeface="Wingdings" panose="05000000000000000000" pitchFamily="2" charset="2"/>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Một bản kế hoạch quản lý nguồn nhân lực sẽ bao gồm các mục sau, có thể có hoặc không tùy tổ chức</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lvl="1" indent="-285750" algn="jus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Vai trò và trách nhiệm</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1211263" lvl="2" indent="-285750" algn="just">
              <a:buClr>
                <a:schemeClr val="accent2">
                  <a:lumMod val="75000"/>
                </a:schemeClr>
              </a:buClr>
              <a:buSzPts val="1000"/>
              <a:buFont typeface="Arial" panose="020B0604020202020204" pitchFamily="34" charset="0"/>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Vai trò của từng cá nhân: PM, BA, Comtor, BrSE, Dev, Tester ..</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1211263" lvl="2" indent="-285750" algn="just">
              <a:buClr>
                <a:schemeClr val="accent2">
                  <a:lumMod val="75000"/>
                </a:schemeClr>
              </a:buClr>
              <a:buSzPts val="1000"/>
              <a:buFont typeface="Arial" panose="020B0604020202020204" pitchFamily="34" charset="0"/>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Quyền hạn truy cập vào resource của dự án, quyền ra quyết định, approve ...</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1211263" lvl="2" indent="-285750" algn="just">
              <a:buClr>
                <a:schemeClr val="accent2">
                  <a:lumMod val="75000"/>
                </a:schemeClr>
              </a:buClr>
              <a:buSzPts val="1000"/>
              <a:buFont typeface="Arial" panose="020B0604020202020204" pitchFamily="34" charset="0"/>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Trách nhiệm được giao, các activity phải hoàn thành</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1211263" lvl="2" indent="-285750" algn="just">
              <a:buClr>
                <a:schemeClr val="accent2">
                  <a:lumMod val="75000"/>
                </a:schemeClr>
              </a:buClr>
              <a:buSzPts val="1000"/>
              <a:buFont typeface="Arial" panose="020B0604020202020204" pitchFamily="34" charset="0"/>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Năng lực: skills và khả năng cần thiết</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Sơ đồ tổ chức dự án</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742950" marR="0" lvl="1" indent="-285750" algn="just">
              <a:spcBef>
                <a:spcPts val="0"/>
              </a:spcBef>
              <a:spcAft>
                <a:spcPts val="0"/>
              </a:spcAft>
              <a:buClr>
                <a:schemeClr val="accent2">
                  <a:lumMod val="75000"/>
                </a:schemeClr>
              </a:buClr>
              <a:buSzPts val="1000"/>
              <a:buFont typeface="Courier New" panose="02070309020205020404" pitchFamily="49" charset="0"/>
              <a:buChar char="o"/>
              <a:tabLst>
                <a:tab pos="914400"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Kê hoạch quản lý nhân viên</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1211263" lvl="2" indent="-285750" algn="just">
              <a:buClr>
                <a:schemeClr val="accent2">
                  <a:lumMod val="75000"/>
                </a:schemeClr>
              </a:buClr>
              <a:buSzPts val="1000"/>
              <a:buFont typeface="Arial" panose="020B0604020202020204" pitchFamily="34" charset="0"/>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Tiếp nhận nhân viên, khi nào thì nhận người vào dự án .. một số role khác nhau thì thời điểm join vào dự án cũng khác nhau nên cần phải có plan cho việc này</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1211263" lvl="2" indent="-285750" algn="just">
              <a:buClr>
                <a:schemeClr val="accent2">
                  <a:lumMod val="75000"/>
                </a:schemeClr>
              </a:buClr>
              <a:buSzPts val="1000"/>
              <a:buFont typeface="Arial" panose="020B0604020202020204" pitchFamily="34" charset="0"/>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Resource calendar: lên lịch làm việc cho các members trong dự án dựa vào avaiability của resource</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1211263" lvl="2" indent="-285750" algn="just">
              <a:buClr>
                <a:schemeClr val="accent2">
                  <a:lumMod val="75000"/>
                </a:schemeClr>
              </a:buClr>
              <a:buSzPts val="1000"/>
              <a:buFont typeface="Arial" panose="020B0604020202020204" pitchFamily="34" charset="0"/>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Training plan: một số dự án đòi hỏi phải training về nghiệp vụ, tools hoặc process thì cần plan cho việc ai học cái gì và thời gian như thế nào.</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1211263" lvl="2" indent="-285750" algn="just">
              <a:buClr>
                <a:schemeClr val="accent2">
                  <a:lumMod val="75000"/>
                </a:schemeClr>
              </a:buClr>
              <a:buSzPts val="1000"/>
              <a:buFont typeface="Arial" panose="020B0604020202020204" pitchFamily="34" charset="0"/>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Ghi nhận và khen thưởng</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1211263" lvl="2" indent="-285750" algn="just">
              <a:buClr>
                <a:schemeClr val="accent2">
                  <a:lumMod val="75000"/>
                </a:schemeClr>
              </a:buClr>
              <a:buSzPts val="1000"/>
              <a:buFont typeface="Arial" panose="020B0604020202020204" pitchFamily="34" charset="0"/>
              <a:buChar char="•"/>
              <a:tabLst>
                <a:tab pos="287338" algn="l"/>
              </a:tabLst>
            </a:pP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Lên</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plan </a:t>
            </a:r>
            <a:r>
              <a:rPr lang="en-US" altLang="zh-CN" sz="1300" dirty="0" err="1">
                <a:solidFill>
                  <a:srgbClr val="000000"/>
                </a:solidFill>
                <a:latin typeface="Cambria" panose="02040503050406030204" pitchFamily="18" charset="0"/>
                <a:ea typeface="Cambria" panose="02040503050406030204" pitchFamily="18" charset="0"/>
                <a:cs typeface="Times New Roman" panose="02020603050405020304" pitchFamily="18" charset="0"/>
              </a:rPr>
              <a:t>cho</a:t>
            </a: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 việc tuân thủ rules, hợp đồng, chính sách ..</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1211263" lvl="2" indent="-285750" algn="just">
              <a:buClr>
                <a:schemeClr val="accent2">
                  <a:lumMod val="75000"/>
                </a:schemeClr>
              </a:buClr>
              <a:buSzPts val="1000"/>
              <a:buFont typeface="Arial" panose="020B0604020202020204" pitchFamily="34" charset="0"/>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Bảo đảm an toàn cho nhân viên (khi tiếp xúc với thiết bị có thể gây hại)</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1211263" lvl="2" indent="-285750" algn="just">
              <a:buClr>
                <a:schemeClr val="accent2">
                  <a:lumMod val="75000"/>
                </a:schemeClr>
              </a:buClr>
              <a:buSzPts val="1000"/>
              <a:buFont typeface="Arial" panose="020B0604020202020204" pitchFamily="34" charset="0"/>
              <a:buChar char="•"/>
              <a:tabLst>
                <a:tab pos="287338" algn="l"/>
              </a:tabLst>
            </a:pPr>
            <a:r>
              <a:rPr lang="en-US" altLang="zh-CN" sz="1300" dirty="0">
                <a:solidFill>
                  <a:srgbClr val="000000"/>
                </a:solidFill>
                <a:latin typeface="Cambria" panose="02040503050406030204" pitchFamily="18" charset="0"/>
                <a:ea typeface="Cambria" panose="02040503050406030204" pitchFamily="18" charset="0"/>
                <a:cs typeface="Times New Roman" panose="02020603050405020304" pitchFamily="18" charset="0"/>
              </a:rPr>
              <a:t>Kế hoạch release: nhân lực chính là tiền vì vậy release lúc nào để đảm bảo tiến độ và tiết kiệm chi phí cần phải cân nhắc kỹ.</a:t>
            </a: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233363" marR="0" lvl="0" indent="-222250" algn="just">
              <a:lnSpc>
                <a:spcPts val="1900"/>
              </a:lnSpc>
              <a:spcBef>
                <a:spcPts val="0"/>
              </a:spcBef>
              <a:spcAft>
                <a:spcPts val="0"/>
              </a:spcAft>
              <a:buClr>
                <a:schemeClr val="accent2">
                  <a:lumMod val="75000"/>
                </a:schemeClr>
              </a:buClr>
              <a:buSzPts val="1000"/>
              <a:buFont typeface="Wingdings" panose="05000000000000000000" pitchFamily="2" charset="2"/>
              <a:buChar char="§"/>
              <a:tabLst>
                <a:tab pos="287338" algn="l"/>
              </a:tabLst>
            </a:pPr>
            <a:endParaRPr lang="en-US" sz="13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3C018CB-BD70-0C63-4B6E-EEA52C492946}"/>
              </a:ext>
            </a:extLst>
          </p:cNvPr>
          <p:cNvPicPr>
            <a:picLocks noChangeAspect="1"/>
          </p:cNvPicPr>
          <p:nvPr/>
        </p:nvPicPr>
        <p:blipFill>
          <a:blip r:embed="rId2"/>
          <a:stretch>
            <a:fillRect/>
          </a:stretch>
        </p:blipFill>
        <p:spPr>
          <a:xfrm>
            <a:off x="7071951" y="978195"/>
            <a:ext cx="4805799" cy="3083441"/>
          </a:xfrm>
          <a:prstGeom prst="rect">
            <a:avLst/>
          </a:prstGeom>
        </p:spPr>
      </p:pic>
    </p:spTree>
    <p:extLst>
      <p:ext uri="{BB962C8B-B14F-4D97-AF65-F5344CB8AC3E}">
        <p14:creationId xmlns:p14="http://schemas.microsoft.com/office/powerpoint/2010/main" val="2084293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6E4718-DAC3-76D4-FFFC-409532E795B2}"/>
              </a:ext>
            </a:extLst>
          </p:cNvPr>
          <p:cNvSpPr txBox="1"/>
          <p:nvPr/>
        </p:nvSpPr>
        <p:spPr>
          <a:xfrm>
            <a:off x="339354" y="724376"/>
            <a:ext cx="4509094" cy="5270674"/>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b="1" dirty="0" err="1">
                <a:latin typeface="Cambria" panose="02040503050406030204" pitchFamily="18" charset="0"/>
                <a:ea typeface="Cambria" panose="02040503050406030204" pitchFamily="18" charset="0"/>
              </a:rPr>
              <a:t>Lập</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kế</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hoạch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tổ</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chức</a:t>
            </a:r>
            <a:endParaRPr lang="en-US" b="1" dirty="0">
              <a:latin typeface="Cambria" panose="02040503050406030204" pitchFamily="18" charset="0"/>
              <a:ea typeface="Cambria" panose="02040503050406030204" pitchFamily="18" charset="0"/>
            </a:endParaRPr>
          </a:p>
          <a:p>
            <a:pPr marL="0" lvl="1" algn="just">
              <a:spcBef>
                <a:spcPts val="600"/>
              </a:spcBef>
              <a:spcAft>
                <a:spcPts val="300"/>
              </a:spcAft>
              <a:buClr>
                <a:schemeClr val="accent2">
                  <a:lumMod val="75000"/>
                </a:schemeClr>
              </a:buClr>
              <a:buSzPct val="140000"/>
            </a:pPr>
            <a:r>
              <a:rPr lang="en-US" altLang="zh-CN" dirty="0" err="1">
                <a:latin typeface="Cambria" panose="02040503050406030204" pitchFamily="18" charset="0"/>
                <a:ea typeface="Cambria" panose="02040503050406030204" pitchFamily="18" charset="0"/>
              </a:rPr>
              <a:t>Kế</a:t>
            </a:r>
            <a:r>
              <a:rPr lang="en-US" altLang="zh-CN" dirty="0">
                <a:latin typeface="Cambria" panose="02040503050406030204" pitchFamily="18" charset="0"/>
                <a:ea typeface="Cambria" panose="02040503050406030204" pitchFamily="18" charset="0"/>
              </a:rPr>
              <a:t> hoạch quản lý nguồn nhân lực dự án là quá trình xác định và tài liệu hóa các vai trò (project roles), trách nhiệm (responsibilities), kỹ năng cần thiết, mối quan hệ giữa các roles và tạo kế hoạch quản lý nhân viên trong một dự án. Lợi ích chính yếu của quá trình này là nó thiết lập được vai trò, trách nhiệm trong dự án cho mỗi cá nhân, sơ đồ tổ chức dự án, và kế hoạch quản lý nhân sự bao gồm việc khi nào thì cần người đổ vào dự án khi nào thì rút người ra.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Lập Sơ đồ tổ chức dự án.</a:t>
            </a:r>
          </a:p>
          <a:p>
            <a:pPr marL="285750" lvl="1" indent="-285750" algn="just">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định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bổ</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trách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nhiệm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kỹ</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thuật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hỗ</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trợ</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a:t>
            </a:r>
            <a:r>
              <a:rPr lang="vi-VN" dirty="0">
                <a:latin typeface="Cambria" panose="02040503050406030204" pitchFamily="18" charset="0"/>
                <a:ea typeface="Cambria" panose="02040503050406030204" pitchFamily="18" charset="0"/>
              </a:rPr>
              <a:t> </a:t>
            </a:r>
            <a:r>
              <a:rPr lang="fr-FR" dirty="0">
                <a:latin typeface="Cambria" panose="02040503050406030204" pitchFamily="18" charset="0"/>
                <a:ea typeface="Cambria" panose="02040503050406030204" pitchFamily="18" charset="0"/>
              </a:rPr>
              <a:t>Ma </a:t>
            </a:r>
            <a:r>
              <a:rPr lang="fr-FR" dirty="0" err="1">
                <a:latin typeface="Cambria" panose="02040503050406030204" pitchFamily="18" charset="0"/>
                <a:ea typeface="Cambria" panose="02040503050406030204" pitchFamily="18" charset="0"/>
              </a:rPr>
              <a:t>trận</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phân</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công</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trách</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nhiệm</a:t>
            </a:r>
            <a:r>
              <a:rPr lang="fr-FR" dirty="0">
                <a:latin typeface="Cambria" panose="02040503050406030204" pitchFamily="18" charset="0"/>
                <a:ea typeface="Cambria" panose="02040503050406030204" pitchFamily="18" charset="0"/>
              </a:rPr>
              <a:t> (RAM= </a:t>
            </a:r>
            <a:r>
              <a:rPr lang="fr-FR" dirty="0" err="1">
                <a:latin typeface="Cambria" panose="02040503050406030204" pitchFamily="18" charset="0"/>
                <a:ea typeface="Cambria" panose="02040503050406030204" pitchFamily="18" charset="0"/>
              </a:rPr>
              <a:t>Responsibility</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Assignment</a:t>
            </a:r>
            <a:r>
              <a:rPr lang="fr-FR" dirty="0">
                <a:latin typeface="Cambria" panose="02040503050406030204" pitchFamily="18" charset="0"/>
                <a:ea typeface="Cambria" panose="02040503050406030204" pitchFamily="18" charset="0"/>
              </a:rPr>
              <a:t> Matrix) &amp; </a:t>
            </a:r>
            <a:r>
              <a:rPr lang="fr-FR" dirty="0" err="1">
                <a:latin typeface="Cambria" panose="02040503050406030204" pitchFamily="18" charset="0"/>
                <a:ea typeface="Cambria" panose="02040503050406030204" pitchFamily="18" charset="0"/>
              </a:rPr>
              <a:t>Nhật</a:t>
            </a:r>
            <a:r>
              <a:rPr lang="vi-VN"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đồ</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tài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nguyên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nguồn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lực</a:t>
            </a:r>
            <a:r>
              <a:rPr lang="en-US" dirty="0">
                <a:latin typeface="Cambria" panose="02040503050406030204" pitchFamily="18" charset="0"/>
                <a:ea typeface="Cambria" panose="02040503050406030204" pitchFamily="18" charset="0"/>
              </a:rPr>
              <a:t>.</a:t>
            </a:r>
          </a:p>
        </p:txBody>
      </p:sp>
      <p:pic>
        <p:nvPicPr>
          <p:cNvPr id="9" name="Picture 8">
            <a:extLst>
              <a:ext uri="{FF2B5EF4-FFF2-40B4-BE49-F238E27FC236}">
                <a16:creationId xmlns:a16="http://schemas.microsoft.com/office/drawing/2014/main" id="{25686DA6-9ED3-4261-95EE-487972385E3D}"/>
              </a:ext>
            </a:extLst>
          </p:cNvPr>
          <p:cNvPicPr>
            <a:picLocks noChangeAspect="1"/>
          </p:cNvPicPr>
          <p:nvPr/>
        </p:nvPicPr>
        <p:blipFill>
          <a:blip r:embed="rId2"/>
          <a:stretch>
            <a:fillRect/>
          </a:stretch>
        </p:blipFill>
        <p:spPr>
          <a:xfrm>
            <a:off x="6096000" y="1180214"/>
            <a:ext cx="5720936" cy="3461989"/>
          </a:xfrm>
          <a:prstGeom prst="rect">
            <a:avLst/>
          </a:prstGeom>
        </p:spPr>
      </p:pic>
    </p:spTree>
    <p:extLst>
      <p:ext uri="{BB962C8B-B14F-4D97-AF65-F5344CB8AC3E}">
        <p14:creationId xmlns:p14="http://schemas.microsoft.com/office/powerpoint/2010/main" val="2738384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6E4718-DAC3-76D4-FFFC-409532E795B2}"/>
              </a:ext>
            </a:extLst>
          </p:cNvPr>
          <p:cNvSpPr txBox="1"/>
          <p:nvPr/>
        </p:nvSpPr>
        <p:spPr>
          <a:xfrm>
            <a:off x="339354" y="724376"/>
            <a:ext cx="6263954" cy="3293209"/>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b="1" dirty="0" err="1">
                <a:latin typeface="Cambria" panose="02040503050406030204" pitchFamily="18" charset="0"/>
                <a:ea typeface="Cambria" panose="02040503050406030204" pitchFamily="18" charset="0"/>
              </a:rPr>
              <a:t>Lập</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kế</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hoạch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tổ</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chức</a:t>
            </a:r>
            <a:endParaRPr lang="en-US" b="1" dirty="0">
              <a:latin typeface="Cambria" panose="02040503050406030204" pitchFamily="18" charset="0"/>
              <a:ea typeface="Cambria" panose="02040503050406030204" pitchFamily="18" charset="0"/>
            </a:endParaRPr>
          </a:p>
          <a:p>
            <a:pPr marL="0" lvl="1" algn="just">
              <a:spcBef>
                <a:spcPts val="600"/>
              </a:spcBef>
              <a:spcAft>
                <a:spcPts val="300"/>
              </a:spcAft>
              <a:buClr>
                <a:schemeClr val="accent2">
                  <a:lumMod val="75000"/>
                </a:schemeClr>
              </a:buClr>
              <a:buSzPct val="140000"/>
            </a:pPr>
            <a:r>
              <a:rPr lang="en-US" i="1" dirty="0">
                <a:latin typeface="Cambria" panose="02040503050406030204" pitchFamily="18" charset="0"/>
                <a:ea typeface="Cambria" panose="02040503050406030204" pitchFamily="18" charset="0"/>
              </a:rPr>
              <a:t>Ma </a:t>
            </a:r>
            <a:r>
              <a:rPr lang="en-US" i="1" dirty="0" err="1">
                <a:latin typeface="Cambria" panose="02040503050406030204" pitchFamily="18" charset="0"/>
                <a:ea typeface="Cambria" panose="02040503050406030204" pitchFamily="18" charset="0"/>
              </a:rPr>
              <a:t>trận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phân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công</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trách</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nhiệm</a:t>
            </a:r>
            <a:r>
              <a:rPr lang="en-US" i="1" dirty="0">
                <a:latin typeface="Cambria" panose="02040503050406030204" pitchFamily="18" charset="0"/>
                <a:ea typeface="Cambria" panose="02040503050406030204" pitchFamily="18" charset="0"/>
              </a:rPr>
              <a:t> (RAM): </a:t>
            </a:r>
            <a:r>
              <a:rPr lang="en-US" i="1" dirty="0" err="1">
                <a:latin typeface="Cambria" panose="02040503050406030204" pitchFamily="18" charset="0"/>
                <a:ea typeface="Cambria" panose="02040503050406030204" pitchFamily="18" charset="0"/>
              </a:rPr>
              <a:t>mục</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đích</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đảm</a:t>
            </a:r>
            <a:r>
              <a:rPr lang="en-US" i="1" dirty="0">
                <a:latin typeface="Cambria" panose="02040503050406030204" pitchFamily="18" charset="0"/>
                <a:ea typeface="Cambria" panose="02040503050406030204" pitchFamily="18" charset="0"/>
              </a:rPr>
              <a:t> </a:t>
            </a:r>
            <a:r>
              <a:rPr lang="vi-VN" i="1" dirty="0">
                <a:latin typeface="Cambria" panose="02040503050406030204" pitchFamily="18" charset="0"/>
                <a:ea typeface="Cambria" panose="02040503050406030204" pitchFamily="18" charset="0"/>
              </a:rPr>
              <a:t>bảo mọi người hiểu vai trò và trách nhiệm của mình.</a:t>
            </a:r>
            <a:endParaRPr lang="en-US" i="1" dirty="0">
              <a:latin typeface="Cambria" panose="02040503050406030204" pitchFamily="18" charset="0"/>
              <a:ea typeface="Cambria" panose="02040503050406030204" pitchFamily="18" charset="0"/>
            </a:endParaRPr>
          </a:p>
          <a:p>
            <a:pPr algn="just"/>
            <a:r>
              <a:rPr lang="vi-VN" dirty="0">
                <a:latin typeface="Cambria" panose="02040503050406030204" pitchFamily="18" charset="0"/>
                <a:ea typeface="Cambria" panose="02040503050406030204" pitchFamily="18" charset="0"/>
              </a:rPr>
              <a:t>Một công cụ mà các nhà quản lý dự án sử dụng để giữ cho công việc được giao trở nên rõ ràng là Ma trận phân định trách nhiệm (còn gọi là RAM – Responsibility Assignment Matrix, hoặc trật tự trách nhiệm). Nó gắn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a:t>
            </a:r>
            <a:r>
              <a:rPr lang="vi-VN" dirty="0">
                <a:latin typeface="Cambria" panose="02040503050406030204" pitchFamily="18" charset="0"/>
                <a:ea typeface="Cambria" panose="02040503050406030204" pitchFamily="18" charset="0"/>
              </a:rPr>
              <a:t>sản phẩm với những người chịu trách nhiệm. Đối với mỗi phần của dự án, ma trận cho thấy ai cần đóng góp gì để hoàn thành dự án.</a:t>
            </a:r>
          </a:p>
          <a:p>
            <a:br>
              <a:rPr lang="vi-VN" dirty="0"/>
            </a:br>
            <a:endParaRPr lang="en-US" i="1" dirty="0">
              <a:latin typeface="Cambria" panose="02040503050406030204" pitchFamily="18" charset="0"/>
              <a:ea typeface="Cambria" panose="02040503050406030204" pitchFamily="18" charset="0"/>
            </a:endParaRPr>
          </a:p>
        </p:txBody>
      </p:sp>
      <p:pic>
        <p:nvPicPr>
          <p:cNvPr id="12" name="Picture 11">
            <a:extLst>
              <a:ext uri="{FF2B5EF4-FFF2-40B4-BE49-F238E27FC236}">
                <a16:creationId xmlns:a16="http://schemas.microsoft.com/office/drawing/2014/main" id="{0025D4E4-8AC0-BC7A-5CD5-994369E7946C}"/>
              </a:ext>
            </a:extLst>
          </p:cNvPr>
          <p:cNvPicPr>
            <a:picLocks noChangeAspect="1"/>
          </p:cNvPicPr>
          <p:nvPr/>
        </p:nvPicPr>
        <p:blipFill>
          <a:blip r:embed="rId2"/>
          <a:stretch>
            <a:fillRect/>
          </a:stretch>
        </p:blipFill>
        <p:spPr>
          <a:xfrm>
            <a:off x="6603308" y="3841524"/>
            <a:ext cx="5274442" cy="2331768"/>
          </a:xfrm>
          <a:prstGeom prst="rect">
            <a:avLst/>
          </a:prstGeom>
        </p:spPr>
      </p:pic>
      <p:sp>
        <p:nvSpPr>
          <p:cNvPr id="13" name="Rectangle 12">
            <a:extLst>
              <a:ext uri="{FF2B5EF4-FFF2-40B4-BE49-F238E27FC236}">
                <a16:creationId xmlns:a16="http://schemas.microsoft.com/office/drawing/2014/main" id="{6A0E2281-5F76-762B-5D76-E7ED97123293}"/>
              </a:ext>
            </a:extLst>
          </p:cNvPr>
          <p:cNvSpPr/>
          <p:nvPr/>
        </p:nvSpPr>
        <p:spPr>
          <a:xfrm>
            <a:off x="11153553" y="5901070"/>
            <a:ext cx="841160" cy="2722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2589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6E4718-DAC3-76D4-FFFC-409532E795B2}"/>
              </a:ext>
            </a:extLst>
          </p:cNvPr>
          <p:cNvSpPr txBox="1"/>
          <p:nvPr/>
        </p:nvSpPr>
        <p:spPr>
          <a:xfrm>
            <a:off x="339354" y="724376"/>
            <a:ext cx="11538396" cy="6155531"/>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b="1" dirty="0" err="1">
                <a:latin typeface="Cambria" panose="02040503050406030204" pitchFamily="18" charset="0"/>
                <a:ea typeface="Cambria" panose="02040503050406030204" pitchFamily="18" charset="0"/>
              </a:rPr>
              <a:t>Lập</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kế</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hoạch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tổ</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chức</a:t>
            </a:r>
            <a:endParaRPr lang="en-US" b="1" dirty="0">
              <a:latin typeface="Cambria" panose="02040503050406030204" pitchFamily="18" charset="0"/>
              <a:ea typeface="Cambria" panose="02040503050406030204" pitchFamily="18" charset="0"/>
            </a:endParaRPr>
          </a:p>
          <a:p>
            <a:pPr marL="0" lvl="1" algn="just">
              <a:spcBef>
                <a:spcPts val="600"/>
              </a:spcBef>
              <a:spcAft>
                <a:spcPts val="300"/>
              </a:spcAft>
              <a:buClr>
                <a:schemeClr val="accent2">
                  <a:lumMod val="75000"/>
                </a:schemeClr>
              </a:buClr>
              <a:buSzPct val="140000"/>
            </a:pPr>
            <a:r>
              <a:rPr lang="en-US" i="1" dirty="0">
                <a:latin typeface="Cambria" panose="02040503050406030204" pitchFamily="18" charset="0"/>
                <a:ea typeface="Cambria" panose="02040503050406030204" pitchFamily="18" charset="0"/>
              </a:rPr>
              <a:t>Ma </a:t>
            </a:r>
            <a:r>
              <a:rPr lang="en-US" i="1" dirty="0" err="1">
                <a:latin typeface="Cambria" panose="02040503050406030204" pitchFamily="18" charset="0"/>
                <a:ea typeface="Cambria" panose="02040503050406030204" pitchFamily="18" charset="0"/>
              </a:rPr>
              <a:t>trận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phân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công</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trách</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nhiệm</a:t>
            </a:r>
            <a:r>
              <a:rPr lang="en-US" i="1" dirty="0">
                <a:latin typeface="Cambria" panose="02040503050406030204" pitchFamily="18" charset="0"/>
                <a:ea typeface="Cambria" panose="02040503050406030204" pitchFamily="18" charset="0"/>
              </a:rPr>
              <a:t> (RAM)</a:t>
            </a:r>
          </a:p>
          <a:p>
            <a:pPr marL="0" lvl="1" algn="just">
              <a:spcBef>
                <a:spcPts val="600"/>
              </a:spcBef>
              <a:spcAft>
                <a:spcPts val="300"/>
              </a:spcAft>
              <a:buClr>
                <a:schemeClr val="accent2">
                  <a:lumMod val="75000"/>
                </a:schemeClr>
              </a:buClr>
              <a:buSzPct val="140000"/>
            </a:pPr>
            <a:r>
              <a:rPr lang="vi-VN" b="1" i="1" dirty="0">
                <a:solidFill>
                  <a:schemeClr val="accent2">
                    <a:lumMod val="75000"/>
                  </a:schemeClr>
                </a:solidFill>
                <a:latin typeface="Cambria" panose="02040503050406030204" pitchFamily="18" charset="0"/>
                <a:ea typeface="Cambria" panose="02040503050406030204" pitchFamily="18" charset="0"/>
              </a:rPr>
              <a:t>Chức năng</a:t>
            </a:r>
          </a:p>
          <a:p>
            <a:pPr marL="0" lvl="1" algn="just">
              <a:spcBef>
                <a:spcPts val="600"/>
              </a:spcBef>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Thông qua việc sử dụng ma trận trách nhiệm và xác định rõ trách nhiệm và quyền hạn của từng đơn vị và cá nhân tham gia dự án, ví dụ - chịu trách nhiệm thực hiện, trách nhiệm giám sát, tham vấn, được cung cấp thông tin - mối quan hệ giữa các đơn vị khác nhau. </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Đối với các dự án lớn, ma trận trách nhiệm có thể áp dụng linh hoạt dưới nhiều cấp độ chi tiết khác nhau. </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Ở cấp độ tổng hợp, ma trận trách nhiệm xác định nhóm dự án hoặc bộ phận nào chịu trách nhiệm cụ thể cho từng hạng mục công việc của dự án.</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Ở cấp độ nội bộ nhóm dự án thì vai trò, nhiệm vụ, quyền hạn cho tùng hoạt động được xác định cụ thể.</a:t>
            </a:r>
          </a:p>
          <a:p>
            <a:pPr marL="0" lvl="1" algn="just">
              <a:spcBef>
                <a:spcPts val="600"/>
              </a:spcBef>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Ma trận trách nhiệm có thể áp dụng cho dự án nhỏ và một hình thức đơn giản của ma trận trách nhiệm bao gồm các hàng liệt kê các hoạt động và các cột liệt kê các cá nhân chịu trách nhiệm cho từng hoạt động. </a:t>
            </a:r>
          </a:p>
          <a:p>
            <a:pPr marL="0" lvl="1" algn="just">
              <a:spcBef>
                <a:spcPts val="600"/>
              </a:spcBef>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Ma trận trách nhiệm cho biết tất cả các hoạt động gắn với một cá nhân và tất cả các cá nhân gắn với một hoạt động. Ma trận trách nhiệm yêu cầu rằng chỉ có một cá nhân chịu trách nhiệm chính về một hoạt động/nhiệm vụ để trách chồng chéo.</a:t>
            </a:r>
          </a:p>
          <a:p>
            <a:pPr marL="0" lvl="1" algn="just">
              <a:spcBef>
                <a:spcPts val="600"/>
              </a:spcBef>
              <a:spcAft>
                <a:spcPts val="300"/>
              </a:spcAft>
              <a:buClr>
                <a:schemeClr val="accent2">
                  <a:lumMod val="75000"/>
                </a:schemeClr>
              </a:buClr>
              <a:buSzPct val="140000"/>
            </a:pPr>
            <a:endParaRPr lang="vi-VN" dirty="0">
              <a:latin typeface="Cambria" panose="02040503050406030204" pitchFamily="18" charset="0"/>
              <a:ea typeface="Cambria" panose="02040503050406030204" pitchFamily="18" charset="0"/>
            </a:endParaRPr>
          </a:p>
          <a:p>
            <a:br>
              <a:rPr lang="vi-VN" dirty="0"/>
            </a:br>
            <a:endParaRPr lang="en-US" i="1" dirty="0">
              <a:latin typeface="Cambria" panose="02040503050406030204" pitchFamily="18" charset="0"/>
              <a:ea typeface="Cambria" panose="02040503050406030204" pitchFamily="18" charset="0"/>
            </a:endParaRPr>
          </a:p>
        </p:txBody>
      </p:sp>
      <p:sp>
        <p:nvSpPr>
          <p:cNvPr id="13" name="Rectangle 12">
            <a:extLst>
              <a:ext uri="{FF2B5EF4-FFF2-40B4-BE49-F238E27FC236}">
                <a16:creationId xmlns:a16="http://schemas.microsoft.com/office/drawing/2014/main" id="{6A0E2281-5F76-762B-5D76-E7ED97123293}"/>
              </a:ext>
            </a:extLst>
          </p:cNvPr>
          <p:cNvSpPr/>
          <p:nvPr/>
        </p:nvSpPr>
        <p:spPr>
          <a:xfrm>
            <a:off x="11153553" y="5901070"/>
            <a:ext cx="841160" cy="2722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1278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6E4718-DAC3-76D4-FFFC-409532E795B2}"/>
              </a:ext>
            </a:extLst>
          </p:cNvPr>
          <p:cNvSpPr txBox="1"/>
          <p:nvPr/>
        </p:nvSpPr>
        <p:spPr>
          <a:xfrm>
            <a:off x="339354" y="724376"/>
            <a:ext cx="11538396" cy="6378669"/>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b="1" dirty="0" err="1">
                <a:latin typeface="Cambria" panose="02040503050406030204" pitchFamily="18" charset="0"/>
                <a:ea typeface="Cambria" panose="02040503050406030204" pitchFamily="18" charset="0"/>
              </a:rPr>
              <a:t>Lập</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kế</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hoạch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tổ</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chức</a:t>
            </a:r>
            <a:endParaRPr lang="en-US" b="1" dirty="0">
              <a:latin typeface="Cambria" panose="02040503050406030204" pitchFamily="18" charset="0"/>
              <a:ea typeface="Cambria" panose="02040503050406030204" pitchFamily="18" charset="0"/>
            </a:endParaRPr>
          </a:p>
          <a:p>
            <a:pPr marL="0" lvl="1" algn="just">
              <a:spcBef>
                <a:spcPts val="600"/>
              </a:spcBef>
              <a:spcAft>
                <a:spcPts val="300"/>
              </a:spcAft>
              <a:buClr>
                <a:schemeClr val="accent2">
                  <a:lumMod val="75000"/>
                </a:schemeClr>
              </a:buClr>
              <a:buSzPct val="140000"/>
            </a:pPr>
            <a:r>
              <a:rPr lang="en-US" i="1" dirty="0">
                <a:latin typeface="Cambria" panose="02040503050406030204" pitchFamily="18" charset="0"/>
                <a:ea typeface="Cambria" panose="02040503050406030204" pitchFamily="18" charset="0"/>
              </a:rPr>
              <a:t>Ma </a:t>
            </a:r>
            <a:r>
              <a:rPr lang="en-US" i="1" dirty="0" err="1">
                <a:latin typeface="Cambria" panose="02040503050406030204" pitchFamily="18" charset="0"/>
                <a:ea typeface="Cambria" panose="02040503050406030204" pitchFamily="18" charset="0"/>
              </a:rPr>
              <a:t>trận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phân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công</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trách</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nhiệm</a:t>
            </a:r>
            <a:r>
              <a:rPr lang="en-US" i="1" dirty="0">
                <a:latin typeface="Cambria" panose="02040503050406030204" pitchFamily="18" charset="0"/>
                <a:ea typeface="Cambria" panose="02040503050406030204" pitchFamily="18" charset="0"/>
              </a:rPr>
              <a:t> (RAM)</a:t>
            </a:r>
          </a:p>
          <a:p>
            <a:pPr algn="just"/>
            <a:r>
              <a:rPr lang="en-US" dirty="0">
                <a:latin typeface="Cambria" panose="02040503050406030204" pitchFamily="18" charset="0"/>
                <a:ea typeface="Cambria" panose="02040503050406030204" pitchFamily="18" charset="0"/>
              </a:rPr>
              <a:t>Trong PMBOK </a:t>
            </a:r>
            <a:r>
              <a:rPr lang="en-US" dirty="0" err="1">
                <a:latin typeface="Cambria" panose="02040503050406030204" pitchFamily="18" charset="0"/>
                <a:ea typeface="Cambria" panose="02040503050406030204" pitchFamily="18" charset="0"/>
              </a:rPr>
              <a:t>đề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xuất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RAM (Responsibility Assignment Matrix)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RACI (Responsible, Accountable, Consult, Inform) matrix. </a:t>
            </a:r>
            <a:r>
              <a:rPr lang="vi-VN" dirty="0">
                <a:latin typeface="Cambria" panose="02040503050406030204" pitchFamily="18" charset="0"/>
                <a:ea typeface="Cambria" panose="02040503050406030204" pitchFamily="18" charset="0"/>
              </a:rPr>
              <a:t>RACI là một loại ma trận gán trách nhiệm (RAM) phổ biến, xác định các cá nhân/bên liên quan của dự án có trách nhiệm (R), chịu trách nhiệm (A), tư vấn (C) và thông báo (I) trạng thái của các hoạt động khác nhau trong dự án.</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R - Responsible: trách nhiệm thực thi. Đây là người/nhóm đóng vai trò thực thi gói công việc hoặc hoạt động nhằm đảm bảo gói công việc/hoạt động đó được hoàn thành. Phải luôn có ít nhất 1 người/nhóm thực thi gói công việc/hoạt động thì gói công việc/hoạt động đó mới có kết hoàn thành (nếu không có ai chịu trách nhiệm thực hiện công việc thì công việc đó sẽ không thể hoàn thành!). Đối với các gói công việc/hoạt động lớn đòi hỏi cần nhiều người/nhóm thực thi thì có thể gán nhiều người/nhóm ở vai trò R - trách nhiệm thực thi cho gói công việc/hoạt động đó. Do đó một gói công việc/hoạt động bất kỳ sẽ luôn có ít nhất 1 người/nhóm chịu trách nhiệm thực thi.</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A - Accountable: trách nhiệm giải trình. Đây là người chịu trách nhiệm cuối cùng đối với việc hoàn thành gói công việc/hoạt động. Thường đây là cấp trên của người/nhóm chịu trách nhiệm thực thi và chịu trách nhiệm cuối cùng cho sự thành công hay thất bại của gói công việc/hoạt động đó. Cho dù gói công việc/hoạt động đó được hoàn thành bởi người/nhóm chịu trách nhiệm thực thi bất kỳ và đạt kết quả tốt hay xấu thì người chịu trách nhiệm giải trình sẽ chịu trách nhiệm cuối cùng. Nếu một gói công việc/hoạt động mà không có người chịu trách nhiệm giải trình thì có rủi ro rất lớn là gói công việc/hoạt động đó thất bại, không hoàn thành đúng mục tiêu. Nếu có từ 2 người trở lên chịu trách nhiệm giải trình cho một gói công việc/hoạt động thì cũng có rủi ro lớn là gói công việc/hoạt động đó sẽ thất bại do việc không phân định rõ trách nhiệm và do việc đùn đẩy cho nhau. Do đó luôn chỉ có duy nhất một người chịu trách nhiệm giải trình cho bất kỳ một gói công việc/hoạt động!</a:t>
            </a:r>
          </a:p>
          <a:p>
            <a:pPr marL="0" lvl="1" algn="just">
              <a:spcBef>
                <a:spcPts val="600"/>
              </a:spcBef>
              <a:spcAft>
                <a:spcPts val="300"/>
              </a:spcAft>
              <a:buClr>
                <a:schemeClr val="accent2">
                  <a:lumMod val="75000"/>
                </a:schemeClr>
              </a:buClr>
              <a:buSzPct val="140000"/>
            </a:pPr>
            <a:endParaRPr lang="en-US" dirty="0">
              <a:latin typeface="Cambria" panose="02040503050406030204" pitchFamily="18" charset="0"/>
              <a:ea typeface="Cambria" panose="02040503050406030204" pitchFamily="18" charset="0"/>
            </a:endParaRPr>
          </a:p>
          <a:p>
            <a:pPr marL="0" lvl="1" algn="just">
              <a:spcBef>
                <a:spcPts val="600"/>
              </a:spcBef>
              <a:spcAft>
                <a:spcPts val="300"/>
              </a:spcAft>
              <a:buClr>
                <a:schemeClr val="accent2">
                  <a:lumMod val="75000"/>
                </a:schemeClr>
              </a:buClr>
              <a:buSzPct val="140000"/>
            </a:pPr>
            <a:br>
              <a:rPr lang="vi-VN" dirty="0"/>
            </a:br>
            <a:endParaRPr lang="en-US" i="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6255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6E4718-DAC3-76D4-FFFC-409532E795B2}"/>
              </a:ext>
            </a:extLst>
          </p:cNvPr>
          <p:cNvSpPr txBox="1"/>
          <p:nvPr/>
        </p:nvSpPr>
        <p:spPr>
          <a:xfrm>
            <a:off x="339354" y="724376"/>
            <a:ext cx="11538396" cy="5516895"/>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b="1" dirty="0" err="1">
                <a:latin typeface="Cambria" panose="02040503050406030204" pitchFamily="18" charset="0"/>
                <a:ea typeface="Cambria" panose="02040503050406030204" pitchFamily="18" charset="0"/>
              </a:rPr>
              <a:t>Lập</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kế</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hoạch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tổ</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chức</a:t>
            </a:r>
            <a:endParaRPr lang="en-US" b="1" dirty="0">
              <a:latin typeface="Cambria" panose="02040503050406030204" pitchFamily="18" charset="0"/>
              <a:ea typeface="Cambria" panose="02040503050406030204" pitchFamily="18" charset="0"/>
            </a:endParaRPr>
          </a:p>
          <a:p>
            <a:pPr marL="0" lvl="1" algn="just">
              <a:spcBef>
                <a:spcPts val="600"/>
              </a:spcBef>
              <a:spcAft>
                <a:spcPts val="300"/>
              </a:spcAft>
              <a:buClr>
                <a:schemeClr val="accent2">
                  <a:lumMod val="75000"/>
                </a:schemeClr>
              </a:buClr>
              <a:buSzPct val="140000"/>
            </a:pPr>
            <a:r>
              <a:rPr lang="en-US" i="1" dirty="0">
                <a:latin typeface="Cambria" panose="02040503050406030204" pitchFamily="18" charset="0"/>
                <a:ea typeface="Cambria" panose="02040503050406030204" pitchFamily="18" charset="0"/>
              </a:rPr>
              <a:t>Ma </a:t>
            </a:r>
            <a:r>
              <a:rPr lang="en-US" i="1" dirty="0" err="1">
                <a:latin typeface="Cambria" panose="02040503050406030204" pitchFamily="18" charset="0"/>
                <a:ea typeface="Cambria" panose="02040503050406030204" pitchFamily="18" charset="0"/>
              </a:rPr>
              <a:t>trận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phân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công</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trách</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nhiệm</a:t>
            </a:r>
            <a:r>
              <a:rPr lang="en-US" i="1" dirty="0">
                <a:latin typeface="Cambria" panose="02040503050406030204" pitchFamily="18" charset="0"/>
                <a:ea typeface="Cambria" panose="02040503050406030204" pitchFamily="18" charset="0"/>
              </a:rPr>
              <a:t> (RAM)</a:t>
            </a:r>
          </a:p>
          <a:p>
            <a:pPr algn="just"/>
            <a:r>
              <a:rPr lang="en-US" dirty="0">
                <a:latin typeface="Cambria" panose="02040503050406030204" pitchFamily="18" charset="0"/>
                <a:ea typeface="Cambria" panose="02040503050406030204" pitchFamily="18" charset="0"/>
              </a:rPr>
              <a:t>Trong PMBOK </a:t>
            </a:r>
            <a:r>
              <a:rPr lang="en-US" dirty="0" err="1">
                <a:latin typeface="Cambria" panose="02040503050406030204" pitchFamily="18" charset="0"/>
                <a:ea typeface="Cambria" panose="02040503050406030204" pitchFamily="18" charset="0"/>
              </a:rPr>
              <a:t>đề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xuất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RAM (Responsibility Assignment Matrix)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RACI (Responsible, Accountable, Consult, Inform) matrix. </a:t>
            </a:r>
            <a:r>
              <a:rPr lang="vi-VN" dirty="0">
                <a:latin typeface="Cambria" panose="02040503050406030204" pitchFamily="18" charset="0"/>
                <a:ea typeface="Cambria" panose="02040503050406030204" pitchFamily="18" charset="0"/>
              </a:rPr>
              <a:t>RACI là một loại ma trận gán trách nhiệm (RAM) phổ biến, xác định các cá nhân/bên liên quan của dự án có trách nhiệm (R), chịu trách nhiệm (A), tư vấn (C) và thông báo (I) trạng thái của các hoạt động khác nhau trong dự án.</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C - Consult: tham vấn. Đây là các cá nhân, tổ chức được tham vấn, hỏi ý kiến để thực thi một gói công việc/hoạt động. Người/nhóm chịu trách nhiệm thực thi cần tham vấn ý kiến, tham vấn chuyên gia đối với các cá nhân/tổ chức có vai trò C để có thể thực thi một gói công việc/hành động.</a:t>
            </a:r>
          </a:p>
          <a:p>
            <a:pPr marL="742950" lvl="1" indent="-285750">
              <a:buClr>
                <a:schemeClr val="accent2">
                  <a:lumMod val="75000"/>
                </a:schemeClr>
              </a:buClr>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I - Inform: thông báo. Đây là các cá nhân, tổ chức mà cần được thông báo thông tin về một gói công việc/hoạt động. Các thông tin về tiến độ, chi phí, chất lượng, nguồn lực, … sẽ được người/nhóm chịu trách nhiệm thực thi thông báo đến </a:t>
            </a:r>
            <a:r>
              <a:rPr lang="vi-VN" sz="1600" i="1"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các bên liên quan</a:t>
            </a:r>
            <a:r>
              <a:rPr lang="vi-VN" sz="1600" i="1" dirty="0">
                <a:latin typeface="Cambria" panose="02040503050406030204" pitchFamily="18" charset="0"/>
                <a:ea typeface="Cambria" panose="02040503050406030204" pitchFamily="18" charset="0"/>
              </a:rPr>
              <a:t> I để các bên liên quan này nắm thông tin về gói công việc/hoạt động đó.</a:t>
            </a:r>
          </a:p>
          <a:p>
            <a:pPr algn="just"/>
            <a:r>
              <a:rPr lang="vi-VN" dirty="0">
                <a:latin typeface="Cambria" panose="02040503050406030204" pitchFamily="18" charset="0"/>
                <a:ea typeface="Cambria" panose="02040503050406030204" pitchFamily="18" charset="0"/>
              </a:rPr>
              <a:t>Trong một dự án, nhiều người có thể cùng thực hiện một vai trò trong khi một người cũng có thể thực hiện nhiều vai trò cùng lúc. Tuy nhiên, đối với mỗi nhiệm vụ/hoạt động, chỉ nên có một người được giao một vai trò duy nhất (mặc dù nếu không chịu trách nhiệm giải trình, người chịu trách nhiệm thực thi cũng sẽ là người chịu trách nhiệm thực tế cho nhiệm vụ đó).</a:t>
            </a:r>
          </a:p>
          <a:p>
            <a:pPr marL="0" lvl="1" algn="just">
              <a:spcBef>
                <a:spcPts val="600"/>
              </a:spcBef>
              <a:spcAft>
                <a:spcPts val="300"/>
              </a:spcAft>
              <a:buClr>
                <a:schemeClr val="accent2">
                  <a:lumMod val="75000"/>
                </a:schemeClr>
              </a:buClr>
              <a:buSzPct val="140000"/>
            </a:pPr>
            <a:endParaRPr lang="en-US" dirty="0">
              <a:latin typeface="Cambria" panose="02040503050406030204" pitchFamily="18" charset="0"/>
              <a:ea typeface="Cambria" panose="02040503050406030204" pitchFamily="18" charset="0"/>
            </a:endParaRPr>
          </a:p>
          <a:p>
            <a:pPr marL="0" lvl="1" algn="just">
              <a:spcBef>
                <a:spcPts val="600"/>
              </a:spcBef>
              <a:spcAft>
                <a:spcPts val="300"/>
              </a:spcAft>
              <a:buClr>
                <a:schemeClr val="accent2">
                  <a:lumMod val="75000"/>
                </a:schemeClr>
              </a:buClr>
              <a:buSzPct val="140000"/>
            </a:pPr>
            <a:br>
              <a:rPr lang="vi-VN" dirty="0"/>
            </a:br>
            <a:endParaRPr lang="en-US" i="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73491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71AD9D60-5429-5ED7-B7CB-F42C51104761}"/>
              </a:ext>
            </a:extLst>
          </p:cNvPr>
          <p:cNvPicPr>
            <a:picLocks noChangeAspect="1"/>
          </p:cNvPicPr>
          <p:nvPr/>
        </p:nvPicPr>
        <p:blipFill>
          <a:blip r:embed="rId2"/>
          <a:stretch>
            <a:fillRect/>
          </a:stretch>
        </p:blipFill>
        <p:spPr>
          <a:xfrm>
            <a:off x="339354" y="724376"/>
            <a:ext cx="10679972" cy="5651617"/>
          </a:xfrm>
          <a:prstGeom prst="rect">
            <a:avLst/>
          </a:prstGeom>
        </p:spPr>
      </p:pic>
    </p:spTree>
    <p:extLst>
      <p:ext uri="{BB962C8B-B14F-4D97-AF65-F5344CB8AC3E}">
        <p14:creationId xmlns:p14="http://schemas.microsoft.com/office/powerpoint/2010/main" val="570407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98F9E56-996C-3F2E-D674-A20134FF048E}"/>
              </a:ext>
            </a:extLst>
          </p:cNvPr>
          <p:cNvPicPr>
            <a:picLocks noChangeAspect="1"/>
          </p:cNvPicPr>
          <p:nvPr/>
        </p:nvPicPr>
        <p:blipFill>
          <a:blip r:embed="rId2"/>
          <a:stretch>
            <a:fillRect/>
          </a:stretch>
        </p:blipFill>
        <p:spPr>
          <a:xfrm>
            <a:off x="6674520" y="936815"/>
            <a:ext cx="5517480" cy="4084203"/>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6E4718-DAC3-76D4-FFFC-409532E795B2}"/>
              </a:ext>
            </a:extLst>
          </p:cNvPr>
          <p:cNvSpPr txBox="1"/>
          <p:nvPr/>
        </p:nvSpPr>
        <p:spPr>
          <a:xfrm>
            <a:off x="339354" y="724376"/>
            <a:ext cx="6340120" cy="4778231"/>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b="1" dirty="0">
                <a:latin typeface="Cambria" panose="02040503050406030204" pitchFamily="18" charset="0"/>
                <a:ea typeface="Cambria" panose="02040503050406030204" pitchFamily="18" charset="0"/>
              </a:rPr>
              <a:t>Thu </a:t>
            </a:r>
            <a:r>
              <a:rPr lang="en-US" b="1" dirty="0" err="1">
                <a:latin typeface="Cambria" panose="02040503050406030204" pitchFamily="18" charset="0"/>
                <a:ea typeface="Cambria" panose="02040503050406030204" pitchFamily="18" charset="0"/>
              </a:rPr>
              <a:t>nhận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nhân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viên</a:t>
            </a:r>
            <a:r>
              <a:rPr lang="en-US" b="1" dirty="0">
                <a:latin typeface="Cambria" panose="02040503050406030204" pitchFamily="18" charset="0"/>
                <a:ea typeface="Cambria" panose="02040503050406030204" pitchFamily="18" charset="0"/>
              </a:rPr>
              <a:t> (Acquire project team) </a:t>
            </a:r>
          </a:p>
          <a:p>
            <a:pPr algn="just"/>
            <a:r>
              <a:rPr lang="vi-VN" dirty="0">
                <a:latin typeface="Cambria" panose="02040503050406030204" pitchFamily="18" charset="0"/>
                <a:ea typeface="Cambria" panose="02040503050406030204" pitchFamily="18" charset="0"/>
              </a:rPr>
              <a:t>Kế hoạch bố trí nhân sự và các bước tuyển dụng nhân viên tốt rất quan trọng cho</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việc thu nhận nhân viên, như một sự khích lệ cho việc tuyển dụng và giữ chân nhân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viên</a:t>
            </a:r>
            <a:r>
              <a:rPr lang="en-US" dirty="0">
                <a:latin typeface="Cambria" panose="02040503050406030204" pitchFamily="18" charset="0"/>
                <a:ea typeface="Cambria" panose="02040503050406030204" pitchFamily="18" charset="0"/>
              </a:rPr>
              <a:t>.</a:t>
            </a:r>
          </a:p>
          <a:p>
            <a:pPr marL="0" lvl="1" algn="just">
              <a:spcBef>
                <a:spcPts val="600"/>
              </a:spcBef>
              <a:spcAft>
                <a:spcPts val="300"/>
              </a:spcAft>
              <a:buClr>
                <a:schemeClr val="accent2">
                  <a:lumMod val="75000"/>
                </a:schemeClr>
              </a:buClr>
              <a:buSzPct val="140000"/>
            </a:pPr>
            <a:r>
              <a:rPr lang="en-US" i="1" dirty="0" err="1">
                <a:latin typeface="Cambria" panose="02040503050406030204" pitchFamily="18" charset="0"/>
                <a:ea typeface="Cambria" panose="02040503050406030204" pitchFamily="18" charset="0"/>
              </a:rPr>
              <a:t>Mức</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sử</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dụng</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tài</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nguyên</a:t>
            </a:r>
            <a:endParaRPr lang="en-US" i="1"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Mức sử dụng tài nguyên (Resource loading) là lượng tài nguyên một dự </a:t>
            </a:r>
            <a:r>
              <a:rPr lang="en-US" sz="1600" dirty="0" err="1">
                <a:latin typeface="Cambria" panose="02040503050406030204" pitchFamily="18" charset="0"/>
                <a:ea typeface="Cambria" panose="02040503050406030204" pitchFamily="18" charset="0"/>
              </a:rPr>
              <a:t>cần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trong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một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khoảng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thời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gian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cụ</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thể</a:t>
            </a:r>
            <a:r>
              <a:rPr lang="en-US" sz="1600"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Nhật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đồ</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tài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nguyên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cho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thấy</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mức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sử</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dụng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tài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nguyên</a:t>
            </a:r>
            <a:r>
              <a:rPr lang="en-US" sz="1600"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Phân phối thừa (overallocation = vượt quá yêu cầu phân bổ) có nghĩa là tài</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nguyên được phân bổ nhiều hơn so với hiện có để thực hiện công việc vào một</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thời điểm cho trước.</a:t>
            </a:r>
            <a:endParaRPr lang="en-US" sz="1600" dirty="0">
              <a:latin typeface="Cambria" panose="02040503050406030204" pitchFamily="18" charset="0"/>
              <a:ea typeface="Cambria" panose="02040503050406030204" pitchFamily="18" charset="0"/>
            </a:endParaRPr>
          </a:p>
          <a:p>
            <a:pPr marL="0" lvl="1" algn="just">
              <a:spcBef>
                <a:spcPts val="600"/>
              </a:spcBef>
              <a:spcAft>
                <a:spcPts val="300"/>
              </a:spcAft>
              <a:buClr>
                <a:schemeClr val="accent2">
                  <a:lumMod val="75000"/>
                </a:schemeClr>
              </a:buClr>
              <a:buSzPct val="140000"/>
            </a:pPr>
            <a:r>
              <a:rPr lang="en-US" i="1" dirty="0" err="1">
                <a:latin typeface="Cambria" panose="02040503050406030204" pitchFamily="18" charset="0"/>
                <a:ea typeface="Cambria" panose="02040503050406030204" pitchFamily="18" charset="0"/>
              </a:rPr>
              <a:t>Cân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đối</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tài</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nguyên</a:t>
            </a:r>
            <a:r>
              <a:rPr lang="en-US" i="1" dirty="0">
                <a:latin typeface="Cambria" panose="02040503050406030204" pitchFamily="18" charset="0"/>
                <a:ea typeface="Cambria" panose="02040503050406030204" pitchFamily="18" charset="0"/>
              </a:rPr>
              <a:t> (Resource leveling)  </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Cân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đối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tài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nguyên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là</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kỹ</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thuật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giải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quyết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xung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đột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về</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tài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nguyên</a:t>
            </a:r>
            <a:r>
              <a:rPr lang="en-US" sz="1600" dirty="0">
                <a:latin typeface="Cambria" panose="02040503050406030204" pitchFamily="18" charset="0"/>
                <a:ea typeface="Cambria" panose="02040503050406030204" pitchFamily="18" charset="0"/>
              </a:rPr>
              <a:t> </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Mục đích chính của cân đối tài nguyên là tạo ra phân bố tài nguyên mịn hơn và</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làm giảm phân bổ vượt mức.</a:t>
            </a:r>
            <a:endParaRPr lang="en-US"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285192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VN" sz="2000" b="1" dirty="0">
                <a:solidFill>
                  <a:schemeClr val="bg2">
                    <a:lumMod val="50000"/>
                  </a:schemeClr>
                </a:solidFill>
                <a:latin typeface="Cambria" panose="02040503050406030204" pitchFamily="18" charset="0"/>
                <a:ea typeface="Cambria" panose="02040503050406030204" pitchFamily="18" charset="0"/>
              </a:rPr>
              <a:t>QUY TRÌNH QUẢN LÝ NGUỒN NHÂN LỰC</a:t>
            </a:r>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6E4718-DAC3-76D4-FFFC-409532E795B2}"/>
              </a:ext>
            </a:extLst>
          </p:cNvPr>
          <p:cNvSpPr txBox="1"/>
          <p:nvPr/>
        </p:nvSpPr>
        <p:spPr>
          <a:xfrm>
            <a:off x="339353" y="724376"/>
            <a:ext cx="11538397" cy="2316019"/>
          </a:xfrm>
          <a:prstGeom prst="rect">
            <a:avLst/>
          </a:prstGeom>
          <a:noFill/>
        </p:spPr>
        <p:txBody>
          <a:bodyPr wrap="square">
            <a:spAutoFit/>
          </a:bodyPr>
          <a:lstStyle/>
          <a:p>
            <a:pPr marL="0" lvl="1" algn="just">
              <a:spcAft>
                <a:spcPts val="300"/>
              </a:spcAft>
              <a:buClr>
                <a:schemeClr val="accent2">
                  <a:lumMod val="75000"/>
                </a:schemeClr>
              </a:buClr>
            </a:pPr>
            <a:r>
              <a:rPr lang="en-US" b="1" dirty="0" err="1">
                <a:latin typeface="Cambria" panose="02040503050406030204" pitchFamily="18" charset="0"/>
                <a:ea typeface="Cambria" panose="02040503050406030204" pitchFamily="18" charset="0"/>
              </a:rPr>
              <a:t>Phát</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triển</a:t>
            </a:r>
            <a:r>
              <a:rPr lang="en-US" b="1" dirty="0">
                <a:latin typeface="Cambria" panose="02040503050406030204" pitchFamily="18" charset="0"/>
                <a:ea typeface="Cambria" panose="02040503050406030204" pitchFamily="18" charset="0"/>
              </a:rPr>
              <a:t> &amp; </a:t>
            </a:r>
            <a:r>
              <a:rPr lang="en-US" b="1" dirty="0" err="1">
                <a:latin typeface="Cambria" panose="02040503050406030204" pitchFamily="18" charset="0"/>
                <a:ea typeface="Cambria" panose="02040503050406030204" pitchFamily="18" charset="0"/>
              </a:rPr>
              <a:t>Quản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lý</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Nhóm</a:t>
            </a:r>
            <a:r>
              <a:rPr lang="en-US" b="1" dirty="0">
                <a:latin typeface="Cambria" panose="02040503050406030204" pitchFamily="18" charset="0"/>
                <a:ea typeface="Cambria" panose="02040503050406030204" pitchFamily="18" charset="0"/>
              </a:rPr>
              <a:t> (Develop &amp; Manage project team)</a:t>
            </a:r>
          </a:p>
          <a:p>
            <a:pPr algn="just"/>
            <a:r>
              <a:rPr lang="en-US" sz="1600" dirty="0">
                <a:latin typeface="Cambria" panose="02040503050406030204" pitchFamily="18" charset="0"/>
                <a:ea typeface="Cambria" panose="02040503050406030204" pitchFamily="18" charset="0"/>
              </a:rPr>
              <a:t>Trong </a:t>
            </a:r>
            <a:r>
              <a:rPr lang="en-US" sz="1600" dirty="0" err="1">
                <a:latin typeface="Cambria" panose="02040503050406030204" pitchFamily="18" charset="0"/>
                <a:ea typeface="Cambria" panose="02040503050406030204" pitchFamily="18" charset="0"/>
              </a:rPr>
              <a:t>quản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lý</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nhân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cho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vấn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đề</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phát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triển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nhóm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để</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thực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hiện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cho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từng</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phần của dự án đóng một vai trò quan trọng. Nó có thể ảnh hưởng đến cả chất lượng,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tiến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độ</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của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thành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viên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trong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nhóm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nếu</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hòa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hợp</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nhau</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sẽ</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giúp</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cho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việc</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thực hiện dự án dễ đi đến thành công hơn</a:t>
            </a:r>
            <a:r>
              <a:rPr lang="vi-VN" sz="1800" b="0" i="0" u="none" strike="noStrike" baseline="0" dirty="0">
                <a:latin typeface="CIDFont+F1"/>
              </a:rPr>
              <a:t>.</a:t>
            </a:r>
            <a:endParaRPr lang="en-US" sz="1800" b="0" i="0" u="none" strike="noStrike" baseline="0" dirty="0">
              <a:latin typeface="CIDFont+F1"/>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i="1" dirty="0" err="1">
                <a:latin typeface="Cambria" panose="02040503050406030204" pitchFamily="18" charset="0"/>
                <a:ea typeface="Cambria" panose="02040503050406030204" pitchFamily="18" charset="0"/>
              </a:rPr>
              <a:t>Đào</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tạo</a:t>
            </a:r>
            <a:endParaRPr lang="en-US" i="1"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i="1" dirty="0" err="1">
                <a:latin typeface="Cambria" panose="02040503050406030204" pitchFamily="18" charset="0"/>
                <a:ea typeface="Cambria" panose="02040503050406030204" pitchFamily="18" charset="0"/>
              </a:rPr>
              <a:t>Hoạt</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động</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nhóm</a:t>
            </a:r>
            <a:r>
              <a:rPr lang="en-US" i="1" dirty="0">
                <a:latin typeface="Cambria" panose="02040503050406030204" pitchFamily="18" charset="0"/>
                <a:ea typeface="Cambria" panose="02040503050406030204" pitchFamily="18" charset="0"/>
              </a:rPr>
              <a:t> </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i="1" dirty="0">
                <a:latin typeface="Cambria" panose="02040503050406030204" pitchFamily="18" charset="0"/>
                <a:ea typeface="Cambria" panose="02040503050406030204" pitchFamily="18" charset="0"/>
              </a:rPr>
              <a:t>Các hệ thống công nhận và khen thưởng</a:t>
            </a:r>
            <a:endParaRPr lang="en-US" i="1"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928D1B07-F061-965A-A52E-0AB70DEF6098}"/>
              </a:ext>
            </a:extLst>
          </p:cNvPr>
          <p:cNvPicPr>
            <a:picLocks noChangeAspect="1"/>
          </p:cNvPicPr>
          <p:nvPr/>
        </p:nvPicPr>
        <p:blipFill>
          <a:blip r:embed="rId2"/>
          <a:stretch>
            <a:fillRect/>
          </a:stretch>
        </p:blipFill>
        <p:spPr>
          <a:xfrm>
            <a:off x="5169921" y="2508394"/>
            <a:ext cx="6646255" cy="3625230"/>
          </a:xfrm>
          <a:prstGeom prst="rect">
            <a:avLst/>
          </a:prstGeom>
        </p:spPr>
      </p:pic>
    </p:spTree>
    <p:extLst>
      <p:ext uri="{BB962C8B-B14F-4D97-AF65-F5344CB8AC3E}">
        <p14:creationId xmlns:p14="http://schemas.microsoft.com/office/powerpoint/2010/main" val="31897307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0" indent="0">
              <a:lnSpc>
                <a:spcPct val="100000"/>
              </a:lnSpc>
              <a:spcBef>
                <a:spcPts val="0"/>
              </a:spcBef>
              <a:spcAft>
                <a:spcPts val="600"/>
              </a:spcAft>
              <a:buNone/>
            </a:pPr>
            <a:r>
              <a:rPr lang="en-US" sz="3200" b="1" dirty="0">
                <a:solidFill>
                  <a:schemeClr val="bg1"/>
                </a:solidFill>
                <a:latin typeface="Cambria" panose="02040503050406030204" pitchFamily="18" charset="0"/>
                <a:ea typeface="Cambria" panose="02040503050406030204" pitchFamily="18" charset="0"/>
              </a:rPr>
              <a:t>4. CÁC CÔNG CỤ QUẢN LÝ NGUỒN NHÂN LỰC </a:t>
            </a:r>
          </a:p>
          <a:p>
            <a:pPr marL="346075" indent="-346075">
              <a:lnSpc>
                <a:spcPct val="100000"/>
              </a:lnSpc>
              <a:spcBef>
                <a:spcPts val="0"/>
              </a:spcBef>
              <a:spcAft>
                <a:spcPts val="600"/>
              </a:spcAft>
              <a:buFont typeface="+mj-lt"/>
              <a:buAutoNum type="arabicPeriod"/>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56997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CÔNG CỤ QUẢN LÝ NGUỒN NHÂN LỰC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6B16743-4CE3-8176-9518-F5A7371C68D3}"/>
              </a:ext>
            </a:extLst>
          </p:cNvPr>
          <p:cNvSpPr txBox="1"/>
          <p:nvPr/>
        </p:nvSpPr>
        <p:spPr>
          <a:xfrm>
            <a:off x="339353" y="724376"/>
            <a:ext cx="11513291" cy="3139321"/>
          </a:xfrm>
          <a:prstGeom prst="rect">
            <a:avLst/>
          </a:prstGeom>
          <a:noFill/>
        </p:spPr>
        <p:txBody>
          <a:bodyPr wrap="square">
            <a:spAutoFit/>
          </a:bodyPr>
          <a:lstStyle/>
          <a:p>
            <a:r>
              <a:rPr lang="en-US" b="1" dirty="0">
                <a:latin typeface="Cambria" panose="02040503050406030204" pitchFamily="18" charset="0"/>
                <a:ea typeface="Cambria" panose="02040503050406030204" pitchFamily="18" charset="0"/>
              </a:rPr>
              <a:t>Ma </a:t>
            </a:r>
            <a:r>
              <a:rPr lang="en-US" b="1" dirty="0" err="1">
                <a:latin typeface="Cambria" panose="02040503050406030204" pitchFamily="18" charset="0"/>
                <a:ea typeface="Cambria" panose="02040503050406030204" pitchFamily="18" charset="0"/>
              </a:rPr>
              <a:t>trận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phân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công</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trách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nhiệm</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các</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việc</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trong</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dự</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án</a:t>
            </a:r>
            <a:endParaRPr lang="en-US" b="1"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B</a:t>
            </a:r>
            <a:r>
              <a:rPr lang="vi-VN" dirty="0">
                <a:latin typeface="Cambria" panose="02040503050406030204" pitchFamily="18" charset="0"/>
                <a:ea typeface="Cambria" panose="02040503050406030204" pitchFamily="18" charset="0"/>
              </a:rPr>
              <a:t>ản phân công sẽ được dùng cho cả việc lập kế hoạch và quá trình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soát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dùng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định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quyền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nghĩa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trách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nhiệm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định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thành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nhóm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hoặc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nhóm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nhỏ</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hoặc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phòng</a:t>
            </a:r>
            <a:r>
              <a:rPr lang="en-US" dirty="0">
                <a:latin typeface="Cambria" panose="02040503050406030204" pitchFamily="18" charset="0"/>
                <a:ea typeface="Cambria" panose="02040503050406030204" pitchFamily="18" charset="0"/>
              </a:rPr>
              <a:t> ban.</a:t>
            </a:r>
          </a:p>
          <a:p>
            <a:pPr algn="just"/>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Ma </a:t>
            </a:r>
            <a:r>
              <a:rPr lang="en-US" b="1" dirty="0" err="1">
                <a:latin typeface="Cambria" panose="02040503050406030204" pitchFamily="18" charset="0"/>
                <a:ea typeface="Cambria" panose="02040503050406030204" pitchFamily="18" charset="0"/>
              </a:rPr>
              <a:t>trận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kỹ</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năng</a:t>
            </a:r>
            <a:endParaRPr lang="en-US" b="1" dirty="0">
              <a:latin typeface="Cambria" panose="02040503050406030204" pitchFamily="18" charset="0"/>
              <a:ea typeface="Cambria" panose="02040503050406030204" pitchFamily="18" charset="0"/>
            </a:endParaRPr>
          </a:p>
          <a:p>
            <a:pPr algn="just"/>
            <a:r>
              <a:rPr lang="vi-VN" dirty="0">
                <a:latin typeface="Cambria" panose="02040503050406030204" pitchFamily="18" charset="0"/>
                <a:ea typeface="Cambria" panose="02040503050406030204" pitchFamily="18" charset="0"/>
              </a:rPr>
              <a:t>Đây là công cụ quản lý tài nguyên theo hướng kỹ năng, trong đó một chiều</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mô tả các tài nguyên con người (tên từng thành viên cụ thể), chiều kia mô tả các kỹ</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năng, có thể được thể hiện ở mức độ cao (ví dụ như khả năng phân tích), hay được mô</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tả ở mức độ rất cụ thể (ví dụ như kỹ năng lập trình Java)</a:t>
            </a:r>
            <a:endParaRPr lang="en-US" dirty="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pic>
        <p:nvPicPr>
          <p:cNvPr id="12" name="Picture 11">
            <a:extLst>
              <a:ext uri="{FF2B5EF4-FFF2-40B4-BE49-F238E27FC236}">
                <a16:creationId xmlns:a16="http://schemas.microsoft.com/office/drawing/2014/main" id="{E20784A1-32E3-5743-0E04-085961FDA1A2}"/>
              </a:ext>
            </a:extLst>
          </p:cNvPr>
          <p:cNvPicPr>
            <a:picLocks noChangeAspect="1"/>
          </p:cNvPicPr>
          <p:nvPr/>
        </p:nvPicPr>
        <p:blipFill>
          <a:blip r:embed="rId2"/>
          <a:stretch>
            <a:fillRect/>
          </a:stretch>
        </p:blipFill>
        <p:spPr>
          <a:xfrm>
            <a:off x="7510285" y="3397736"/>
            <a:ext cx="4484428" cy="2921414"/>
          </a:xfrm>
          <a:prstGeom prst="rect">
            <a:avLst/>
          </a:prstGeom>
        </p:spPr>
      </p:pic>
    </p:spTree>
    <p:extLst>
      <p:ext uri="{BB962C8B-B14F-4D97-AF65-F5344CB8AC3E}">
        <p14:creationId xmlns:p14="http://schemas.microsoft.com/office/powerpoint/2010/main" val="17200141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r>
              <a:rPr lang="en-US" sz="4000" b="0" dirty="0">
                <a:solidFill>
                  <a:schemeClr val="bg1"/>
                </a:solidFill>
                <a:effectLst/>
                <a:latin typeface="Cambria" panose="02040503050406030204" pitchFamily="18" charset="0"/>
                <a:ea typeface="Cambria" panose="02040503050406030204" pitchFamily="18" charset="0"/>
              </a:rPr>
              <a:t>THANK YOU!</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en-US" sz="2700" dirty="0">
                <a:solidFill>
                  <a:schemeClr val="accent1">
                    <a:lumMod val="40000"/>
                    <a:lumOff val="60000"/>
                  </a:schemeClr>
                </a:solidFill>
                <a:latin typeface="Cambria" panose="02040503050406030204" pitchFamily="18" charset="0"/>
                <a:ea typeface="Cambria" panose="02040503050406030204" pitchFamily="18" charset="0"/>
              </a:rPr>
              <a:t>Chap IV: </a:t>
            </a:r>
            <a:r>
              <a:rPr lang="vi-VN" sz="2700" dirty="0">
                <a:solidFill>
                  <a:schemeClr val="accent1">
                    <a:lumMod val="40000"/>
                    <a:lumOff val="60000"/>
                  </a:schemeClr>
                </a:solidFill>
                <a:latin typeface="Cambria" panose="02040503050406030204" pitchFamily="18" charset="0"/>
                <a:ea typeface="Cambria" panose="02040503050406030204" pitchFamily="18" charset="0"/>
              </a:rPr>
              <a:t>IT </a:t>
            </a:r>
            <a:r>
              <a:rPr lang="en-US" sz="2700" dirty="0">
                <a:solidFill>
                  <a:schemeClr val="accent1">
                    <a:lumMod val="40000"/>
                    <a:lumOff val="60000"/>
                  </a:schemeClr>
                </a:solidFill>
                <a:latin typeface="Cambria" panose="02040503050406030204" pitchFamily="18" charset="0"/>
                <a:ea typeface="Cambria" panose="02040503050406030204" pitchFamily="18" charset="0"/>
              </a:rPr>
              <a:t>project HR</a:t>
            </a:r>
            <a:r>
              <a:rPr lang="vi-VN" sz="2700" dirty="0">
                <a:solidFill>
                  <a:schemeClr val="accent1">
                    <a:lumMod val="40000"/>
                    <a:lumOff val="60000"/>
                  </a:schemeClr>
                </a:solidFill>
                <a:latin typeface="Cambria" panose="02040503050406030204" pitchFamily="18" charset="0"/>
                <a:ea typeface="Cambria" panose="02040503050406030204" pitchFamily="18" charset="0"/>
              </a:rPr>
              <a:t> management</a:t>
            </a:r>
            <a:br>
              <a:rPr lang="en-US" sz="2700" dirty="0">
                <a:solidFill>
                  <a:schemeClr val="bg1"/>
                </a:solidFill>
                <a:latin typeface="Cambria" panose="02040503050406030204" pitchFamily="18" charset="0"/>
                <a:ea typeface="Cambria" panose="02040503050406030204" pitchFamily="18" charset="0"/>
              </a:rPr>
            </a:br>
            <a:r>
              <a:rPr lang="en-US" sz="2000" dirty="0">
                <a:solidFill>
                  <a:schemeClr val="accent1">
                    <a:lumMod val="60000"/>
                    <a:lumOff val="40000"/>
                  </a:schemeClr>
                </a:solidFill>
                <a:latin typeface="Cambria" panose="02040503050406030204" pitchFamily="18" charset="0"/>
                <a:ea typeface="Cambria" panose="02040503050406030204" pitchFamily="18" charset="0"/>
              </a:rPr>
              <a:t>Lecturer</a:t>
            </a:r>
            <a:r>
              <a:rPr lang="en-US" sz="2000">
                <a:solidFill>
                  <a:schemeClr val="accent1">
                    <a:lumMod val="60000"/>
                    <a:lumOff val="40000"/>
                  </a:schemeClr>
                </a:solidFill>
                <a:latin typeface="Cambria" panose="02040503050406030204" pitchFamily="18" charset="0"/>
                <a:ea typeface="Cambria" panose="02040503050406030204" pitchFamily="18" charset="0"/>
              </a:rPr>
              <a:t>:  </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57340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ing slide">
  <a:themeElements>
    <a:clrScheme name="Custom 7">
      <a:dk1>
        <a:srgbClr val="FFFFFF"/>
      </a:dk1>
      <a:lt1>
        <a:srgbClr val="0070C0"/>
      </a:lt1>
      <a:dk2>
        <a:srgbClr val="FFFFFF"/>
      </a:dk2>
      <a:lt2>
        <a:srgbClr val="0070C0"/>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548A66-3C36-47A9-97BE-6471859A09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ACA60B4-43EF-47F6-A6B9-79F13D54C5FA}">
  <ds:schemaRefs>
    <ds:schemaRef ds:uri="http://schemas.microsoft.com/office/2006/metadata/properties"/>
    <ds:schemaRef ds:uri="http://schemas.microsoft.com/office/infopath/2007/PartnerControls"/>
    <ds:schemaRef ds:uri="6e9c558a-331c-4b2a-9422-cc1872e64aa6"/>
    <ds:schemaRef ds:uri="0daeb402-9d2e-4002-a65f-37a660ceb8fd"/>
  </ds:schemaRefs>
</ds:datastoreItem>
</file>

<file path=customXml/itemProps3.xml><?xml version="1.0" encoding="utf-8"?>
<ds:datastoreItem xmlns:ds="http://schemas.openxmlformats.org/officeDocument/2006/customXml" ds:itemID="{8CE817D3-B59E-434E-91FD-AE4CE80648D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3307</TotalTime>
  <Words>6517</Words>
  <Application>Microsoft Office PowerPoint</Application>
  <PresentationFormat>Widescreen</PresentationFormat>
  <Paragraphs>318</Paragraphs>
  <Slides>34</Slides>
  <Notes>0</Notes>
  <HiddenSlides>0</HiddenSlides>
  <MMClips>0</MMClips>
  <ScaleCrop>false</ScaleCrop>
  <HeadingPairs>
    <vt:vector size="4" baseType="variant">
      <vt:variant>
        <vt:lpstr>Theme</vt:lpstr>
      </vt:variant>
      <vt:variant>
        <vt:i4>3</vt:i4>
      </vt:variant>
      <vt:variant>
        <vt:lpstr>Slide Titles</vt:lpstr>
      </vt:variant>
      <vt:variant>
        <vt:i4>34</vt:i4>
      </vt:variant>
    </vt:vector>
  </HeadingPairs>
  <TitlesOfParts>
    <vt:vector size="37" baseType="lpstr">
      <vt:lpstr>Office Theme</vt:lpstr>
      <vt:lpstr>Opening slide</vt:lpstr>
      <vt:lpstr>Body slide</vt:lpstr>
      <vt:lpstr> INFORMATION TECHNOLOGY PROJECT MANAGEMENT     Chap V: IT project HR management Lecturer: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Chap IV: IT project HR management Lecturer: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TECHNOLOGY PROJECT MANAGEMENT  Chap I: Foundation of IT project management Lecturer: Dr. Thanh NGO</dc:title>
  <dc:creator>Thanh. Ngo Minh - CMC People Unit</dc:creator>
  <cp:lastModifiedBy>Thanh. Ngo Minh - CMC Corp Ban Nhan su &amp; PTNT</cp:lastModifiedBy>
  <cp:revision>279</cp:revision>
  <cp:lastPrinted>2024-03-12T04:48:54Z</cp:lastPrinted>
  <dcterms:created xsi:type="dcterms:W3CDTF">2024-02-01T10:29:10Z</dcterms:created>
  <dcterms:modified xsi:type="dcterms:W3CDTF">2026-09-22T06:55:40Z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