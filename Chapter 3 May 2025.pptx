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66" r:id="rId6"/>
  </p:sldMasterIdLst>
  <p:sldIdLst>
    <p:sldId id="256" r:id="rId7"/>
    <p:sldId id="279" r:id="rId8"/>
    <p:sldId id="331" r:id="rId9"/>
    <p:sldId id="334" r:id="rId10"/>
    <p:sldId id="335" r:id="rId11"/>
    <p:sldId id="257" r:id="rId12"/>
    <p:sldId id="280" r:id="rId13"/>
    <p:sldId id="345" r:id="rId14"/>
    <p:sldId id="346" r:id="rId15"/>
    <p:sldId id="347" r:id="rId16"/>
    <p:sldId id="336" r:id="rId17"/>
    <p:sldId id="337" r:id="rId18"/>
    <p:sldId id="341" r:id="rId19"/>
    <p:sldId id="343" r:id="rId20"/>
    <p:sldId id="344" r:id="rId21"/>
    <p:sldId id="338" r:id="rId22"/>
    <p:sldId id="281" r:id="rId23"/>
    <p:sldId id="349" r:id="rId24"/>
    <p:sldId id="350" r:id="rId25"/>
    <p:sldId id="351" r:id="rId26"/>
    <p:sldId id="352" r:id="rId27"/>
    <p:sldId id="353" r:id="rId28"/>
    <p:sldId id="354" r:id="rId29"/>
    <p:sldId id="321" r:id="rId30"/>
    <p:sldId id="348" r:id="rId31"/>
    <p:sldId id="355" r:id="rId32"/>
    <p:sldId id="356" r:id="rId33"/>
    <p:sldId id="357" r:id="rId34"/>
    <p:sldId id="358" r:id="rId35"/>
    <p:sldId id="339" r:id="rId36"/>
    <p:sldId id="293" r:id="rId37"/>
    <p:sldId id="360" r:id="rId38"/>
    <p:sldId id="340" r:id="rId39"/>
    <p:sldId id="309" r:id="rId40"/>
    <p:sldId id="29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20" Type="http://schemas.openxmlformats.org/officeDocument/2006/relationships/slide" Target="slides/slide1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586A-3CA7-A6B6-6B3B-4583D57BE5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51776E-AB3C-97F0-AA67-BD2E18056A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57923A-7CEC-4869-8AF4-836E8C807E7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8E91799-8705-EA78-77FB-A8D1418A0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50114-BB6A-8616-2731-F1950849203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309654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53F8-D7EF-0AA8-3598-5AC952F1DC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31DE3F-5386-056B-1DEC-19911D2C2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5957-DD56-E507-21A2-8C0A5BE9F660}"/>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98EB9A55-8E66-EC08-7034-455A1E5E9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F6D1F-72C9-BA38-AAB4-6FAC937E22B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7705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42EB5-995E-9071-E3A1-95E9D7E50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ACF681-C1B8-C11A-F353-03F536F244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95EFDC-3504-A413-429F-299170D34B2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369A7B8-12DD-1BF3-FD41-6B3061949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061D4-168A-8F5C-1AF2-EEEE97F41137}"/>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67714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4875-A6FD-8948-4493-B9CE9F5BBE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19F30-A0D3-1FEA-6295-76618F64BC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2E2052-690E-6A4A-BF02-E46FD4005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FEBC34-12BA-F9D2-9978-AA8576AA8E1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7896469-2D3A-F487-7765-67182F6A0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9E2A04-E436-414E-4B0C-2404C44E969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527235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2111-8CAE-1681-AEAC-2079D2AEC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EEED81-28F4-4AD3-11E7-6FFF95522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3B50D-C434-C047-6A82-F515AB35F1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91BF45-750B-EE49-DA72-E92AF974D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79E4D8-3EBB-E193-27A5-094D18445F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71CCED-E4D2-1960-BB38-F574A862185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8" name="Footer Placeholder 7">
            <a:extLst>
              <a:ext uri="{FF2B5EF4-FFF2-40B4-BE49-F238E27FC236}">
                <a16:creationId xmlns:a16="http://schemas.microsoft.com/office/drawing/2014/main" id="{39E36CFE-AD2A-D7D2-B7AC-0E6731A1D4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59C0B5-F8AA-4571-AFA6-A6728C20434F}"/>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81064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519E-BDB0-6C86-F8A0-76A5F77C27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38157-D72D-588F-3ADF-121F60C6DC9A}"/>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4" name="Footer Placeholder 3">
            <a:extLst>
              <a:ext uri="{FF2B5EF4-FFF2-40B4-BE49-F238E27FC236}">
                <a16:creationId xmlns:a16="http://schemas.microsoft.com/office/drawing/2014/main" id="{57717323-0A37-5519-2211-CB5A46A701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187EF-3568-6D06-B0CC-CC03B437E3F6}"/>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04757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DA75DE-3AA6-3D68-4B0D-E41DC289D11E}"/>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3" name="Footer Placeholder 2">
            <a:extLst>
              <a:ext uri="{FF2B5EF4-FFF2-40B4-BE49-F238E27FC236}">
                <a16:creationId xmlns:a16="http://schemas.microsoft.com/office/drawing/2014/main" id="{9AC2F1D1-1AE5-9EFB-5C41-D0BA282D35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39EC7-3610-4119-B990-AAC57BFAB70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2023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A1C0-DF73-59F9-7F79-1E20888F5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80BE31-A6CE-0A68-9049-46835F690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EBAC79-BA96-6289-CE87-A607DC7FE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EFF55-5B90-350B-AAD2-357346686E34}"/>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2545FB3-ADD8-2ECF-805C-BE68FADBA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833929-8CD9-1DA0-4C06-B6934F51B11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68578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5A5F-7783-499E-9377-3210199834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CA243A-C284-88CE-16D1-09F73127C4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E3E7FA-2738-CC66-3A33-AF2665F889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52B17-F93D-D397-FB9D-F548BD362AB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8A648A4A-D02F-90AA-6306-2A3C8C61D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1AF598-401C-397D-5CF5-3A9D5CA82750}"/>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77238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A2BB-D4CC-5B9B-2348-E67CC05EB3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7E9190-84A6-F9EA-2390-7756FA27F3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E116-5473-7F3F-8433-5244C90E7BD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FC5FA76-460F-9D21-A59E-4B4E1DD5E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0A51C-B070-BA37-CF7D-21A317D5AB3E}"/>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83250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743B3-1526-7C42-5D1E-F800423F8A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823CF1-92A9-379B-2137-1E6179E6A4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C939-1232-F1BE-40EE-926F7F3221E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49314AEF-05BD-1B4A-FFF2-7F78AB001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B8F82-AEF6-1E0B-765F-D74DBC30156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80687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574F-8BA0-4DD9-8A0D-88DF8E86708B}"/>
              </a:ext>
            </a:extLst>
          </p:cNvPr>
          <p:cNvSpPr>
            <a:spLocks noGrp="1"/>
          </p:cNvSpPr>
          <p:nvPr>
            <p:ph type="ctrTitle"/>
          </p:nvPr>
        </p:nvSpPr>
        <p:spPr>
          <a:xfrm>
            <a:off x="5193437" y="1600199"/>
            <a:ext cx="6998563" cy="2732103"/>
          </a:xfrm>
          <a:prstGeom prst="rect">
            <a:avLst/>
          </a:prstGeom>
        </p:spPr>
        <p:txBody>
          <a:bodyPr anchor="b"/>
          <a:lstStyle>
            <a:lvl1pPr algn="l">
              <a:defRPr sz="60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E082D7F5-BC12-43B2-9B38-EB14BFE04EE1}"/>
              </a:ext>
            </a:extLst>
          </p:cNvPr>
          <p:cNvSpPr>
            <a:spLocks noGrp="1"/>
          </p:cNvSpPr>
          <p:nvPr>
            <p:ph type="subTitle" idx="1"/>
          </p:nvPr>
        </p:nvSpPr>
        <p:spPr>
          <a:xfrm>
            <a:off x="5193437" y="4422159"/>
            <a:ext cx="6998564" cy="365125"/>
          </a:xfrm>
          <a:prstGeom prst="rect">
            <a:avLst/>
          </a:prstGeom>
        </p:spPr>
        <p:txBody>
          <a:bodyPr/>
          <a:lstStyle>
            <a:lvl1pPr marL="0" indent="0" algn="l">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1443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0" y="18257"/>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dirty="0"/>
          </a:p>
        </p:txBody>
      </p:sp>
      <p:sp>
        <p:nvSpPr>
          <p:cNvPr id="6" name="Title Placeholder 1">
            <a:extLst>
              <a:ext uri="{FF2B5EF4-FFF2-40B4-BE49-F238E27FC236}">
                <a16:creationId xmlns:a16="http://schemas.microsoft.com/office/drawing/2014/main" id="{05D78967-21EF-4AA2-8BE4-2FCA6F8A7653}"/>
              </a:ext>
            </a:extLst>
          </p:cNvPr>
          <p:cNvSpPr>
            <a:spLocks noGrp="1"/>
          </p:cNvSpPr>
          <p:nvPr>
            <p:ph type="title"/>
          </p:nvPr>
        </p:nvSpPr>
        <p:spPr>
          <a:xfrm>
            <a:off x="628176" y="1"/>
            <a:ext cx="8187350" cy="571499"/>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1259163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8176" y="1597981"/>
            <a:ext cx="10966059" cy="4578982"/>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6E3DAE31-D39D-4D91-8F50-8D056054A62F}"/>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4165683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8176" y="1597981"/>
            <a:ext cx="10941322" cy="4580877"/>
          </a:xfrm>
        </p:spPr>
        <p:txBody>
          <a:bodyPr/>
          <a:lstStyle>
            <a:lvl1pPr marL="0" indent="0">
              <a:buNone/>
              <a:defRPr sz="2400">
                <a:solidFill>
                  <a:srgbClr val="0070C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Title Placeholder 1">
            <a:extLst>
              <a:ext uri="{FF2B5EF4-FFF2-40B4-BE49-F238E27FC236}">
                <a16:creationId xmlns:a16="http://schemas.microsoft.com/office/drawing/2014/main" id="{4381502F-F4F5-47E5-A036-3E8E88EBED0C}"/>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Tree>
    <p:extLst>
      <p:ext uri="{BB962C8B-B14F-4D97-AF65-F5344CB8AC3E}">
        <p14:creationId xmlns:p14="http://schemas.microsoft.com/office/powerpoint/2010/main" val="3411103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12560"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096001"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A06B0EA4-C8A7-4132-BFEF-0DDFF81DF1AE}"/>
              </a:ext>
            </a:extLst>
          </p:cNvPr>
          <p:cNvSpPr>
            <a:spLocks noGrp="1"/>
          </p:cNvSpPr>
          <p:nvPr>
            <p:ph type="title"/>
          </p:nvPr>
        </p:nvSpPr>
        <p:spPr>
          <a:xfrm>
            <a:off x="628176" y="1"/>
            <a:ext cx="8222861"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1567322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8175"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8175" y="2512381"/>
            <a:ext cx="5462626"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0802"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0801" y="2512381"/>
            <a:ext cx="5467825"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A49F13EA-C024-48AE-90B5-68F588A6D2CF}"/>
              </a:ext>
            </a:extLst>
          </p:cNvPr>
          <p:cNvSpPr>
            <a:spLocks noGrp="1"/>
          </p:cNvSpPr>
          <p:nvPr>
            <p:ph type="title"/>
          </p:nvPr>
        </p:nvSpPr>
        <p:spPr>
          <a:xfrm>
            <a:off x="628176" y="1"/>
            <a:ext cx="8231739" cy="55244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012784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747FC4C-9430-4B68-AD2B-005799395D39}"/>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
        <p:nvSpPr>
          <p:cNvPr id="4" name="TextBox 3"/>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5" name="TextBox 4"/>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224550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051394" y="1606858"/>
            <a:ext cx="6507234" cy="456312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8176" y="1606859"/>
            <a:ext cx="4165766" cy="456312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38BBB283-F300-4A19-B448-60B2206B6F55}"/>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317415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183188" y="1606858"/>
            <a:ext cx="6375440" cy="455424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8175" y="1606859"/>
            <a:ext cx="4245665" cy="4554244"/>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64732130-B38F-4E21-8A3C-589F26725E53}"/>
              </a:ext>
            </a:extLst>
          </p:cNvPr>
          <p:cNvSpPr>
            <a:spLocks noGrp="1"/>
          </p:cNvSpPr>
          <p:nvPr>
            <p:ph type="title"/>
          </p:nvPr>
        </p:nvSpPr>
        <p:spPr>
          <a:xfrm>
            <a:off x="628176" y="1"/>
            <a:ext cx="8222861" cy="581024"/>
          </a:xfrm>
          <a:prstGeom prst="rect">
            <a:avLst/>
          </a:prstGeom>
        </p:spPr>
        <p:txBody>
          <a:bodyPr vert="horz" lIns="91440" tIns="45720" rIns="91440" bIns="45720" rtlCol="0" anchor="ctr">
            <a:normAutofit/>
          </a:bodyPr>
          <a:lstStyle/>
          <a:p>
            <a:endParaRPr lang="en-US" dirty="0"/>
          </a:p>
        </p:txBody>
      </p:sp>
      <p:sp>
        <p:nvSpPr>
          <p:cNvPr id="6" name="TextBox 5"/>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7" name="TextBox 6"/>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472281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8176" y="1597981"/>
            <a:ext cx="10941322"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3086777C-386E-4DFE-9BE7-63682A461485}"/>
              </a:ext>
            </a:extLst>
          </p:cNvPr>
          <p:cNvSpPr>
            <a:spLocks noGrp="1"/>
          </p:cNvSpPr>
          <p:nvPr>
            <p:ph type="title"/>
          </p:nvPr>
        </p:nvSpPr>
        <p:spPr>
          <a:xfrm>
            <a:off x="628176" y="1"/>
            <a:ext cx="8213983" cy="57149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8665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8175" y="1589103"/>
            <a:ext cx="10941322" cy="458786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AABDBED6-01BA-4F2B-9569-ED8032753950}"/>
              </a:ext>
            </a:extLst>
          </p:cNvPr>
          <p:cNvSpPr>
            <a:spLocks noGrp="1"/>
          </p:cNvSpPr>
          <p:nvPr>
            <p:ph type="title"/>
          </p:nvPr>
        </p:nvSpPr>
        <p:spPr>
          <a:xfrm>
            <a:off x="628176" y="1"/>
            <a:ext cx="8205106" cy="56197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9598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3.jp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5" Type="http://schemas.openxmlformats.org/officeDocument/2006/relationships/image" Target="../media/image6.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796FF-222D-1E2E-7D23-7C2CDFE1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41ED22-2335-D77A-68F2-5BD129B13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4A63B-33FC-3D66-67A2-4F63979F6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F7709777-C88E-DEB1-2C91-66BDF4E70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B51AD0-DD74-2C46-CF95-2202E3B9F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103FC1-3A4E-448F-B845-A3E46F94BBE5}" type="slidenum">
              <a:rPr lang="en-US" smtClean="0"/>
              <a:t>‹#›</a:t>
            </a:fld>
            <a:endParaRPr lang="en-US"/>
          </a:p>
        </p:txBody>
      </p:sp>
    </p:spTree>
    <p:extLst>
      <p:ext uri="{BB962C8B-B14F-4D97-AF65-F5344CB8AC3E}">
        <p14:creationId xmlns:p14="http://schemas.microsoft.com/office/powerpoint/2010/main" val="477498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36DA72-9373-413D-90C2-B12F84A4BF3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13" name="Rectangle 12">
            <a:extLst>
              <a:ext uri="{FF2B5EF4-FFF2-40B4-BE49-F238E27FC236}">
                <a16:creationId xmlns:a16="http://schemas.microsoft.com/office/drawing/2014/main" id="{B700E21E-0BA2-4C89-8691-A6161B41AA11}"/>
              </a:ext>
            </a:extLst>
          </p:cNvPr>
          <p:cNvSpPr/>
          <p:nvPr userDrawn="1"/>
        </p:nvSpPr>
        <p:spPr>
          <a:xfrm>
            <a:off x="5184559" y="1600200"/>
            <a:ext cx="7007441" cy="365760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Logo&#10;&#10;Description automatically generated">
            <a:extLst>
              <a:ext uri="{FF2B5EF4-FFF2-40B4-BE49-F238E27FC236}">
                <a16:creationId xmlns:a16="http://schemas.microsoft.com/office/drawing/2014/main" id="{437EFD07-DCAC-4344-A296-7B657609E7D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28178" y="183674"/>
            <a:ext cx="2736460" cy="499085"/>
          </a:xfrm>
          <a:prstGeom prst="rect">
            <a:avLst/>
          </a:prstGeom>
        </p:spPr>
      </p:pic>
    </p:spTree>
    <p:extLst>
      <p:ext uri="{BB962C8B-B14F-4D97-AF65-F5344CB8AC3E}">
        <p14:creationId xmlns:p14="http://schemas.microsoft.com/office/powerpoint/2010/main" val="116522316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EDE25AE-F103-49BC-9B89-0B1E7BCFB6DE}"/>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572738"/>
          </a:xfrm>
          <a:prstGeom prst="rect">
            <a:avLst/>
          </a:prstGeom>
        </p:spPr>
      </p:pic>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28176" y="1"/>
            <a:ext cx="8213983" cy="572737"/>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8176" y="1313895"/>
            <a:ext cx="10941323"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a:extLst>
              <a:ext uri="{FF2B5EF4-FFF2-40B4-BE49-F238E27FC236}">
                <a16:creationId xmlns:a16="http://schemas.microsoft.com/office/drawing/2014/main" id="{24CB6BFF-A477-48C9-AA27-0D5A005B4CC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407121"/>
            <a:ext cx="12192000" cy="450879"/>
          </a:xfrm>
          <a:prstGeom prst="rect">
            <a:avLst/>
          </a:prstGeom>
        </p:spPr>
      </p:pic>
      <p:pic>
        <p:nvPicPr>
          <p:cNvPr id="16" name="Picture 15" descr="Logo&#10;&#10;Description automatically generated">
            <a:extLst>
              <a:ext uri="{FF2B5EF4-FFF2-40B4-BE49-F238E27FC236}">
                <a16:creationId xmlns:a16="http://schemas.microsoft.com/office/drawing/2014/main" id="{5381A15E-FFCE-435E-9C14-6C629375BFF6}"/>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9229725" y="73518"/>
            <a:ext cx="2334099" cy="425701"/>
          </a:xfrm>
          <a:prstGeom prst="rect">
            <a:avLst/>
          </a:prstGeom>
        </p:spPr>
      </p:pic>
      <p:pic>
        <p:nvPicPr>
          <p:cNvPr id="17" name="Picture 16" descr="Shape&#10;&#10;Description automatically generated with medium confidence">
            <a:extLst>
              <a:ext uri="{FF2B5EF4-FFF2-40B4-BE49-F238E27FC236}">
                <a16:creationId xmlns:a16="http://schemas.microsoft.com/office/drawing/2014/main" id="{290B9EB1-B956-4D5D-A294-4C2DE882032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524479" y="6585209"/>
            <a:ext cx="3743535" cy="321429"/>
          </a:xfrm>
          <a:prstGeom prst="rect">
            <a:avLst/>
          </a:prstGeom>
        </p:spPr>
      </p:pic>
    </p:spTree>
    <p:extLst>
      <p:ext uri="{BB962C8B-B14F-4D97-AF65-F5344CB8AC3E}">
        <p14:creationId xmlns:p14="http://schemas.microsoft.com/office/powerpoint/2010/main" val="251509094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algn="l" defTabSz="914400" rtl="0" eaLnBrk="1" latinLnBrk="0" hangingPunct="1">
        <a:lnSpc>
          <a:spcPct val="90000"/>
        </a:lnSpc>
        <a:spcBef>
          <a:spcPct val="0"/>
        </a:spcBef>
        <a:buNone/>
        <a:defRPr sz="30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br>
              <a:rPr lang="en-US" sz="4000" b="0" dirty="0">
                <a:solidFill>
                  <a:schemeClr val="bg1"/>
                </a:solidFill>
                <a:effectLst/>
                <a:latin typeface="Cambria" panose="02040503050406030204" pitchFamily="18" charset="0"/>
                <a:ea typeface="Cambria" panose="02040503050406030204" pitchFamily="18" charset="0"/>
              </a:rPr>
            </a:br>
            <a:r>
              <a:rPr lang="en-US" sz="4000" b="0" dirty="0">
                <a:solidFill>
                  <a:schemeClr val="bg1"/>
                </a:solidFill>
                <a:effectLst/>
                <a:latin typeface="Cambria" panose="02040503050406030204" pitchFamily="18" charset="0"/>
                <a:ea typeface="Cambria" panose="02040503050406030204" pitchFamily="18" charset="0"/>
              </a:rPr>
              <a:t>INFORMATION TECHNOLOGY PROJECT MANAGEMENT </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III: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Time</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68494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58055" y="975092"/>
            <a:ext cx="10788691" cy="201168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TẦM QUAN TRỌNG CỦA VIỆC QUẢN LÝ THỜI GIAN </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QUI TRÌNH QUẢN LÝ THỜI GIAN </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CÁC KỸ THUẬT LẬP LỊCH CÔNG VIỆC </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CÁC KỸ THUẬT NÉN LỊCH CÔNG VIỆC </a:t>
            </a:r>
          </a:p>
          <a:p>
            <a:pPr marL="346075" indent="-346075">
              <a:lnSpc>
                <a:spcPct val="100000"/>
              </a:lnSpc>
              <a:spcBef>
                <a:spcPts val="0"/>
              </a:spcBef>
              <a:spcAft>
                <a:spcPts val="600"/>
              </a:spcAft>
              <a:buFont typeface="+mj-lt"/>
              <a:buAutoNum type="arabicPeriod"/>
            </a:pPr>
            <a:r>
              <a:rPr lang="en-US" sz="1800" b="1" dirty="0">
                <a:solidFill>
                  <a:schemeClr val="bg1"/>
                </a:solidFill>
                <a:latin typeface="Cambria" panose="02040503050406030204" pitchFamily="18" charset="0"/>
                <a:ea typeface="Cambria" panose="02040503050406030204" pitchFamily="18" charset="0"/>
              </a:rPr>
              <a:t>PHÁT TRIỂN VÀ ĐIỀU CHỈNH LỊCH </a:t>
            </a: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A95C758D-1344-FC52-DE08-DE5407E409D5}"/>
              </a:ext>
            </a:extLst>
          </p:cNvPr>
          <p:cNvSpPr/>
          <p:nvPr/>
        </p:nvSpPr>
        <p:spPr>
          <a:xfrm>
            <a:off x="458055" y="451872"/>
            <a:ext cx="1787221" cy="523220"/>
          </a:xfrm>
          <a:prstGeom prst="rect">
            <a:avLst/>
          </a:prstGeom>
        </p:spPr>
        <p:txBody>
          <a:bodyPr wrap="square">
            <a:spAutoFit/>
          </a:bodyPr>
          <a:lstStyle/>
          <a:p>
            <a:r>
              <a:rPr lang="en-AU" sz="2800" b="1" dirty="0">
                <a:solidFill>
                  <a:schemeClr val="accent5"/>
                </a:solidFill>
                <a:latin typeface="Cambria" panose="02040503050406030204" pitchFamily="18" charset="0"/>
                <a:ea typeface="Cambria" panose="02040503050406030204" pitchFamily="18" charset="0"/>
              </a:rPr>
              <a:t>CONTENT</a:t>
            </a:r>
          </a:p>
        </p:txBody>
      </p:sp>
    </p:spTree>
    <p:extLst>
      <p:ext uri="{BB962C8B-B14F-4D97-AF65-F5344CB8AC3E}">
        <p14:creationId xmlns:p14="http://schemas.microsoft.com/office/powerpoint/2010/main" val="275841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7D571B-31DC-DFD8-0B63-31E0DE77B32B}"/>
              </a:ext>
            </a:extLst>
          </p:cNvPr>
          <p:cNvSpPr txBox="1"/>
          <p:nvPr/>
        </p:nvSpPr>
        <p:spPr>
          <a:xfrm>
            <a:off x="423430" y="443567"/>
            <a:ext cx="3457690" cy="1951303"/>
          </a:xfrm>
          <a:prstGeom prst="rect">
            <a:avLst/>
          </a:prstGeom>
          <a:noFill/>
        </p:spPr>
        <p:txBody>
          <a:bodyPr wrap="square">
            <a:spAutoFit/>
          </a:bodyPr>
          <a:lstStyle/>
          <a:p>
            <a:pPr algn="l"/>
            <a:r>
              <a:rPr lang="en-US" sz="2000" b="1" dirty="0">
                <a:solidFill>
                  <a:schemeClr val="accent2">
                    <a:lumMod val="75000"/>
                  </a:schemeClr>
                </a:solidFill>
                <a:latin typeface="Cambria" panose="02040503050406030204" pitchFamily="18" charset="0"/>
                <a:ea typeface="Cambria" panose="02040503050406030204" pitchFamily="18" charset="0"/>
              </a:rPr>
              <a:t>QUY TRÌNH LÀ GÌ </a:t>
            </a:r>
          </a:p>
          <a:p>
            <a:pPr marL="0" lvl="1" algn="just">
              <a:spcBef>
                <a:spcPct val="30000"/>
              </a:spcBef>
            </a:pPr>
            <a:r>
              <a:rPr lang="en-US" dirty="0">
                <a:latin typeface="Cambria" panose="02040503050406030204" pitchFamily="18" charset="0"/>
                <a:ea typeface="Cambria" panose="02040503050406030204" pitchFamily="18" charset="0"/>
              </a:rPr>
              <a:t>Theo TCVN ISO 9000:2015: Quy </a:t>
            </a:r>
            <a:r>
              <a:rPr lang="en-US" dirty="0" err="1">
                <a:latin typeface="Cambria" panose="02040503050406030204" pitchFamily="18" charset="0"/>
                <a:ea typeface="Cambria" panose="02040503050406030204" pitchFamily="18" charset="0"/>
              </a:rPr>
              <a:t>trình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i="1" dirty="0">
                <a:latin typeface="Cambria" panose="02040503050406030204" pitchFamily="18" charset="0"/>
                <a:ea typeface="Cambria" panose="02040503050406030204" pitchFamily="18" charset="0"/>
              </a:rPr>
              <a:t>“</a:t>
            </a:r>
            <a:r>
              <a:rPr lang="en-US" i="1" dirty="0" err="1">
                <a:latin typeface="Cambria" panose="02040503050406030204" pitchFamily="18" charset="0"/>
                <a:ea typeface="Cambria" panose="02040503050406030204" pitchFamily="18" charset="0"/>
              </a:rPr>
              <a:t>cách</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thức</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xác</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định</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để</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thực</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hiện</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một</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hoạt</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động</a:t>
            </a:r>
            <a:r>
              <a:rPr lang="en-US" i="1" dirty="0">
                <a:latin typeface="Cambria" panose="02040503050406030204" pitchFamily="18" charset="0"/>
                <a:ea typeface="Cambria" panose="02040503050406030204" pitchFamily="18" charset="0"/>
              </a:rPr>
              <a:t> hay </a:t>
            </a:r>
            <a:r>
              <a:rPr lang="en-US" i="1" dirty="0" err="1">
                <a:latin typeface="Cambria" panose="02040503050406030204" pitchFamily="18" charset="0"/>
                <a:ea typeface="Cambria" panose="02040503050406030204" pitchFamily="18" charset="0"/>
              </a:rPr>
              <a:t>quá</a:t>
            </a:r>
            <a:r>
              <a:rPr lang="en-US" i="1" dirty="0">
                <a:latin typeface="Cambria" panose="02040503050406030204" pitchFamily="18" charset="0"/>
                <a:ea typeface="Cambria" panose="02040503050406030204" pitchFamily="18" charset="0"/>
              </a:rPr>
              <a:t> </a:t>
            </a:r>
            <a:r>
              <a:rPr lang="en-US" i="1" dirty="0" err="1">
                <a:latin typeface="Cambria" panose="02040503050406030204" pitchFamily="18" charset="0"/>
                <a:ea typeface="Cambria" panose="02040503050406030204" pitchFamily="18" charset="0"/>
              </a:rPr>
              <a:t>trình</a:t>
            </a:r>
            <a:r>
              <a:rPr lang="en-US" i="1" dirty="0">
                <a:latin typeface="Cambria" panose="02040503050406030204" pitchFamily="18" charset="0"/>
                <a:ea typeface="Cambria" panose="02040503050406030204" pitchFamily="18" charset="0"/>
              </a:rPr>
              <a:t>”.</a:t>
            </a:r>
          </a:p>
          <a:p>
            <a:pPr marL="0" lvl="1" algn="just">
              <a:spcBef>
                <a:spcPct val="30000"/>
              </a:spcBef>
            </a:pPr>
            <a:endParaRPr lang="en-US" i="1"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3F3D85F8-3F5E-3B1E-2C90-8AD78E5189A6}"/>
              </a:ext>
            </a:extLst>
          </p:cNvPr>
          <p:cNvPicPr>
            <a:picLocks noChangeAspect="1"/>
          </p:cNvPicPr>
          <p:nvPr/>
        </p:nvPicPr>
        <p:blipFill>
          <a:blip r:embed="rId2"/>
          <a:stretch>
            <a:fillRect/>
          </a:stretch>
        </p:blipFill>
        <p:spPr>
          <a:xfrm>
            <a:off x="3965023" y="639858"/>
            <a:ext cx="8029690" cy="3441933"/>
          </a:xfrm>
          <a:prstGeom prst="rect">
            <a:avLst/>
          </a:prstGeom>
        </p:spPr>
      </p:pic>
    </p:spTree>
    <p:extLst>
      <p:ext uri="{BB962C8B-B14F-4D97-AF65-F5344CB8AC3E}">
        <p14:creationId xmlns:p14="http://schemas.microsoft.com/office/powerpoint/2010/main" val="2945791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7D571B-31DC-DFD8-0B63-31E0DE77B32B}"/>
              </a:ext>
            </a:extLst>
          </p:cNvPr>
          <p:cNvSpPr txBox="1"/>
          <p:nvPr/>
        </p:nvSpPr>
        <p:spPr>
          <a:xfrm>
            <a:off x="423429" y="443567"/>
            <a:ext cx="11571283" cy="2616101"/>
          </a:xfrm>
          <a:prstGeom prst="rect">
            <a:avLst/>
          </a:prstGeom>
          <a:noFill/>
        </p:spPr>
        <p:txBody>
          <a:bodyPr wrap="square">
            <a:spAutoFit/>
          </a:bodyPr>
          <a:lstStyle/>
          <a:p>
            <a:pPr algn="l"/>
            <a:r>
              <a:rPr lang="en-US" sz="2000" b="1" dirty="0">
                <a:solidFill>
                  <a:schemeClr val="accent2">
                    <a:lumMod val="75000"/>
                  </a:schemeClr>
                </a:solidFill>
                <a:latin typeface="Cambria" panose="02040503050406030204" pitchFamily="18" charset="0"/>
                <a:ea typeface="Cambria" panose="02040503050406030204" pitchFamily="18" charset="0"/>
              </a:rPr>
              <a:t>MỤC TIÊU CỦA CHAPTER III – QUẢN LÝ THỜI GIAN DỰ ÁN</a:t>
            </a:r>
          </a:p>
          <a:p>
            <a:pPr marL="742950" lvl="1" indent="-285750" algn="just">
              <a:spcBef>
                <a:spcPct val="0"/>
              </a:spcBef>
              <a:buClr>
                <a:schemeClr val="accent2">
                  <a:lumMod val="75000"/>
                </a:schemeClr>
              </a:buClr>
              <a:buSzPct val="140000"/>
              <a:buFont typeface="Wingdings" panose="05000000000000000000" pitchFamily="2" charset="2"/>
              <a:buChar char="§"/>
            </a:pPr>
            <a:endParaRPr lang="en-US" dirty="0">
              <a:latin typeface="Cambria" panose="02040503050406030204" pitchFamily="18" charset="0"/>
              <a:ea typeface="Cambria" panose="02040503050406030204" pitchFamily="18" charset="0"/>
            </a:endParaRPr>
          </a:p>
          <a:p>
            <a:pPr marL="742950" lvl="1" indent="-285750" algn="just">
              <a:spcBef>
                <a:spcPct val="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Hiểu được tầm quan trọng của việc quản lý thời gian dự án.</a:t>
            </a:r>
          </a:p>
          <a:p>
            <a:pPr marL="742950" lvl="1" indent="-285750" algn="just">
              <a:spcBef>
                <a:spcPct val="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Hiểu được các khái niệm và quan hệ phụ thuộc giữa các công việc.</a:t>
            </a:r>
          </a:p>
          <a:p>
            <a:pPr marL="742950" lvl="1" indent="-285750" algn="just">
              <a:spcBef>
                <a:spcPct val="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Hiểu được qui trình quản lý thời gian và các phương pháp dùng để quản lý thời gian: CPM (Critical</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Path Method), PERT (Program Evaluation and Review Technique).</a:t>
            </a:r>
          </a:p>
          <a:p>
            <a:pPr marL="742950" lvl="1" indent="-285750" algn="just">
              <a:spcBef>
                <a:spcPct val="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Nắm được các kỹ thuật lập lịch:Theo hướng truyền tới, theo hướng quay lui, sơ đồ mạng.</a:t>
            </a:r>
          </a:p>
          <a:p>
            <a:pPr marL="742950" lvl="1" indent="-285750" algn="just">
              <a:spcBef>
                <a:spcPct val="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Kỹ thuật nén lịch: rút ngắn và đi đường nhanh.</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Điều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khiển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lịch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biểu</a:t>
            </a: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948131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346075" indent="-346075">
              <a:lnSpc>
                <a:spcPct val="100000"/>
              </a:lnSpc>
              <a:spcBef>
                <a:spcPts val="0"/>
              </a:spcBef>
              <a:spcAft>
                <a:spcPts val="600"/>
              </a:spcAft>
              <a:buFont typeface="+mj-lt"/>
              <a:buAutoNum type="arabicPeriod"/>
            </a:pPr>
            <a:r>
              <a:rPr lang="en-US" sz="3200" b="1" dirty="0">
                <a:solidFill>
                  <a:schemeClr val="bg1"/>
                </a:solidFill>
                <a:latin typeface="Cambria" panose="02040503050406030204" pitchFamily="18" charset="0"/>
                <a:ea typeface="Cambria" panose="02040503050406030204" pitchFamily="18" charset="0"/>
              </a:rPr>
              <a:t> TẦM QUAN TRỌNG CỦA VIỆC QUẢN LÝ THỜI GIAN </a:t>
            </a: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1083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958413" y="8636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1. TẦM QUAN TRỌNG CỦA VIỆC QUẢN LÝ THỜI GIAN </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2123658"/>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time management</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20000"/>
              </a:spcBef>
            </a:pPr>
            <a:r>
              <a:rPr lang="en-US" sz="2000" i="1" dirty="0">
                <a:solidFill>
                  <a:schemeClr val="bg1"/>
                </a:solidFill>
                <a:latin typeface="Cambria" panose="02040503050406030204" pitchFamily="18" charset="0"/>
                <a:ea typeface="Cambria" panose="02040503050406030204" pitchFamily="18" charset="0"/>
              </a:rPr>
              <a:t>“The processes required to accomplish timely completion of the project”</a:t>
            </a:r>
          </a:p>
          <a:p>
            <a:pPr algn="r">
              <a:spcBef>
                <a:spcPct val="20000"/>
              </a:spcBef>
            </a:pP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FE714B9-5A5F-472B-6C92-566A3A41D434}"/>
              </a:ext>
            </a:extLst>
          </p:cNvPr>
          <p:cNvSpPr txBox="1"/>
          <p:nvPr/>
        </p:nvSpPr>
        <p:spPr>
          <a:xfrm>
            <a:off x="337583" y="784286"/>
            <a:ext cx="7492216" cy="2108269"/>
          </a:xfrm>
          <a:prstGeom prst="rect">
            <a:avLst/>
          </a:prstGeom>
          <a:noFill/>
        </p:spPr>
        <p:txBody>
          <a:bodyPr wrap="square">
            <a:spAutoFit/>
          </a:bodyPr>
          <a:lstStyle/>
          <a:p>
            <a:pPr algn="just">
              <a:spcAft>
                <a:spcPts val="600"/>
              </a:spcAft>
            </a:pP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đúng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những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thức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lớn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Bởi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vì</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linh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bé</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trôi</a:t>
            </a:r>
            <a:r>
              <a:rPr lang="en-US" dirty="0">
                <a:latin typeface="Cambria" panose="02040503050406030204" pitchFamily="18" charset="0"/>
                <a:ea typeface="Cambria" panose="02040503050406030204" pitchFamily="18" charset="0"/>
              </a:rPr>
              <a:t> qua </a:t>
            </a:r>
            <a:r>
              <a:rPr lang="en-US" dirty="0" err="1">
                <a:latin typeface="Cambria" panose="02040503050406030204" pitchFamily="18" charset="0"/>
                <a:ea typeface="Cambria" panose="02040503050406030204" pitchFamily="18" charset="0"/>
              </a:rPr>
              <a:t>bất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điều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gì</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xảy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ra.</a:t>
            </a:r>
            <a:r>
              <a:rPr lang="en-US" dirty="0">
                <a:latin typeface="Cambria" panose="02040503050406030204" pitchFamily="18" charset="0"/>
                <a:ea typeface="Cambria" panose="02040503050406030204" pitchFamily="18" charset="0"/>
              </a:rPr>
              <a:t> Trong </a:t>
            </a:r>
            <a:r>
              <a:rPr lang="en-US" dirty="0" err="1">
                <a:latin typeface="Cambria" panose="02040503050406030204" pitchFamily="18" charset="0"/>
                <a:ea typeface="Cambria" panose="02040503050406030204" pitchFamily="18" charset="0"/>
              </a:rPr>
              <a:t>đó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vấn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lịch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biểu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lý</a:t>
            </a:r>
            <a:r>
              <a:rPr lang="en-US" dirty="0">
                <a:latin typeface="Cambria" panose="02040503050406030204" pitchFamily="18" charset="0"/>
                <a:ea typeface="Cambria" panose="02040503050406030204" pitchFamily="18" charset="0"/>
              </a:rPr>
              <a:t> do </a:t>
            </a:r>
            <a:r>
              <a:rPr lang="en-US" dirty="0" err="1">
                <a:latin typeface="Cambria" panose="02040503050406030204" pitchFamily="18" charset="0"/>
                <a:ea typeface="Cambria" panose="02040503050406030204" pitchFamily="18" charset="0"/>
              </a:rPr>
              <a:t>chính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dẫn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đến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xung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biệt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nửa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sau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a:t>
            </a:r>
          </a:p>
          <a:p>
            <a:pPr algn="just">
              <a:spcAft>
                <a:spcPts val="600"/>
              </a:spcAft>
            </a:pPr>
            <a:r>
              <a:rPr lang="vi-VN" dirty="0">
                <a:latin typeface="Cambria" panose="02040503050406030204" pitchFamily="18" charset="0"/>
                <a:ea typeface="Cambria" panose="02040503050406030204" pitchFamily="18" charset="0"/>
              </a:rPr>
              <a:t>Quy trình lập lịch sẽ được thực hiện khi các công việc của dự án được xác định xong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cấu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rã</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chức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năng</a:t>
            </a:r>
            <a:r>
              <a:rPr lang="en-US" dirty="0">
                <a:latin typeface="Cambria" panose="02040503050406030204" pitchFamily="18" charset="0"/>
                <a:ea typeface="Cambria" panose="02040503050406030204" pitchFamily="18" charset="0"/>
              </a:rPr>
              <a:t> WBS, </a:t>
            </a:r>
            <a:r>
              <a:rPr lang="en-US" dirty="0" err="1">
                <a:latin typeface="Cambria" panose="02040503050406030204" pitchFamily="18" charset="0"/>
                <a:ea typeface="Cambria" panose="02040503050406030204" pitchFamily="18" charset="0"/>
              </a:rPr>
              <a:t>kích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cần</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thiết đã được xác định đầy đủ và rõ </a:t>
            </a:r>
            <a:r>
              <a:rPr lang="vi-VN" sz="1800" b="0" i="0" u="none" strike="noStrike" baseline="0" dirty="0">
                <a:latin typeface="CIDFont+F1"/>
              </a:rPr>
              <a:t>ràng.</a:t>
            </a:r>
            <a:endParaRPr lang="en-US" dirty="0">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96D572D1-90E1-4D9E-E488-61B320C6945A}"/>
              </a:ext>
            </a:extLst>
          </p:cNvPr>
          <p:cNvSpPr txBox="1"/>
          <p:nvPr/>
        </p:nvSpPr>
        <p:spPr>
          <a:xfrm>
            <a:off x="2999930" y="6195406"/>
            <a:ext cx="5250691" cy="369332"/>
          </a:xfrm>
          <a:prstGeom prst="rect">
            <a:avLst/>
          </a:prstGeom>
          <a:noFill/>
        </p:spPr>
        <p:txBody>
          <a:bodyPr wrap="square">
            <a:spAutoFit/>
          </a:bodyPr>
          <a:lstStyle/>
          <a:p>
            <a:r>
              <a:rPr lang="en-US" b="1" dirty="0">
                <a:solidFill>
                  <a:schemeClr val="tx1">
                    <a:lumMod val="50000"/>
                    <a:lumOff val="50000"/>
                  </a:schemeClr>
                </a:solidFill>
                <a:latin typeface="Cambria" panose="02040503050406030204" pitchFamily="18" charset="0"/>
                <a:ea typeface="Cambria" panose="02040503050406030204" pitchFamily="18" charset="0"/>
              </a:rPr>
              <a:t>The Triple Constraint of Project Management</a:t>
            </a:r>
          </a:p>
        </p:txBody>
      </p:sp>
      <p:pic>
        <p:nvPicPr>
          <p:cNvPr id="10" name="Picture 9">
            <a:extLst>
              <a:ext uri="{FF2B5EF4-FFF2-40B4-BE49-F238E27FC236}">
                <a16:creationId xmlns:a16="http://schemas.microsoft.com/office/drawing/2014/main" id="{FAC61E58-F99D-2B28-0719-B14007DA4D49}"/>
              </a:ext>
            </a:extLst>
          </p:cNvPr>
          <p:cNvPicPr>
            <a:picLocks noChangeAspect="1"/>
          </p:cNvPicPr>
          <p:nvPr/>
        </p:nvPicPr>
        <p:blipFill>
          <a:blip r:embed="rId3"/>
          <a:stretch>
            <a:fillRect/>
          </a:stretch>
        </p:blipFill>
        <p:spPr>
          <a:xfrm>
            <a:off x="3750386" y="3515360"/>
            <a:ext cx="3433436" cy="2682534"/>
          </a:xfrm>
          <a:prstGeom prst="rect">
            <a:avLst/>
          </a:prstGeom>
        </p:spPr>
      </p:pic>
      <p:sp>
        <p:nvSpPr>
          <p:cNvPr id="11" name="TextBox 10">
            <a:extLst>
              <a:ext uri="{FF2B5EF4-FFF2-40B4-BE49-F238E27FC236}">
                <a16:creationId xmlns:a16="http://schemas.microsoft.com/office/drawing/2014/main" id="{A4D83BBD-6E82-AAAB-24D3-210C4119F7F1}"/>
              </a:ext>
            </a:extLst>
          </p:cNvPr>
          <p:cNvSpPr txBox="1"/>
          <p:nvPr/>
        </p:nvSpPr>
        <p:spPr>
          <a:xfrm>
            <a:off x="5273444" y="3630333"/>
            <a:ext cx="1488911" cy="268651"/>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Time</a:t>
            </a:r>
            <a:r>
              <a:rPr lang="en-US"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2" name="TextBox 11">
            <a:extLst>
              <a:ext uri="{FF2B5EF4-FFF2-40B4-BE49-F238E27FC236}">
                <a16:creationId xmlns:a16="http://schemas.microsoft.com/office/drawing/2014/main" id="{D6EFD198-559E-BD9A-31C2-CEE6446FAD3C}"/>
              </a:ext>
            </a:extLst>
          </p:cNvPr>
          <p:cNvSpPr txBox="1"/>
          <p:nvPr/>
        </p:nvSpPr>
        <p:spPr>
          <a:xfrm>
            <a:off x="2864276" y="5754399"/>
            <a:ext cx="1488911" cy="268651"/>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Scope</a:t>
            </a:r>
            <a:r>
              <a:rPr lang="en-US"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3" name="TextBox 12">
            <a:extLst>
              <a:ext uri="{FF2B5EF4-FFF2-40B4-BE49-F238E27FC236}">
                <a16:creationId xmlns:a16="http://schemas.microsoft.com/office/drawing/2014/main" id="{3557E6FB-F563-0F10-5649-C3CBACFD91A6}"/>
              </a:ext>
            </a:extLst>
          </p:cNvPr>
          <p:cNvSpPr txBox="1"/>
          <p:nvPr/>
        </p:nvSpPr>
        <p:spPr>
          <a:xfrm>
            <a:off x="6487013" y="5754400"/>
            <a:ext cx="1488911" cy="268651"/>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Cost</a:t>
            </a:r>
            <a:r>
              <a:rPr lang="en-US" sz="1600" b="1" dirty="0">
                <a:solidFill>
                  <a:schemeClr val="bg2">
                    <a:lumMod val="50000"/>
                  </a:schemeClr>
                </a:solidFill>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2115531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QUẢN LÝ THỜI GIAN DỰ ÁN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6BC9AA5-8946-053B-FB99-5970A0FF3789}"/>
              </a:ext>
            </a:extLst>
          </p:cNvPr>
          <p:cNvSpPr txBox="1"/>
          <p:nvPr/>
        </p:nvSpPr>
        <p:spPr>
          <a:xfrm>
            <a:off x="341127" y="724376"/>
            <a:ext cx="11653586" cy="5940088"/>
          </a:xfrm>
          <a:prstGeom prst="rect">
            <a:avLst/>
          </a:prstGeom>
          <a:noFill/>
        </p:spPr>
        <p:txBody>
          <a:bodyPr wrap="square">
            <a:spAutoFit/>
          </a:bodyPr>
          <a:lstStyle/>
          <a:p>
            <a:pPr algn="just"/>
            <a:r>
              <a:rPr lang="en-US" b="1" dirty="0" err="1">
                <a:latin typeface="Cambria" panose="02040503050406030204" pitchFamily="18" charset="0"/>
                <a:ea typeface="Cambria" panose="02040503050406030204" pitchFamily="18" charset="0"/>
              </a:rPr>
              <a:t>Một</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số</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khái</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niệm</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cơ</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bản</a:t>
            </a:r>
            <a:endParaRPr lang="en-US" b="1" dirty="0">
              <a:latin typeface="Cambria" panose="02040503050406030204" pitchFamily="18" charset="0"/>
              <a:ea typeface="Cambria" panose="02040503050406030204" pitchFamily="18" charset="0"/>
            </a:endParaRPr>
          </a:p>
          <a:p>
            <a:pPr marL="742950" lvl="1" indent="-285750" algn="just">
              <a:spcBef>
                <a:spcPct val="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Khái niệm Liền trước: một công việc A phải được thực hiện trước một công việc B</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khác được gọi là liền trước công việc đó. Nếu công việc A không được thực hiện,</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công việc B sẽ không được thực hiện.</a:t>
            </a:r>
          </a:p>
          <a:p>
            <a:pPr marL="742950" lvl="1" indent="-285750" algn="just">
              <a:spcBef>
                <a:spcPct val="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Khái niệm Đồng thời: các công việc đồng thời là các công việc có thể được thực 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cùng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cách</a:t>
            </a:r>
            <a:r>
              <a:rPr lang="en-US" dirty="0">
                <a:latin typeface="Cambria" panose="02040503050406030204" pitchFamily="18" charset="0"/>
                <a:ea typeface="Cambria" panose="02040503050406030204" pitchFamily="18" charset="0"/>
              </a:rPr>
              <a:t> song song).</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Trễ</a:t>
            </a:r>
            <a:r>
              <a:rPr lang="en-US" dirty="0">
                <a:latin typeface="Cambria" panose="02040503050406030204" pitchFamily="18" charset="0"/>
                <a:ea typeface="Cambria" panose="02040503050406030204" pitchFamily="18" charset="0"/>
              </a:rPr>
              <a:t> (Lag):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khoảng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giữa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Khái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niệm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Mốc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trọng</a:t>
            </a:r>
            <a:r>
              <a:rPr lang="en-US" dirty="0">
                <a:latin typeface="Cambria" panose="02040503050406030204" pitchFamily="18" charset="0"/>
                <a:ea typeface="Cambria" panose="02040503050406030204" pitchFamily="18" charset="0"/>
              </a:rPr>
              <a:t> (milestone):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biệt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tính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sau</a:t>
            </a:r>
            <a:r>
              <a:rPr lang="en-US" dirty="0">
                <a:latin typeface="Cambria" panose="02040503050406030204" pitchFamily="18" charset="0"/>
                <a:ea typeface="Cambria" panose="02040503050406030204" pitchFamily="18" charset="0"/>
              </a:rPr>
              <a:t>:</a:t>
            </a:r>
          </a:p>
          <a:p>
            <a:pPr marL="1025525" lvl="1" indent="-285750" algn="just">
              <a:spcAft>
                <a:spcPts val="300"/>
              </a:spcAft>
              <a:buClr>
                <a:schemeClr val="accent2">
                  <a:lumMod val="75000"/>
                </a:schemeClr>
              </a:buClr>
              <a:buFont typeface="Courier New" panose="02070309020205020404" pitchFamily="49" charset="0"/>
              <a:buChar char="o"/>
            </a:pPr>
            <a:r>
              <a:rPr lang="en-US" dirty="0" err="1">
                <a:solidFill>
                  <a:schemeClr val="tx1">
                    <a:lumMod val="65000"/>
                    <a:lumOff val="35000"/>
                  </a:schemeClr>
                </a:solidFill>
                <a:latin typeface="Cambria" panose="02040503050406030204" pitchFamily="18" charset="0"/>
                <a:ea typeface="Cambria" panose="02040503050406030204" pitchFamily="18" charset="0"/>
              </a:rPr>
              <a:t>Xác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định</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các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điểm</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cốt</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yếu</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trong</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lịch</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thực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hiện</a:t>
            </a:r>
            <a:r>
              <a:rPr lang="en-US" dirty="0">
                <a:solidFill>
                  <a:schemeClr val="tx1">
                    <a:lumMod val="65000"/>
                    <a:lumOff val="35000"/>
                  </a:schemeClr>
                </a:solidFill>
                <a:latin typeface="Cambria" panose="02040503050406030204" pitchFamily="18" charset="0"/>
                <a:ea typeface="Cambria" panose="02040503050406030204" pitchFamily="18" charset="0"/>
              </a:rPr>
              <a:t>.</a:t>
            </a:r>
          </a:p>
          <a:p>
            <a:pPr marL="1025525" lvl="1" indent="-285750" algn="just">
              <a:spcAft>
                <a:spcPts val="300"/>
              </a:spcAft>
              <a:buClr>
                <a:schemeClr val="accent2">
                  <a:lumMod val="75000"/>
                </a:schemeClr>
              </a:buClr>
              <a:buFont typeface="Courier New" panose="02070309020205020404" pitchFamily="49" charset="0"/>
              <a:buChar char="o"/>
            </a:pPr>
            <a:r>
              <a:rPr lang="vi-VN" dirty="0">
                <a:solidFill>
                  <a:schemeClr val="tx1">
                    <a:lumMod val="65000"/>
                    <a:lumOff val="35000"/>
                  </a:schemeClr>
                </a:solidFill>
                <a:latin typeface="Cambria" panose="02040503050406030204" pitchFamily="18" charset="0"/>
                <a:ea typeface="Cambria" panose="02040503050406030204" pitchFamily="18" charset="0"/>
              </a:rPr>
              <a:t>Thường được sử dụng tại những thời điểm “xem xét lại” hoặc “chuyển giao sản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phẩm</a:t>
            </a:r>
            <a:r>
              <a:rPr lang="en-US" dirty="0">
                <a:solidFill>
                  <a:schemeClr val="tx1">
                    <a:lumMod val="65000"/>
                    <a:lumOff val="35000"/>
                  </a:schemeClr>
                </a:solidFill>
                <a:latin typeface="Cambria" panose="02040503050406030204" pitchFamily="18" charset="0"/>
                <a:ea typeface="Cambria" panose="02040503050406030204" pitchFamily="18" charset="0"/>
              </a:rPr>
              <a:t>”.</a:t>
            </a:r>
          </a:p>
          <a:p>
            <a:pPr marL="1025525" lvl="1" indent="-285750" algn="just">
              <a:spcAft>
                <a:spcPts val="300"/>
              </a:spcAft>
              <a:buClr>
                <a:schemeClr val="accent2">
                  <a:lumMod val="75000"/>
                </a:schemeClr>
              </a:buClr>
              <a:buFont typeface="Courier New" panose="02070309020205020404" pitchFamily="49" charset="0"/>
              <a:buChar char="o"/>
            </a:pPr>
            <a:r>
              <a:rPr lang="en-US" dirty="0" err="1">
                <a:solidFill>
                  <a:schemeClr val="tx1">
                    <a:lumMod val="65000"/>
                    <a:lumOff val="35000"/>
                  </a:schemeClr>
                </a:solidFill>
                <a:latin typeface="Cambria" panose="02040503050406030204" pitchFamily="18" charset="0"/>
                <a:ea typeface="Cambria" panose="02040503050406030204" pitchFamily="18" charset="0"/>
              </a:rPr>
              <a:t>Hoặc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tại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thời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điểm</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bắt</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đầu</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hoặc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kết</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thúc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các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giai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đoạn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ví</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dụ</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xem</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xét</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lại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các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yêu</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cầu</a:t>
            </a:r>
            <a:r>
              <a:rPr lang="en-US" dirty="0">
                <a:solidFill>
                  <a:schemeClr val="tx1">
                    <a:lumMod val="65000"/>
                    <a:lumOff val="35000"/>
                  </a:schemeClr>
                </a:solidFill>
                <a:latin typeface="Cambria" panose="02040503050406030204" pitchFamily="18" charset="0"/>
                <a:ea typeface="Cambria" panose="02040503050406030204" pitchFamily="18" charset="0"/>
              </a:rPr>
              <a:t>.</a:t>
            </a:r>
          </a:p>
          <a:p>
            <a:pPr marL="1025525" lvl="1" indent="-285750" algn="just">
              <a:spcAft>
                <a:spcPts val="300"/>
              </a:spcAft>
              <a:buClr>
                <a:schemeClr val="accent2">
                  <a:lumMod val="75000"/>
                </a:schemeClr>
              </a:buClr>
              <a:buFont typeface="Courier New" panose="02070309020205020404" pitchFamily="49" charset="0"/>
              <a:buChar char="o"/>
            </a:pPr>
            <a:r>
              <a:rPr lang="vi-VN" dirty="0">
                <a:solidFill>
                  <a:schemeClr val="tx1">
                    <a:lumMod val="65000"/>
                    <a:lumOff val="35000"/>
                  </a:schemeClr>
                </a:solidFill>
                <a:latin typeface="Cambria" panose="02040503050406030204" pitchFamily="18" charset="0"/>
                <a:ea typeface="Cambria" panose="02040503050406030204" pitchFamily="18" charset="0"/>
              </a:rPr>
              <a:t>Có thể gắn với các khái niệm trong hợp đồng được ký với khách hàng.</a:t>
            </a:r>
            <a:endParaRPr lang="en-US" dirty="0">
              <a:solidFill>
                <a:schemeClr val="tx1">
                  <a:lumMod val="65000"/>
                  <a:lumOff val="35000"/>
                </a:schemeClr>
              </a:solidFill>
              <a:latin typeface="Cambria" panose="02040503050406030204" pitchFamily="18" charset="0"/>
              <a:ea typeface="Cambria" panose="02040503050406030204" pitchFamily="18" charset="0"/>
            </a:endParaRP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Khái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niệm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tự</a:t>
            </a:r>
            <a:r>
              <a:rPr lang="en-US" dirty="0">
                <a:latin typeface="Cambria" panose="02040503050406030204" pitchFamily="18" charset="0"/>
                <a:ea typeface="Cambria" panose="02040503050406030204" pitchFamily="18" charset="0"/>
              </a:rPr>
              <a:t> do (Slack, </a:t>
            </a:r>
            <a:r>
              <a:rPr lang="en-US" dirty="0" err="1">
                <a:latin typeface="Cambria" panose="02040503050406030204" pitchFamily="18" charset="0"/>
                <a:ea typeface="Cambria" panose="02040503050406030204" pitchFamily="18" charset="0"/>
              </a:rPr>
              <a:t>hoặc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Float)</a:t>
            </a:r>
          </a:p>
          <a:p>
            <a:pPr marL="1025525" lvl="1" indent="-285750" algn="just">
              <a:spcAft>
                <a:spcPts val="300"/>
              </a:spcAft>
              <a:buClr>
                <a:schemeClr val="accent2">
                  <a:lumMod val="75000"/>
                </a:schemeClr>
              </a:buClr>
              <a:buFont typeface="Courier New" panose="02070309020205020404" pitchFamily="49" charset="0"/>
              <a:buChar char="o"/>
            </a:pPr>
            <a:r>
              <a:rPr lang="vi-VN" dirty="0">
                <a:solidFill>
                  <a:schemeClr val="tx1">
                    <a:lumMod val="65000"/>
                    <a:lumOff val="35000"/>
                  </a:schemeClr>
                </a:solidFill>
                <a:latin typeface="Cambria" panose="02040503050406030204" pitchFamily="18" charset="0"/>
                <a:ea typeface="Cambria" panose="02040503050406030204" pitchFamily="18" charset="0"/>
              </a:rPr>
              <a:t>Đây là thời gian một hoạt động có thể được thực hiện trễ khoảng thời gian đó mà</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không</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làm</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trì</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hoãn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công</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việc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tiếp</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theo.</a:t>
            </a:r>
            <a:endParaRPr lang="en-US" dirty="0">
              <a:solidFill>
                <a:schemeClr val="tx1">
                  <a:lumMod val="65000"/>
                  <a:lumOff val="35000"/>
                </a:schemeClr>
              </a:solidFill>
              <a:latin typeface="Cambria" panose="02040503050406030204" pitchFamily="18" charset="0"/>
              <a:ea typeface="Cambria" panose="02040503050406030204" pitchFamily="18" charset="0"/>
            </a:endParaRPr>
          </a:p>
          <a:p>
            <a:pPr marL="1025525" lvl="1" indent="-285750" algn="just">
              <a:spcAft>
                <a:spcPts val="300"/>
              </a:spcAft>
              <a:buClr>
                <a:schemeClr val="accent2">
                  <a:lumMod val="75000"/>
                </a:schemeClr>
              </a:buClr>
              <a:buFont typeface="Courier New" panose="02070309020205020404" pitchFamily="49" charset="0"/>
              <a:buChar char="o"/>
            </a:pPr>
            <a:r>
              <a:rPr lang="vi-VN" dirty="0">
                <a:solidFill>
                  <a:schemeClr val="tx1">
                    <a:lumMod val="65000"/>
                    <a:lumOff val="35000"/>
                  </a:schemeClr>
                </a:solidFill>
                <a:latin typeface="Cambria" panose="02040503050406030204" pitchFamily="18" charset="0"/>
                <a:ea typeface="Cambria" panose="02040503050406030204" pitchFamily="18" charset="0"/>
              </a:rPr>
              <a:t>Thời gian trễ Slack Time (TS) được tính là TS = TL – TE</a:t>
            </a:r>
          </a:p>
          <a:p>
            <a:pPr marL="739775" lvl="1" algn="just">
              <a:spcAft>
                <a:spcPts val="300"/>
              </a:spcAft>
              <a:buClr>
                <a:schemeClr val="accent2">
                  <a:lumMod val="75000"/>
                </a:schemeClr>
              </a:buClr>
            </a:pPr>
            <a:r>
              <a:rPr lang="en-US" dirty="0">
                <a:solidFill>
                  <a:schemeClr val="tx1">
                    <a:lumMod val="65000"/>
                    <a:lumOff val="35000"/>
                  </a:schemeClr>
                </a:solidFill>
                <a:latin typeface="Cambria" panose="02040503050406030204" pitchFamily="18" charset="0"/>
                <a:ea typeface="Cambria" panose="02040503050406030204" pitchFamily="18" charset="0"/>
              </a:rPr>
              <a:t>		TE = </a:t>
            </a:r>
            <a:r>
              <a:rPr lang="en-US" dirty="0" err="1">
                <a:solidFill>
                  <a:schemeClr val="tx1">
                    <a:lumMod val="65000"/>
                    <a:lumOff val="35000"/>
                  </a:schemeClr>
                </a:solidFill>
                <a:latin typeface="Cambria" panose="02040503050406030204" pitchFamily="18" charset="0"/>
                <a:ea typeface="Cambria" panose="02040503050406030204" pitchFamily="18" charset="0"/>
              </a:rPr>
              <a:t>thời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gian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sớm</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nhất</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một</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sự</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kiện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có</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thể</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diễn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ra.</a:t>
            </a:r>
            <a:endParaRPr lang="en-US" dirty="0">
              <a:solidFill>
                <a:schemeClr val="tx1">
                  <a:lumMod val="65000"/>
                  <a:lumOff val="35000"/>
                </a:schemeClr>
              </a:solidFill>
              <a:latin typeface="Cambria" panose="02040503050406030204" pitchFamily="18" charset="0"/>
              <a:ea typeface="Cambria" panose="02040503050406030204" pitchFamily="18" charset="0"/>
            </a:endParaRPr>
          </a:p>
          <a:p>
            <a:pPr marL="739775" lvl="1" algn="just">
              <a:spcAft>
                <a:spcPts val="300"/>
              </a:spcAft>
              <a:buClr>
                <a:schemeClr val="accent2">
                  <a:lumMod val="75000"/>
                </a:schemeClr>
              </a:buClr>
            </a:pPr>
            <a:r>
              <a:rPr lang="en-US" dirty="0">
                <a:solidFill>
                  <a:schemeClr val="tx1">
                    <a:lumMod val="65000"/>
                    <a:lumOff val="35000"/>
                  </a:schemeClr>
                </a:solidFill>
                <a:latin typeface="Cambria" panose="02040503050406030204" pitchFamily="18" charset="0"/>
                <a:ea typeface="Cambria" panose="02040503050406030204" pitchFamily="18" charset="0"/>
              </a:rPr>
              <a:t>		TL = </a:t>
            </a:r>
            <a:r>
              <a:rPr lang="en-US" dirty="0" err="1">
                <a:solidFill>
                  <a:schemeClr val="tx1">
                    <a:lumMod val="65000"/>
                    <a:lumOff val="35000"/>
                  </a:schemeClr>
                </a:solidFill>
                <a:latin typeface="Cambria" panose="02040503050406030204" pitchFamily="18" charset="0"/>
                <a:ea typeface="Cambria" panose="02040503050406030204" pitchFamily="18" charset="0"/>
              </a:rPr>
              <a:t>thời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gian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muộn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nhất</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nó</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có</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thể</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diễn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ra</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mà</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không</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làm</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dài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thêm</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quá</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trình</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hoàn</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thành</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dự</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án</a:t>
            </a:r>
            <a:r>
              <a:rPr lang="en-US" dirty="0">
                <a:solidFill>
                  <a:schemeClr val="tx1">
                    <a:lumMod val="65000"/>
                    <a:lumOff val="35000"/>
                  </a:schemeClr>
                </a:solidFill>
                <a:latin typeface="Cambria" panose="02040503050406030204" pitchFamily="18" charset="0"/>
                <a:ea typeface="Cambria" panose="02040503050406030204" pitchFamily="18" charset="0"/>
              </a:rPr>
              <a:t>.</a:t>
            </a:r>
          </a:p>
          <a:p>
            <a:pPr marL="742950" lvl="1" indent="-285750" algn="just">
              <a:spcBef>
                <a:spcPct val="0"/>
              </a:spcBef>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Khái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niệm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Tổng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trễ</a:t>
            </a:r>
            <a:r>
              <a:rPr lang="en-US" dirty="0">
                <a:latin typeface="Cambria" panose="02040503050406030204" pitchFamily="18" charset="0"/>
                <a:ea typeface="Cambria" panose="02040503050406030204" pitchFamily="18" charset="0"/>
              </a:rPr>
              <a:t> (Total Slack):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trì</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toàn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bộ</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sz="1800" b="0" i="0" u="none" strike="noStrike" baseline="0" dirty="0">
                <a:latin typeface="CIDFont+F1"/>
              </a:rPr>
              <a:t>.</a:t>
            </a:r>
            <a:endParaRPr lang="en-US" dirty="0">
              <a:solidFill>
                <a:schemeClr val="tx1">
                  <a:lumMod val="65000"/>
                  <a:lumOff val="35000"/>
                </a:schemeClr>
              </a:solidFill>
              <a:latin typeface="Cambria" panose="02040503050406030204" pitchFamily="18" charset="0"/>
              <a:ea typeface="Cambria" panose="02040503050406030204" pitchFamily="18" charset="0"/>
            </a:endParaRPr>
          </a:p>
          <a:p>
            <a:pPr algn="just"/>
            <a:endParaRPr lang="vi-VN" b="1" dirty="0">
              <a:latin typeface="Cambria" panose="02040503050406030204" pitchFamily="18" charset="0"/>
              <a:ea typeface="Cambria" panose="02040503050406030204" pitchFamily="18" charset="0"/>
            </a:endParaRPr>
          </a:p>
        </p:txBody>
      </p:sp>
      <p:cxnSp>
        <p:nvCxnSpPr>
          <p:cNvPr id="7" name="Straight Connector 6">
            <a:extLst>
              <a:ext uri="{FF2B5EF4-FFF2-40B4-BE49-F238E27FC236}">
                <a16:creationId xmlns:a16="http://schemas.microsoft.com/office/drawing/2014/main" id="{F88D0FE2-4BFF-480C-AC4A-4043EC366C6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410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QUẢN LÝ THỜI GIAN DỰ ÁN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6BC9AA5-8946-053B-FB99-5970A0FF3789}"/>
              </a:ext>
            </a:extLst>
          </p:cNvPr>
          <p:cNvSpPr txBox="1"/>
          <p:nvPr/>
        </p:nvSpPr>
        <p:spPr>
          <a:xfrm>
            <a:off x="341127" y="724376"/>
            <a:ext cx="11653586"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M</a:t>
            </a:r>
            <a:r>
              <a:rPr lang="vi-VN" b="1" dirty="0">
                <a:latin typeface="Cambria" panose="02040503050406030204" pitchFamily="18" charset="0"/>
                <a:ea typeface="Cambria" panose="02040503050406030204" pitchFamily="18" charset="0"/>
              </a:rPr>
              <a:t>inh họa về mốc thời gian trong lược đồ tiến trình</a:t>
            </a:r>
            <a:endParaRPr lang="en-US" b="1" dirty="0">
              <a:latin typeface="Cambria" panose="02040503050406030204" pitchFamily="18" charset="0"/>
              <a:ea typeface="Cambria" panose="02040503050406030204" pitchFamily="18" charset="0"/>
            </a:endParaRPr>
          </a:p>
          <a:p>
            <a:pPr algn="just"/>
            <a:endParaRPr lang="vi-VN" b="1" dirty="0">
              <a:latin typeface="Cambria" panose="02040503050406030204" pitchFamily="18" charset="0"/>
              <a:ea typeface="Cambria" panose="02040503050406030204" pitchFamily="18" charset="0"/>
            </a:endParaRPr>
          </a:p>
        </p:txBody>
      </p:sp>
      <p:cxnSp>
        <p:nvCxnSpPr>
          <p:cNvPr id="7" name="Straight Connector 6">
            <a:extLst>
              <a:ext uri="{FF2B5EF4-FFF2-40B4-BE49-F238E27FC236}">
                <a16:creationId xmlns:a16="http://schemas.microsoft.com/office/drawing/2014/main" id="{F88D0FE2-4BFF-480C-AC4A-4043EC366C6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139A77E-F002-7B47-E5B4-06ED5E6C3C62}"/>
              </a:ext>
            </a:extLst>
          </p:cNvPr>
          <p:cNvPicPr>
            <a:picLocks noChangeAspect="1"/>
          </p:cNvPicPr>
          <p:nvPr/>
        </p:nvPicPr>
        <p:blipFill>
          <a:blip r:embed="rId2"/>
          <a:stretch>
            <a:fillRect/>
          </a:stretch>
        </p:blipFill>
        <p:spPr>
          <a:xfrm>
            <a:off x="339355" y="1174860"/>
            <a:ext cx="8817289" cy="5183958"/>
          </a:xfrm>
          <a:prstGeom prst="rect">
            <a:avLst/>
          </a:prstGeom>
        </p:spPr>
      </p:pic>
    </p:spTree>
    <p:extLst>
      <p:ext uri="{BB962C8B-B14F-4D97-AF65-F5344CB8AC3E}">
        <p14:creationId xmlns:p14="http://schemas.microsoft.com/office/powerpoint/2010/main" val="2781542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QUẢN LÝ THỜI GIAN DỰ ÁN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6BC9AA5-8946-053B-FB99-5970A0FF3789}"/>
              </a:ext>
            </a:extLst>
          </p:cNvPr>
          <p:cNvSpPr txBox="1"/>
          <p:nvPr/>
        </p:nvSpPr>
        <p:spPr>
          <a:xfrm>
            <a:off x="341127" y="724376"/>
            <a:ext cx="11511518" cy="4001095"/>
          </a:xfrm>
          <a:prstGeom prst="rect">
            <a:avLst/>
          </a:prstGeom>
          <a:noFill/>
        </p:spPr>
        <p:txBody>
          <a:bodyPr wrap="square">
            <a:spAutoFit/>
          </a:bodyPr>
          <a:lstStyle/>
          <a:p>
            <a:pPr algn="just"/>
            <a:r>
              <a:rPr lang="en-US" b="1" dirty="0" err="1">
                <a:latin typeface="Cambria" panose="02040503050406030204" pitchFamily="18" charset="0"/>
                <a:ea typeface="Cambria" panose="02040503050406030204" pitchFamily="18" charset="0"/>
              </a:rPr>
              <a:t>Dạng</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phụ</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thuộc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giữa</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các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công</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việc</a:t>
            </a:r>
            <a:r>
              <a:rPr lang="en-US" b="1" dirty="0">
                <a:latin typeface="Cambria" panose="02040503050406030204" pitchFamily="18" charset="0"/>
                <a:ea typeface="Cambria" panose="02040503050406030204" pitchFamily="18" charset="0"/>
              </a:rPr>
              <a:t> </a:t>
            </a:r>
          </a:p>
          <a:p>
            <a:pPr marL="742950" lvl="1" indent="-285750" algn="just">
              <a:spcBef>
                <a:spcPts val="600"/>
              </a:spcBef>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Dạng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thuộc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buộc</a:t>
            </a:r>
            <a:r>
              <a:rPr lang="en-US" dirty="0">
                <a:latin typeface="Cambria" panose="02040503050406030204" pitchFamily="18" charset="0"/>
                <a:ea typeface="Cambria" panose="02040503050406030204" pitchFamily="18" charset="0"/>
              </a:rPr>
              <a:t> (Mandatory dependencies):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thuộc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“logic </a:t>
            </a:r>
            <a:r>
              <a:rPr lang="en-US" dirty="0" err="1">
                <a:latin typeface="Cambria" panose="02040503050406030204" pitchFamily="18" charset="0"/>
                <a:ea typeface="Cambria" panose="02040503050406030204" pitchFamily="18" charset="0"/>
              </a:rPr>
              <a:t>cứng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nhằm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trật</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tự thực hiện. Ví dụ: viết mã chương trình phải trước kiểm thử. thiết kế giao diện</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phải trước cài đặt giao diện.</a:t>
            </a:r>
            <a:endParaRPr lang="en-US" dirty="0">
              <a:latin typeface="Cambria" panose="02040503050406030204" pitchFamily="18" charset="0"/>
              <a:ea typeface="Cambria" panose="02040503050406030204" pitchFamily="18" charset="0"/>
            </a:endParaRPr>
          </a:p>
          <a:p>
            <a:pPr marL="742950" lvl="1" indent="-285750" algn="just">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Dạng Phụ thuộc Rời rạc</a:t>
            </a:r>
            <a:r>
              <a:rPr lang="en-US" dirty="0">
                <a:latin typeface="Cambria" panose="02040503050406030204" pitchFamily="18" charset="0"/>
                <a:ea typeface="Cambria" panose="02040503050406030204" pitchFamily="18" charset="0"/>
              </a:rPr>
              <a:t> (Discretionary dependencies)</a:t>
            </a:r>
            <a:r>
              <a:rPr lang="vi-VN" dirty="0">
                <a:latin typeface="Cambria" panose="02040503050406030204" pitchFamily="18" charset="0"/>
                <a:ea typeface="Cambria" panose="02040503050406030204" pitchFamily="18" charset="0"/>
              </a:rPr>
              <a:t>: là sự phụ thuộc “logic mềm” theo hướng tiến trình, có thể</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linh động và được quyết định bởi đội quản lý dự án. Ví dụ: trật tự rời rạc của việc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tạo ra các mô – đun cụ thể, các mô – đun có thể được thực hiện theo một trật tự do</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người quản lý gán cho, không nhất thiết theo một trật tự cứng.</a:t>
            </a:r>
          </a:p>
          <a:p>
            <a:pPr marL="742950" lvl="1" indent="-285750" algn="just">
              <a:spcBef>
                <a:spcPts val="600"/>
              </a:spcBef>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Dạng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thuộc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Ngoại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cảnh</a:t>
            </a:r>
            <a:r>
              <a:rPr lang="en-US" dirty="0">
                <a:latin typeface="Cambria" panose="02040503050406030204" pitchFamily="18" charset="0"/>
                <a:ea typeface="Cambria" panose="02040503050406030204" pitchFamily="18" charset="0"/>
              </a:rPr>
              <a:t> (External dependencies):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thuộc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yếu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ngoài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phẩm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ty </a:t>
            </a:r>
            <a:r>
              <a:rPr lang="en-US" dirty="0" err="1">
                <a:latin typeface="Cambria" panose="02040503050406030204" pitchFamily="18" charset="0"/>
                <a:ea typeface="Cambria" panose="02040503050406030204" pitchFamily="18" charset="0"/>
              </a:rPr>
              <a:t>thứ</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hợp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đồng</a:t>
            </a:r>
            <a:r>
              <a:rPr lang="en-US" dirty="0">
                <a:latin typeface="Cambria" panose="02040503050406030204" pitchFamily="18" charset="0"/>
                <a:ea typeface="Cambria" panose="02040503050406030204" pitchFamily="18" charset="0"/>
              </a:rPr>
              <a:t>. </a:t>
            </a:r>
          </a:p>
          <a:p>
            <a:pPr marL="742950" lvl="1" indent="-285750" algn="just">
              <a:spcBef>
                <a:spcPts val="600"/>
              </a:spcBef>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Dạng Phụ thuộc Nguồn tài nguyên</a:t>
            </a:r>
            <a:r>
              <a:rPr lang="en-US" dirty="0">
                <a:latin typeface="Cambria" panose="02040503050406030204" pitchFamily="18" charset="0"/>
                <a:ea typeface="Cambria" panose="02040503050406030204" pitchFamily="18" charset="0"/>
              </a:rPr>
              <a:t> (Resource dependencies): </a:t>
            </a:r>
            <a:r>
              <a:rPr lang="vi-VN" dirty="0">
                <a:latin typeface="Cambria" panose="02040503050406030204" pitchFamily="18" charset="0"/>
                <a:ea typeface="Cambria" panose="02040503050406030204" pitchFamily="18" charset="0"/>
              </a:rPr>
              <a:t>là sự phụ thuộc xảy ra trong trường hợp hai công</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việc phụ thuộc vào cùng một tài nguyên. Ví dụ: bạn chỉ có một quản trị cơ sở dữ</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liệu nhưng có nhiều công việc liên quan tới cơ sở dữ liệu.</a:t>
            </a:r>
            <a:endParaRPr lang="en-US" dirty="0">
              <a:latin typeface="Cambria" panose="02040503050406030204" pitchFamily="18" charset="0"/>
              <a:ea typeface="Cambria" panose="02040503050406030204" pitchFamily="18" charset="0"/>
            </a:endParaRPr>
          </a:p>
          <a:p>
            <a:pPr algn="just"/>
            <a:endParaRPr lang="vi-VN" b="1" dirty="0">
              <a:latin typeface="Cambria" panose="02040503050406030204" pitchFamily="18" charset="0"/>
              <a:ea typeface="Cambria" panose="02040503050406030204" pitchFamily="18" charset="0"/>
            </a:endParaRPr>
          </a:p>
        </p:txBody>
      </p:sp>
      <p:cxnSp>
        <p:nvCxnSpPr>
          <p:cNvPr id="7" name="Straight Connector 6">
            <a:extLst>
              <a:ext uri="{FF2B5EF4-FFF2-40B4-BE49-F238E27FC236}">
                <a16:creationId xmlns:a16="http://schemas.microsoft.com/office/drawing/2014/main" id="{F88D0FE2-4BFF-480C-AC4A-4043EC366C6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270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QUẢN LÝ THỜI GIAN DỰ ÁN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6BC9AA5-8946-053B-FB99-5970A0FF3789}"/>
              </a:ext>
            </a:extLst>
          </p:cNvPr>
          <p:cNvSpPr txBox="1"/>
          <p:nvPr/>
        </p:nvSpPr>
        <p:spPr>
          <a:xfrm>
            <a:off x="341127" y="724376"/>
            <a:ext cx="6201913" cy="3447098"/>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Quan </a:t>
            </a:r>
            <a:r>
              <a:rPr lang="en-US" b="1" dirty="0" err="1">
                <a:latin typeface="Cambria" panose="02040503050406030204" pitchFamily="18" charset="0"/>
                <a:ea typeface="Cambria" panose="02040503050406030204" pitchFamily="18" charset="0"/>
              </a:rPr>
              <a:t>hệ</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phụ</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thuộc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giữa</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các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công</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việc</a:t>
            </a:r>
            <a:r>
              <a:rPr lang="en-US" b="1" dirty="0">
                <a:latin typeface="Cambria" panose="02040503050406030204" pitchFamily="18" charset="0"/>
                <a:ea typeface="Cambria" panose="02040503050406030204" pitchFamily="18" charset="0"/>
              </a:rPr>
              <a:t> </a:t>
            </a:r>
          </a:p>
          <a:p>
            <a:pPr algn="l"/>
            <a:r>
              <a:rPr lang="en-US" dirty="0" err="1">
                <a:latin typeface="Cambria" panose="02040503050406030204" pitchFamily="18" charset="0"/>
                <a:ea typeface="Cambria" panose="02040503050406030204" pitchFamily="18" charset="0"/>
              </a:rPr>
              <a:t>Mối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thuộc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giữa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bao </a:t>
            </a:r>
            <a:r>
              <a:rPr lang="en-US" dirty="0" err="1">
                <a:latin typeface="Cambria" panose="02040503050406030204" pitchFamily="18" charset="0"/>
                <a:ea typeface="Cambria" panose="02040503050406030204" pitchFamily="18" charset="0"/>
              </a:rPr>
              <a:t>gồm</a:t>
            </a:r>
            <a:r>
              <a:rPr lang="en-US" dirty="0">
                <a:latin typeface="Cambria" panose="02040503050406030204" pitchFamily="18" charset="0"/>
                <a:ea typeface="Cambria" panose="02040503050406030204" pitchFamily="18" charset="0"/>
              </a:rPr>
              <a:t>:</a:t>
            </a:r>
          </a:p>
          <a:p>
            <a:pPr marL="285750" lvl="1" indent="-285750" algn="just">
              <a:spcBef>
                <a:spcPts val="60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Quan </a:t>
            </a:r>
            <a:r>
              <a:rPr lang="en-US" dirty="0" err="1">
                <a:latin typeface="Cambria" panose="02040503050406030204" pitchFamily="18" charset="0"/>
                <a:ea typeface="Cambria" panose="02040503050406030204" pitchFamily="18" charset="0"/>
              </a:rPr>
              <a:t>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rồi</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B </a:t>
            </a:r>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tới</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khi A kết thúc. Ví dụ: A= xây hàng rào. B= sơn hàng rào.</a:t>
            </a:r>
          </a:p>
          <a:p>
            <a:pPr marL="285750" lvl="1" indent="-285750" algn="just">
              <a:spcBef>
                <a:spcPts val="60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Quan </a:t>
            </a:r>
            <a:r>
              <a:rPr lang="en-US" dirty="0" err="1">
                <a:latin typeface="Cambria" panose="02040503050406030204" pitchFamily="18" charset="0"/>
                <a:ea typeface="Cambria" panose="02040503050406030204" pitchFamily="18" charset="0"/>
              </a:rPr>
              <a:t>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rồi</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B </a:t>
            </a:r>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đến khi A bắt đầu. Ví dụ: A= đổ nền. B= nâng tường.</a:t>
            </a:r>
          </a:p>
          <a:p>
            <a:pPr marL="285750" lvl="1" indent="-285750" algn="just">
              <a:spcBef>
                <a:spcPts val="60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Quan </a:t>
            </a:r>
            <a:r>
              <a:rPr lang="en-US" dirty="0" err="1">
                <a:latin typeface="Cambria" panose="02040503050406030204" pitchFamily="18" charset="0"/>
                <a:ea typeface="Cambria" panose="02040503050406030204" pitchFamily="18" charset="0"/>
              </a:rPr>
              <a:t>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rồi</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B </a:t>
            </a:r>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khi</a:t>
            </a:r>
            <a:r>
              <a:rPr lang="en-US" dirty="0">
                <a:latin typeface="Cambria" panose="02040503050406030204" pitchFamily="18" charset="0"/>
                <a:ea typeface="Cambria" panose="02040503050406030204" pitchFamily="18" charset="0"/>
              </a:rPr>
              <a:t> A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a:t>
            </a:r>
            <a:r>
              <a:rPr lang="en-US" dirty="0">
                <a:latin typeface="Cambria" panose="02040503050406030204" pitchFamily="18" charset="0"/>
                <a:ea typeface="Cambria" panose="02040503050406030204" pitchFamily="18" charset="0"/>
              </a:rPr>
              <a:t>: A= </a:t>
            </a:r>
            <a:r>
              <a:rPr lang="en-US" dirty="0" err="1">
                <a:latin typeface="Cambria" panose="02040503050406030204" pitchFamily="18" charset="0"/>
                <a:ea typeface="Cambria" panose="02040503050406030204" pitchFamily="18" charset="0"/>
              </a:rPr>
              <a:t>đi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dây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điện</a:t>
            </a:r>
            <a:r>
              <a:rPr lang="en-US" dirty="0">
                <a:latin typeface="Cambria" panose="02040503050406030204" pitchFamily="18" charset="0"/>
                <a:ea typeface="Cambria" panose="02040503050406030204" pitchFamily="18" charset="0"/>
              </a:rPr>
              <a:t>. B= </a:t>
            </a:r>
            <a:r>
              <a:rPr lang="en-US" dirty="0" err="1">
                <a:latin typeface="Cambria" panose="02040503050406030204" pitchFamily="18" charset="0"/>
                <a:ea typeface="Cambria" panose="02040503050406030204" pitchFamily="18" charset="0"/>
              </a:rPr>
              <a:t>kiểm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điện</a:t>
            </a:r>
            <a:endParaRPr lang="en-US" dirty="0">
              <a:latin typeface="Cambria" panose="02040503050406030204" pitchFamily="18" charset="0"/>
              <a:ea typeface="Cambria" panose="02040503050406030204" pitchFamily="18" charset="0"/>
            </a:endParaRPr>
          </a:p>
          <a:p>
            <a:pPr marL="285750" lvl="1" indent="-285750" algn="just">
              <a:spcBef>
                <a:spcPts val="600"/>
              </a:spcBef>
              <a:buClr>
                <a:schemeClr val="accent2">
                  <a:lumMod val="75000"/>
                </a:schemeClr>
              </a:buClr>
              <a:buSzPct val="140000"/>
              <a:buFont typeface="Wingdings" panose="05000000000000000000" pitchFamily="2" charset="2"/>
              <a:buChar char="§"/>
            </a:pPr>
            <a:r>
              <a:rPr lang="en-US" dirty="0">
                <a:latin typeface="Cambria" panose="02040503050406030204" pitchFamily="18" charset="0"/>
                <a:ea typeface="Cambria" panose="02040503050406030204" pitchFamily="18" charset="0"/>
              </a:rPr>
              <a:t>Quan </a:t>
            </a:r>
            <a:r>
              <a:rPr lang="en-US" dirty="0" err="1">
                <a:latin typeface="Cambria" panose="02040503050406030204" pitchFamily="18" charset="0"/>
                <a:ea typeface="Cambria" panose="02040503050406030204" pitchFamily="18" charset="0"/>
              </a:rPr>
              <a:t>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rồi</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B </a:t>
            </a:r>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khi</a:t>
            </a:r>
            <a:r>
              <a:rPr lang="en-US" dirty="0">
                <a:latin typeface="Cambria" panose="02040503050406030204" pitchFamily="18" charset="0"/>
                <a:ea typeface="Cambria" panose="02040503050406030204" pitchFamily="18" charset="0"/>
              </a:rPr>
              <a:t> A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hiếm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gặp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khởi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tạo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ứng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vốn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giúp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hoàn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cũ</a:t>
            </a:r>
            <a:r>
              <a:rPr lang="en-US" dirty="0">
                <a:latin typeface="Cambria" panose="02040503050406030204" pitchFamily="18" charset="0"/>
                <a:ea typeface="Cambria" panose="02040503050406030204" pitchFamily="18" charset="0"/>
              </a:rPr>
              <a:t>.</a:t>
            </a:r>
            <a:endParaRPr lang="vi-VN" dirty="0">
              <a:latin typeface="Cambria" panose="02040503050406030204" pitchFamily="18" charset="0"/>
              <a:ea typeface="Cambria" panose="02040503050406030204" pitchFamily="18" charset="0"/>
            </a:endParaRPr>
          </a:p>
        </p:txBody>
      </p:sp>
      <p:cxnSp>
        <p:nvCxnSpPr>
          <p:cNvPr id="7" name="Straight Connector 6">
            <a:extLst>
              <a:ext uri="{FF2B5EF4-FFF2-40B4-BE49-F238E27FC236}">
                <a16:creationId xmlns:a16="http://schemas.microsoft.com/office/drawing/2014/main" id="{F88D0FE2-4BFF-480C-AC4A-4043EC366C6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9058327-97EE-A0A4-E86C-BC2ED2AB604C}"/>
              </a:ext>
            </a:extLst>
          </p:cNvPr>
          <p:cNvPicPr>
            <a:picLocks noChangeAspect="1"/>
          </p:cNvPicPr>
          <p:nvPr/>
        </p:nvPicPr>
        <p:blipFill>
          <a:blip r:embed="rId2"/>
          <a:stretch>
            <a:fillRect/>
          </a:stretch>
        </p:blipFill>
        <p:spPr>
          <a:xfrm>
            <a:off x="6773339" y="724376"/>
            <a:ext cx="5077534" cy="4001058"/>
          </a:xfrm>
          <a:prstGeom prst="rect">
            <a:avLst/>
          </a:prstGeom>
        </p:spPr>
      </p:pic>
    </p:spTree>
    <p:extLst>
      <p:ext uri="{BB962C8B-B14F-4D97-AF65-F5344CB8AC3E}">
        <p14:creationId xmlns:p14="http://schemas.microsoft.com/office/powerpoint/2010/main" val="574836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2. QUI TRÌNH QUẢN LÝ THỜI GIAN </a:t>
            </a: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68288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958413" y="8636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78483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2. QUY TRÌNH QUẢN LÝ THỜI GIAN </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2123658"/>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time management</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20000"/>
              </a:spcBef>
            </a:pPr>
            <a:r>
              <a:rPr lang="en-US" sz="2000" i="1" dirty="0">
                <a:solidFill>
                  <a:schemeClr val="bg1"/>
                </a:solidFill>
                <a:latin typeface="Cambria" panose="02040503050406030204" pitchFamily="18" charset="0"/>
                <a:ea typeface="Cambria" panose="02040503050406030204" pitchFamily="18" charset="0"/>
              </a:rPr>
              <a:t>“The processes required to accomplish timely completion of the project”</a:t>
            </a:r>
          </a:p>
          <a:p>
            <a:pPr algn="r">
              <a:spcBef>
                <a:spcPct val="20000"/>
              </a:spcBef>
            </a:pP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C5F9D55-C61E-3350-F71E-41EE62480A56}"/>
              </a:ext>
            </a:extLst>
          </p:cNvPr>
          <p:cNvSpPr txBox="1"/>
          <p:nvPr/>
        </p:nvSpPr>
        <p:spPr>
          <a:xfrm>
            <a:off x="339355" y="776591"/>
            <a:ext cx="7409618" cy="2816156"/>
          </a:xfrm>
          <a:prstGeom prst="rect">
            <a:avLst/>
          </a:prstGeom>
          <a:noFill/>
        </p:spPr>
        <p:txBody>
          <a:bodyPr wrap="square">
            <a:spAutoFit/>
          </a:bodyPr>
          <a:lstStyle/>
          <a:p>
            <a:pPr algn="just">
              <a:spcAft>
                <a:spcPts val="600"/>
              </a:spcAft>
            </a:pPr>
            <a:r>
              <a:rPr lang="vi-VN" dirty="0">
                <a:latin typeface="Cambria" panose="02040503050406030204" pitchFamily="18" charset="0"/>
                <a:ea typeface="Cambria" panose="02040503050406030204" pitchFamily="18" charset="0"/>
              </a:rPr>
              <a:t>Quy trình lập lịch sẽ được thực hiện khi các công việc của dự án được xác định xong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cấu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rã</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chức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năng</a:t>
            </a:r>
            <a:r>
              <a:rPr lang="en-US" dirty="0">
                <a:latin typeface="Cambria" panose="02040503050406030204" pitchFamily="18" charset="0"/>
                <a:ea typeface="Cambria" panose="02040503050406030204" pitchFamily="18" charset="0"/>
              </a:rPr>
              <a:t> WBS, </a:t>
            </a:r>
            <a:r>
              <a:rPr lang="en-US" dirty="0" err="1">
                <a:latin typeface="Cambria" panose="02040503050406030204" pitchFamily="18" charset="0"/>
                <a:ea typeface="Cambria" panose="02040503050406030204" pitchFamily="18" charset="0"/>
              </a:rPr>
              <a:t>kích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nhân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cần</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thiết đã được xác định đầy đủ và rõ ràng.</a:t>
            </a:r>
          </a:p>
          <a:p>
            <a:pPr algn="just">
              <a:spcAft>
                <a:spcPts val="600"/>
              </a:spcAft>
            </a:pPr>
            <a:r>
              <a:rPr lang="vi-VN" dirty="0">
                <a:latin typeface="Cambria" panose="02040503050406030204" pitchFamily="18" charset="0"/>
                <a:ea typeface="Cambria" panose="02040503050406030204" pitchFamily="18" charset="0"/>
              </a:rPr>
              <a:t>Quy trình lập lịch hướng đến mục tiêu chính là </a:t>
            </a:r>
            <a:r>
              <a:rPr lang="en-US" dirty="0" err="1">
                <a:latin typeface="Cambria" panose="02040503050406030204" pitchFamily="18" charset="0"/>
                <a:ea typeface="Cambria" panose="02040503050406030204" pitchFamily="18" charset="0"/>
              </a:rPr>
              <a:t>tối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ưu</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thời gian, chi phí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triển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khai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chế</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vi-VN" dirty="0">
                <a:latin typeface="Cambria" panose="02040503050406030204" pitchFamily="18" charset="0"/>
                <a:ea typeface="Cambria" panose="02040503050406030204" pitchFamily="18" charset="0"/>
              </a:rPr>
              <a:t> rủi ro,</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và các mục tiêu thứ yếu khác như:</a:t>
            </a:r>
          </a:p>
          <a:p>
            <a:pPr marL="7429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Đưa ra được những lựa chọn khác của lịch thực hiện</a:t>
            </a:r>
            <a:r>
              <a:rPr lang="en-US" dirty="0">
                <a:latin typeface="Cambria" panose="02040503050406030204" pitchFamily="18" charset="0"/>
                <a:ea typeface="Cambria" panose="02040503050406030204" pitchFamily="18" charset="0"/>
              </a:rPr>
              <a:t> (backup plan)</a:t>
            </a:r>
            <a:endParaRPr lang="vi-VN" dirty="0">
              <a:latin typeface="Cambria" panose="02040503050406030204" pitchFamily="18" charset="0"/>
              <a:ea typeface="Cambria" panose="02040503050406030204" pitchFamily="18" charset="0"/>
            </a:endParaRPr>
          </a:p>
          <a:p>
            <a:pPr marL="7429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Sử dụng hiệu quả các tài nguyên nhất là tài nguyên con người.</a:t>
            </a:r>
          </a:p>
          <a:p>
            <a:pPr marL="742950" lvl="1" indent="-285750" algn="just">
              <a:spcAft>
                <a:spcPts val="300"/>
              </a:spcAft>
              <a:buClr>
                <a:schemeClr val="accent2">
                  <a:lumMod val="75000"/>
                </a:schemeClr>
              </a:buClr>
              <a:buFont typeface="Wingdings" panose="05000000000000000000" pitchFamily="2" charset="2"/>
              <a:buChar char="§"/>
            </a:pPr>
            <a:r>
              <a:rPr lang="vi-VN" dirty="0">
                <a:latin typeface="Cambria" panose="02040503050406030204" pitchFamily="18" charset="0"/>
                <a:ea typeface="Cambria" panose="02040503050406030204" pitchFamily="18" charset="0"/>
              </a:rPr>
              <a:t>Đảm bảo việc giao tiếp, truyền thông có thể thực hiện được để hỗ trợ quá trình làm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a:t>
            </a:r>
          </a:p>
        </p:txBody>
      </p:sp>
      <p:pic>
        <p:nvPicPr>
          <p:cNvPr id="8" name="Picture 7">
            <a:extLst>
              <a:ext uri="{FF2B5EF4-FFF2-40B4-BE49-F238E27FC236}">
                <a16:creationId xmlns:a16="http://schemas.microsoft.com/office/drawing/2014/main" id="{56C53127-0D87-877D-22F9-6B3DAB19AC14}"/>
              </a:ext>
            </a:extLst>
          </p:cNvPr>
          <p:cNvPicPr>
            <a:picLocks noChangeAspect="1"/>
          </p:cNvPicPr>
          <p:nvPr/>
        </p:nvPicPr>
        <p:blipFill>
          <a:blip r:embed="rId3"/>
          <a:stretch>
            <a:fillRect/>
          </a:stretch>
        </p:blipFill>
        <p:spPr>
          <a:xfrm>
            <a:off x="4831834" y="3871144"/>
            <a:ext cx="2917139" cy="2795451"/>
          </a:xfrm>
          <a:prstGeom prst="rect">
            <a:avLst/>
          </a:prstGeom>
        </p:spPr>
      </p:pic>
    </p:spTree>
    <p:extLst>
      <p:ext uri="{BB962C8B-B14F-4D97-AF65-F5344CB8AC3E}">
        <p14:creationId xmlns:p14="http://schemas.microsoft.com/office/powerpoint/2010/main" val="2063106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THỜI GIAN </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5632311"/>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Lập kế hoạch quản lý lịch trình</a:t>
            </a:r>
          </a:p>
          <a:p>
            <a:pPr algn="just"/>
            <a:r>
              <a:rPr lang="vi-VN" dirty="0">
                <a:latin typeface="Cambria" panose="02040503050406030204" pitchFamily="18" charset="0"/>
                <a:ea typeface="Cambria" panose="02040503050406030204" pitchFamily="18" charset="0"/>
              </a:rPr>
              <a:t>Là </a:t>
            </a:r>
            <a:r>
              <a:rPr lang="en-US" dirty="0" err="1">
                <a:latin typeface="Cambria" panose="02040503050406030204" pitchFamily="18" charset="0"/>
                <a:ea typeface="Cambria" panose="02040503050406030204" pitchFamily="18" charset="0"/>
              </a:rPr>
              <a:t>bước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thành lập các chính sách, thủ tục và tài liệu cho việc lập kế hoạch, phát triển, quản lý, thực thi và kiểm soát lịch trình dự án. Lợi ích của quy trình này là cung cấp hướng dẫn và định hướng về quản lý lịch trình trong suốt dự án.</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a:p>
            <a:pPr algn="just"/>
            <a:r>
              <a:rPr lang="vi-VN" b="1" dirty="0">
                <a:latin typeface="Cambria" panose="02040503050406030204" pitchFamily="18" charset="0"/>
                <a:ea typeface="Cambria" panose="02040503050406030204" pitchFamily="18" charset="0"/>
              </a:rPr>
              <a:t>Định nghĩa hoạt động</a:t>
            </a:r>
          </a:p>
          <a:p>
            <a:pPr algn="just"/>
            <a:r>
              <a:rPr lang="vi-VN" dirty="0">
                <a:latin typeface="Cambria" panose="02040503050406030204" pitchFamily="18" charset="0"/>
                <a:ea typeface="Cambria" panose="02040503050406030204" pitchFamily="18" charset="0"/>
              </a:rPr>
              <a:t>Là </a:t>
            </a:r>
            <a:r>
              <a:rPr lang="en-US" dirty="0" err="1">
                <a:latin typeface="Cambria" panose="02040503050406030204" pitchFamily="18" charset="0"/>
                <a:ea typeface="Cambria" panose="02040503050406030204" pitchFamily="18" charset="0"/>
              </a:rPr>
              <a:t>bước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xác định và lập tài liệu cho các hoạt động cụ thể nhằm tạo ra sản phẩm bàn giao. Lợi ích của </a:t>
            </a:r>
            <a:r>
              <a:rPr lang="en-US" dirty="0" err="1">
                <a:latin typeface="Cambria" panose="02040503050406030204" pitchFamily="18" charset="0"/>
                <a:ea typeface="Cambria" panose="02040503050406030204" pitchFamily="18" charset="0"/>
              </a:rPr>
              <a:t>bước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này là chia nhỏ các gói công việc trong WBS (một thành phần của đường cơ sở phạm vi – scope baseline) thành các hoạt động để làm cơ sở cho việc ước lượng, tạo lịch trình, thực thi, kiểm tra và giám sát công việc dự án.</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pic>
        <p:nvPicPr>
          <p:cNvPr id="2" name="Picture 1">
            <a:extLst>
              <a:ext uri="{FF2B5EF4-FFF2-40B4-BE49-F238E27FC236}">
                <a16:creationId xmlns:a16="http://schemas.microsoft.com/office/drawing/2014/main" id="{A276B5A6-C571-04BE-A4D4-DDEBA3F1B7C9}"/>
              </a:ext>
            </a:extLst>
          </p:cNvPr>
          <p:cNvPicPr>
            <a:picLocks noChangeAspect="1"/>
          </p:cNvPicPr>
          <p:nvPr/>
        </p:nvPicPr>
        <p:blipFill>
          <a:blip r:embed="rId2"/>
          <a:stretch>
            <a:fillRect/>
          </a:stretch>
        </p:blipFill>
        <p:spPr>
          <a:xfrm>
            <a:off x="4409059" y="801539"/>
            <a:ext cx="7398695" cy="4988559"/>
          </a:xfrm>
          <a:prstGeom prst="rect">
            <a:avLst/>
          </a:prstGeom>
        </p:spPr>
      </p:pic>
    </p:spTree>
    <p:extLst>
      <p:ext uri="{BB962C8B-B14F-4D97-AF65-F5344CB8AC3E}">
        <p14:creationId xmlns:p14="http://schemas.microsoft.com/office/powerpoint/2010/main" val="2441050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THỜI GIAN </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pic>
        <p:nvPicPr>
          <p:cNvPr id="2" name="Picture 1">
            <a:extLst>
              <a:ext uri="{FF2B5EF4-FFF2-40B4-BE49-F238E27FC236}">
                <a16:creationId xmlns:a16="http://schemas.microsoft.com/office/drawing/2014/main" id="{A276B5A6-C571-04BE-A4D4-DDEBA3F1B7C9}"/>
              </a:ext>
            </a:extLst>
          </p:cNvPr>
          <p:cNvPicPr>
            <a:picLocks noChangeAspect="1"/>
          </p:cNvPicPr>
          <p:nvPr/>
        </p:nvPicPr>
        <p:blipFill>
          <a:blip r:embed="rId2"/>
          <a:stretch>
            <a:fillRect/>
          </a:stretch>
        </p:blipFill>
        <p:spPr>
          <a:xfrm>
            <a:off x="4409059" y="801539"/>
            <a:ext cx="7398695" cy="4988559"/>
          </a:xfrm>
          <a:prstGeom prst="rect">
            <a:avLst/>
          </a:prstGeom>
        </p:spPr>
      </p:pic>
      <p:sp>
        <p:nvSpPr>
          <p:cNvPr id="7" name="TextBox 6">
            <a:extLst>
              <a:ext uri="{FF2B5EF4-FFF2-40B4-BE49-F238E27FC236}">
                <a16:creationId xmlns:a16="http://schemas.microsoft.com/office/drawing/2014/main" id="{B348C8A9-B47D-0185-5219-26057F6AA413}"/>
              </a:ext>
            </a:extLst>
          </p:cNvPr>
          <p:cNvSpPr txBox="1"/>
          <p:nvPr/>
        </p:nvSpPr>
        <p:spPr>
          <a:xfrm>
            <a:off x="341127" y="801539"/>
            <a:ext cx="3834633" cy="4801314"/>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Sắp xếp các hoạt động</a:t>
            </a:r>
          </a:p>
          <a:p>
            <a:pPr algn="just"/>
            <a:r>
              <a:rPr lang="vi-VN" dirty="0">
                <a:latin typeface="Cambria" panose="02040503050406030204" pitchFamily="18" charset="0"/>
                <a:ea typeface="Cambria" panose="02040503050406030204" pitchFamily="18" charset="0"/>
              </a:rPr>
              <a:t>Là </a:t>
            </a:r>
            <a:r>
              <a:rPr lang="en-US" dirty="0" err="1">
                <a:latin typeface="Cambria" panose="02040503050406030204" pitchFamily="18" charset="0"/>
                <a:ea typeface="Cambria" panose="02040503050406030204" pitchFamily="18" charset="0"/>
              </a:rPr>
              <a:t>bước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xác định và lập tài liệu các quan hệ giữa các hoạt động. Lợi ích của </a:t>
            </a:r>
            <a:r>
              <a:rPr lang="en-US" dirty="0" err="1">
                <a:latin typeface="Cambria" panose="02040503050406030204" pitchFamily="18" charset="0"/>
                <a:ea typeface="Cambria" panose="02040503050406030204" pitchFamily="18" charset="0"/>
              </a:rPr>
              <a:t>bước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này là xác định mối quan hệ luận lý giữa các công việc để đạt được hiệu suất cao nhất trong các ràng buộc của dự án.</a:t>
            </a:r>
          </a:p>
          <a:p>
            <a:pPr algn="just"/>
            <a:endParaRPr lang="en-US" b="1" dirty="0">
              <a:latin typeface="Cambria" panose="02040503050406030204" pitchFamily="18" charset="0"/>
              <a:ea typeface="Cambria" panose="02040503050406030204" pitchFamily="18" charset="0"/>
            </a:endParaRPr>
          </a:p>
          <a:p>
            <a:pPr algn="just"/>
            <a:r>
              <a:rPr lang="vi-VN" b="1" dirty="0">
                <a:latin typeface="Cambria" panose="02040503050406030204" pitchFamily="18" charset="0"/>
                <a:ea typeface="Cambria" panose="02040503050406030204" pitchFamily="18" charset="0"/>
              </a:rPr>
              <a:t>Ước lượng nguồn lực </a:t>
            </a:r>
            <a:endParaRPr lang="en-US" b="1"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Là </a:t>
            </a:r>
            <a:r>
              <a:rPr lang="en-US" dirty="0" err="1">
                <a:latin typeface="Cambria" panose="02040503050406030204" pitchFamily="18" charset="0"/>
                <a:ea typeface="Cambria" panose="02040503050406030204" pitchFamily="18" charset="0"/>
              </a:rPr>
              <a:t>bước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ước lượng loại và số lượng vật liệu, nhân lực, thiết bị hay các nguồn cung cấp cần thiết để thực thi hoạt động. Lợi ích của </a:t>
            </a:r>
            <a:r>
              <a:rPr lang="en-US" dirty="0" err="1">
                <a:latin typeface="Cambria" panose="02040503050406030204" pitchFamily="18" charset="0"/>
                <a:ea typeface="Cambria" panose="02040503050406030204" pitchFamily="18" charset="0"/>
              </a:rPr>
              <a:t>bước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này là xác định được loại, số lượng và đặc thù của nguồn lực cần có để hoàn thành hoạt động với chi phí chính xác và thời gian đã dự tính.</a:t>
            </a:r>
          </a:p>
        </p:txBody>
      </p:sp>
    </p:spTree>
    <p:extLst>
      <p:ext uri="{BB962C8B-B14F-4D97-AF65-F5344CB8AC3E}">
        <p14:creationId xmlns:p14="http://schemas.microsoft.com/office/powerpoint/2010/main" val="2907526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QUY TRÌNH QUẢN LÝ THỜI GIAN </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en-US" altLang="en-US" sz="1800" i="1" dirty="0">
                <a:solidFill>
                  <a:schemeClr val="bg1"/>
                </a:solidFill>
                <a:latin typeface="Cambria" panose="02040503050406030204" pitchFamily="18" charset="0"/>
                <a:ea typeface="Cambria" panose="02040503050406030204" pitchFamily="18" charset="0"/>
              </a:rPr>
              <a:t>“A temporary endeavor undertaken to create a unique product, service, or result “</a:t>
            </a:r>
          </a:p>
          <a:p>
            <a:pPr lvl="3" algn="r" eaLnBrk="1" hangingPunct="1">
              <a:spcBef>
                <a:spcPct val="20000"/>
              </a:spcBef>
              <a:buClr>
                <a:srgbClr val="005789"/>
              </a:buClr>
            </a:pPr>
            <a:r>
              <a:rPr lang="en-US" altLang="en-US" sz="1800" dirty="0">
                <a:solidFill>
                  <a:schemeClr val="bg1"/>
                </a:solidFill>
                <a:latin typeface="Cambria" panose="02040503050406030204" pitchFamily="18" charset="0"/>
                <a:ea typeface="Cambria" panose="02040503050406030204" pitchFamily="18" charset="0"/>
              </a:rPr>
              <a:t>	— </a:t>
            </a:r>
            <a:r>
              <a:rPr lang="en-US" altLang="en-US" sz="1800" i="1" dirty="0">
                <a:solidFill>
                  <a:schemeClr val="bg1"/>
                </a:solidFill>
                <a:latin typeface="Cambria" panose="02040503050406030204" pitchFamily="18" charset="0"/>
                <a:ea typeface="Cambria" panose="02040503050406030204" pitchFamily="18" charset="0"/>
              </a:rPr>
              <a:t>PMBOK</a:t>
            </a:r>
            <a:r>
              <a:rPr lang="en-US"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306DC6-8849-BE32-2579-C300395BDF0E}"/>
              </a:ext>
            </a:extLst>
          </p:cNvPr>
          <p:cNvSpPr txBox="1"/>
          <p:nvPr/>
        </p:nvSpPr>
        <p:spPr>
          <a:xfrm>
            <a:off x="339355" y="801539"/>
            <a:ext cx="3938005" cy="646331"/>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a:p>
            <a:pPr algn="l"/>
            <a:endParaRPr lang="vi-VN" b="0" i="0" dirty="0">
              <a:solidFill>
                <a:srgbClr val="3F3F3F"/>
              </a:solidFill>
              <a:effectLst/>
              <a:latin typeface="Open Sans" panose="020B0606030504020204" pitchFamily="34" charset="0"/>
            </a:endParaRPr>
          </a:p>
        </p:txBody>
      </p:sp>
      <p:pic>
        <p:nvPicPr>
          <p:cNvPr id="2" name="Picture 1">
            <a:extLst>
              <a:ext uri="{FF2B5EF4-FFF2-40B4-BE49-F238E27FC236}">
                <a16:creationId xmlns:a16="http://schemas.microsoft.com/office/drawing/2014/main" id="{A276B5A6-C571-04BE-A4D4-DDEBA3F1B7C9}"/>
              </a:ext>
            </a:extLst>
          </p:cNvPr>
          <p:cNvPicPr>
            <a:picLocks noChangeAspect="1"/>
          </p:cNvPicPr>
          <p:nvPr/>
        </p:nvPicPr>
        <p:blipFill>
          <a:blip r:embed="rId2"/>
          <a:stretch>
            <a:fillRect/>
          </a:stretch>
        </p:blipFill>
        <p:spPr>
          <a:xfrm>
            <a:off x="5222312" y="945573"/>
            <a:ext cx="6628561" cy="4469297"/>
          </a:xfrm>
          <a:prstGeom prst="rect">
            <a:avLst/>
          </a:prstGeom>
        </p:spPr>
      </p:pic>
      <p:sp>
        <p:nvSpPr>
          <p:cNvPr id="7" name="TextBox 6">
            <a:extLst>
              <a:ext uri="{FF2B5EF4-FFF2-40B4-BE49-F238E27FC236}">
                <a16:creationId xmlns:a16="http://schemas.microsoft.com/office/drawing/2014/main" id="{B348C8A9-B47D-0185-5219-26057F6AA413}"/>
              </a:ext>
            </a:extLst>
          </p:cNvPr>
          <p:cNvSpPr txBox="1"/>
          <p:nvPr/>
        </p:nvSpPr>
        <p:spPr>
          <a:xfrm>
            <a:off x="341127" y="801539"/>
            <a:ext cx="4774098" cy="5601533"/>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Ước lượng thời gian hoàn thành hoạt động</a:t>
            </a:r>
          </a:p>
          <a:p>
            <a:pPr algn="just"/>
            <a:r>
              <a:rPr lang="vi-VN" sz="1600" dirty="0">
                <a:latin typeface="Cambria" panose="02040503050406030204" pitchFamily="18" charset="0"/>
                <a:ea typeface="Cambria" panose="02040503050406030204" pitchFamily="18" charset="0"/>
              </a:rPr>
              <a:t>Là </a:t>
            </a:r>
            <a:r>
              <a:rPr lang="en-US" sz="1600" dirty="0" err="1">
                <a:latin typeface="Cambria" panose="02040503050406030204" pitchFamily="18" charset="0"/>
                <a:ea typeface="Cambria" panose="02040503050406030204" pitchFamily="18" charset="0"/>
              </a:rPr>
              <a:t>bước</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ước lượng thời gian cần để hoàn thành các hoạt động với nguồn lực đã dự tính. Lợi ích của </a:t>
            </a:r>
            <a:r>
              <a:rPr lang="en-US" sz="1600" dirty="0" err="1">
                <a:latin typeface="Cambria" panose="02040503050406030204" pitchFamily="18" charset="0"/>
                <a:ea typeface="Cambria" panose="02040503050406030204" pitchFamily="18" charset="0"/>
              </a:rPr>
              <a:t>bước</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này là cung cấp thời gian cần thiết để hoàn thành từng hoạt động và là đầu vào chính của quy trình tiếp theo.</a:t>
            </a:r>
            <a:endParaRPr lang="en-US" sz="1600" dirty="0">
              <a:latin typeface="Cambria" panose="02040503050406030204" pitchFamily="18" charset="0"/>
              <a:ea typeface="Cambria" panose="02040503050406030204" pitchFamily="18" charset="0"/>
            </a:endParaRPr>
          </a:p>
          <a:p>
            <a:pPr algn="just"/>
            <a:endParaRPr lang="vi-VN" sz="1600" dirty="0">
              <a:latin typeface="Cambria" panose="02040503050406030204" pitchFamily="18" charset="0"/>
              <a:ea typeface="Cambria" panose="02040503050406030204" pitchFamily="18" charset="0"/>
            </a:endParaRPr>
          </a:p>
          <a:p>
            <a:pPr algn="just"/>
            <a:r>
              <a:rPr lang="vi-VN" b="1" dirty="0">
                <a:latin typeface="Cambria" panose="02040503050406030204" pitchFamily="18" charset="0"/>
                <a:ea typeface="Cambria" panose="02040503050406030204" pitchFamily="18" charset="0"/>
              </a:rPr>
              <a:t>Phát triển lịch trình dự án</a:t>
            </a:r>
          </a:p>
          <a:p>
            <a:pPr algn="just"/>
            <a:r>
              <a:rPr lang="vi-VN" sz="1600" dirty="0">
                <a:latin typeface="Cambria" panose="02040503050406030204" pitchFamily="18" charset="0"/>
                <a:ea typeface="Cambria" panose="02040503050406030204" pitchFamily="18" charset="0"/>
              </a:rPr>
              <a:t>Là </a:t>
            </a:r>
            <a:r>
              <a:rPr lang="en-US" sz="1600" dirty="0" err="1">
                <a:latin typeface="Cambria" panose="02040503050406030204" pitchFamily="18" charset="0"/>
                <a:ea typeface="Cambria" panose="02040503050406030204" pitchFamily="18" charset="0"/>
              </a:rPr>
              <a:t>bước</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của việc phân tích thứ tự, thời gian, nguồn lực và ràng buộc các hoạt động để tạo ra lịch trình dự án. Lợi ích của </a:t>
            </a:r>
            <a:r>
              <a:rPr lang="en-US" sz="1600" dirty="0" err="1">
                <a:latin typeface="Cambria" panose="02040503050406030204" pitchFamily="18" charset="0"/>
                <a:ea typeface="Cambria" panose="02040503050406030204" pitchFamily="18" charset="0"/>
              </a:rPr>
              <a:t>bước</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này tạo ra đường cơ sở lịch trình dự án (Schedule baseline) hoàn chỉnh với ngày kết thúc dự tính cụ thể.</a:t>
            </a:r>
            <a:endParaRPr lang="en-US" sz="1600" dirty="0">
              <a:latin typeface="Cambria" panose="02040503050406030204" pitchFamily="18" charset="0"/>
              <a:ea typeface="Cambria" panose="02040503050406030204" pitchFamily="18" charset="0"/>
            </a:endParaRPr>
          </a:p>
          <a:p>
            <a:pPr algn="just"/>
            <a:endParaRPr lang="vi-VN" sz="1600" dirty="0">
              <a:latin typeface="Cambria" panose="02040503050406030204" pitchFamily="18" charset="0"/>
              <a:ea typeface="Cambria" panose="02040503050406030204" pitchFamily="18" charset="0"/>
            </a:endParaRPr>
          </a:p>
          <a:p>
            <a:pPr algn="just"/>
            <a:r>
              <a:rPr lang="vi-VN" b="1" dirty="0">
                <a:latin typeface="Cambria" panose="02040503050406030204" pitchFamily="18" charset="0"/>
                <a:ea typeface="Cambria" panose="02040503050406030204" pitchFamily="18" charset="0"/>
              </a:rPr>
              <a:t>Kiểm soát lịch trình dự án</a:t>
            </a:r>
          </a:p>
          <a:p>
            <a:pPr algn="just"/>
            <a:r>
              <a:rPr lang="vi-VN" sz="1600" dirty="0">
                <a:latin typeface="Cambria" panose="02040503050406030204" pitchFamily="18" charset="0"/>
                <a:ea typeface="Cambria" panose="02040503050406030204" pitchFamily="18" charset="0"/>
              </a:rPr>
              <a:t>Là </a:t>
            </a:r>
            <a:r>
              <a:rPr lang="en-US" sz="1600" dirty="0" err="1">
                <a:latin typeface="Cambria" panose="02040503050406030204" pitchFamily="18" charset="0"/>
                <a:ea typeface="Cambria" panose="02040503050406030204" pitchFamily="18" charset="0"/>
              </a:rPr>
              <a:t>bước</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của việc giám sát trạng thái của các hoạt động dự án nhằm cập nhật tiến độ dự án và quản lý các thay đổi liên quan đến đường cơ sở lịch trình dự án (Schedule baseline). Lợi ích của </a:t>
            </a:r>
            <a:r>
              <a:rPr lang="en-US" sz="1600" dirty="0" err="1">
                <a:latin typeface="Cambria" panose="02040503050406030204" pitchFamily="18" charset="0"/>
                <a:ea typeface="Cambria" panose="02040503050406030204" pitchFamily="18" charset="0"/>
              </a:rPr>
              <a:t>bước</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này là nhận diện các sai biệt so với kế hoạch và đưa ra hành động sửa sai và ngăn ngừa nhằm giảm thiểu rủi ro dự án trượt kế hoạch.</a:t>
            </a:r>
          </a:p>
        </p:txBody>
      </p:sp>
    </p:spTree>
    <p:extLst>
      <p:ext uri="{BB962C8B-B14F-4D97-AF65-F5344CB8AC3E}">
        <p14:creationId xmlns:p14="http://schemas.microsoft.com/office/powerpoint/2010/main" val="1510710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3. CÁC KỸ THUẬT LẬP LỊCH CÔNG VIỆC</a:t>
            </a: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86799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3.  CÁC KỸ THUẬT LẬP LỊCH CÔNG VIỆC </a:t>
            </a:r>
          </a:p>
        </p:txBody>
      </p:sp>
      <p:sp>
        <p:nvSpPr>
          <p:cNvPr id="4" name="TextBox 3">
            <a:extLst>
              <a:ext uri="{FF2B5EF4-FFF2-40B4-BE49-F238E27FC236}">
                <a16:creationId xmlns:a16="http://schemas.microsoft.com/office/drawing/2014/main" id="{F17B2001-CA8C-70EA-0637-325BE64AB4BE}"/>
              </a:ext>
            </a:extLst>
          </p:cNvPr>
          <p:cNvSpPr txBox="1"/>
          <p:nvPr/>
        </p:nvSpPr>
        <p:spPr>
          <a:xfrm>
            <a:off x="337582" y="784286"/>
            <a:ext cx="7492711" cy="3877985"/>
          </a:xfrm>
          <a:prstGeom prst="rect">
            <a:avLst/>
          </a:prstGeom>
          <a:noFill/>
        </p:spPr>
        <p:txBody>
          <a:bodyPr wrap="square">
            <a:spAutoFit/>
          </a:bodyPr>
          <a:lstStyle/>
          <a:p>
            <a:pPr algn="just"/>
            <a:r>
              <a:rPr lang="en-US" b="1" dirty="0" err="1">
                <a:latin typeface="Cambria" panose="02040503050406030204" pitchFamily="18" charset="0"/>
                <a:ea typeface="Cambria" panose="02040503050406030204" pitchFamily="18" charset="0"/>
              </a:rPr>
              <a:t>Các</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kỹ</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thuật</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chính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yếu</a:t>
            </a:r>
            <a:endParaRPr lang="en-US" b="1"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Nhóm kỹ thuật dùng phân tích toán học: dựa trên dạng sơ đồ mạng, gồm:</a:t>
            </a:r>
          </a:p>
          <a:p>
            <a:pPr marL="568325" lvl="1" indent="-285750" algn="just">
              <a:spcAft>
                <a:spcPts val="300"/>
              </a:spcAft>
              <a:buClr>
                <a:schemeClr val="accent2">
                  <a:lumMod val="75000"/>
                </a:schemeClr>
              </a:buClr>
              <a:buFont typeface="Courier New" panose="02070309020205020404" pitchFamily="49" charset="0"/>
              <a:buChar char="o"/>
            </a:pPr>
            <a:r>
              <a:rPr lang="vi-VN" dirty="0">
                <a:solidFill>
                  <a:schemeClr val="tx1">
                    <a:lumMod val="65000"/>
                    <a:lumOff val="35000"/>
                  </a:schemeClr>
                </a:solidFill>
                <a:latin typeface="Cambria" panose="02040503050406030204" pitchFamily="18" charset="0"/>
                <a:ea typeface="Cambria" panose="02040503050406030204" pitchFamily="18" charset="0"/>
              </a:rPr>
              <a:t>PERT (Program Evaluation and Review Technique): đánh giá chương trình tính</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vi-VN" dirty="0">
                <a:solidFill>
                  <a:schemeClr val="tx1">
                    <a:lumMod val="65000"/>
                    <a:lumOff val="35000"/>
                  </a:schemeClr>
                </a:solidFill>
                <a:latin typeface="Cambria" panose="02040503050406030204" pitchFamily="18" charset="0"/>
                <a:ea typeface="Cambria" panose="02040503050406030204" pitchFamily="18" charset="0"/>
              </a:rPr>
              <a:t>toán tối ưu.</a:t>
            </a:r>
          </a:p>
          <a:p>
            <a:pPr marL="568325" lvl="1" indent="-285750" algn="just">
              <a:spcAft>
                <a:spcPts val="300"/>
              </a:spcAft>
              <a:buClr>
                <a:schemeClr val="accent2">
                  <a:lumMod val="75000"/>
                </a:schemeClr>
              </a:buClr>
              <a:buFont typeface="Courier New" panose="02070309020205020404" pitchFamily="49" charset="0"/>
              <a:buChar char="o"/>
            </a:pPr>
            <a:r>
              <a:rPr lang="en-US" dirty="0">
                <a:solidFill>
                  <a:schemeClr val="tx1">
                    <a:lumMod val="65000"/>
                    <a:lumOff val="35000"/>
                  </a:schemeClr>
                </a:solidFill>
                <a:latin typeface="Cambria" panose="02040503050406030204" pitchFamily="18" charset="0"/>
                <a:ea typeface="Cambria" panose="02040503050406030204" pitchFamily="18" charset="0"/>
              </a:rPr>
              <a:t>CPM (Critical Path Method): </a:t>
            </a:r>
            <a:r>
              <a:rPr lang="en-US" dirty="0" err="1">
                <a:solidFill>
                  <a:schemeClr val="tx1">
                    <a:lumMod val="65000"/>
                    <a:lumOff val="35000"/>
                  </a:schemeClr>
                </a:solidFill>
                <a:latin typeface="Cambria" panose="02040503050406030204" pitchFamily="18" charset="0"/>
                <a:ea typeface="Cambria" panose="02040503050406030204" pitchFamily="18" charset="0"/>
              </a:rPr>
              <a:t>xác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định</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các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chuỗi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công</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việc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có</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độ</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rủi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ro</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cao</a:t>
            </a:r>
            <a:r>
              <a:rPr lang="en-US" dirty="0">
                <a:solidFill>
                  <a:schemeClr val="tx1">
                    <a:lumMod val="65000"/>
                    <a:lumOff val="35000"/>
                  </a:schemeClr>
                </a:solidFill>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Nhóm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kỹ</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thuật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dùng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biểu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đồ</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thanh</a:t>
            </a:r>
            <a:r>
              <a:rPr lang="en-US" dirty="0">
                <a:latin typeface="Cambria" panose="02040503050406030204" pitchFamily="18" charset="0"/>
                <a:ea typeface="Cambria" panose="02040503050406030204" pitchFamily="18" charset="0"/>
              </a:rPr>
              <a:t> (Bar Charts): bao </a:t>
            </a:r>
            <a:r>
              <a:rPr lang="en-US" dirty="0" err="1">
                <a:latin typeface="Cambria" panose="02040503050406030204" pitchFamily="18" charset="0"/>
                <a:ea typeface="Cambria" panose="02040503050406030204" pitchFamily="18" charset="0"/>
              </a:rPr>
              <a:t>gồm</a:t>
            </a:r>
            <a:r>
              <a:rPr lang="en-US" dirty="0">
                <a:latin typeface="Cambria" panose="02040503050406030204" pitchFamily="18" charset="0"/>
                <a:ea typeface="Cambria" panose="02040503050406030204" pitchFamily="18" charset="0"/>
              </a:rPr>
              <a:t>:</a:t>
            </a:r>
          </a:p>
          <a:p>
            <a:pPr marL="568325" lvl="1" indent="-285750" algn="just">
              <a:spcAft>
                <a:spcPts val="300"/>
              </a:spcAft>
              <a:buClr>
                <a:schemeClr val="accent2">
                  <a:lumMod val="75000"/>
                </a:schemeClr>
              </a:buClr>
              <a:buFont typeface="Courier New" panose="02070309020205020404" pitchFamily="49" charset="0"/>
              <a:buChar char="o"/>
            </a:pPr>
            <a:r>
              <a:rPr lang="en-US" dirty="0" err="1">
                <a:solidFill>
                  <a:schemeClr val="tx1">
                    <a:lumMod val="65000"/>
                    <a:lumOff val="35000"/>
                  </a:schemeClr>
                </a:solidFill>
                <a:latin typeface="Cambria" panose="02040503050406030204" pitchFamily="18" charset="0"/>
                <a:ea typeface="Cambria" panose="02040503050406030204" pitchFamily="18" charset="0"/>
              </a:rPr>
              <a:t>Biểu</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đồ</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Mốc</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thời</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gian</a:t>
            </a:r>
            <a:r>
              <a:rPr lang="en-US" dirty="0">
                <a:solidFill>
                  <a:schemeClr val="tx1">
                    <a:lumMod val="65000"/>
                    <a:lumOff val="35000"/>
                  </a:schemeClr>
                </a:solidFill>
                <a:latin typeface="Cambria" panose="02040503050406030204" pitchFamily="18" charset="0"/>
                <a:ea typeface="Cambria" panose="02040503050406030204" pitchFamily="18" charset="0"/>
              </a:rPr>
              <a:t> (Milestone Chart).</a:t>
            </a:r>
          </a:p>
          <a:p>
            <a:pPr marL="568325" lvl="1" indent="-285750" algn="just">
              <a:spcAft>
                <a:spcPts val="300"/>
              </a:spcAft>
              <a:buClr>
                <a:schemeClr val="accent2">
                  <a:lumMod val="75000"/>
                </a:schemeClr>
              </a:buClr>
              <a:buFont typeface="Courier New" panose="02070309020205020404" pitchFamily="49" charset="0"/>
              <a:buChar char="o"/>
            </a:pPr>
            <a:r>
              <a:rPr lang="en-US" dirty="0" err="1">
                <a:solidFill>
                  <a:schemeClr val="tx1">
                    <a:lumMod val="65000"/>
                    <a:lumOff val="35000"/>
                  </a:schemeClr>
                </a:solidFill>
                <a:latin typeface="Cambria" panose="02040503050406030204" pitchFamily="18" charset="0"/>
                <a:ea typeface="Cambria" panose="02040503050406030204" pitchFamily="18" charset="0"/>
              </a:rPr>
              <a:t>Biểu</a:t>
            </a:r>
            <a:r>
              <a:rPr lang="en-US" dirty="0">
                <a:solidFill>
                  <a:schemeClr val="tx1">
                    <a:lumMod val="65000"/>
                    <a:lumOff val="35000"/>
                  </a:schemeClr>
                </a:solidFill>
                <a:latin typeface="Cambria" panose="02040503050406030204" pitchFamily="18" charset="0"/>
                <a:ea typeface="Cambria" panose="02040503050406030204" pitchFamily="18" charset="0"/>
              </a:rPr>
              <a:t> </a:t>
            </a:r>
            <a:r>
              <a:rPr lang="en-US" dirty="0" err="1">
                <a:solidFill>
                  <a:schemeClr val="tx1">
                    <a:lumMod val="65000"/>
                    <a:lumOff val="35000"/>
                  </a:schemeClr>
                </a:solidFill>
                <a:latin typeface="Cambria" panose="02040503050406030204" pitchFamily="18" charset="0"/>
                <a:ea typeface="Cambria" panose="02040503050406030204" pitchFamily="18" charset="0"/>
              </a:rPr>
              <a:t>đồ</a:t>
            </a:r>
            <a:r>
              <a:rPr lang="en-US" dirty="0">
                <a:solidFill>
                  <a:schemeClr val="tx1">
                    <a:lumMod val="65000"/>
                    <a:lumOff val="35000"/>
                  </a:schemeClr>
                </a:solidFill>
                <a:latin typeface="Cambria" panose="02040503050406030204" pitchFamily="18" charset="0"/>
                <a:ea typeface="Cambria" panose="02040503050406030204" pitchFamily="18" charset="0"/>
              </a:rPr>
              <a:t> Gantt (Gantt Chart).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Phương pháp sơ đồ mạng giúp trực quan hoá các luồng công việc và mối quan 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giữa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chúng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giúp</a:t>
            </a:r>
            <a:r>
              <a:rPr lang="en-US" dirty="0">
                <a:latin typeface="Cambria" panose="02040503050406030204" pitchFamily="18" charset="0"/>
                <a:ea typeface="Cambria" panose="02040503050406030204" pitchFamily="18" charset="0"/>
              </a:rPr>
              <a:t> ta </a:t>
            </a:r>
            <a:r>
              <a:rPr lang="en-US" dirty="0" err="1">
                <a:latin typeface="Cambria" panose="02040503050406030204" pitchFamily="18" charset="0"/>
                <a:ea typeface="Cambria" panose="02040503050406030204" pitchFamily="18" charset="0"/>
              </a:rPr>
              <a:t>dễ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nhớ</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soát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dụng</a:t>
            </a: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450066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11536623" cy="5416868"/>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Sơ đồ Mạng</a:t>
            </a:r>
            <a:endParaRPr lang="en-US" b="1"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Phương pháp sơ đồ mạng giúp trực quan hoá các luồng công việc và mối quan 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giữa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chúng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giúp</a:t>
            </a:r>
            <a:r>
              <a:rPr lang="en-US" dirty="0">
                <a:latin typeface="Cambria" panose="02040503050406030204" pitchFamily="18" charset="0"/>
                <a:ea typeface="Cambria" panose="02040503050406030204" pitchFamily="18" charset="0"/>
              </a:rPr>
              <a:t> ta </a:t>
            </a:r>
            <a:r>
              <a:rPr lang="en-US" dirty="0" err="1">
                <a:latin typeface="Cambria" panose="02040503050406030204" pitchFamily="18" charset="0"/>
                <a:ea typeface="Cambria" panose="02040503050406030204" pitchFamily="18" charset="0"/>
              </a:rPr>
              <a:t>dễ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nhớ</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soát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dụng</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Sơ đồ mạng gồm nút mạng và đường kết nối các nút mạng với nhau, gồm:</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dấu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Mỗi công việc của dự án được gán nhãn với:</a:t>
            </a:r>
          </a:p>
          <a:p>
            <a:pPr marL="568325" lvl="1" indent="-285750" algn="just">
              <a:spcAft>
                <a:spcPts val="300"/>
              </a:spcAft>
              <a:buClr>
                <a:schemeClr val="accent2">
                  <a:lumMod val="75000"/>
                </a:schemeClr>
              </a:buClr>
              <a:buFont typeface="Courier New" panose="02070309020205020404" pitchFamily="49" charset="0"/>
              <a:buChar char="o"/>
            </a:pPr>
            <a:r>
              <a:rPr lang="vi-VN" dirty="0">
                <a:solidFill>
                  <a:schemeClr val="tx1">
                    <a:lumMod val="65000"/>
                    <a:lumOff val="35000"/>
                  </a:schemeClr>
                </a:solidFill>
                <a:latin typeface="Cambria" panose="02040503050406030204" pitchFamily="18" charset="0"/>
                <a:ea typeface="Cambria" panose="02040503050406030204" pitchFamily="18" charset="0"/>
              </a:rPr>
              <a:t>Một định danh, thường sử dụng một chữ cái/mã (ví dụ việc A, B, C…)</a:t>
            </a:r>
          </a:p>
          <a:p>
            <a:pPr marL="568325" lvl="1" indent="-285750" algn="just">
              <a:spcAft>
                <a:spcPts val="300"/>
              </a:spcAft>
              <a:buClr>
                <a:schemeClr val="accent2">
                  <a:lumMod val="75000"/>
                </a:schemeClr>
              </a:buClr>
              <a:buFont typeface="Courier New" panose="02070309020205020404" pitchFamily="49" charset="0"/>
              <a:buChar char="o"/>
            </a:pPr>
            <a:r>
              <a:rPr lang="vi-VN" dirty="0">
                <a:solidFill>
                  <a:schemeClr val="tx1">
                    <a:lumMod val="65000"/>
                    <a:lumOff val="35000"/>
                  </a:schemeClr>
                </a:solidFill>
                <a:latin typeface="Cambria" panose="02040503050406030204" pitchFamily="18" charset="0"/>
                <a:ea typeface="Cambria" panose="02040503050406030204" pitchFamily="18" charset="0"/>
              </a:rPr>
              <a:t>Khoảng thời gian thực hiện, theo một đơn vị chuẩn (như số giờ, ngày …)</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Quy ước thời gian tăng dần từ trái sang phải (ví dụ việc B nằm bên phải việc A và</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nối nhau, thì B được thực hiện sau A, hay A được thực hiện trước B).</a:t>
            </a:r>
          </a:p>
          <a:p>
            <a:pPr algn="l"/>
            <a:r>
              <a:rPr lang="vi-VN" i="1" dirty="0">
                <a:latin typeface="Cambria" panose="02040503050406030204" pitchFamily="18" charset="0"/>
                <a:ea typeface="Cambria" panose="02040503050406030204" pitchFamily="18" charset="0"/>
              </a:rPr>
              <a:t>Dựa trên vị trí đặt các hành động, sơ đồ mạng được chia theo các loại sau:</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Loại</a:t>
            </a:r>
            <a:r>
              <a:rPr lang="en-US" dirty="0">
                <a:latin typeface="Cambria" panose="02040503050406030204" pitchFamily="18" charset="0"/>
                <a:ea typeface="Cambria" panose="02040503050406030204" pitchFamily="18" charset="0"/>
              </a:rPr>
              <a:t> AOA (Activity On Arrow):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hành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đặt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mũi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nối giữa các nút mạng, các vòng tròn thể hiện các sự kiện (như “start” hoặc “end”</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của một nhiệm vụ nào đó), các đường nối thể hiện các nhiệm vụ hay công việc cần</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thực hiện của dự án (như công việc được hoàn thành “Build UI”). Loại này còn được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gọi là phương pháp biểu đồ mũi tên Arrow Diagramming Method (ADM).</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Loại AON (Activity On Node): có đặc điểm là hành động đặt trong nút của sơ đồ,</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trong đó các nút có thể là hình tròn hoặc chữ nhật (thường là chữ nhật), thông tin</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về nhiệm vụ được viết trong nút, các mũi tên chỉ sự phụ thuộc giữa các nhiệm vụ.</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Loại này còn gọi là phương pháp lược đồ liền trước Precedence Diagramming Method</a:t>
            </a:r>
            <a:r>
              <a:rPr lang="en-US" dirty="0">
                <a:latin typeface="Cambria" panose="02040503050406030204" pitchFamily="18" charset="0"/>
                <a:ea typeface="Cambria" panose="02040503050406030204" pitchFamily="18" charset="0"/>
              </a:rPr>
              <a:t> (PDM).</a:t>
            </a:r>
          </a:p>
        </p:txBody>
      </p:sp>
    </p:spTree>
    <p:extLst>
      <p:ext uri="{BB962C8B-B14F-4D97-AF65-F5344CB8AC3E}">
        <p14:creationId xmlns:p14="http://schemas.microsoft.com/office/powerpoint/2010/main" val="923964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6C212EE6-B091-48CB-B2A9-56CDC3D2EEAA}"/>
              </a:ext>
            </a:extLst>
          </p:cNvPr>
          <p:cNvPicPr>
            <a:picLocks noChangeAspect="1"/>
          </p:cNvPicPr>
          <p:nvPr/>
        </p:nvPicPr>
        <p:blipFill>
          <a:blip r:embed="rId2"/>
          <a:stretch>
            <a:fillRect/>
          </a:stretch>
        </p:blipFill>
        <p:spPr>
          <a:xfrm>
            <a:off x="6495731" y="890733"/>
            <a:ext cx="5498982" cy="4896712"/>
          </a:xfrm>
          <a:prstGeom prst="rect">
            <a:avLst/>
          </a:prstGeom>
        </p:spPr>
      </p:pic>
      <p:sp>
        <p:nvSpPr>
          <p:cNvPr id="9" name="TextBox 8">
            <a:extLst>
              <a:ext uri="{FF2B5EF4-FFF2-40B4-BE49-F238E27FC236}">
                <a16:creationId xmlns:a16="http://schemas.microsoft.com/office/drawing/2014/main" id="{216EA459-1FD2-3490-DC69-F85F0FC1B9F2}"/>
              </a:ext>
            </a:extLst>
          </p:cNvPr>
          <p:cNvSpPr txBox="1"/>
          <p:nvPr/>
        </p:nvSpPr>
        <p:spPr>
          <a:xfrm>
            <a:off x="339354" y="886103"/>
            <a:ext cx="5756646" cy="4901342"/>
          </a:xfrm>
          <a:prstGeom prst="rect">
            <a:avLst/>
          </a:prstGeom>
          <a:noFill/>
        </p:spPr>
        <p:txBody>
          <a:bodyPr wrap="square">
            <a:spAutoFit/>
          </a:bodyPr>
          <a:lstStyle/>
          <a:p>
            <a:pPr algn="just"/>
            <a:r>
              <a:rPr lang="vi-VN" sz="1700" dirty="0">
                <a:latin typeface="Cambria" panose="02040503050406030204" pitchFamily="18" charset="0"/>
                <a:ea typeface="Cambria" panose="02040503050406030204" pitchFamily="18" charset="0"/>
              </a:rPr>
              <a:t>Mô tả các dạng sơ đồ mạng và thể hiện gán nhãn cho một nút trong mạng được thể</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ví</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dụ</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trong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hình</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trong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đó</a:t>
            </a:r>
            <a:r>
              <a:rPr lang="en-US" sz="1700"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a:latin typeface="Cambria" panose="02040503050406030204" pitchFamily="18" charset="0"/>
                <a:ea typeface="Cambria" panose="02040503050406030204" pitchFamily="18" charset="0"/>
              </a:rPr>
              <a:t>Design UI (</a:t>
            </a:r>
            <a:r>
              <a:rPr lang="en-US" sz="1700" dirty="0" err="1">
                <a:latin typeface="Cambria" panose="02040503050406030204" pitchFamily="18" charset="0"/>
                <a:ea typeface="Cambria" panose="02040503050406030204" pitchFamily="18" charset="0"/>
              </a:rPr>
              <a:t>Thiết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kế</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giao</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diện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và</a:t>
            </a:r>
            <a:r>
              <a:rPr lang="en-US" sz="1700" dirty="0">
                <a:latin typeface="Cambria" panose="02040503050406030204" pitchFamily="18" charset="0"/>
                <a:ea typeface="Cambria" panose="02040503050406030204" pitchFamily="18" charset="0"/>
              </a:rPr>
              <a:t> Build UI (</a:t>
            </a:r>
            <a:r>
              <a:rPr lang="en-US" sz="1700" dirty="0" err="1">
                <a:latin typeface="Cambria" panose="02040503050406030204" pitchFamily="18" charset="0"/>
                <a:ea typeface="Cambria" panose="02040503050406030204" pitchFamily="18" charset="0"/>
              </a:rPr>
              <a:t>xây</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dựng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giao</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diện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là</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tên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của</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hai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việc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trong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dự</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án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đang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xét</a:t>
            </a:r>
            <a:r>
              <a:rPr lang="en-US" sz="1700"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a:latin typeface="Cambria" panose="02040503050406030204" pitchFamily="18" charset="0"/>
                <a:ea typeface="Cambria" panose="02040503050406030204" pitchFamily="18" charset="0"/>
              </a:rPr>
              <a:t>Early Start (ES): </a:t>
            </a:r>
            <a:r>
              <a:rPr lang="en-US" sz="1700" dirty="0" err="1">
                <a:latin typeface="Cambria" panose="02040503050406030204" pitchFamily="18" charset="0"/>
                <a:ea typeface="Cambria" panose="02040503050406030204" pitchFamily="18" charset="0"/>
              </a:rPr>
              <a:t>thời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điểm</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sớm</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nhất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có</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thể</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bắt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đầu</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thực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việc</a:t>
            </a:r>
            <a:endParaRPr lang="en-US" sz="1700"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a:latin typeface="Cambria" panose="02040503050406030204" pitchFamily="18" charset="0"/>
                <a:ea typeface="Cambria" panose="02040503050406030204" pitchFamily="18" charset="0"/>
              </a:rPr>
              <a:t>Early Finish (EF): </a:t>
            </a:r>
            <a:r>
              <a:rPr lang="en-US" sz="1700" dirty="0" err="1">
                <a:latin typeface="Cambria" panose="02040503050406030204" pitchFamily="18" charset="0"/>
                <a:ea typeface="Cambria" panose="02040503050406030204" pitchFamily="18" charset="0"/>
              </a:rPr>
              <a:t>thời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điểm</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sớm</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nhất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có</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thể</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kết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thúc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thực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việc</a:t>
            </a:r>
            <a:endParaRPr lang="en-US" sz="1700"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a:latin typeface="Cambria" panose="02040503050406030204" pitchFamily="18" charset="0"/>
                <a:ea typeface="Cambria" panose="02040503050406030204" pitchFamily="18" charset="0"/>
              </a:rPr>
              <a:t>Late Start (LS): </a:t>
            </a:r>
            <a:r>
              <a:rPr lang="en-US" sz="1700" dirty="0" err="1">
                <a:latin typeface="Cambria" panose="02040503050406030204" pitchFamily="18" charset="0"/>
                <a:ea typeface="Cambria" panose="02040503050406030204" pitchFamily="18" charset="0"/>
              </a:rPr>
              <a:t>thời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điểm</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muộn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nhất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có</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thể</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bắt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đầu</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thực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việc</a:t>
            </a:r>
            <a:endParaRPr lang="en-US" sz="1700"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a:latin typeface="Cambria" panose="02040503050406030204" pitchFamily="18" charset="0"/>
                <a:ea typeface="Cambria" panose="02040503050406030204" pitchFamily="18" charset="0"/>
              </a:rPr>
              <a:t>Late Finish (LF): </a:t>
            </a:r>
            <a:r>
              <a:rPr lang="en-US" sz="1700" dirty="0" err="1">
                <a:latin typeface="Cambria" panose="02040503050406030204" pitchFamily="18" charset="0"/>
                <a:ea typeface="Cambria" panose="02040503050406030204" pitchFamily="18" charset="0"/>
              </a:rPr>
              <a:t>thời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điểm</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muộn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nhất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có</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thể</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kết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thúc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thực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việc</a:t>
            </a:r>
            <a:endParaRPr lang="en-US" sz="1700"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a:latin typeface="Cambria" panose="02040503050406030204" pitchFamily="18" charset="0"/>
                <a:ea typeface="Cambria" panose="02040503050406030204" pitchFamily="18" charset="0"/>
              </a:rPr>
              <a:t>Duration: </a:t>
            </a:r>
            <a:r>
              <a:rPr lang="en-US" sz="1700" dirty="0" err="1">
                <a:latin typeface="Cambria" panose="02040503050406030204" pitchFamily="18" charset="0"/>
                <a:ea typeface="Cambria" panose="02040503050406030204" pitchFamily="18" charset="0"/>
              </a:rPr>
              <a:t>khoảng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thời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gian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thực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việc</a:t>
            </a:r>
            <a:endParaRPr lang="en-US" sz="1700"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a:latin typeface="Cambria" panose="02040503050406030204" pitchFamily="18" charset="0"/>
                <a:ea typeface="Cambria" panose="02040503050406030204" pitchFamily="18" charset="0"/>
              </a:rPr>
              <a:t>Task Name: </a:t>
            </a:r>
            <a:r>
              <a:rPr lang="en-US" sz="1700" dirty="0" err="1">
                <a:latin typeface="Cambria" panose="02040503050406030204" pitchFamily="18" charset="0"/>
                <a:ea typeface="Cambria" panose="02040503050406030204" pitchFamily="18" charset="0"/>
              </a:rPr>
              <a:t>tên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của</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việc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đang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xét</a:t>
            </a:r>
            <a:endParaRPr lang="en-US" sz="1700"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a:latin typeface="Cambria" panose="02040503050406030204" pitchFamily="18" charset="0"/>
                <a:ea typeface="Cambria" panose="02040503050406030204" pitchFamily="18" charset="0"/>
              </a:rPr>
              <a:t>Slack: </a:t>
            </a:r>
            <a:r>
              <a:rPr lang="en-US" sz="1700" dirty="0" err="1">
                <a:latin typeface="Cambria" panose="02040503050406030204" pitchFamily="18" charset="0"/>
                <a:ea typeface="Cambria" panose="02040503050406030204" pitchFamily="18" charset="0"/>
              </a:rPr>
              <a:t>thời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gian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trễ</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có</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thể</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của</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việc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thực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việc</a:t>
            </a:r>
            <a:endParaRPr lang="en-US" sz="1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53152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11536623" cy="3685624"/>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Sơ đồ Mạng</a:t>
            </a:r>
            <a:endParaRPr lang="en-US" b="1" dirty="0">
              <a:latin typeface="Cambria" panose="02040503050406030204" pitchFamily="18" charset="0"/>
              <a:ea typeface="Cambria" panose="02040503050406030204" pitchFamily="18" charset="0"/>
            </a:endParaRPr>
          </a:p>
          <a:p>
            <a:pPr algn="just"/>
            <a:r>
              <a:rPr lang="vi-VN" i="1" dirty="0">
                <a:solidFill>
                  <a:schemeClr val="accent6">
                    <a:lumMod val="75000"/>
                  </a:schemeClr>
                </a:solidFill>
                <a:latin typeface="Cambria" panose="02040503050406030204" pitchFamily="18" charset="0"/>
                <a:ea typeface="Cambria" panose="02040503050406030204" pitchFamily="18" charset="0"/>
              </a:rPr>
              <a:t>Ưu điểm của sơ đồ mạng</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700" dirty="0">
                <a:latin typeface="Cambria" panose="02040503050406030204" pitchFamily="18" charset="0"/>
                <a:ea typeface="Cambria" panose="02040503050406030204" pitchFamily="18" charset="0"/>
              </a:rPr>
              <a:t>Thể hiện thứ tự trước sau rõ ràng.</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err="1">
                <a:latin typeface="Cambria" panose="02040503050406030204" pitchFamily="18" charset="0"/>
                <a:ea typeface="Cambria" panose="02040503050406030204" pitchFamily="18" charset="0"/>
              </a:rPr>
              <a:t>Thể</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sự</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phụ</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thuộc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lẫn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nhau</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mà</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các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kỹ</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thuật</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khác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không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có</a:t>
            </a:r>
            <a:r>
              <a:rPr lang="en-US" sz="1700"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700" dirty="0">
                <a:latin typeface="Cambria" panose="02040503050406030204" pitchFamily="18" charset="0"/>
                <a:ea typeface="Cambria" panose="02040503050406030204" pitchFamily="18" charset="0"/>
              </a:rPr>
              <a:t>Khả năng tính đường thiết yếu.</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err="1">
                <a:latin typeface="Cambria" panose="02040503050406030204" pitchFamily="18" charset="0"/>
                <a:ea typeface="Cambria" panose="02040503050406030204" pitchFamily="18" charset="0"/>
              </a:rPr>
              <a:t>Khả</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năng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thực</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hiện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luyện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tập</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tình</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huống</a:t>
            </a:r>
            <a:r>
              <a:rPr lang="en-US" sz="1700" dirty="0">
                <a:latin typeface="Cambria" panose="02040503050406030204" pitchFamily="18" charset="0"/>
                <a:ea typeface="Cambria" panose="02040503050406030204" pitchFamily="18" charset="0"/>
              </a:rPr>
              <a:t>.</a:t>
            </a:r>
          </a:p>
          <a:p>
            <a:pPr algn="l"/>
            <a:endParaRPr lang="en-US" sz="1800" b="0" i="0" u="none" strike="noStrike" baseline="0" dirty="0">
              <a:latin typeface="CIDFont+F1"/>
            </a:endParaRPr>
          </a:p>
          <a:p>
            <a:pPr algn="just"/>
            <a:r>
              <a:rPr lang="vi-VN" i="1" dirty="0">
                <a:solidFill>
                  <a:schemeClr val="accent6">
                    <a:lumMod val="75000"/>
                  </a:schemeClr>
                </a:solidFill>
                <a:latin typeface="Cambria" panose="02040503050406030204" pitchFamily="18" charset="0"/>
                <a:ea typeface="Cambria" panose="02040503050406030204" pitchFamily="18" charset="0"/>
              </a:rPr>
              <a:t>Nhược điểm của sơ đồ mạng</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err="1">
                <a:latin typeface="Cambria" panose="02040503050406030204" pitchFamily="18" charset="0"/>
                <a:ea typeface="Cambria" panose="02040503050406030204" pitchFamily="18" charset="0"/>
              </a:rPr>
              <a:t>Mô</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hình</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ngầm</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định</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là</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tài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nguyên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không</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hạn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chế</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cần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tính</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toán</a:t>
            </a:r>
            <a:r>
              <a:rPr lang="en-US" sz="1700" dirty="0">
                <a:latin typeface="Cambria" panose="02040503050406030204" pitchFamily="18" charset="0"/>
                <a:ea typeface="Cambria" panose="02040503050406030204" pitchFamily="18" charset="0"/>
              </a:rPr>
              <a:t> chi </a:t>
            </a:r>
            <a:r>
              <a:rPr lang="en-US" sz="1700" dirty="0" err="1">
                <a:latin typeface="Cambria" panose="02040503050406030204" pitchFamily="18" charset="0"/>
                <a:ea typeface="Cambria" panose="02040503050406030204" pitchFamily="18" charset="0"/>
              </a:rPr>
              <a:t>tiết</a:t>
            </a:r>
            <a:r>
              <a:rPr lang="en-US" sz="1700" dirty="0">
                <a:latin typeface="Cambria" panose="02040503050406030204" pitchFamily="18" charset="0"/>
                <a:ea typeface="Cambria" panose="02040503050406030204" pitchFamily="18" charset="0"/>
              </a:rPr>
              <a:t> </a:t>
            </a:r>
            <a:r>
              <a:rPr lang="vi-VN" sz="1700" dirty="0">
                <a:latin typeface="Cambria" panose="02040503050406030204" pitchFamily="18" charset="0"/>
                <a:ea typeface="Cambria" panose="02040503050406030204" pitchFamily="18" charset="0"/>
              </a:rPr>
              <a:t>những sự phụ thuộc về tài nguyên khi xác định đường thiết yếu thực sự.</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sz="1700" dirty="0" err="1">
                <a:latin typeface="Cambria" panose="02040503050406030204" pitchFamily="18" charset="0"/>
                <a:ea typeface="Cambria" panose="02040503050406030204" pitchFamily="18" charset="0"/>
              </a:rPr>
              <a:t>Khó</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theo</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dõi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với</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dự</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án</a:t>
            </a:r>
            <a:r>
              <a:rPr lang="en-US" sz="1700" dirty="0">
                <a:latin typeface="Cambria" panose="02040503050406030204" pitchFamily="18" charset="0"/>
                <a:ea typeface="Cambria" panose="02040503050406030204" pitchFamily="18" charset="0"/>
              </a:rPr>
              <a:t> </a:t>
            </a:r>
            <a:r>
              <a:rPr lang="en-US" sz="1700" dirty="0" err="1">
                <a:latin typeface="Cambria" panose="02040503050406030204" pitchFamily="18" charset="0"/>
                <a:ea typeface="Cambria" panose="02040503050406030204" pitchFamily="18" charset="0"/>
              </a:rPr>
              <a:t>lớn</a:t>
            </a:r>
            <a:r>
              <a:rPr lang="en-US" sz="17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941034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11536623" cy="3008516"/>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Sơ đồ Mạng</a:t>
            </a:r>
            <a:endParaRPr lang="en-US" b="1" dirty="0">
              <a:latin typeface="Cambria" panose="02040503050406030204" pitchFamily="18" charset="0"/>
              <a:ea typeface="Cambria" panose="02040503050406030204" pitchFamily="18" charset="0"/>
            </a:endParaRPr>
          </a:p>
          <a:p>
            <a:pPr algn="just"/>
            <a:r>
              <a:rPr lang="vi-VN" sz="1600" dirty="0">
                <a:latin typeface="Cambria" panose="02040503050406030204" pitchFamily="18" charset="0"/>
                <a:ea typeface="Cambria" panose="02040503050406030204" pitchFamily="18" charset="0"/>
              </a:rPr>
              <a:t>Phương pháp Đường Thiết yếu là một trong những kỹ thuật thuộc nhóm sơ đồ mạng.</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Phương pháp này còn được gọi là Đường Găng trong PERT, hay Critical Path trong CPM. Một số khái niệm và nhận định về phương pháp này gồm:</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Đường Thiết yếu là “một chuỗi các công việc cụ thể liên tiếp nhau quyết định thời</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gian hoàn thành dự án”, còn gọi là “đường đầy đủ dài nhất” – là đường đi qua hết</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tất cả công việc thuộc đường cốt yếu này thì dự án mới có thể hoàn thành được. Một</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số công việc có thể được thực hiện song song với các công việc nằm trên đường này</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nên độ dài của đường chính là tổng số thời gian ít nhất cần để hoàn thành dự án.</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Tất cả các dự án đều có đường thiết yếu.</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Tăng tốc độ hoàn tất các công việc trên đường thiết yếu sẽ trực tiếp rút ngắn thời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gian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hoàn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thành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Tăng tốc độ hoàn tất các công việc không thuộc đường thiết yếu sẽ không rút ngắn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thời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gian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hoàn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thành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a:t>
            </a:r>
          </a:p>
        </p:txBody>
      </p:sp>
      <p:sp>
        <p:nvSpPr>
          <p:cNvPr id="3" name="TextBox 2">
            <a:extLst>
              <a:ext uri="{FF2B5EF4-FFF2-40B4-BE49-F238E27FC236}">
                <a16:creationId xmlns:a16="http://schemas.microsoft.com/office/drawing/2014/main" id="{F2D528E3-F19D-871F-E07F-C68F875B38B3}"/>
              </a:ext>
            </a:extLst>
          </p:cNvPr>
          <p:cNvSpPr txBox="1"/>
          <p:nvPr/>
        </p:nvSpPr>
        <p:spPr>
          <a:xfrm>
            <a:off x="339354" y="3864968"/>
            <a:ext cx="3521446" cy="2554545"/>
          </a:xfrm>
          <a:prstGeom prst="rect">
            <a:avLst/>
          </a:prstGeom>
          <a:noFill/>
        </p:spPr>
        <p:txBody>
          <a:bodyPr wrap="square">
            <a:spAutoFit/>
          </a:bodyPr>
          <a:lstStyle/>
          <a:p>
            <a:pPr algn="just"/>
            <a:r>
              <a:rPr lang="vi-VN" sz="1600" dirty="0">
                <a:latin typeface="Cambria" panose="02040503050406030204" pitchFamily="18" charset="0"/>
                <a:ea typeface="Cambria" panose="02040503050406030204" pitchFamily="18" charset="0"/>
              </a:rPr>
              <a:t>Ví dụ: đường thiết yếu ở hình 3.4 là chuỗi ABCE. Trong đó, tổng thời gian nhỏ nhất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cần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để</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thực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hiện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3 (A) + 2(B) + 2(C) + 4 (E) + 2(I) = 13. </a:t>
            </a: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việc</a:t>
            </a:r>
            <a:r>
              <a:rPr lang="en-US" sz="1600" dirty="0">
                <a:latin typeface="Cambria" panose="02040503050406030204" pitchFamily="18" charset="0"/>
                <a:ea typeface="Cambria" panose="02040503050406030204" pitchFamily="18" charset="0"/>
              </a:rPr>
              <a:t> G, </a:t>
            </a:r>
            <a:r>
              <a:rPr lang="vi-VN" sz="1600" dirty="0">
                <a:latin typeface="Cambria" panose="02040503050406030204" pitchFamily="18" charset="0"/>
                <a:ea typeface="Cambria" panose="02040503050406030204" pitchFamily="18" charset="0"/>
              </a:rPr>
              <a:t>H, D, F có thể được thực hiện trong khi thực hiện B, C, E mà không ảnh hưởng gì đến</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độ dài của đường thiết yếu. Khi thay đổi thời gian thực hiện công việc B, C, E thì có thể</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đường thiết yếu của dự án sẽ thay đổi</a:t>
            </a:r>
            <a:endParaRPr lang="en-US" sz="1600"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D827DD82-B03B-6457-FC89-5B4ABC5A2380}"/>
              </a:ext>
            </a:extLst>
          </p:cNvPr>
          <p:cNvPicPr>
            <a:picLocks noChangeAspect="1"/>
          </p:cNvPicPr>
          <p:nvPr/>
        </p:nvPicPr>
        <p:blipFill>
          <a:blip r:embed="rId2"/>
          <a:stretch>
            <a:fillRect/>
          </a:stretch>
        </p:blipFill>
        <p:spPr>
          <a:xfrm>
            <a:off x="3942081" y="3847392"/>
            <a:ext cx="8249920" cy="2325900"/>
          </a:xfrm>
          <a:prstGeom prst="rect">
            <a:avLst/>
          </a:prstGeom>
        </p:spPr>
      </p:pic>
    </p:spTree>
    <p:extLst>
      <p:ext uri="{BB962C8B-B14F-4D97-AF65-F5344CB8AC3E}">
        <p14:creationId xmlns:p14="http://schemas.microsoft.com/office/powerpoint/2010/main" val="2441600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11536623" cy="3008516"/>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Sơ đồ Mạng</a:t>
            </a:r>
            <a:endParaRPr lang="en-US" b="1" dirty="0">
              <a:latin typeface="Cambria" panose="02040503050406030204" pitchFamily="18" charset="0"/>
              <a:ea typeface="Cambria" panose="02040503050406030204" pitchFamily="18" charset="0"/>
            </a:endParaRPr>
          </a:p>
          <a:p>
            <a:pPr algn="just"/>
            <a:r>
              <a:rPr lang="vi-VN" sz="1600" dirty="0">
                <a:latin typeface="Cambria" panose="02040503050406030204" pitchFamily="18" charset="0"/>
                <a:ea typeface="Cambria" panose="02040503050406030204" pitchFamily="18" charset="0"/>
              </a:rPr>
              <a:t>Phương pháp Đường Thiết yếu là một trong những kỹ thuật thuộc nhóm sơ đồ mạng.</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Phương pháp này còn được gọi là Đường Găng trong PERT, hay Critical Path trong CPM. Một số khái niệm và nhận định về phương pháp này gồm:</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Đường Thiết yếu là “một chuỗi các công việc cụ thể liên tiếp nhau quyết định thời</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gian hoàn thành dự án”, còn gọi là “đường đầy đủ dài nhất” – là đường đi qua hết</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tất cả công việc thuộc đường cốt yếu này thì dự án mới có thể hoàn thành được. Một</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số công việc có thể được thực hiện song song với các công việc nằm trên đường này</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nên độ dài của đường chính là tổng số thời gian ít nhất cần để hoàn thành dự án.</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Tất cả các dự án đều có đường thiết yếu.</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Tăng tốc độ hoàn tất các công việc trên đường thiết yếu sẽ trực tiếp rút ngắn thời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gian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hoàn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thành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Tăng tốc độ hoàn tất các công việc không thuộc đường thiết yếu sẽ không rút ngắn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thời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gian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hoàn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thành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a:t>
            </a:r>
          </a:p>
        </p:txBody>
      </p:sp>
      <p:sp>
        <p:nvSpPr>
          <p:cNvPr id="3" name="TextBox 2">
            <a:extLst>
              <a:ext uri="{FF2B5EF4-FFF2-40B4-BE49-F238E27FC236}">
                <a16:creationId xmlns:a16="http://schemas.microsoft.com/office/drawing/2014/main" id="{F2D528E3-F19D-871F-E07F-C68F875B38B3}"/>
              </a:ext>
            </a:extLst>
          </p:cNvPr>
          <p:cNvSpPr txBox="1"/>
          <p:nvPr/>
        </p:nvSpPr>
        <p:spPr>
          <a:xfrm>
            <a:off x="339354" y="3864968"/>
            <a:ext cx="3521446" cy="2554545"/>
          </a:xfrm>
          <a:prstGeom prst="rect">
            <a:avLst/>
          </a:prstGeom>
          <a:noFill/>
        </p:spPr>
        <p:txBody>
          <a:bodyPr wrap="square">
            <a:spAutoFit/>
          </a:bodyPr>
          <a:lstStyle/>
          <a:p>
            <a:pPr algn="just"/>
            <a:r>
              <a:rPr lang="vi-VN" sz="1600" dirty="0">
                <a:latin typeface="Cambria" panose="02040503050406030204" pitchFamily="18" charset="0"/>
                <a:ea typeface="Cambria" panose="02040503050406030204" pitchFamily="18" charset="0"/>
              </a:rPr>
              <a:t>Ví dụ: đường thiết yếu ở hình 3.4 là chuỗi ABCE. Trong đó, tổng thời gian nhỏ nhất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cần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để</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thực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hiện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3 (A) + 2(B) + 2(C) + 4 (E) + 2(I) = 13. </a:t>
            </a: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việc</a:t>
            </a:r>
            <a:r>
              <a:rPr lang="en-US" sz="1600" dirty="0">
                <a:latin typeface="Cambria" panose="02040503050406030204" pitchFamily="18" charset="0"/>
                <a:ea typeface="Cambria" panose="02040503050406030204" pitchFamily="18" charset="0"/>
              </a:rPr>
              <a:t> G, </a:t>
            </a:r>
            <a:r>
              <a:rPr lang="vi-VN" sz="1600" dirty="0">
                <a:latin typeface="Cambria" panose="02040503050406030204" pitchFamily="18" charset="0"/>
                <a:ea typeface="Cambria" panose="02040503050406030204" pitchFamily="18" charset="0"/>
              </a:rPr>
              <a:t>H, D, F có thể được thực hiện trong khi thực hiện B, C, E mà không ảnh hưởng gì đến</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độ dài của đường thiết yếu. Khi thay đổi thời gian thực hiện công việc B, C, E thì có thể</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đường thiết yếu của dự án sẽ thay đổi</a:t>
            </a:r>
            <a:endParaRPr lang="en-US" sz="1600"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D827DD82-B03B-6457-FC89-5B4ABC5A2380}"/>
              </a:ext>
            </a:extLst>
          </p:cNvPr>
          <p:cNvPicPr>
            <a:picLocks noChangeAspect="1"/>
          </p:cNvPicPr>
          <p:nvPr/>
        </p:nvPicPr>
        <p:blipFill>
          <a:blip r:embed="rId2"/>
          <a:stretch>
            <a:fillRect/>
          </a:stretch>
        </p:blipFill>
        <p:spPr>
          <a:xfrm>
            <a:off x="3942081" y="3847392"/>
            <a:ext cx="8249920" cy="2325900"/>
          </a:xfrm>
          <a:prstGeom prst="rect">
            <a:avLst/>
          </a:prstGeom>
        </p:spPr>
      </p:pic>
    </p:spTree>
    <p:extLst>
      <p:ext uri="{BB962C8B-B14F-4D97-AF65-F5344CB8AC3E}">
        <p14:creationId xmlns:p14="http://schemas.microsoft.com/office/powerpoint/2010/main" val="545060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4525513" cy="5393784"/>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Sơ đồ Mạng</a:t>
            </a:r>
            <a:endParaRPr lang="en-US" b="1" dirty="0">
              <a:latin typeface="Cambria" panose="02040503050406030204" pitchFamily="18" charset="0"/>
              <a:ea typeface="Cambria" panose="02040503050406030204" pitchFamily="18" charset="0"/>
            </a:endParaRPr>
          </a:p>
          <a:p>
            <a:pPr algn="just"/>
            <a:r>
              <a:rPr lang="vi-VN" sz="1600" dirty="0">
                <a:latin typeface="Cambria" panose="02040503050406030204" pitchFamily="18" charset="0"/>
                <a:ea typeface="Cambria" panose="02040503050406030204" pitchFamily="18" charset="0"/>
              </a:rPr>
              <a:t>Phương pháp đường thiết yếu là quá trình xác định và tối ưu đường thiết yếu của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một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Các công việc không thiết yếu có thể bắt đầu sớm hơn hoặc muộn hơn mà không</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ảnh hưởng tới thời gian hoàn thành dự án.</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Đường thiết yếu có thể thay đổi khi bạn làm ngắn đường thiết yếu hiện tại bằng</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cách </a:t>
            </a:r>
            <a:r>
              <a:rPr lang="en-US" sz="1600" dirty="0" err="1">
                <a:latin typeface="Cambria" panose="02040503050406030204" pitchFamily="18" charset="0"/>
                <a:ea typeface="Cambria" panose="02040503050406030204" pitchFamily="18" charset="0"/>
              </a:rPr>
              <a:t>tối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ưu</a:t>
            </a:r>
            <a:r>
              <a:rPr lang="vi-VN" sz="1600" dirty="0">
                <a:latin typeface="Cambria" panose="02040503050406030204" pitchFamily="18" charset="0"/>
                <a:ea typeface="Cambria" panose="02040503050406030204" pitchFamily="18" charset="0"/>
              </a:rPr>
              <a:t> của một số công việc nằm trên đường hiện tại.</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sz="1600" dirty="0">
                <a:latin typeface="Cambria" panose="02040503050406030204" pitchFamily="18" charset="0"/>
                <a:ea typeface="Cambria" panose="02040503050406030204" pitchFamily="18" charset="0"/>
              </a:rPr>
              <a:t>Nên thực hiện cùng với người quản lý theo chức năng của tổ chức hay công ty để</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lập lịch theo phương pháp này.</a:t>
            </a:r>
          </a:p>
          <a:p>
            <a:pPr algn="just"/>
            <a:r>
              <a:rPr lang="en-US" sz="1600" dirty="0" err="1">
                <a:latin typeface="Cambria" panose="02040503050406030204" pitchFamily="18" charset="0"/>
                <a:ea typeface="Cambria" panose="02040503050406030204" pitchFamily="18" charset="0"/>
              </a:rPr>
              <a:t>Xét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một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ví</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dụ</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để</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mô</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tả</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cách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lập</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lịch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thực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hiện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việc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của</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một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công việc của dự án được mô tả trong sơ đồ mạng, mỗi nút được thể hiện bằng Phương</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pháp gán nhãn. Các công việc được gán nhãn với tên công việc, khoảng thời gian cần</a:t>
            </a:r>
            <a:r>
              <a:rPr lang="en-US" sz="1600" dirty="0">
                <a:latin typeface="Cambria" panose="02040503050406030204" pitchFamily="18" charset="0"/>
                <a:ea typeface="Cambria" panose="02040503050406030204" pitchFamily="18" charset="0"/>
              </a:rPr>
              <a:t> </a:t>
            </a:r>
            <a:r>
              <a:rPr lang="vi-VN" sz="1600" dirty="0">
                <a:latin typeface="Cambria" panose="02040503050406030204" pitchFamily="18" charset="0"/>
                <a:ea typeface="Cambria" panose="02040503050406030204" pitchFamily="18" charset="0"/>
              </a:rPr>
              <a:t>thiết để thực hiện công việc đó. </a:t>
            </a:r>
            <a:r>
              <a:rPr lang="vi-VN" sz="1600" i="1" dirty="0">
                <a:solidFill>
                  <a:schemeClr val="accent6">
                    <a:lumMod val="75000"/>
                  </a:schemeClr>
                </a:solidFill>
                <a:latin typeface="Cambria" panose="02040503050406030204" pitchFamily="18" charset="0"/>
                <a:ea typeface="Cambria" panose="02040503050406030204" pitchFamily="18" charset="0"/>
              </a:rPr>
              <a:t>Trật tự thực hiện các công việc cũng được xác định</a:t>
            </a:r>
            <a:r>
              <a:rPr lang="en-US" sz="1600" i="1" dirty="0">
                <a:solidFill>
                  <a:schemeClr val="accent6">
                    <a:lumMod val="75000"/>
                  </a:schemeClr>
                </a:solidFill>
                <a:latin typeface="Cambria" panose="02040503050406030204" pitchFamily="18" charset="0"/>
                <a:ea typeface="Cambria" panose="02040503050406030204" pitchFamily="18" charset="0"/>
              </a:rPr>
              <a:t> </a:t>
            </a:r>
            <a:r>
              <a:rPr lang="vi-VN" sz="1600" i="1" dirty="0">
                <a:solidFill>
                  <a:schemeClr val="accent6">
                    <a:lumMod val="75000"/>
                  </a:schemeClr>
                </a:solidFill>
                <a:latin typeface="Cambria" panose="02040503050406030204" pitchFamily="18" charset="0"/>
                <a:ea typeface="Cambria" panose="02040503050406030204" pitchFamily="18" charset="0"/>
              </a:rPr>
              <a:t>trước quá trình gán nhãn đầy đủ, như hình</a:t>
            </a:r>
            <a:r>
              <a:rPr lang="en-US" sz="1600" i="1" dirty="0">
                <a:solidFill>
                  <a:schemeClr val="accent6">
                    <a:lumMod val="75000"/>
                  </a:schemeClr>
                </a:solidFill>
                <a:latin typeface="Cambria" panose="02040503050406030204" pitchFamily="18" charset="0"/>
                <a:ea typeface="Cambria" panose="02040503050406030204" pitchFamily="18" charset="0"/>
              </a:rPr>
              <a:t> </a:t>
            </a:r>
            <a:r>
              <a:rPr lang="en-US" sz="1600" i="1" dirty="0" err="1">
                <a:solidFill>
                  <a:schemeClr val="accent6">
                    <a:lumMod val="75000"/>
                  </a:schemeClr>
                </a:solidFill>
                <a:latin typeface="Cambria" panose="02040503050406030204" pitchFamily="18" charset="0"/>
                <a:ea typeface="Cambria" panose="02040503050406030204" pitchFamily="18" charset="0"/>
              </a:rPr>
              <a:t>bên</a:t>
            </a:r>
            <a:r>
              <a:rPr lang="en-US" sz="1600" i="1" dirty="0">
                <a:solidFill>
                  <a:schemeClr val="accent6">
                    <a:lumMod val="75000"/>
                  </a:schemeClr>
                </a:solidFill>
                <a:latin typeface="Cambria" panose="02040503050406030204" pitchFamily="18" charset="0"/>
                <a:ea typeface="Cambria" panose="02040503050406030204" pitchFamily="18" charset="0"/>
              </a:rPr>
              <a:t>. </a:t>
            </a:r>
          </a:p>
        </p:txBody>
      </p:sp>
      <p:pic>
        <p:nvPicPr>
          <p:cNvPr id="8" name="Picture 7">
            <a:extLst>
              <a:ext uri="{FF2B5EF4-FFF2-40B4-BE49-F238E27FC236}">
                <a16:creationId xmlns:a16="http://schemas.microsoft.com/office/drawing/2014/main" id="{765B6195-8ACD-67E5-85C8-6E47EDB10589}"/>
              </a:ext>
            </a:extLst>
          </p:cNvPr>
          <p:cNvPicPr>
            <a:picLocks noChangeAspect="1"/>
          </p:cNvPicPr>
          <p:nvPr/>
        </p:nvPicPr>
        <p:blipFill>
          <a:blip r:embed="rId2"/>
          <a:stretch>
            <a:fillRect/>
          </a:stretch>
        </p:blipFill>
        <p:spPr>
          <a:xfrm>
            <a:off x="5010480" y="978611"/>
            <a:ext cx="6984233" cy="3118422"/>
          </a:xfrm>
          <a:prstGeom prst="rect">
            <a:avLst/>
          </a:prstGeom>
        </p:spPr>
      </p:pic>
    </p:spTree>
    <p:extLst>
      <p:ext uri="{BB962C8B-B14F-4D97-AF65-F5344CB8AC3E}">
        <p14:creationId xmlns:p14="http://schemas.microsoft.com/office/powerpoint/2010/main" val="507945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E255C49-D044-CFE3-73EA-98D69F7BF01F}"/>
              </a:ext>
            </a:extLst>
          </p:cNvPr>
          <p:cNvPicPr>
            <a:picLocks noChangeAspect="1"/>
          </p:cNvPicPr>
          <p:nvPr/>
        </p:nvPicPr>
        <p:blipFill>
          <a:blip r:embed="rId2"/>
          <a:stretch>
            <a:fillRect/>
          </a:stretch>
        </p:blipFill>
        <p:spPr>
          <a:xfrm>
            <a:off x="423418" y="2990901"/>
            <a:ext cx="9716856" cy="3410426"/>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11536623" cy="2585323"/>
          </a:xfrm>
          <a:prstGeom prst="rect">
            <a:avLst/>
          </a:prstGeom>
          <a:noFill/>
        </p:spPr>
        <p:txBody>
          <a:bodyPr wrap="square">
            <a:spAutoFit/>
          </a:bodyPr>
          <a:lstStyle/>
          <a:p>
            <a:pPr algn="just"/>
            <a:r>
              <a:rPr lang="en-US" altLang="en-US" b="1" dirty="0" err="1">
                <a:latin typeface="Cambria" panose="02040503050406030204" pitchFamily="18" charset="0"/>
                <a:ea typeface="Cambria" panose="02040503050406030204" pitchFamily="18" charset="0"/>
              </a:rPr>
              <a:t>Sơ</a:t>
            </a:r>
            <a:r>
              <a:rPr lang="en-US" altLang="en-US" b="1" dirty="0">
                <a:latin typeface="Cambria" panose="02040503050406030204" pitchFamily="18" charset="0"/>
                <a:ea typeface="Cambria" panose="02040503050406030204" pitchFamily="18" charset="0"/>
              </a:rPr>
              <a:t> </a:t>
            </a:r>
            <a:r>
              <a:rPr lang="en-US" altLang="en-US" b="1" dirty="0" err="1">
                <a:latin typeface="Cambria" panose="02040503050406030204" pitchFamily="18" charset="0"/>
                <a:ea typeface="Cambria" panose="02040503050406030204" pitchFamily="18" charset="0"/>
              </a:rPr>
              <a:t>đồ</a:t>
            </a:r>
            <a:r>
              <a:rPr lang="en-US" altLang="en-US" b="1" dirty="0">
                <a:latin typeface="Cambria" panose="02040503050406030204" pitchFamily="18" charset="0"/>
                <a:ea typeface="Cambria" panose="02040503050406030204" pitchFamily="18" charset="0"/>
              </a:rPr>
              <a:t> PERT </a:t>
            </a:r>
          </a:p>
          <a:p>
            <a:pPr algn="just"/>
            <a:r>
              <a:rPr lang="vi-VN" dirty="0">
                <a:latin typeface="Cambria" panose="02040503050406030204" pitchFamily="18" charset="0"/>
                <a:ea typeface="Cambria" panose="02040503050406030204" pitchFamily="18" charset="0"/>
              </a:rPr>
              <a:t>"PERT" là viết tắt của "Program Evaluation and Review Technique" trong tiếng Anh, tạm dịch là "Kỹ thuật đánh giá và xem xét chương trình." PERT là một phương pháp quản lý dự án được sử dụng để xác định và lập kế hoạch cho các hoạt động dự án một cách hiệu quả. Phương pháp này thường được sử dụng để ước tính thời gian cần thiết để hoàn thành một dự án và xác định các công việc cần thực hiện theo trình tự nào.</a:t>
            </a:r>
          </a:p>
          <a:p>
            <a:pPr algn="just"/>
            <a:r>
              <a:rPr lang="vi-VN" dirty="0">
                <a:latin typeface="Cambria" panose="02040503050406030204" pitchFamily="18" charset="0"/>
                <a:ea typeface="Cambria" panose="02040503050406030204" pitchFamily="18" charset="0"/>
              </a:rPr>
              <a:t>Trong PERT, các công việc được biểu diễn bằng các mạng lưới (network) hoặc biểu đồ PERT để thể hiện </a:t>
            </a:r>
            <a:r>
              <a:rPr lang="vi-VN" i="1" dirty="0">
                <a:solidFill>
                  <a:schemeClr val="accent6">
                    <a:lumMod val="75000"/>
                  </a:schemeClr>
                </a:solidFill>
                <a:latin typeface="Cambria" panose="02040503050406030204" pitchFamily="18" charset="0"/>
                <a:ea typeface="Cambria" panose="02040503050406030204" pitchFamily="18" charset="0"/>
              </a:rPr>
              <a:t>sự phụ thuộc giữa các công việc và thời gian dự kiến hoàn thành. PERT thường sử dụng ba thời gian ước tính cho mỗi công việc: thời gian tối thiểu, thời gian trung bình và thời gian tối đa, để tạo ra một ước tính thời gian dự kiến chính xác hơn.</a:t>
            </a:r>
          </a:p>
          <a:p>
            <a:pPr algn="just"/>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24340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4EC7F6-FCAE-C82E-1071-C6E4E432384D}"/>
              </a:ext>
            </a:extLst>
          </p:cNvPr>
          <p:cNvPicPr>
            <a:picLocks noChangeAspect="1"/>
          </p:cNvPicPr>
          <p:nvPr/>
        </p:nvPicPr>
        <p:blipFill>
          <a:blip r:embed="rId2"/>
          <a:stretch>
            <a:fillRect/>
          </a:stretch>
        </p:blipFill>
        <p:spPr>
          <a:xfrm>
            <a:off x="5110180" y="2677569"/>
            <a:ext cx="6884533" cy="3681249"/>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11536623" cy="2031325"/>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Đường găng (Critical Path)</a:t>
            </a:r>
            <a:endParaRPr lang="en-US" b="1"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CPM (Critical Path Method) là tên gọi của phương pháp đường dẫn cơ sở, tiếng Việt là "kỹ thuật đường găng", là loại kỹ thuật phân tích mạng tiến độ, công cụ quan trọng để quản lý dự án có hiệu quả. CPM là một kỹ thuật trong đó bạn xác định các nhiệm vụ cần thiết để hoàn thành dự án và xác định tính linh hoạt của việc lập lịch trình</a:t>
            </a:r>
            <a:endParaRPr lang="en-US" dirty="0">
              <a:latin typeface="Cambria" panose="02040503050406030204" pitchFamily="18" charset="0"/>
              <a:ea typeface="Cambria" panose="02040503050406030204" pitchFamily="18" charset="0"/>
            </a:endParaRPr>
          </a:p>
          <a:p>
            <a:pPr algn="just"/>
            <a:r>
              <a:rPr lang="vi-VN" dirty="0">
                <a:latin typeface="Cambria" panose="02040503050406030204" pitchFamily="18" charset="0"/>
                <a:ea typeface="Cambria" panose="02040503050406030204" pitchFamily="18" charset="0"/>
              </a:rPr>
              <a:t>Các công việc dọc theo đường găng được gọi là các công việc then chốt (Critical Task). Đó là các công việc cần ưu tiên hoàn thành trong dự án, không thể bị trì hoãn hoặc chậm trễ.</a:t>
            </a:r>
          </a:p>
          <a:p>
            <a:pPr algn="just"/>
            <a:r>
              <a:rPr lang="vi-VN" dirty="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44950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3074F9-CD98-CF9C-B1A2-1C0991E814FA}"/>
              </a:ext>
            </a:extLst>
          </p:cNvPr>
          <p:cNvPicPr>
            <a:picLocks noChangeAspect="1"/>
          </p:cNvPicPr>
          <p:nvPr/>
        </p:nvPicPr>
        <p:blipFill>
          <a:blip r:embed="rId2"/>
          <a:stretch>
            <a:fillRect/>
          </a:stretch>
        </p:blipFill>
        <p:spPr>
          <a:xfrm>
            <a:off x="611711" y="2984551"/>
            <a:ext cx="7292769" cy="3374267"/>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645041"/>
            <a:ext cx="11536623" cy="2339102"/>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Thuật toán Tính Theo Hướng Truyền Tới (Forward)</a:t>
            </a:r>
            <a:endParaRPr lang="en-US"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Thuật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toán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này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định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sớm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(ES)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sớm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(EF)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Tính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toán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trị</a:t>
            </a:r>
            <a:r>
              <a:rPr lang="en-US" dirty="0">
                <a:latin typeface="Cambria" panose="02040503050406030204" pitchFamily="18" charset="0"/>
                <a:ea typeface="Cambria" panose="02040503050406030204" pitchFamily="18" charset="0"/>
              </a:rPr>
              <a:t> ES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EF </a:t>
            </a:r>
            <a:r>
              <a:rPr lang="en-US" dirty="0" err="1">
                <a:latin typeface="Cambria" panose="02040503050406030204" pitchFamily="18" charset="0"/>
                <a:ea typeface="Cambria" panose="02040503050406030204" pitchFamily="18" charset="0"/>
              </a:rPr>
              <a:t>từ</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tiến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dần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đến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cuối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cùng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theo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thức</a:t>
            </a:r>
            <a:r>
              <a:rPr lang="en-US" dirty="0">
                <a:latin typeface="Cambria" panose="02040503050406030204" pitchFamily="18" charset="0"/>
                <a:ea typeface="Cambria" panose="02040503050406030204" pitchFamily="18" charset="0"/>
              </a:rPr>
              <a:t> EF = ES + Duration.</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Tính trị thời gian (cho mỗi đường truyền) dựa theo luật: khi một số công việc song</a:t>
            </a:r>
            <a:r>
              <a:rPr lang="en-US" dirty="0">
                <a:latin typeface="Cambria" panose="02040503050406030204" pitchFamily="18" charset="0"/>
                <a:ea typeface="Cambria" panose="02040503050406030204" pitchFamily="18" charset="0"/>
              </a:rPr>
              <a:t> song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sớm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tiếp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theo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trị</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lớn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trong số các EF của những công việc trước đó.</a:t>
            </a:r>
          </a:p>
        </p:txBody>
      </p:sp>
    </p:spTree>
    <p:extLst>
      <p:ext uri="{BB962C8B-B14F-4D97-AF65-F5344CB8AC3E}">
        <p14:creationId xmlns:p14="http://schemas.microsoft.com/office/powerpoint/2010/main" val="3122005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645041"/>
            <a:ext cx="11536623" cy="2339102"/>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Thuật toán Tính Theo Hướng Quay Lui (Backward)</a:t>
            </a:r>
            <a:endParaRPr lang="en-US"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Thuật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toán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này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định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(LF)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(LS) </a:t>
            </a:r>
            <a:r>
              <a:rPr lang="en-US" dirty="0" err="1">
                <a:latin typeface="Cambria" panose="02040503050406030204" pitchFamily="18" charset="0"/>
                <a:ea typeface="Cambria" panose="02040503050406030204" pitchFamily="18" charset="0"/>
              </a:rPr>
              <a:t>cần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Tính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toán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trị</a:t>
            </a:r>
            <a:r>
              <a:rPr lang="en-US" dirty="0">
                <a:latin typeface="Cambria" panose="02040503050406030204" pitchFamily="18" charset="0"/>
                <a:ea typeface="Cambria" panose="02040503050406030204" pitchFamily="18" charset="0"/>
              </a:rPr>
              <a:t> LF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LS </a:t>
            </a:r>
            <a:r>
              <a:rPr lang="en-US" dirty="0" err="1">
                <a:latin typeface="Cambria" panose="02040503050406030204" pitchFamily="18" charset="0"/>
                <a:ea typeface="Cambria" panose="02040503050406030204" pitchFamily="18" charset="0"/>
              </a:rPr>
              <a:t>từ</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cuối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cùng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lui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dần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theo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thức</a:t>
            </a:r>
            <a:r>
              <a:rPr lang="en-US" dirty="0">
                <a:latin typeface="Cambria" panose="02040503050406030204" pitchFamily="18" charset="0"/>
                <a:ea typeface="Cambria" panose="02040503050406030204" pitchFamily="18" charset="0"/>
              </a:rPr>
              <a:t> LS = LF – Duration.</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Tính trị thời gian (cho mỗi đường truyền) dựa theo luật: khi một số công việc song</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song bắt đầu, thời gian kết thức trễ nhất của công việc trước đó là trị số nhỏ nhất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ES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những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sau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đó</a:t>
            </a:r>
            <a:r>
              <a:rPr lang="en-US" dirty="0">
                <a:latin typeface="Cambria" panose="02040503050406030204" pitchFamily="18" charset="0"/>
                <a:ea typeface="Cambria" panose="02040503050406030204" pitchFamily="18" charset="0"/>
              </a:rPr>
              <a:t>.</a:t>
            </a:r>
            <a:endParaRPr lang="vi-V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38162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645041"/>
            <a:ext cx="11536623" cy="2339102"/>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Thuật toán Tính Theo Hướng Quay Lui (Backward)</a:t>
            </a:r>
            <a:endParaRPr lang="en-US" b="1"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Thuật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toán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này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định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(LF)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trễ</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(LS) </a:t>
            </a:r>
            <a:r>
              <a:rPr lang="en-US" dirty="0" err="1">
                <a:latin typeface="Cambria" panose="02040503050406030204" pitchFamily="18" charset="0"/>
                <a:ea typeface="Cambria" panose="02040503050406030204" pitchFamily="18" charset="0"/>
              </a:rPr>
              <a:t>cần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Tính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toán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trị</a:t>
            </a:r>
            <a:r>
              <a:rPr lang="en-US" dirty="0">
                <a:latin typeface="Cambria" panose="02040503050406030204" pitchFamily="18" charset="0"/>
                <a:ea typeface="Cambria" panose="02040503050406030204" pitchFamily="18" charset="0"/>
              </a:rPr>
              <a:t> LF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LS </a:t>
            </a:r>
            <a:r>
              <a:rPr lang="en-US" dirty="0" err="1">
                <a:latin typeface="Cambria" panose="02040503050406030204" pitchFamily="18" charset="0"/>
                <a:ea typeface="Cambria" panose="02040503050406030204" pitchFamily="18" charset="0"/>
              </a:rPr>
              <a:t>từ</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cuối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cùng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lui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dần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theo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thức</a:t>
            </a:r>
            <a:r>
              <a:rPr lang="en-US" dirty="0">
                <a:latin typeface="Cambria" panose="02040503050406030204" pitchFamily="18" charset="0"/>
                <a:ea typeface="Cambria" panose="02040503050406030204" pitchFamily="18" charset="0"/>
              </a:rPr>
              <a:t> LS = LF – Duration.</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Tính trị thời gian (cho mỗi đường truyền) dựa theo luật: khi một số công việc song</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song bắt đầu, thời gian kết thức trễ nhất của công việc trước đó là trị số nhỏ nhất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trong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ES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những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sau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đó</a:t>
            </a:r>
            <a:r>
              <a:rPr lang="en-US" dirty="0">
                <a:latin typeface="Cambria" panose="02040503050406030204" pitchFamily="18" charset="0"/>
                <a:ea typeface="Cambria" panose="02040503050406030204" pitchFamily="18" charset="0"/>
              </a:rPr>
              <a:t>.</a:t>
            </a:r>
            <a:endParaRPr lang="vi-VN"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D318BE12-15E0-9625-BB22-4451EABC8C39}"/>
              </a:ext>
            </a:extLst>
          </p:cNvPr>
          <p:cNvPicPr>
            <a:picLocks noChangeAspect="1"/>
          </p:cNvPicPr>
          <p:nvPr/>
        </p:nvPicPr>
        <p:blipFill>
          <a:blip r:embed="rId2"/>
          <a:stretch>
            <a:fillRect/>
          </a:stretch>
        </p:blipFill>
        <p:spPr>
          <a:xfrm>
            <a:off x="4313844" y="3213013"/>
            <a:ext cx="7563906" cy="2934109"/>
          </a:xfrm>
          <a:prstGeom prst="rect">
            <a:avLst/>
          </a:prstGeom>
        </p:spPr>
      </p:pic>
      <p:sp>
        <p:nvSpPr>
          <p:cNvPr id="8" name="TextBox 7">
            <a:extLst>
              <a:ext uri="{FF2B5EF4-FFF2-40B4-BE49-F238E27FC236}">
                <a16:creationId xmlns:a16="http://schemas.microsoft.com/office/drawing/2014/main" id="{A123CFAF-931E-85B7-EBE0-A8E21E5E2320}"/>
              </a:ext>
            </a:extLst>
          </p:cNvPr>
          <p:cNvSpPr txBox="1"/>
          <p:nvPr/>
        </p:nvSpPr>
        <p:spPr>
          <a:xfrm>
            <a:off x="340574" y="3561799"/>
            <a:ext cx="3999594" cy="2585323"/>
          </a:xfrm>
          <a:prstGeom prst="rect">
            <a:avLst/>
          </a:prstGeom>
          <a:noFill/>
        </p:spPr>
        <p:txBody>
          <a:bodyPr wrap="square">
            <a:spAutoFit/>
          </a:bodyPr>
          <a:lstStyle/>
          <a:p>
            <a:pPr algn="just"/>
            <a:r>
              <a:rPr lang="vi-VN" dirty="0">
                <a:latin typeface="Cambria" panose="02040503050406030204" pitchFamily="18" charset="0"/>
                <a:ea typeface="Cambria" panose="02040503050406030204" pitchFamily="18" charset="0"/>
              </a:rPr>
              <a:t>Cuối cùng ta thu được kết quả các nút đã được gán nhãn một cách đầy đủ </a:t>
            </a:r>
            <a:r>
              <a:rPr lang="en-US" dirty="0" err="1">
                <a:latin typeface="Cambria" panose="02040503050406030204" pitchFamily="18" charset="0"/>
                <a:ea typeface="Cambria" panose="02040503050406030204" pitchFamily="18" charset="0"/>
              </a:rPr>
              <a:t>để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lập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lịch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cụ</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bằng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ngày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endParaRPr lang="en-US" dirty="0">
              <a:latin typeface="Cambria" panose="02040503050406030204" pitchFamily="18" charset="0"/>
              <a:ea typeface="Cambria" panose="02040503050406030204" pitchFamily="18" charset="0"/>
            </a:endParaRPr>
          </a:p>
          <a:p>
            <a:pPr algn="just"/>
            <a:r>
              <a:rPr lang="en-US" dirty="0" err="1">
                <a:latin typeface="Cambria" panose="02040503050406030204" pitchFamily="18" charset="0"/>
                <a:ea typeface="Cambria" panose="02040503050406030204" pitchFamily="18" charset="0"/>
              </a:rPr>
              <a:t>làm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rồi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dần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dần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vi-VN" dirty="0">
                <a:latin typeface="Cambria" panose="02040503050406030204" pitchFamily="18" charset="0"/>
                <a:ea typeface="Cambria" panose="02040503050406030204" pitchFamily="18" charset="0"/>
              </a:rPr>
              <a:t>tiếp theo bằng cách dựa trên các nhãn của mỗi nút công việc tương ứng.</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6436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LẬP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645041"/>
            <a:ext cx="11653586" cy="1177245"/>
          </a:xfrm>
          <a:prstGeom prst="rect">
            <a:avLst/>
          </a:prstGeom>
          <a:noFill/>
        </p:spPr>
        <p:txBody>
          <a:bodyPr wrap="square">
            <a:spAutoFit/>
          </a:bodyPr>
          <a:lstStyle/>
          <a:p>
            <a:pPr algn="just"/>
            <a:r>
              <a:rPr lang="vi-VN" b="1" dirty="0">
                <a:latin typeface="Cambria" panose="02040503050406030204" pitchFamily="18" charset="0"/>
                <a:ea typeface="Cambria" panose="02040503050406030204" pitchFamily="18" charset="0"/>
              </a:rPr>
              <a:t>Phương pháp khác không dùng sơ đồ mạng</a:t>
            </a:r>
            <a:endParaRPr lang="en-US" b="1" dirty="0">
              <a:latin typeface="Cambria" panose="02040503050406030204" pitchFamily="18" charset="0"/>
              <a:ea typeface="Cambria" panose="02040503050406030204" pitchFamily="18" charset="0"/>
            </a:endParaRPr>
          </a:p>
          <a:p>
            <a:pPr algn="just"/>
            <a:r>
              <a:rPr lang="vi-VN" sz="1750" dirty="0">
                <a:latin typeface="Cambria" panose="02040503050406030204" pitchFamily="18" charset="0"/>
                <a:ea typeface="Cambria" panose="02040503050406030204" pitchFamily="18" charset="0"/>
              </a:rPr>
              <a:t>Biểu đồ Mốc Thời gian là một phương pháp không dùng sơ đồ mạng. Loại biểu đồ</a:t>
            </a:r>
            <a:r>
              <a:rPr lang="en-US" sz="1750" dirty="0">
                <a:latin typeface="Cambria" panose="02040503050406030204" pitchFamily="18" charset="0"/>
                <a:ea typeface="Cambria" panose="02040503050406030204" pitchFamily="18" charset="0"/>
              </a:rPr>
              <a:t> </a:t>
            </a:r>
            <a:r>
              <a:rPr lang="vi-VN" sz="1750" dirty="0">
                <a:latin typeface="Cambria" panose="02040503050406030204" pitchFamily="18" charset="0"/>
                <a:ea typeface="Cambria" panose="02040503050406030204" pitchFamily="18" charset="0"/>
              </a:rPr>
              <a:t>này – còn được gọi là “biểu đồ thanh ngang” vì trục ngang thể hiện thời gian tăng dần</a:t>
            </a:r>
            <a:r>
              <a:rPr lang="en-US" sz="1750" dirty="0">
                <a:latin typeface="Cambria" panose="02040503050406030204" pitchFamily="18" charset="0"/>
                <a:ea typeface="Cambria" panose="02040503050406030204" pitchFamily="18" charset="0"/>
              </a:rPr>
              <a:t> </a:t>
            </a:r>
            <a:r>
              <a:rPr lang="vi-VN" sz="1750" dirty="0">
                <a:latin typeface="Cambria" panose="02040503050406030204" pitchFamily="18" charset="0"/>
                <a:ea typeface="Cambria" panose="02040503050406030204" pitchFamily="18" charset="0"/>
              </a:rPr>
              <a:t>và trục dọc thể hiện các công việc – được dùng khá thông dụng là biểu đồ Gantt, trong</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đó</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chỉ</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thể</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hiện</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các</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thanh</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ngang</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với</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giá</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trị</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cao</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nhất</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hoặc</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chỉ</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các</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mốc</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thời</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gian</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quan</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trọng</a:t>
            </a:r>
            <a:r>
              <a:rPr lang="en-US" sz="1750" dirty="0">
                <a:latin typeface="Cambria" panose="02040503050406030204" pitchFamily="18" charset="0"/>
                <a:ea typeface="Cambria" panose="02040503050406030204" pitchFamily="18" charset="0"/>
              </a:rPr>
              <a:t>.</a:t>
            </a:r>
            <a:endParaRPr lang="vi-VN" sz="1750"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B6D35FA8-2CF5-CB89-DF9E-EEA113C98990}"/>
              </a:ext>
            </a:extLst>
          </p:cNvPr>
          <p:cNvPicPr>
            <a:picLocks noChangeAspect="1"/>
          </p:cNvPicPr>
          <p:nvPr/>
        </p:nvPicPr>
        <p:blipFill>
          <a:blip r:embed="rId2"/>
          <a:stretch>
            <a:fillRect/>
          </a:stretch>
        </p:blipFill>
        <p:spPr>
          <a:xfrm>
            <a:off x="423418" y="1934943"/>
            <a:ext cx="9296400" cy="3267884"/>
          </a:xfrm>
          <a:prstGeom prst="rect">
            <a:avLst/>
          </a:prstGeom>
        </p:spPr>
      </p:pic>
      <p:sp>
        <p:nvSpPr>
          <p:cNvPr id="12" name="TextBox 11">
            <a:extLst>
              <a:ext uri="{FF2B5EF4-FFF2-40B4-BE49-F238E27FC236}">
                <a16:creationId xmlns:a16="http://schemas.microsoft.com/office/drawing/2014/main" id="{8820503B-489C-21F7-61E4-36E55E81BB14}"/>
              </a:ext>
            </a:extLst>
          </p:cNvPr>
          <p:cNvSpPr txBox="1"/>
          <p:nvPr/>
        </p:nvSpPr>
        <p:spPr>
          <a:xfrm>
            <a:off x="339355" y="5241720"/>
            <a:ext cx="11653586" cy="1169551"/>
          </a:xfrm>
          <a:prstGeom prst="rect">
            <a:avLst/>
          </a:prstGeom>
          <a:noFill/>
        </p:spPr>
        <p:txBody>
          <a:bodyPr wrap="square">
            <a:spAutoFit/>
          </a:bodyPr>
          <a:lstStyle/>
          <a:p>
            <a:pPr algn="just"/>
            <a:r>
              <a:rPr lang="vi-VN" sz="1750" dirty="0">
                <a:latin typeface="Cambria" panose="02040503050406030204" pitchFamily="18" charset="0"/>
                <a:ea typeface="Cambria" panose="02040503050406030204" pitchFamily="18" charset="0"/>
              </a:rPr>
              <a:t>Sơ đồ sẽ gồm 2 phần chính: trục tung thể hiện tên các công việc và trục hoành thể hiện các mốc thời gian cho những công việc ấy. Nhìn vào một sơ đồ Gantt, bạn dễ dàng nắm bắt được các thông tin của từng đầu công việc và của cả dự án.</a:t>
            </a:r>
          </a:p>
          <a:p>
            <a:pPr algn="just"/>
            <a:r>
              <a:rPr lang="vi-VN" sz="1750" dirty="0">
                <a:latin typeface="Cambria" panose="02040503050406030204" pitchFamily="18" charset="0"/>
                <a:ea typeface="Cambria" panose="02040503050406030204" pitchFamily="18" charset="0"/>
              </a:rPr>
              <a:t>Chính vì cách bố trí thông tin đơn giản mà lại rõ ràng, trực quan nên nó đã trở thành công cụ hữu ích để lập kế hoạch, lên timeline thực hiện hoặc quản lý  tiến độ dự án.</a:t>
            </a:r>
          </a:p>
        </p:txBody>
      </p:sp>
    </p:spTree>
    <p:extLst>
      <p:ext uri="{BB962C8B-B14F-4D97-AF65-F5344CB8AC3E}">
        <p14:creationId xmlns:p14="http://schemas.microsoft.com/office/powerpoint/2010/main" val="508489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4. CÁC KỸ THUẬT NÉN LỊCH CÔNG VIỆC</a:t>
            </a: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56997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2" y="384176"/>
            <a:ext cx="7577057" cy="2015936"/>
          </a:xfrm>
          <a:prstGeom prst="rect">
            <a:avLst/>
          </a:prstGeom>
          <a:noFill/>
        </p:spPr>
        <p:txBody>
          <a:bodyPr wrap="square">
            <a:spAutoFit/>
          </a:bodyPr>
          <a:lstStyle/>
          <a:p>
            <a:pPr>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4. CÁC KỸ THUẬT NÉN LỊCH CÔNG VIỆC </a:t>
            </a:r>
          </a:p>
          <a:p>
            <a:pPr algn="just"/>
            <a:r>
              <a:rPr lang="en-US" sz="1750" dirty="0" err="1">
                <a:latin typeface="Cambria" panose="02040503050406030204" pitchFamily="18" charset="0"/>
                <a:ea typeface="Cambria" panose="02040503050406030204" pitchFamily="18" charset="0"/>
              </a:rPr>
              <a:t>Mục</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đích</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của</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các</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kỹ</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thuật</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nén</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là</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giảm</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tổng</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thời</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gian</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thực</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hiện</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dự</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án</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Các</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kỹ</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thuật</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nén</a:t>
            </a:r>
            <a:r>
              <a:rPr lang="en-US" sz="1750" dirty="0">
                <a:latin typeface="Cambria" panose="02040503050406030204" pitchFamily="18" charset="0"/>
                <a:ea typeface="Cambria" panose="02040503050406030204" pitchFamily="18" charset="0"/>
              </a:rPr>
              <a:t> bao </a:t>
            </a:r>
            <a:r>
              <a:rPr lang="en-US" sz="1750" dirty="0" err="1">
                <a:latin typeface="Cambria" panose="02040503050406030204" pitchFamily="18" charset="0"/>
                <a:ea typeface="Cambria" panose="02040503050406030204" pitchFamily="18" charset="0"/>
              </a:rPr>
              <a:t>gồm</a:t>
            </a:r>
            <a:r>
              <a:rPr lang="en-US" sz="1750" dirty="0">
                <a:latin typeface="Cambria" panose="02040503050406030204" pitchFamily="18" charset="0"/>
                <a:ea typeface="Cambria" panose="02040503050406030204" pitchFamily="18" charset="0"/>
              </a:rPr>
              <a:t>:</a:t>
            </a:r>
          </a:p>
          <a:p>
            <a:pPr algn="just">
              <a:spcBef>
                <a:spcPts val="600"/>
              </a:spcBef>
            </a:pPr>
            <a:r>
              <a:rPr lang="en-US" sz="1750" b="1" dirty="0" err="1">
                <a:solidFill>
                  <a:schemeClr val="accent3">
                    <a:lumMod val="75000"/>
                  </a:schemeClr>
                </a:solidFill>
                <a:latin typeface="Cambria" panose="02040503050406030204" pitchFamily="18" charset="0"/>
                <a:ea typeface="Cambria" panose="02040503050406030204" pitchFamily="18" charset="0"/>
              </a:rPr>
              <a:t>Kỹ</a:t>
            </a:r>
            <a:r>
              <a:rPr lang="en-US" sz="1750" b="1" dirty="0">
                <a:solidFill>
                  <a:schemeClr val="accent3">
                    <a:lumMod val="75000"/>
                  </a:schemeClr>
                </a:solidFill>
                <a:latin typeface="Cambria" panose="02040503050406030204" pitchFamily="18" charset="0"/>
                <a:ea typeface="Cambria" panose="02040503050406030204" pitchFamily="18" charset="0"/>
              </a:rPr>
              <a:t> </a:t>
            </a:r>
            <a:r>
              <a:rPr lang="en-US" sz="1750" b="1" dirty="0" err="1">
                <a:solidFill>
                  <a:schemeClr val="accent3">
                    <a:lumMod val="75000"/>
                  </a:schemeClr>
                </a:solidFill>
                <a:latin typeface="Cambria" panose="02040503050406030204" pitchFamily="18" charset="0"/>
                <a:ea typeface="Cambria" panose="02040503050406030204" pitchFamily="18" charset="0"/>
              </a:rPr>
              <a:t>thuật</a:t>
            </a:r>
            <a:r>
              <a:rPr lang="en-US" sz="1750" b="1" dirty="0">
                <a:solidFill>
                  <a:schemeClr val="accent3">
                    <a:lumMod val="75000"/>
                  </a:schemeClr>
                </a:solidFill>
                <a:latin typeface="Cambria" panose="02040503050406030204" pitchFamily="18" charset="0"/>
                <a:ea typeface="Cambria" panose="02040503050406030204" pitchFamily="18" charset="0"/>
              </a:rPr>
              <a:t> </a:t>
            </a:r>
            <a:r>
              <a:rPr lang="en-US" sz="1750" b="1" dirty="0" err="1">
                <a:solidFill>
                  <a:schemeClr val="accent3">
                    <a:lumMod val="75000"/>
                  </a:schemeClr>
                </a:solidFill>
                <a:latin typeface="Cambria" panose="02040503050406030204" pitchFamily="18" charset="0"/>
                <a:ea typeface="Cambria" panose="02040503050406030204" pitchFamily="18" charset="0"/>
              </a:rPr>
              <a:t>Rút</a:t>
            </a:r>
            <a:r>
              <a:rPr lang="en-US" sz="1750" b="1" dirty="0">
                <a:solidFill>
                  <a:schemeClr val="accent3">
                    <a:lumMod val="75000"/>
                  </a:schemeClr>
                </a:solidFill>
                <a:latin typeface="Cambria" panose="02040503050406030204" pitchFamily="18" charset="0"/>
                <a:ea typeface="Cambria" panose="02040503050406030204" pitchFamily="18" charset="0"/>
              </a:rPr>
              <a:t> </a:t>
            </a:r>
            <a:r>
              <a:rPr lang="en-US" sz="1750" b="1" dirty="0" err="1">
                <a:solidFill>
                  <a:schemeClr val="accent3">
                    <a:lumMod val="75000"/>
                  </a:schemeClr>
                </a:solidFill>
                <a:latin typeface="Cambria" panose="02040503050406030204" pitchFamily="18" charset="0"/>
                <a:ea typeface="Cambria" panose="02040503050406030204" pitchFamily="18" charset="0"/>
              </a:rPr>
              <a:t>ngắn</a:t>
            </a:r>
            <a:r>
              <a:rPr lang="en-US" sz="1750" b="1" dirty="0">
                <a:solidFill>
                  <a:schemeClr val="accent3">
                    <a:lumMod val="75000"/>
                  </a:schemeClr>
                </a:solidFill>
                <a:latin typeface="Cambria" panose="02040503050406030204" pitchFamily="18" charset="0"/>
                <a:ea typeface="Cambria" panose="02040503050406030204" pitchFamily="18" charset="0"/>
              </a:rPr>
              <a:t> (Crashing)</a:t>
            </a:r>
          </a:p>
          <a:p>
            <a:pPr algn="just">
              <a:spcBef>
                <a:spcPts val="600"/>
              </a:spcBef>
            </a:pPr>
            <a:r>
              <a:rPr lang="vi-VN" sz="1750" b="1" dirty="0">
                <a:solidFill>
                  <a:schemeClr val="accent3">
                    <a:lumMod val="75000"/>
                  </a:schemeClr>
                </a:solidFill>
                <a:latin typeface="Cambria" panose="02040503050406030204" pitchFamily="18" charset="0"/>
                <a:ea typeface="Cambria" panose="02040503050406030204" pitchFamily="18" charset="0"/>
              </a:rPr>
              <a:t>Kỹ thuật Đi đường nhanh</a:t>
            </a:r>
            <a:endParaRPr lang="en-US" sz="1750" b="1" dirty="0">
              <a:solidFill>
                <a:schemeClr val="accent3">
                  <a:lumMod val="75000"/>
                </a:schemeClr>
              </a:solidFill>
              <a:latin typeface="Cambria" panose="02040503050406030204" pitchFamily="18" charset="0"/>
              <a:ea typeface="Cambria" panose="02040503050406030204" pitchFamily="18" charset="0"/>
            </a:endParaRPr>
          </a:p>
          <a:p>
            <a:pPr algn="l"/>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BD2E00BB-E4E7-E219-CD57-3D5260C46F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97757" y="4185920"/>
            <a:ext cx="2295616" cy="2389235"/>
          </a:xfrm>
          <a:prstGeom prst="rect">
            <a:avLst/>
          </a:prstGeom>
        </p:spPr>
      </p:pic>
    </p:spTree>
    <p:extLst>
      <p:ext uri="{BB962C8B-B14F-4D97-AF65-F5344CB8AC3E}">
        <p14:creationId xmlns:p14="http://schemas.microsoft.com/office/powerpoint/2010/main" val="2409534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en-US" sz="2000" b="1" dirty="0">
                <a:solidFill>
                  <a:schemeClr val="bg2">
                    <a:lumMod val="50000"/>
                  </a:schemeClr>
                </a:solidFill>
                <a:latin typeface="Cambria" panose="02040503050406030204" pitchFamily="18" charset="0"/>
                <a:ea typeface="Cambria" panose="02040503050406030204" pitchFamily="18" charset="0"/>
              </a:rPr>
              <a:t>CÁC KỸ THUẬT NÉN LỊCH CÔNG VIỆC </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645041"/>
            <a:ext cx="11653586" cy="4801314"/>
          </a:xfrm>
          <a:prstGeom prst="rect">
            <a:avLst/>
          </a:prstGeom>
          <a:noFill/>
        </p:spPr>
        <p:txBody>
          <a:bodyPr wrap="square">
            <a:spAutoFit/>
          </a:bodyPr>
          <a:lstStyle/>
          <a:p>
            <a:pPr algn="just">
              <a:spcBef>
                <a:spcPts val="600"/>
              </a:spcBef>
            </a:pPr>
            <a:r>
              <a:rPr lang="en-US" b="1" dirty="0" err="1">
                <a:latin typeface="Cambria" panose="02040503050406030204" pitchFamily="18" charset="0"/>
                <a:ea typeface="Cambria" panose="02040503050406030204" pitchFamily="18" charset="0"/>
              </a:rPr>
              <a:t>Kỹ</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thuật</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Rút</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ngắn</a:t>
            </a:r>
            <a:r>
              <a:rPr lang="en-US" b="1" dirty="0">
                <a:latin typeface="Cambria" panose="02040503050406030204" pitchFamily="18" charset="0"/>
                <a:ea typeface="Cambria" panose="02040503050406030204" pitchFamily="18" charset="0"/>
              </a:rPr>
              <a:t> (Crashing)</a:t>
            </a:r>
          </a:p>
          <a:p>
            <a:pPr algn="l"/>
            <a:r>
              <a:rPr lang="vi-VN" sz="1750" dirty="0">
                <a:latin typeface="Cambria" panose="02040503050406030204" pitchFamily="18" charset="0"/>
                <a:ea typeface="Cambria" panose="02040503050406030204" pitchFamily="18" charset="0"/>
              </a:rPr>
              <a:t>Kỹ thuật này hướng đến mục đích</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Rút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ngắn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nhiều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với</a:t>
            </a:r>
            <a:r>
              <a:rPr lang="en-US" dirty="0">
                <a:latin typeface="Cambria" panose="02040503050406030204" pitchFamily="18" charset="0"/>
                <a:ea typeface="Cambria" panose="02040503050406030204" pitchFamily="18" charset="0"/>
              </a:rPr>
              <a:t> chi </a:t>
            </a:r>
            <a:r>
              <a:rPr lang="en-US" dirty="0" err="1">
                <a:latin typeface="Cambria" panose="02040503050406030204" pitchFamily="18" charset="0"/>
                <a:ea typeface="Cambria" panose="02040503050406030204" pitchFamily="18" charset="0"/>
              </a:rPr>
              <a:t>phí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thấp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nhất</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Nhắm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bù</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trừ</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chi </a:t>
            </a:r>
            <a:r>
              <a:rPr lang="en-US" dirty="0" err="1">
                <a:latin typeface="Cambria" panose="02040503050406030204" pitchFamily="18" charset="0"/>
                <a:ea typeface="Cambria" panose="02040503050406030204" pitchFamily="18" charset="0"/>
              </a:rPr>
              <a:t>phí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lịch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(tradeoff), </a:t>
            </a:r>
            <a:r>
              <a:rPr lang="en-US" dirty="0" err="1">
                <a:latin typeface="Cambria" panose="02040503050406030204" pitchFamily="18" charset="0"/>
                <a:ea typeface="Cambria" panose="02040503050406030204" pitchFamily="18" charset="0"/>
              </a:rPr>
              <a:t>nếu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muốn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tăng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tiến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giảm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thời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thì</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tăng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tài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nguyên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Thêm tài nguyên tới các công việc trên đường thiết yếu, hoặc hạn chế và giảm 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yêu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 (hay </a:t>
            </a:r>
            <a:r>
              <a:rPr lang="en-US" dirty="0" err="1">
                <a:latin typeface="Cambria" panose="02040503050406030204" pitchFamily="18" charset="0"/>
                <a:ea typeface="Cambria" panose="02040503050406030204" pitchFamily="18" charset="0"/>
              </a:rPr>
              <a:t>phạm</a:t>
            </a:r>
            <a:r>
              <a:rPr lang="en-US" dirty="0">
                <a:latin typeface="Cambria" panose="02040503050406030204" pitchFamily="18" charset="0"/>
                <a:ea typeface="Cambria" panose="02040503050406030204" pitchFamily="18" charset="0"/>
              </a:rPr>
              <a:t> vi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án</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Thay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đổi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trật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tự</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của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nhiệm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vụ</a:t>
            </a:r>
            <a:r>
              <a:rPr lang="en-US" dirty="0">
                <a:latin typeface="Cambria" panose="02040503050406030204" pitchFamily="18" charset="0"/>
                <a:ea typeface="Cambria" panose="02040503050406030204" pitchFamily="18" charset="0"/>
              </a:rPr>
              <a:t>.</a:t>
            </a:r>
          </a:p>
          <a:p>
            <a:pPr algn="l"/>
            <a:endParaRPr lang="en-US" b="1" dirty="0">
              <a:latin typeface="Cambria" panose="02040503050406030204" pitchFamily="18" charset="0"/>
              <a:ea typeface="Cambria" panose="02040503050406030204" pitchFamily="18" charset="0"/>
            </a:endParaRPr>
          </a:p>
          <a:p>
            <a:pPr algn="just">
              <a:spcBef>
                <a:spcPts val="600"/>
              </a:spcBef>
            </a:pPr>
            <a:r>
              <a:rPr lang="vi-VN" b="1" dirty="0">
                <a:latin typeface="Cambria" panose="02040503050406030204" pitchFamily="18" charset="0"/>
                <a:ea typeface="Cambria" panose="02040503050406030204" pitchFamily="18" charset="0"/>
              </a:rPr>
              <a:t>Kỹ thuật Đi đường nhanh</a:t>
            </a:r>
          </a:p>
          <a:p>
            <a:r>
              <a:rPr lang="en-US" sz="1750" dirty="0" err="1">
                <a:latin typeface="Cambria" panose="02040503050406030204" pitchFamily="18" charset="0"/>
                <a:ea typeface="Cambria" panose="02040503050406030204" pitchFamily="18" charset="0"/>
              </a:rPr>
              <a:t>Kỹ</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thuật</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này</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quan</a:t>
            </a:r>
            <a:r>
              <a:rPr lang="en-US" sz="1750" dirty="0">
                <a:latin typeface="Cambria" panose="02040503050406030204" pitchFamily="18" charset="0"/>
                <a:ea typeface="Cambria" panose="02040503050406030204" pitchFamily="18" charset="0"/>
              </a:rPr>
              <a:t> </a:t>
            </a:r>
            <a:r>
              <a:rPr lang="en-US" sz="1750" dirty="0" err="1">
                <a:latin typeface="Cambria" panose="02040503050406030204" pitchFamily="18" charset="0"/>
                <a:ea typeface="Cambria" panose="02040503050406030204" pitchFamily="18" charset="0"/>
              </a:rPr>
              <a:t>tâm</a:t>
            </a:r>
            <a:endParaRPr lang="en-US" sz="1750" dirty="0">
              <a:latin typeface="Cambria" panose="02040503050406030204" pitchFamily="18" charset="0"/>
              <a:ea typeface="Cambria" panose="02040503050406030204" pitchFamily="18" charset="0"/>
            </a:endParaRP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đan</a:t>
            </a:r>
            <a:r>
              <a:rPr lang="en-US" dirty="0">
                <a:latin typeface="Cambria" panose="02040503050406030204" pitchFamily="18" charset="0"/>
                <a:ea typeface="Cambria" panose="02040503050406030204" pitchFamily="18" charset="0"/>
              </a:rPr>
              <a:t> xen </a:t>
            </a:r>
            <a:r>
              <a:rPr lang="en-US" dirty="0" err="1">
                <a:latin typeface="Cambria" panose="02040503050406030204" pitchFamily="18" charset="0"/>
                <a:ea typeface="Cambria" panose="02040503050406030204" pitchFamily="18" charset="0"/>
              </a:rPr>
              <a:t>nhau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dù</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chúng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tuần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tự</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xảy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rủi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cần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tâm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những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rủi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xảy</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này</a:t>
            </a:r>
            <a:r>
              <a:rPr lang="en-US" dirty="0">
                <a:latin typeface="Cambria" panose="02040503050406030204" pitchFamily="18" charset="0"/>
                <a:ea typeface="Cambria" panose="02040503050406030204" pitchFamily="18" charset="0"/>
              </a:rPr>
              <a:t>.</a:t>
            </a:r>
          </a:p>
          <a:p>
            <a:pPr marL="285750" lvl="1" indent="-285750" algn="just">
              <a:spcBef>
                <a:spcPts val="600"/>
              </a:spcBef>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suất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phải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việc</a:t>
            </a: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4102887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07255" y="71120"/>
            <a:ext cx="10788691" cy="6786880"/>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b="0" i="0" u="none" strike="noStrike" baseline="0" dirty="0">
              <a:latin typeface="Times New Roman" panose="02020603050405020304" pitchFamily="18" charset="0"/>
            </a:endParaRPr>
          </a:p>
          <a:p>
            <a:pPr marL="0" indent="0">
              <a:lnSpc>
                <a:spcPct val="100000"/>
              </a:lnSpc>
              <a:spcBef>
                <a:spcPts val="0"/>
              </a:spcBef>
              <a:spcAft>
                <a:spcPts val="600"/>
              </a:spcAft>
              <a:buNone/>
            </a:pPr>
            <a:r>
              <a:rPr lang="en-US" sz="3200" b="1" dirty="0">
                <a:solidFill>
                  <a:schemeClr val="bg1"/>
                </a:solidFill>
                <a:latin typeface="Cambria" panose="02040503050406030204" pitchFamily="18" charset="0"/>
                <a:ea typeface="Cambria" panose="02040503050406030204" pitchFamily="18" charset="0"/>
              </a:rPr>
              <a:t>5. PHÁT TRIỂN VÀ ĐIỀU CHỈNH LỊCH</a:t>
            </a:r>
          </a:p>
          <a:p>
            <a:pPr marL="346075" indent="-346075">
              <a:lnSpc>
                <a:spcPct val="100000"/>
              </a:lnSpc>
              <a:spcBef>
                <a:spcPts val="0"/>
              </a:spcBef>
              <a:spcAft>
                <a:spcPts val="600"/>
              </a:spcAft>
              <a:buFont typeface="+mj-lt"/>
              <a:buAutoNum type="arabicPeriod"/>
            </a:pPr>
            <a:endParaRPr lang="en-US" sz="32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71850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lnSpc>
                <a:spcPct val="100000"/>
              </a:lnSpc>
              <a:spcBef>
                <a:spcPts val="0"/>
              </a:spcBef>
              <a:spcAft>
                <a:spcPts val="600"/>
              </a:spcAft>
            </a:pPr>
            <a:r>
              <a:rPr lang="en-US" sz="2000" b="1" dirty="0">
                <a:solidFill>
                  <a:schemeClr val="accent2">
                    <a:lumMod val="75000"/>
                  </a:schemeClr>
                </a:solidFill>
                <a:latin typeface="Cambria" panose="02040503050406030204" pitchFamily="18" charset="0"/>
                <a:ea typeface="Cambria" panose="02040503050406030204" pitchFamily="18" charset="0"/>
              </a:rPr>
              <a:t>5. PHÁT TRIỂN VÀ ĐIỀU CHỈNH LỊCH</a:t>
            </a:r>
          </a:p>
        </p:txBody>
      </p:sp>
      <p:sp>
        <p:nvSpPr>
          <p:cNvPr id="3" name="TextBox 2">
            <a:extLst>
              <a:ext uri="{FF2B5EF4-FFF2-40B4-BE49-F238E27FC236}">
                <a16:creationId xmlns:a16="http://schemas.microsoft.com/office/drawing/2014/main" id="{58B093C7-8A33-C07F-5EC7-3838AF3517A2}"/>
              </a:ext>
            </a:extLst>
          </p:cNvPr>
          <p:cNvSpPr txBox="1"/>
          <p:nvPr/>
        </p:nvSpPr>
        <p:spPr>
          <a:xfrm>
            <a:off x="339355" y="784286"/>
            <a:ext cx="7490444" cy="1908215"/>
          </a:xfrm>
          <a:prstGeom prst="rect">
            <a:avLst/>
          </a:prstGeom>
          <a:noFill/>
        </p:spPr>
        <p:txBody>
          <a:bodyPr wrap="square">
            <a:spAutoFit/>
          </a:bodyPr>
          <a:lstStyle/>
          <a:p>
            <a:pPr marL="285750" lvl="1" indent="-285750" algn="just">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Kiểm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lịch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biểu</a:t>
            </a:r>
            <a:r>
              <a:rPr lang="en-US" dirty="0">
                <a:latin typeface="Cambria" panose="02040503050406030204" pitchFamily="18" charset="0"/>
                <a:ea typeface="Cambria" panose="02040503050406030204" pitchFamily="18" charset="0"/>
              </a:rPr>
              <a:t> so </a:t>
            </a:r>
            <a:r>
              <a:rPr lang="en-US" dirty="0" err="1">
                <a:latin typeface="Cambria" panose="02040503050406030204" pitchFamily="18" charset="0"/>
                <a:ea typeface="Cambria" panose="02040503050406030204" pitchFamily="18" charset="0"/>
              </a:rPr>
              <a:t>với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tế</a:t>
            </a:r>
            <a:r>
              <a:rPr lang="en-US" dirty="0">
                <a:latin typeface="Cambria" panose="02040503050406030204" pitchFamily="18" charset="0"/>
                <a:ea typeface="Cambria" panose="02040503050406030204" pitchFamily="18" charset="0"/>
              </a:rPr>
              <a:t>.</a:t>
            </a:r>
          </a:p>
          <a:p>
            <a:pPr marL="285750" lvl="1" indent="-285750" algn="just">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Sử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hoạch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phòng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hờ</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bất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trắc</a:t>
            </a:r>
            <a:r>
              <a:rPr lang="en-US" dirty="0">
                <a:latin typeface="Cambria" panose="02040503050406030204" pitchFamily="18" charset="0"/>
                <a:ea typeface="Cambria" panose="02040503050406030204" pitchFamily="18" charset="0"/>
              </a:rPr>
              <a:t>.</a:t>
            </a:r>
          </a:p>
          <a:p>
            <a:pPr marL="285750" lvl="1" indent="-285750" algn="just">
              <a:spcAft>
                <a:spcPts val="300"/>
              </a:spcAft>
              <a:buClr>
                <a:schemeClr val="accent2">
                  <a:lumMod val="75000"/>
                </a:schemeClr>
              </a:buClr>
              <a:buSzPct val="140000"/>
              <a:buFont typeface="Wingdings" panose="05000000000000000000" pitchFamily="2" charset="2"/>
              <a:buChar char="§"/>
            </a:pPr>
            <a:r>
              <a:rPr lang="vi-VN" dirty="0">
                <a:latin typeface="Cambria" panose="02040503050406030204" pitchFamily="18" charset="0"/>
                <a:ea typeface="Cambria" panose="02040503050406030204" pitchFamily="18" charset="0"/>
              </a:rPr>
              <a:t>Không lập kế hoạch cho mọi người làm việc 100% khả năng vào mọi thời điểm.</a:t>
            </a:r>
          </a:p>
          <a:p>
            <a:pPr marL="285750" lvl="1" indent="-285750" algn="just">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Tổ</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chức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buổi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họp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tiến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với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quan</a:t>
            </a:r>
            <a:r>
              <a:rPr lang="en-US" dirty="0">
                <a:latin typeface="Cambria" panose="02040503050406030204" pitchFamily="18" charset="0"/>
                <a:ea typeface="Cambria" panose="02040503050406030204" pitchFamily="18" charset="0"/>
              </a:rPr>
              <a:t>.</a:t>
            </a:r>
          </a:p>
          <a:p>
            <a:pPr marL="285750" lvl="1" indent="-285750" algn="just">
              <a:spcAft>
                <a:spcPts val="300"/>
              </a:spcAft>
              <a:buClr>
                <a:schemeClr val="accent2">
                  <a:lumMod val="75000"/>
                </a:schemeClr>
              </a:buClr>
              <a:buSzPct val="140000"/>
              <a:buFont typeface="Wingdings" panose="05000000000000000000" pitchFamily="2" charset="2"/>
              <a:buChar char="§"/>
            </a:pPr>
            <a:r>
              <a:rPr lang="en-US" dirty="0" err="1">
                <a:latin typeface="Cambria" panose="02040503050406030204" pitchFamily="18" charset="0"/>
                <a:ea typeface="Cambria" panose="02040503050406030204" pitchFamily="18" charset="0"/>
              </a:rPr>
              <a:t>Thật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rõ</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ràng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trung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thật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bàn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vấn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đề</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liên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quan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đến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lịch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biểu</a:t>
            </a:r>
            <a:r>
              <a:rPr lang="en-US" dirty="0">
                <a:latin typeface="Cambria" panose="02040503050406030204" pitchFamily="18" charset="0"/>
                <a:ea typeface="Cambria" panose="02040503050406030204" pitchFamily="18" charset="0"/>
              </a:rPr>
              <a:t>.</a:t>
            </a:r>
          </a:p>
        </p:txBody>
      </p:sp>
      <p:pic>
        <p:nvPicPr>
          <p:cNvPr id="10" name="Picture 9">
            <a:extLst>
              <a:ext uri="{FF2B5EF4-FFF2-40B4-BE49-F238E27FC236}">
                <a16:creationId xmlns:a16="http://schemas.microsoft.com/office/drawing/2014/main" id="{4DA4FA2C-D754-79BC-8C3F-2C1A3EB65BDC}"/>
              </a:ext>
            </a:extLst>
          </p:cNvPr>
          <p:cNvPicPr>
            <a:picLocks noChangeAspect="1"/>
          </p:cNvPicPr>
          <p:nvPr/>
        </p:nvPicPr>
        <p:blipFill>
          <a:blip r:embed="rId3"/>
          <a:stretch>
            <a:fillRect/>
          </a:stretch>
        </p:blipFill>
        <p:spPr>
          <a:xfrm>
            <a:off x="1842412" y="3019155"/>
            <a:ext cx="5987387" cy="3647440"/>
          </a:xfrm>
          <a:prstGeom prst="rect">
            <a:avLst/>
          </a:prstGeom>
        </p:spPr>
      </p:pic>
    </p:spTree>
    <p:extLst>
      <p:ext uri="{BB962C8B-B14F-4D97-AF65-F5344CB8AC3E}">
        <p14:creationId xmlns:p14="http://schemas.microsoft.com/office/powerpoint/2010/main" val="3224957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r>
              <a:rPr lang="en-US" sz="4000" b="0" dirty="0">
                <a:solidFill>
                  <a:schemeClr val="bg1"/>
                </a:solidFill>
                <a:effectLst/>
                <a:latin typeface="Cambria" panose="02040503050406030204" pitchFamily="18" charset="0"/>
                <a:ea typeface="Cambria" panose="02040503050406030204" pitchFamily="18" charset="0"/>
              </a:rPr>
              <a:t>THANK YOU!</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en-US" sz="2700" dirty="0">
                <a:solidFill>
                  <a:schemeClr val="accent1">
                    <a:lumMod val="40000"/>
                    <a:lumOff val="60000"/>
                  </a:schemeClr>
                </a:solidFill>
                <a:latin typeface="Cambria" panose="02040503050406030204" pitchFamily="18" charset="0"/>
                <a:ea typeface="Cambria" panose="02040503050406030204" pitchFamily="18" charset="0"/>
              </a:rPr>
              <a:t>Chap III: </a:t>
            </a:r>
            <a:r>
              <a:rPr lang="vi-VN" sz="2700" dirty="0">
                <a:solidFill>
                  <a:schemeClr val="accent1">
                    <a:lumMod val="40000"/>
                    <a:lumOff val="60000"/>
                  </a:schemeClr>
                </a:solidFill>
                <a:latin typeface="Cambria" panose="02040503050406030204" pitchFamily="18" charset="0"/>
                <a:ea typeface="Cambria" panose="02040503050406030204" pitchFamily="18" charset="0"/>
              </a:rPr>
              <a:t>IT </a:t>
            </a:r>
            <a:r>
              <a:rPr lang="en-US" sz="2700" dirty="0">
                <a:solidFill>
                  <a:schemeClr val="accent1">
                    <a:lumMod val="40000"/>
                    <a:lumOff val="60000"/>
                  </a:schemeClr>
                </a:solidFill>
                <a:latin typeface="Cambria" panose="02040503050406030204" pitchFamily="18" charset="0"/>
                <a:ea typeface="Cambria" panose="02040503050406030204" pitchFamily="18" charset="0"/>
              </a:rPr>
              <a:t>project Time</a:t>
            </a:r>
            <a:r>
              <a:rPr lang="vi-VN" sz="2700" dirty="0">
                <a:solidFill>
                  <a:schemeClr val="accent1">
                    <a:lumMod val="40000"/>
                    <a:lumOff val="60000"/>
                  </a:schemeClr>
                </a:solidFill>
                <a:latin typeface="Cambria" panose="02040503050406030204" pitchFamily="18" charset="0"/>
                <a:ea typeface="Cambria" panose="02040503050406030204" pitchFamily="18" charset="0"/>
              </a:rPr>
              <a:t> management</a:t>
            </a:r>
            <a:br>
              <a:rPr lang="en-US" sz="2700" dirty="0">
                <a:solidFill>
                  <a:schemeClr val="bg1"/>
                </a:solidFill>
                <a:latin typeface="Cambria" panose="02040503050406030204" pitchFamily="18" charset="0"/>
                <a:ea typeface="Cambria" panose="02040503050406030204" pitchFamily="18" charset="0"/>
              </a:rPr>
            </a:br>
            <a:r>
              <a:rPr lang="en-US" sz="2000" dirty="0">
                <a:solidFill>
                  <a:schemeClr val="accent1">
                    <a:lumMod val="60000"/>
                    <a:lumOff val="40000"/>
                  </a:schemeClr>
                </a:solidFill>
                <a:latin typeface="Cambria" panose="02040503050406030204" pitchFamily="18" charset="0"/>
                <a:ea typeface="Cambria" panose="02040503050406030204" pitchFamily="18" charset="0"/>
              </a:rPr>
              <a:t>Lecturer</a:t>
            </a:r>
            <a:r>
              <a:rPr lang="en-US" sz="2000">
                <a:solidFill>
                  <a:schemeClr val="accent1">
                    <a:lumMod val="60000"/>
                    <a:lumOff val="40000"/>
                  </a:schemeClr>
                </a:solidFill>
                <a:latin typeface="Cambria" panose="02040503050406030204" pitchFamily="18" charset="0"/>
                <a:ea typeface="Cambria" panose="02040503050406030204" pitchFamily="18" charset="0"/>
              </a:rPr>
              <a:t>: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7340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Custom 7">
      <a:dk1>
        <a:srgbClr val="FFFFFF"/>
      </a:dk1>
      <a:lt1>
        <a:srgbClr val="0070C0"/>
      </a:lt1>
      <a:dk2>
        <a:srgbClr val="FFFFFF"/>
      </a:dk2>
      <a:lt2>
        <a:srgbClr val="0070C0"/>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295A4D-2669-40A1-B486-094C07B30D13}">
  <ds:schemaRefs>
    <ds:schemaRef ds:uri="http://schemas.microsoft.com/office/2006/metadata/properties"/>
    <ds:schemaRef ds:uri="http://schemas.microsoft.com/office/infopath/2007/PartnerControls"/>
    <ds:schemaRef ds:uri="6e9c558a-331c-4b2a-9422-cc1872e64aa6"/>
    <ds:schemaRef ds:uri="0daeb402-9d2e-4002-a65f-37a660ceb8fd"/>
  </ds:schemaRefs>
</ds:datastoreItem>
</file>

<file path=customXml/itemProps2.xml><?xml version="1.0" encoding="utf-8"?>
<ds:datastoreItem xmlns:ds="http://schemas.openxmlformats.org/officeDocument/2006/customXml" ds:itemID="{E8470D47-F27F-459F-A393-93D0899E97EF}">
  <ds:schemaRefs>
    <ds:schemaRef ds:uri="http://schemas.microsoft.com/sharepoint/v3/contenttype/forms"/>
  </ds:schemaRefs>
</ds:datastoreItem>
</file>

<file path=customXml/itemProps3.xml><?xml version="1.0" encoding="utf-8"?>
<ds:datastoreItem xmlns:ds="http://schemas.openxmlformats.org/officeDocument/2006/customXml" ds:itemID="{7EDEB95B-A984-42FC-AA8A-83E424BE26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2230</TotalTime>
  <Words>4921</Words>
  <Application>Microsoft Office PowerPoint</Application>
  <PresentationFormat>Widescreen</PresentationFormat>
  <Paragraphs>260</Paragraphs>
  <Slides>35</Slides>
  <Notes>0</Notes>
  <HiddenSlides>0</HiddenSlides>
  <MMClips>0</MMClips>
  <ScaleCrop>false</ScaleCrop>
  <HeadingPairs>
    <vt:vector size="4" baseType="variant">
      <vt:variant>
        <vt:lpstr>Theme</vt:lpstr>
      </vt:variant>
      <vt:variant>
        <vt:i4>3</vt:i4>
      </vt:variant>
      <vt:variant>
        <vt:lpstr>Slide Titles</vt:lpstr>
      </vt:variant>
      <vt:variant>
        <vt:i4>35</vt:i4>
      </vt:variant>
    </vt:vector>
  </HeadingPairs>
  <TitlesOfParts>
    <vt:vector size="38" baseType="lpstr">
      <vt:lpstr>Office Theme</vt:lpstr>
      <vt:lpstr>Opening slide</vt:lpstr>
      <vt:lpstr>Body slide</vt:lpstr>
      <vt:lpstr> INFORMATION TECHNOLOGY PROJECT MANAGEMENT     Chap III: IT project Time management Lecturer: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Chap III: IT project Time management Lecturer: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 PROJECT MANAGEMENT  Chap I: Foundation of IT project management Lecturer: Dr. Thanh NGO</dc:title>
  <dc:creator>Thanh. Ngo Minh - CMC People Unit</dc:creator>
  <cp:lastModifiedBy>Thanh. Ngo Minh - CMC Corp Ban Nhan su &amp; PTNT</cp:lastModifiedBy>
  <cp:revision>186</cp:revision>
  <dcterms:created xsi:type="dcterms:W3CDTF">2024-02-01T10:29:10Z</dcterms:created>
  <dcterms:modified xsi:type="dcterms:W3CDTF">2026-09-22T06:54:59Z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