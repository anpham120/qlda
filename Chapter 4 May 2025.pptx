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66" r:id="rId6"/>
  </p:sldMasterIdLst>
  <p:sldIdLst>
    <p:sldId id="256" r:id="rId7"/>
    <p:sldId id="279" r:id="rId8"/>
    <p:sldId id="334" r:id="rId9"/>
    <p:sldId id="335" r:id="rId10"/>
    <p:sldId id="257" r:id="rId11"/>
    <p:sldId id="347" r:id="rId12"/>
    <p:sldId id="361" r:id="rId13"/>
    <p:sldId id="336" r:id="rId14"/>
    <p:sldId id="337" r:id="rId15"/>
    <p:sldId id="344" r:id="rId16"/>
    <p:sldId id="376" r:id="rId17"/>
    <p:sldId id="364" r:id="rId18"/>
    <p:sldId id="365" r:id="rId19"/>
    <p:sldId id="366" r:id="rId20"/>
    <p:sldId id="367" r:id="rId21"/>
    <p:sldId id="368" r:id="rId22"/>
    <p:sldId id="338" r:id="rId23"/>
    <p:sldId id="281" r:id="rId24"/>
    <p:sldId id="369" r:id="rId25"/>
    <p:sldId id="370" r:id="rId26"/>
    <p:sldId id="378" r:id="rId27"/>
    <p:sldId id="379" r:id="rId28"/>
    <p:sldId id="380" r:id="rId29"/>
    <p:sldId id="377" r:id="rId30"/>
    <p:sldId id="339" r:id="rId31"/>
    <p:sldId id="293" r:id="rId32"/>
    <p:sldId id="373" r:id="rId33"/>
    <p:sldId id="374" r:id="rId34"/>
    <p:sldId id="375" r:id="rId35"/>
    <p:sldId id="292" r:id="rId36"/>
  </p:sldIdLst>
  <p:sldSz cx="12192000" cy="6858000"/>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slide" Target="slides/slide28.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C586A-3CA7-A6B6-6B3B-4583D57BE5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51776E-AB3C-97F0-AA67-BD2E18056A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57923A-7CEC-4869-8AF4-836E8C807E7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8E91799-8705-EA78-77FB-A8D1418A0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750114-BB6A-8616-2731-F1950849203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309654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253F8-D7EF-0AA8-3598-5AC952F1DC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31DE3F-5386-056B-1DEC-19911D2C22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05957-DD56-E507-21A2-8C0A5BE9F660}"/>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98EB9A55-8E66-EC08-7034-455A1E5E90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AF6D1F-72C9-BA38-AAB4-6FAC937E22B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7705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42EB5-995E-9071-E3A1-95E9D7E50C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ACF681-C1B8-C11A-F353-03F536F244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95EFDC-3504-A413-429F-299170D34B2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369A7B8-12DD-1BF3-FD41-6B3061949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061D4-168A-8F5C-1AF2-EEEE97F41137}"/>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67714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4875-A6FD-8948-4493-B9CE9F5BBE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319F30-A0D3-1FEA-6295-76618F64BC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2E2052-690E-6A4A-BF02-E46FD4005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FEBC34-12BA-F9D2-9978-AA8576AA8E1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7896469-2D3A-F487-7765-67182F6A0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9E2A04-E436-414E-4B0C-2404C44E969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527235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D2111-8CAE-1681-AEAC-2079D2AEC8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EEED81-28F4-4AD3-11E7-6FFF955226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3B50D-C434-C047-6A82-F515AB35F1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91BF45-750B-EE49-DA72-E92AF974D3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79E4D8-3EBB-E193-27A5-094D18445F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71CCED-E4D2-1960-BB38-F574A862185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8" name="Footer Placeholder 7">
            <a:extLst>
              <a:ext uri="{FF2B5EF4-FFF2-40B4-BE49-F238E27FC236}">
                <a16:creationId xmlns:a16="http://schemas.microsoft.com/office/drawing/2014/main" id="{39E36CFE-AD2A-D7D2-B7AC-0E6731A1D4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59C0B5-F8AA-4571-AFA6-A6728C20434F}"/>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81064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E519E-BDB0-6C86-F8A0-76A5F77C27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38157-D72D-588F-3ADF-121F60C6DC9A}"/>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4" name="Footer Placeholder 3">
            <a:extLst>
              <a:ext uri="{FF2B5EF4-FFF2-40B4-BE49-F238E27FC236}">
                <a16:creationId xmlns:a16="http://schemas.microsoft.com/office/drawing/2014/main" id="{57717323-0A37-5519-2211-CB5A46A701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E187EF-3568-6D06-B0CC-CC03B437E3F6}"/>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047579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DA75DE-3AA6-3D68-4B0D-E41DC289D11E}"/>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3" name="Footer Placeholder 2">
            <a:extLst>
              <a:ext uri="{FF2B5EF4-FFF2-40B4-BE49-F238E27FC236}">
                <a16:creationId xmlns:a16="http://schemas.microsoft.com/office/drawing/2014/main" id="{9AC2F1D1-1AE5-9EFB-5C41-D0BA282D35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39EC7-3610-4119-B990-AAC57BFAB70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20235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A1C0-DF73-59F9-7F79-1E20888F5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80BE31-A6CE-0A68-9049-46835F690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EBAC79-BA96-6289-CE87-A607DC7FE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EEFF55-5B90-350B-AAD2-357346686E34}"/>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2545FB3-ADD8-2ECF-805C-BE68FADBA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833929-8CD9-1DA0-4C06-B6934F51B11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68578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5A5F-7783-499E-9377-3210199834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CA243A-C284-88CE-16D1-09F73127C4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E3E7FA-2738-CC66-3A33-AF2665F889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52B17-F93D-D397-FB9D-F548BD362AB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8A648A4A-D02F-90AA-6306-2A3C8C61D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1AF598-401C-397D-5CF5-3A9D5CA82750}"/>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772381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A2BB-D4CC-5B9B-2348-E67CC05EB3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7E9190-84A6-F9EA-2390-7756FA27F3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E116-5473-7F3F-8433-5244C90E7BD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FC5FA76-460F-9D21-A59E-4B4E1DD5E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0A51C-B070-BA37-CF7D-21A317D5AB3E}"/>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83250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743B3-1526-7C42-5D1E-F800423F8A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823CF1-92A9-379B-2137-1E6179E6A4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BC939-1232-F1BE-40EE-926F7F3221E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49314AEF-05BD-1B4A-FFF2-7F78AB001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DB8F82-AEF6-1E0B-765F-D74DBC30156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806874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4574F-8BA0-4DD9-8A0D-88DF8E86708B}"/>
              </a:ext>
            </a:extLst>
          </p:cNvPr>
          <p:cNvSpPr>
            <a:spLocks noGrp="1"/>
          </p:cNvSpPr>
          <p:nvPr>
            <p:ph type="ctrTitle"/>
          </p:nvPr>
        </p:nvSpPr>
        <p:spPr>
          <a:xfrm>
            <a:off x="5193437" y="1600199"/>
            <a:ext cx="6998563" cy="2732103"/>
          </a:xfrm>
          <a:prstGeom prst="rect">
            <a:avLst/>
          </a:prstGeom>
        </p:spPr>
        <p:txBody>
          <a:bodyPr anchor="b"/>
          <a:lstStyle>
            <a:lvl1pPr algn="l">
              <a:defRPr sz="6000">
                <a:latin typeface="Cambria" panose="02040503050406030204" pitchFamily="18" charset="0"/>
                <a:ea typeface="Cambria" panose="020405030504060302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E082D7F5-BC12-43B2-9B38-EB14BFE04EE1}"/>
              </a:ext>
            </a:extLst>
          </p:cNvPr>
          <p:cNvSpPr>
            <a:spLocks noGrp="1"/>
          </p:cNvSpPr>
          <p:nvPr>
            <p:ph type="subTitle" idx="1"/>
          </p:nvPr>
        </p:nvSpPr>
        <p:spPr>
          <a:xfrm>
            <a:off x="5193437" y="4422159"/>
            <a:ext cx="6998564" cy="365125"/>
          </a:xfrm>
          <a:prstGeom prst="rect">
            <a:avLst/>
          </a:prstGeom>
        </p:spPr>
        <p:txBody>
          <a:bodyPr/>
          <a:lstStyle>
            <a:lvl1pPr marL="0" indent="0" algn="l">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91443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311370" y="18257"/>
            <a:ext cx="8880629" cy="7896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dirty="0"/>
          </a:p>
        </p:txBody>
      </p:sp>
      <p:sp>
        <p:nvSpPr>
          <p:cNvPr id="6" name="Title Placeholder 1">
            <a:extLst>
              <a:ext uri="{FF2B5EF4-FFF2-40B4-BE49-F238E27FC236}">
                <a16:creationId xmlns:a16="http://schemas.microsoft.com/office/drawing/2014/main" id="{05D78967-21EF-4AA2-8BE4-2FCA6F8A7653}"/>
              </a:ext>
            </a:extLst>
          </p:cNvPr>
          <p:cNvSpPr>
            <a:spLocks noGrp="1"/>
          </p:cNvSpPr>
          <p:nvPr>
            <p:ph type="title"/>
          </p:nvPr>
        </p:nvSpPr>
        <p:spPr>
          <a:xfrm>
            <a:off x="628176" y="1"/>
            <a:ext cx="8187350" cy="571499"/>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1259163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628176" y="1597981"/>
            <a:ext cx="10966059" cy="4578982"/>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6E3DAE31-D39D-4D91-8F50-8D056054A62F}"/>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4165683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628176" y="1597981"/>
            <a:ext cx="10941322" cy="4580877"/>
          </a:xfrm>
        </p:spPr>
        <p:txBody>
          <a:bodyPr/>
          <a:lstStyle>
            <a:lvl1pPr marL="0" indent="0">
              <a:buNone/>
              <a:defRPr sz="2400">
                <a:solidFill>
                  <a:srgbClr val="0070C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Title Placeholder 1">
            <a:extLst>
              <a:ext uri="{FF2B5EF4-FFF2-40B4-BE49-F238E27FC236}">
                <a16:creationId xmlns:a16="http://schemas.microsoft.com/office/drawing/2014/main" id="{4381502F-F4F5-47E5-A036-3E8E88EBED0C}"/>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Tree>
    <p:extLst>
      <p:ext uri="{BB962C8B-B14F-4D97-AF65-F5344CB8AC3E}">
        <p14:creationId xmlns:p14="http://schemas.microsoft.com/office/powerpoint/2010/main" val="3411103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612560"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6096001"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A06B0EA4-C8A7-4132-BFEF-0DDFF81DF1AE}"/>
              </a:ext>
            </a:extLst>
          </p:cNvPr>
          <p:cNvSpPr>
            <a:spLocks noGrp="1"/>
          </p:cNvSpPr>
          <p:nvPr>
            <p:ph type="title"/>
          </p:nvPr>
        </p:nvSpPr>
        <p:spPr>
          <a:xfrm>
            <a:off x="628176" y="1"/>
            <a:ext cx="8222861"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1567322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628175"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628175" y="2512381"/>
            <a:ext cx="5462626"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6090802"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6090801" y="2512381"/>
            <a:ext cx="5467825"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A49F13EA-C024-48AE-90B5-68F588A6D2CF}"/>
              </a:ext>
            </a:extLst>
          </p:cNvPr>
          <p:cNvSpPr>
            <a:spLocks noGrp="1"/>
          </p:cNvSpPr>
          <p:nvPr>
            <p:ph type="title"/>
          </p:nvPr>
        </p:nvSpPr>
        <p:spPr>
          <a:xfrm>
            <a:off x="628176" y="1"/>
            <a:ext cx="8231739" cy="55244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0127848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747FC4C-9430-4B68-AD2B-005799395D39}"/>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
        <p:nvSpPr>
          <p:cNvPr id="4" name="TextBox 3"/>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5" name="TextBox 4"/>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2245505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051394" y="1606858"/>
            <a:ext cx="6507234" cy="456312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628176" y="1606859"/>
            <a:ext cx="4165766" cy="456312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38BBB283-F300-4A19-B448-60B2206B6F55}"/>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317415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183188" y="1606858"/>
            <a:ext cx="6375440" cy="4554244"/>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628175" y="1606859"/>
            <a:ext cx="4245665" cy="4554244"/>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64732130-B38F-4E21-8A3C-589F26725E53}"/>
              </a:ext>
            </a:extLst>
          </p:cNvPr>
          <p:cNvSpPr>
            <a:spLocks noGrp="1"/>
          </p:cNvSpPr>
          <p:nvPr>
            <p:ph type="title"/>
          </p:nvPr>
        </p:nvSpPr>
        <p:spPr>
          <a:xfrm>
            <a:off x="628176" y="1"/>
            <a:ext cx="8222861" cy="581024"/>
          </a:xfrm>
          <a:prstGeom prst="rect">
            <a:avLst/>
          </a:prstGeom>
        </p:spPr>
        <p:txBody>
          <a:bodyPr vert="horz" lIns="91440" tIns="45720" rIns="91440" bIns="45720" rtlCol="0" anchor="ctr">
            <a:normAutofit/>
          </a:bodyPr>
          <a:lstStyle/>
          <a:p>
            <a:endParaRPr lang="en-US" dirty="0"/>
          </a:p>
        </p:txBody>
      </p:sp>
      <p:sp>
        <p:nvSpPr>
          <p:cNvPr id="6" name="TextBox 5"/>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7" name="TextBox 6"/>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4722815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628176" y="1597981"/>
            <a:ext cx="10941322" cy="45789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Placeholder 1">
            <a:extLst>
              <a:ext uri="{FF2B5EF4-FFF2-40B4-BE49-F238E27FC236}">
                <a16:creationId xmlns:a16="http://schemas.microsoft.com/office/drawing/2014/main" id="{3086777C-386E-4DFE-9BE7-63682A461485}"/>
              </a:ext>
            </a:extLst>
          </p:cNvPr>
          <p:cNvSpPr>
            <a:spLocks noGrp="1"/>
          </p:cNvSpPr>
          <p:nvPr>
            <p:ph type="title"/>
          </p:nvPr>
        </p:nvSpPr>
        <p:spPr>
          <a:xfrm>
            <a:off x="628176" y="1"/>
            <a:ext cx="8213983" cy="57149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8665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628175" y="1589103"/>
            <a:ext cx="10941322" cy="458786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AABDBED6-01BA-4F2B-9569-ED8032753950}"/>
              </a:ext>
            </a:extLst>
          </p:cNvPr>
          <p:cNvSpPr>
            <a:spLocks noGrp="1"/>
          </p:cNvSpPr>
          <p:nvPr>
            <p:ph type="title"/>
          </p:nvPr>
        </p:nvSpPr>
        <p:spPr>
          <a:xfrm>
            <a:off x="628176" y="1"/>
            <a:ext cx="8205106" cy="56197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9598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3.jp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3.xml"/><Relationship Id="rId5" Type="http://schemas.openxmlformats.org/officeDocument/2006/relationships/slideLayout" Target="../slideLayouts/slideLayout17.xml"/><Relationship Id="rId15" Type="http://schemas.openxmlformats.org/officeDocument/2006/relationships/image" Target="../media/image6.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796FF-222D-1E2E-7D23-7C2CDFE1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41ED22-2335-D77A-68F2-5BD129B13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4A63B-33FC-3D66-67A2-4F63979F6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F7709777-C88E-DEB1-2C91-66BDF4E70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DB51AD0-DD74-2C46-CF95-2202E3B9F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103FC1-3A4E-448F-B845-A3E46F94BBE5}" type="slidenum">
              <a:rPr lang="en-US" smtClean="0"/>
              <a:t>‹#›</a:t>
            </a:fld>
            <a:endParaRPr lang="en-US"/>
          </a:p>
        </p:txBody>
      </p:sp>
    </p:spTree>
    <p:extLst>
      <p:ext uri="{BB962C8B-B14F-4D97-AF65-F5344CB8AC3E}">
        <p14:creationId xmlns:p14="http://schemas.microsoft.com/office/powerpoint/2010/main" val="477498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236DA72-9373-413D-90C2-B12F84A4BF3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13" name="Rectangle 12">
            <a:extLst>
              <a:ext uri="{FF2B5EF4-FFF2-40B4-BE49-F238E27FC236}">
                <a16:creationId xmlns:a16="http://schemas.microsoft.com/office/drawing/2014/main" id="{B700E21E-0BA2-4C89-8691-A6161B41AA11}"/>
              </a:ext>
            </a:extLst>
          </p:cNvPr>
          <p:cNvSpPr/>
          <p:nvPr userDrawn="1"/>
        </p:nvSpPr>
        <p:spPr>
          <a:xfrm>
            <a:off x="5184559" y="1600200"/>
            <a:ext cx="7007441" cy="365760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Logo&#10;&#10;Description automatically generated">
            <a:extLst>
              <a:ext uri="{FF2B5EF4-FFF2-40B4-BE49-F238E27FC236}">
                <a16:creationId xmlns:a16="http://schemas.microsoft.com/office/drawing/2014/main" id="{437EFD07-DCAC-4344-A296-7B657609E7D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28178" y="183674"/>
            <a:ext cx="2736460" cy="499085"/>
          </a:xfrm>
          <a:prstGeom prst="rect">
            <a:avLst/>
          </a:prstGeom>
        </p:spPr>
      </p:pic>
    </p:spTree>
    <p:extLst>
      <p:ext uri="{BB962C8B-B14F-4D97-AF65-F5344CB8AC3E}">
        <p14:creationId xmlns:p14="http://schemas.microsoft.com/office/powerpoint/2010/main" val="116522316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EDE25AE-F103-49BC-9B89-0B1E7BCFB6DE}"/>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2000" cy="572738"/>
          </a:xfrm>
          <a:prstGeom prst="rect">
            <a:avLst/>
          </a:prstGeom>
        </p:spPr>
      </p:pic>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28176" y="1"/>
            <a:ext cx="8213983" cy="572737"/>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628176" y="1313895"/>
            <a:ext cx="10941323" cy="48630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a:extLst>
              <a:ext uri="{FF2B5EF4-FFF2-40B4-BE49-F238E27FC236}">
                <a16:creationId xmlns:a16="http://schemas.microsoft.com/office/drawing/2014/main" id="{24CB6BFF-A477-48C9-AA27-0D5A005B4CC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407121"/>
            <a:ext cx="12192000" cy="450879"/>
          </a:xfrm>
          <a:prstGeom prst="rect">
            <a:avLst/>
          </a:prstGeom>
        </p:spPr>
      </p:pic>
      <p:pic>
        <p:nvPicPr>
          <p:cNvPr id="16" name="Picture 15" descr="Logo&#10;&#10;Description automatically generated">
            <a:extLst>
              <a:ext uri="{FF2B5EF4-FFF2-40B4-BE49-F238E27FC236}">
                <a16:creationId xmlns:a16="http://schemas.microsoft.com/office/drawing/2014/main" id="{5381A15E-FFCE-435E-9C14-6C629375BFF6}"/>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9229725" y="73518"/>
            <a:ext cx="2334099" cy="425701"/>
          </a:xfrm>
          <a:prstGeom prst="rect">
            <a:avLst/>
          </a:prstGeom>
        </p:spPr>
      </p:pic>
      <p:pic>
        <p:nvPicPr>
          <p:cNvPr id="17" name="Picture 16" descr="Shape&#10;&#10;Description automatically generated with medium confidence">
            <a:extLst>
              <a:ext uri="{FF2B5EF4-FFF2-40B4-BE49-F238E27FC236}">
                <a16:creationId xmlns:a16="http://schemas.microsoft.com/office/drawing/2014/main" id="{290B9EB1-B956-4D5D-A294-4C2DE882032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524479" y="6585209"/>
            <a:ext cx="3743535" cy="321429"/>
          </a:xfrm>
          <a:prstGeom prst="rect">
            <a:avLst/>
          </a:prstGeom>
        </p:spPr>
      </p:pic>
    </p:spTree>
    <p:extLst>
      <p:ext uri="{BB962C8B-B14F-4D97-AF65-F5344CB8AC3E}">
        <p14:creationId xmlns:p14="http://schemas.microsoft.com/office/powerpoint/2010/main" val="251509094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algn="l" defTabSz="914400" rtl="0" eaLnBrk="1" latinLnBrk="0" hangingPunct="1">
        <a:lnSpc>
          <a:spcPct val="90000"/>
        </a:lnSpc>
        <a:spcBef>
          <a:spcPct val="0"/>
        </a:spcBef>
        <a:buNone/>
        <a:defRPr sz="30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mudassiriqbal.net/project-schedule-management/" TargetMode="External"/><Relationship Id="rId2" Type="http://schemas.openxmlformats.org/officeDocument/2006/relationships/image" Target="../media/image11.jpg"/><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br>
              <a:rPr lang="en-US" sz="4000" b="0" dirty="0">
                <a:solidFill>
                  <a:schemeClr val="bg1"/>
                </a:solidFill>
                <a:effectLst/>
                <a:latin typeface="Cambria" panose="02040503050406030204" pitchFamily="18" charset="0"/>
                <a:ea typeface="Cambria" panose="02040503050406030204" pitchFamily="18" charset="0"/>
              </a:rPr>
            </a:br>
            <a:r>
              <a:rPr lang="en-US" sz="4000" b="0" dirty="0">
                <a:solidFill>
                  <a:schemeClr val="bg1"/>
                </a:solidFill>
                <a:effectLst/>
                <a:latin typeface="Cambria" panose="02040503050406030204" pitchFamily="18" charset="0"/>
                <a:ea typeface="Cambria" panose="02040503050406030204" pitchFamily="18" charset="0"/>
              </a:rPr>
              <a:t>INFORMATION TECHNOLOGY PROJECT MANAGEMENT </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en-US" sz="2700" dirty="0">
                <a:solidFill>
                  <a:schemeClr val="accent1">
                    <a:lumMod val="40000"/>
                    <a:lumOff val="60000"/>
                  </a:schemeClr>
                </a:solidFill>
                <a:latin typeface="Cambria" panose="02040503050406030204" pitchFamily="18" charset="0"/>
                <a:ea typeface="Cambria" panose="02040503050406030204" pitchFamily="18" charset="0"/>
              </a:rPr>
              <a:t>Chap IV: </a:t>
            </a:r>
            <a:r>
              <a:rPr lang="vi-VN" sz="2700" dirty="0">
                <a:solidFill>
                  <a:schemeClr val="accent1">
                    <a:lumMod val="40000"/>
                    <a:lumOff val="60000"/>
                  </a:schemeClr>
                </a:solidFill>
                <a:latin typeface="Cambria" panose="02040503050406030204" pitchFamily="18" charset="0"/>
                <a:ea typeface="Cambria" panose="02040503050406030204" pitchFamily="18" charset="0"/>
              </a:rPr>
              <a:t>IT </a:t>
            </a:r>
            <a:r>
              <a:rPr lang="en-US" sz="2700" dirty="0">
                <a:solidFill>
                  <a:schemeClr val="accent1">
                    <a:lumMod val="40000"/>
                    <a:lumOff val="60000"/>
                  </a:schemeClr>
                </a:solidFill>
                <a:latin typeface="Cambria" panose="02040503050406030204" pitchFamily="18" charset="0"/>
                <a:ea typeface="Cambria" panose="02040503050406030204" pitchFamily="18" charset="0"/>
              </a:rPr>
              <a:t>project Cost</a:t>
            </a:r>
            <a:r>
              <a:rPr lang="vi-VN" sz="2700" dirty="0">
                <a:solidFill>
                  <a:schemeClr val="accent1">
                    <a:lumMod val="40000"/>
                    <a:lumOff val="60000"/>
                  </a:schemeClr>
                </a:solidFill>
                <a:latin typeface="Cambria" panose="02040503050406030204" pitchFamily="18" charset="0"/>
                <a:ea typeface="Cambria" panose="02040503050406030204" pitchFamily="18" charset="0"/>
              </a:rPr>
              <a:t> management</a:t>
            </a:r>
            <a:br>
              <a:rPr lang="en-US" sz="2700" dirty="0">
                <a:solidFill>
                  <a:schemeClr val="bg1"/>
                </a:solidFill>
                <a:latin typeface="Cambria" panose="02040503050406030204" pitchFamily="18" charset="0"/>
                <a:ea typeface="Cambria" panose="02040503050406030204" pitchFamily="18" charset="0"/>
              </a:rPr>
            </a:br>
            <a:r>
              <a:rPr lang="en-US" sz="2000" dirty="0">
                <a:solidFill>
                  <a:schemeClr val="accent1">
                    <a:lumMod val="60000"/>
                    <a:lumOff val="40000"/>
                  </a:schemeClr>
                </a:solidFill>
                <a:latin typeface="Cambria" panose="02040503050406030204" pitchFamily="18" charset="0"/>
                <a:ea typeface="Cambria" panose="02040503050406030204" pitchFamily="18" charset="0"/>
              </a:rPr>
              <a:t>Lecturer:  </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684941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58055" y="975092"/>
            <a:ext cx="10788691" cy="20116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TẦM QUAN TRỌNG CỦA VIỆC QUẢN LÝ  CHI PHÍ DỰ ÁN</a:t>
            </a: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QUI TRÌNH QUẢN LÝ CHI PHÍ DỰ ÁN</a:t>
            </a: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KIỂM SOÁT VÀ ĐIỀU CHỈNH DỰ ÁN</a:t>
            </a: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PHÂN TÍCH TÀI CHÍNH DỰ ÁN</a:t>
            </a:r>
          </a:p>
          <a:p>
            <a:pPr marL="346075" indent="-346075">
              <a:lnSpc>
                <a:spcPct val="100000"/>
              </a:lnSpc>
              <a:spcBef>
                <a:spcPts val="0"/>
              </a:spcBef>
              <a:spcAft>
                <a:spcPts val="600"/>
              </a:spcAft>
              <a:buFont typeface="+mj-lt"/>
              <a:buAutoNum type="arabicPeriod"/>
            </a:pPr>
            <a:endParaRPr lang="en-US" sz="1800" b="1" dirty="0">
              <a:solidFill>
                <a:schemeClr val="bg1"/>
              </a:solidFill>
              <a:latin typeface="Cambria" panose="02040503050406030204" pitchFamily="18" charset="0"/>
              <a:ea typeface="Cambria" panose="02040503050406030204" pitchFamily="18" charset="0"/>
            </a:endParaRPr>
          </a:p>
        </p:txBody>
      </p:sp>
      <p:sp>
        <p:nvSpPr>
          <p:cNvPr id="5" name="Rectangle 4">
            <a:extLst>
              <a:ext uri="{FF2B5EF4-FFF2-40B4-BE49-F238E27FC236}">
                <a16:creationId xmlns:a16="http://schemas.microsoft.com/office/drawing/2014/main" id="{A95C758D-1344-FC52-DE08-DE5407E409D5}"/>
              </a:ext>
            </a:extLst>
          </p:cNvPr>
          <p:cNvSpPr/>
          <p:nvPr/>
        </p:nvSpPr>
        <p:spPr>
          <a:xfrm>
            <a:off x="458055" y="451872"/>
            <a:ext cx="1787221" cy="523220"/>
          </a:xfrm>
          <a:prstGeom prst="rect">
            <a:avLst/>
          </a:prstGeom>
        </p:spPr>
        <p:txBody>
          <a:bodyPr wrap="square">
            <a:spAutoFit/>
          </a:bodyPr>
          <a:lstStyle/>
          <a:p>
            <a:r>
              <a:rPr lang="en-AU" sz="2800" b="1" dirty="0">
                <a:solidFill>
                  <a:schemeClr val="accent5"/>
                </a:solidFill>
                <a:latin typeface="Cambria" panose="02040503050406030204" pitchFamily="18" charset="0"/>
                <a:ea typeface="Cambria" panose="02040503050406030204" pitchFamily="18" charset="0"/>
              </a:rPr>
              <a:t>CONTENT</a:t>
            </a:r>
          </a:p>
        </p:txBody>
      </p:sp>
    </p:spTree>
    <p:extLst>
      <p:ext uri="{BB962C8B-B14F-4D97-AF65-F5344CB8AC3E}">
        <p14:creationId xmlns:p14="http://schemas.microsoft.com/office/powerpoint/2010/main" val="275841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7D571B-31DC-DFD8-0B63-31E0DE77B32B}"/>
              </a:ext>
            </a:extLst>
          </p:cNvPr>
          <p:cNvSpPr txBox="1"/>
          <p:nvPr/>
        </p:nvSpPr>
        <p:spPr>
          <a:xfrm>
            <a:off x="423429" y="443567"/>
            <a:ext cx="10803371" cy="2723823"/>
          </a:xfrm>
          <a:prstGeom prst="rect">
            <a:avLst/>
          </a:prstGeom>
          <a:noFill/>
        </p:spPr>
        <p:txBody>
          <a:bodyPr wrap="square">
            <a:spAutoFit/>
          </a:bodyPr>
          <a:lstStyle/>
          <a:p>
            <a:pPr algn="l"/>
            <a:r>
              <a:rPr lang="en-US" sz="2000" b="1" dirty="0">
                <a:solidFill>
                  <a:schemeClr val="accent2">
                    <a:lumMod val="75000"/>
                  </a:schemeClr>
                </a:solidFill>
                <a:latin typeface="Cambria" panose="02040503050406030204" pitchFamily="18" charset="0"/>
                <a:ea typeface="Cambria" panose="02040503050406030204" pitchFamily="18" charset="0"/>
              </a:rPr>
              <a:t>MỤC TIÊU CỦA CHAPTER IV – QUẢN LÝ CHI PHÍ DỰ ÁN</a:t>
            </a:r>
          </a:p>
          <a:p>
            <a:pPr marL="742950" lvl="1" indent="-285750" algn="just">
              <a:spcBef>
                <a:spcPct val="0"/>
              </a:spcBef>
              <a:spcAft>
                <a:spcPts val="600"/>
              </a:spcAft>
              <a:buClr>
                <a:schemeClr val="accent2">
                  <a:lumMod val="75000"/>
                </a:schemeClr>
              </a:buClr>
              <a:buSzPct val="140000"/>
              <a:buFont typeface="Wingdings" panose="05000000000000000000" pitchFamily="2" charset="2"/>
              <a:buChar char="§"/>
            </a:pPr>
            <a:endParaRPr lang="en-US" dirty="0">
              <a:latin typeface="Cambria" panose="02040503050406030204" pitchFamily="18" charset="0"/>
              <a:ea typeface="Cambria" panose="02040503050406030204" pitchFamily="18" charset="0"/>
            </a:endParaRPr>
          </a:p>
          <a:p>
            <a:pPr marL="742950" lvl="1" indent="-285750" algn="just">
              <a:spcBef>
                <a:spcPct val="0"/>
              </a:spcBef>
              <a:spcAft>
                <a:spcPts val="6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Hiểu được tầm quan trọng của việc quản lý chi phí dự án</a:t>
            </a:r>
          </a:p>
          <a:p>
            <a:pPr marL="742950" lvl="1" indent="-285750" algn="just">
              <a:spcBef>
                <a:spcPct val="0"/>
              </a:spcBef>
              <a:spcAft>
                <a:spcPts val="6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Hiểu được Qui trình Quản lý chi phí dự án.</a:t>
            </a:r>
          </a:p>
          <a:p>
            <a:pPr marL="741363" lvl="1" indent="-285750" algn="just">
              <a:spcBef>
                <a:spcPct val="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Phân tích tài chính cho dự án: Tính Giá trị Thực (Net Present Value – NPV), Tính Giá trị Thu được trên</a:t>
            </a:r>
          </a:p>
          <a:p>
            <a:pPr marL="741363" lvl="1" algn="just">
              <a:spcBef>
                <a:spcPct val="0"/>
              </a:spcBef>
              <a:spcAft>
                <a:spcPts val="600"/>
              </a:spcAft>
              <a:buClr>
                <a:schemeClr val="accent2">
                  <a:lumMod val="75000"/>
                </a:schemeClr>
              </a:buClr>
              <a:buSzPct val="140000"/>
            </a:pPr>
            <a:r>
              <a:rPr lang="vi-VN" dirty="0">
                <a:latin typeface="Cambria" panose="02040503050406030204" pitchFamily="18" charset="0"/>
                <a:ea typeface="Cambria" panose="02040503050406030204" pitchFamily="18" charset="0"/>
              </a:rPr>
              <a:t>Vốn đầu tư (Return On Investment – ROI), Tính Giá trị kiếm được (Payback Analysis – PA), Lựa chọn 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mô</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hình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đánh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theo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trọng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a:t>
            </a:r>
          </a:p>
          <a:p>
            <a:pPr marL="742950" lvl="1" indent="-285750" algn="just">
              <a:spcBef>
                <a:spcPct val="0"/>
              </a:spcBef>
              <a:spcAft>
                <a:spcPts val="6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Kiểm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soát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điều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chỉnh</a:t>
            </a:r>
            <a:r>
              <a:rPr lang="en-US" dirty="0">
                <a:latin typeface="Cambria" panose="02040503050406030204" pitchFamily="18" charset="0"/>
                <a:ea typeface="Cambria" panose="02040503050406030204" pitchFamily="18" charset="0"/>
              </a:rPr>
              <a:t> chi </a:t>
            </a:r>
            <a:r>
              <a:rPr lang="en-US" dirty="0" err="1">
                <a:latin typeface="Cambria" panose="02040503050406030204" pitchFamily="18" charset="0"/>
                <a:ea typeface="Cambria" panose="02040503050406030204" pitchFamily="18" charset="0"/>
              </a:rPr>
              <a:t>phí</a:t>
            </a:r>
            <a:r>
              <a:rPr lang="en-US" dirty="0">
                <a:latin typeface="Cambria" panose="02040503050406030204" pitchFamily="18" charset="0"/>
                <a:ea typeface="Cambria" panose="02040503050406030204" pitchFamily="18" charset="0"/>
              </a:rPr>
              <a:t>: EMV (Earned value management).</a:t>
            </a:r>
          </a:p>
        </p:txBody>
      </p:sp>
    </p:spTree>
    <p:extLst>
      <p:ext uri="{BB962C8B-B14F-4D97-AF65-F5344CB8AC3E}">
        <p14:creationId xmlns:p14="http://schemas.microsoft.com/office/powerpoint/2010/main" val="1948131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346075" indent="-346075">
              <a:lnSpc>
                <a:spcPct val="100000"/>
              </a:lnSpc>
              <a:spcBef>
                <a:spcPts val="0"/>
              </a:spcBef>
              <a:spcAft>
                <a:spcPts val="600"/>
              </a:spcAft>
              <a:buFont typeface="+mj-lt"/>
              <a:buAutoNum type="arabicPeriod"/>
            </a:pPr>
            <a:r>
              <a:rPr lang="en-US" sz="3200" b="1" dirty="0">
                <a:solidFill>
                  <a:schemeClr val="bg1"/>
                </a:solidFill>
                <a:latin typeface="Cambria" panose="02040503050406030204" pitchFamily="18" charset="0"/>
                <a:ea typeface="Cambria" panose="02040503050406030204" pitchFamily="18" charset="0"/>
              </a:rPr>
              <a:t> TẦM QUAN TRỌNG CỦA VIỆC QUẢN LÝ CHI PHÍ </a:t>
            </a: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1083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958413" y="8636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78483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1. TẦM QUAN TRỌNG CỦA VIỆC QUẢN LÝ CHI PHÍ</a:t>
            </a: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2123658"/>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cost management</a:t>
            </a:r>
          </a:p>
          <a:p>
            <a:pPr eaLnBrk="1" hangingPunct="1">
              <a:spcBef>
                <a:spcPct val="20000"/>
              </a:spcBef>
            </a:pPr>
            <a:endParaRPr lang="en-US" altLang="en-US" sz="2000" b="1" dirty="0">
              <a:solidFill>
                <a:schemeClr val="bg1"/>
              </a:solidFill>
              <a:latin typeface="Cambria" panose="02040503050406030204" pitchFamily="18" charset="0"/>
              <a:ea typeface="Cambria" panose="02040503050406030204" pitchFamily="18" charset="0"/>
            </a:endParaRPr>
          </a:p>
          <a:p>
            <a:pPr algn="r">
              <a:spcBef>
                <a:spcPct val="20000"/>
              </a:spcBef>
            </a:pPr>
            <a:r>
              <a:rPr lang="en-US" sz="2000" i="1" dirty="0">
                <a:solidFill>
                  <a:schemeClr val="bg1"/>
                </a:solidFill>
                <a:latin typeface="Cambria" panose="02040503050406030204" pitchFamily="18" charset="0"/>
                <a:ea typeface="Cambria" panose="02040503050406030204" pitchFamily="18" charset="0"/>
              </a:rPr>
              <a:t>“The processes required to accomplish timely completion of the project”</a:t>
            </a:r>
          </a:p>
          <a:p>
            <a:pPr algn="r">
              <a:spcBef>
                <a:spcPct val="20000"/>
              </a:spcBef>
            </a:pPr>
            <a:endParaRPr lang="en-US" altLang="en-US" sz="2000" i="1"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FE714B9-5A5F-472B-6C92-566A3A41D434}"/>
              </a:ext>
            </a:extLst>
          </p:cNvPr>
          <p:cNvSpPr txBox="1"/>
          <p:nvPr/>
        </p:nvSpPr>
        <p:spPr>
          <a:xfrm>
            <a:off x="337583" y="784286"/>
            <a:ext cx="7492216" cy="3093154"/>
          </a:xfrm>
          <a:prstGeom prst="rect">
            <a:avLst/>
          </a:prstGeom>
          <a:noFill/>
        </p:spPr>
        <p:txBody>
          <a:bodyPr wrap="square">
            <a:spAutoFit/>
          </a:bodyPr>
          <a:lstStyle/>
          <a:p>
            <a:pPr algn="just" fontAlgn="base"/>
            <a:r>
              <a:rPr lang="vi-VN" dirty="0">
                <a:latin typeface="Cambria" panose="02040503050406030204" pitchFamily="18" charset="0"/>
                <a:ea typeface="Cambria" panose="02040503050406030204" pitchFamily="18" charset="0"/>
              </a:rPr>
              <a:t>Quản lý tài chính đảm bảo dự án được hoàn tất trong giới hạn ngân sách cho phép. Càng kiểm soát tốt chi phí, nhà quản lý dự án càng nắm bắt chính xác thực tế tình hình triển khai toàn bộ dự án trong doanh nghiệp, từ đó có kế hoạch thúc đẩy kịp thời nhằm hoàn thiện theo đúng tiến độ đề ra, đồng thời đưa ra những biện pháp xử lý trong mức ngân sách đã định.</a:t>
            </a:r>
          </a:p>
          <a:p>
            <a:pPr marL="285750" lvl="1" indent="-285750" algn="just" fontAlgn="base">
              <a:spcBef>
                <a:spcPts val="60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Đảm bảo tiến độ thực hiện dự án cũng như đảm bảo hiệu quả dự án.</a:t>
            </a:r>
          </a:p>
          <a:p>
            <a:pPr marL="285750" lvl="1" indent="-285750" algn="just" fontAlgn="base">
              <a:spcBef>
                <a:spcPts val="60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Kiểm soát tốt, kịp thời, nhanh chóng về chi phí để xác định mức chênh lệch so với kế hoạch ban đầu đề ra.</a:t>
            </a:r>
          </a:p>
          <a:p>
            <a:pPr marL="285750" lvl="1" indent="-285750" algn="just" fontAlgn="base">
              <a:spcBef>
                <a:spcPts val="60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Nhờ có công tác quản lý tài chính dự án mà sẽ ngăn ngừa những thay đổi không được phép, không đúng so với kế hoạch</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15531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KHÁI NIỆM QUẢN LÝ CHI PHÍ DỰ 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6BC9AA5-8946-053B-FB99-5970A0FF3789}"/>
              </a:ext>
            </a:extLst>
          </p:cNvPr>
          <p:cNvSpPr txBox="1"/>
          <p:nvPr/>
        </p:nvSpPr>
        <p:spPr>
          <a:xfrm>
            <a:off x="341127" y="724376"/>
            <a:ext cx="11511518" cy="5009064"/>
          </a:xfrm>
          <a:prstGeom prst="rect">
            <a:avLst/>
          </a:prstGeom>
          <a:noFill/>
        </p:spPr>
        <p:txBody>
          <a:bodyPr wrap="square">
            <a:spAutoFit/>
          </a:bodyPr>
          <a:lstStyle/>
          <a:p>
            <a:pPr marL="285750" lvl="1" indent="-285750" algn="just">
              <a:spcBef>
                <a:spcPts val="60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Chi phí là tài nguyên được </a:t>
            </a:r>
            <a:r>
              <a:rPr lang="en-US" dirty="0" err="1">
                <a:latin typeface="Cambria" panose="02040503050406030204" pitchFamily="18" charset="0"/>
                <a:ea typeface="Cambria" panose="02040503050406030204" pitchFamily="18" charset="0"/>
              </a:rPr>
              <a:t>sử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dụng</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hay tính trước để đạt được một mục tiêu rõ ràng hay để trao đổi cái gì đó. Chi phí thường được đo bằng đơn vị tiền tệ</a:t>
            </a:r>
            <a:r>
              <a:rPr lang="en-US" dirty="0">
                <a:latin typeface="Cambria" panose="02040503050406030204" pitchFamily="18" charset="0"/>
                <a:ea typeface="Cambria" panose="02040503050406030204" pitchFamily="18" charset="0"/>
              </a:rPr>
              <a:t>. </a:t>
            </a:r>
          </a:p>
          <a:p>
            <a:pPr marL="285750" lvl="1" indent="-285750" algn="just">
              <a:spcBef>
                <a:spcPts val="60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Quản lý chi phí dự án bao gồm những quy trình yêu cầu đảm bảo cho dự án được hoàn tất trong </a:t>
            </a:r>
            <a:r>
              <a:rPr lang="en-US" dirty="0" err="1">
                <a:latin typeface="Cambria" panose="02040503050406030204" pitchFamily="18" charset="0"/>
                <a:ea typeface="Cambria" panose="02040503050406030204" pitchFamily="18" charset="0"/>
              </a:rPr>
              <a:t>giới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hạn</a:t>
            </a:r>
            <a:r>
              <a:rPr lang="vi-VN" dirty="0">
                <a:latin typeface="Cambria" panose="02040503050406030204" pitchFamily="18" charset="0"/>
                <a:ea typeface="Cambria" panose="02040503050406030204" pitchFamily="18" charset="0"/>
              </a:rPr>
              <a:t> cho phép của ngân sách</a:t>
            </a:r>
            <a:endParaRPr lang="en-US" dirty="0">
              <a:latin typeface="Cambria" panose="02040503050406030204" pitchFamily="18" charset="0"/>
              <a:ea typeface="Cambria" panose="02040503050406030204" pitchFamily="18" charset="0"/>
            </a:endParaRPr>
          </a:p>
          <a:p>
            <a:pPr marL="0" lvl="1" algn="just">
              <a:spcBef>
                <a:spcPts val="600"/>
              </a:spcBef>
              <a:buClr>
                <a:schemeClr val="accent2">
                  <a:lumMod val="75000"/>
                </a:schemeClr>
              </a:buClr>
              <a:buSzPct val="140000"/>
            </a:pPr>
            <a:r>
              <a:rPr lang="en-US" i="1" dirty="0" err="1">
                <a:latin typeface="Cambria" panose="02040503050406030204" pitchFamily="18" charset="0"/>
                <a:ea typeface="Cambria" panose="02040503050406030204" pitchFamily="18" charset="0"/>
              </a:rPr>
              <a:t>Có</a:t>
            </a:r>
            <a:r>
              <a:rPr lang="en-US" i="1" dirty="0">
                <a:latin typeface="Cambria" panose="02040503050406030204" pitchFamily="18" charset="0"/>
                <a:ea typeface="Cambria" panose="02040503050406030204" pitchFamily="18" charset="0"/>
              </a:rPr>
              <a:t> 2 </a:t>
            </a:r>
            <a:r>
              <a:rPr lang="en-US" i="1" dirty="0" err="1">
                <a:latin typeface="Cambria" panose="02040503050406030204" pitchFamily="18" charset="0"/>
                <a:ea typeface="Cambria" panose="02040503050406030204" pitchFamily="18" charset="0"/>
              </a:rPr>
              <a:t>loại</a:t>
            </a:r>
            <a:r>
              <a:rPr lang="en-US" i="1" dirty="0">
                <a:latin typeface="Cambria" panose="02040503050406030204" pitchFamily="18" charset="0"/>
                <a:ea typeface="Cambria" panose="02040503050406030204" pitchFamily="18" charset="0"/>
              </a:rPr>
              <a:t> chi </a:t>
            </a:r>
            <a:r>
              <a:rPr lang="en-US" i="1" dirty="0" err="1">
                <a:latin typeface="Cambria" panose="02040503050406030204" pitchFamily="18" charset="0"/>
                <a:ea typeface="Cambria" panose="02040503050406030204" pitchFamily="18" charset="0"/>
              </a:rPr>
              <a:t>phí</a:t>
            </a:r>
            <a:endParaRPr lang="en-US" i="1" dirty="0">
              <a:latin typeface="Cambria" panose="02040503050406030204" pitchFamily="18" charset="0"/>
              <a:ea typeface="Cambria" panose="02040503050406030204" pitchFamily="18" charset="0"/>
            </a:endParaRPr>
          </a:p>
          <a:p>
            <a:pPr marL="285750" lvl="1" indent="-285750" algn="just">
              <a:spcBef>
                <a:spcPts val="60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Chi </a:t>
            </a:r>
            <a:r>
              <a:rPr lang="en-US" dirty="0" err="1">
                <a:latin typeface="Cambria" panose="02040503050406030204" pitchFamily="18" charset="0"/>
                <a:ea typeface="Cambria" panose="02040503050406030204" pitchFamily="18" charset="0"/>
              </a:rPr>
              <a:t>phí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tiếp</a:t>
            </a:r>
            <a:r>
              <a:rPr lang="en-US" dirty="0">
                <a:latin typeface="Cambria" panose="02040503050406030204" pitchFamily="18" charset="0"/>
                <a:ea typeface="Cambria" panose="02040503050406030204" pitchFamily="18" charset="0"/>
              </a:rPr>
              <a:t> </a:t>
            </a:r>
          </a:p>
          <a:p>
            <a:pPr marL="568325" lvl="1" indent="-285750" algn="just">
              <a:spcAft>
                <a:spcPts val="300"/>
              </a:spcAft>
              <a:buClr>
                <a:schemeClr val="accent2">
                  <a:lumMod val="75000"/>
                </a:schemeClr>
              </a:buClr>
              <a:buSzPct val="140000"/>
              <a:buFont typeface="Courier New" panose="02070309020205020404" pitchFamily="49" charset="0"/>
              <a:buChar char="o"/>
            </a:pPr>
            <a:r>
              <a:rPr lang="en-US" sz="1600" dirty="0">
                <a:solidFill>
                  <a:schemeClr val="tx1">
                    <a:lumMod val="65000"/>
                    <a:lumOff val="35000"/>
                  </a:schemeClr>
                </a:solidFill>
                <a:latin typeface="Cambria" panose="02040503050406030204" pitchFamily="18" charset="0"/>
                <a:ea typeface="Cambria" panose="02040503050406030204" pitchFamily="18" charset="0"/>
              </a:rPr>
              <a:t>Chi </a:t>
            </a:r>
            <a:r>
              <a:rPr lang="en-US" sz="1600" dirty="0" err="1">
                <a:solidFill>
                  <a:schemeClr val="tx1">
                    <a:lumMod val="65000"/>
                    <a:lumOff val="35000"/>
                  </a:schemeClr>
                </a:solidFill>
                <a:latin typeface="Cambria" panose="02040503050406030204" pitchFamily="18" charset="0"/>
                <a:ea typeface="Cambria" panose="02040503050406030204" pitchFamily="18" charset="0"/>
              </a:rPr>
              <a:t>phí</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nhân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sự</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làm</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việc</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trong</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dự</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án</a:t>
            </a:r>
            <a:r>
              <a:rPr lang="en-US" sz="1600" dirty="0">
                <a:solidFill>
                  <a:schemeClr val="tx1">
                    <a:lumMod val="65000"/>
                    <a:lumOff val="35000"/>
                  </a:schemeClr>
                </a:solidFill>
                <a:latin typeface="Cambria" panose="02040503050406030204" pitchFamily="18" charset="0"/>
                <a:ea typeface="Cambria" panose="02040503050406030204" pitchFamily="18" charset="0"/>
              </a:rPr>
              <a:t> - </a:t>
            </a:r>
            <a:r>
              <a:rPr lang="en-US" sz="1600" dirty="0" err="1">
                <a:solidFill>
                  <a:schemeClr val="tx1">
                    <a:lumMod val="65000"/>
                    <a:lumOff val="35000"/>
                  </a:schemeClr>
                </a:solidFill>
                <a:latin typeface="Cambria" panose="02040503050406030204" pitchFamily="18" charset="0"/>
                <a:ea typeface="Cambria" panose="02040503050406030204" pitchFamily="18" charset="0"/>
              </a:rPr>
              <a:t>nhân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viên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công</a:t>
            </a:r>
            <a:r>
              <a:rPr lang="en-US" sz="1600" dirty="0">
                <a:solidFill>
                  <a:schemeClr val="tx1">
                    <a:lumMod val="65000"/>
                    <a:lumOff val="35000"/>
                  </a:schemeClr>
                </a:solidFill>
                <a:latin typeface="Cambria" panose="02040503050406030204" pitchFamily="18" charset="0"/>
                <a:ea typeface="Cambria" panose="02040503050406030204" pitchFamily="18" charset="0"/>
              </a:rPr>
              <a:t> ty </a:t>
            </a:r>
            <a:r>
              <a:rPr lang="en-US" sz="1600" dirty="0" err="1">
                <a:solidFill>
                  <a:schemeClr val="tx1">
                    <a:lumMod val="65000"/>
                    <a:lumOff val="35000"/>
                  </a:schemeClr>
                </a:solidFill>
                <a:latin typeface="Cambria" panose="02040503050406030204" pitchFamily="18" charset="0"/>
                <a:ea typeface="Cambria" panose="02040503050406030204" pitchFamily="18" charset="0"/>
              </a:rPr>
              <a:t>hoặc</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nhân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sự</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thuê</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ngoài</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p>
          <a:p>
            <a:pPr marL="568325" lvl="1" indent="-285750" algn="just">
              <a:spcAft>
                <a:spcPts val="300"/>
              </a:spcAft>
              <a:buClr>
                <a:schemeClr val="accent2">
                  <a:lumMod val="75000"/>
                </a:schemeClr>
              </a:buClr>
              <a:buSzPct val="140000"/>
              <a:buFont typeface="Courier New" panose="02070309020205020404" pitchFamily="49" charset="0"/>
              <a:buChar char="o"/>
            </a:pPr>
            <a:r>
              <a:rPr lang="en-US" sz="1600" dirty="0" err="1">
                <a:solidFill>
                  <a:schemeClr val="tx1">
                    <a:lumMod val="65000"/>
                    <a:lumOff val="35000"/>
                  </a:schemeClr>
                </a:solidFill>
                <a:latin typeface="Cambria" panose="02040503050406030204" pitchFamily="18" charset="0"/>
                <a:ea typeface="Cambria" panose="02040503050406030204" pitchFamily="18" charset="0"/>
              </a:rPr>
              <a:t>Thiết</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bị</a:t>
            </a:r>
            <a:r>
              <a:rPr lang="en-US" sz="1600" dirty="0">
                <a:solidFill>
                  <a:schemeClr val="tx1">
                    <a:lumMod val="65000"/>
                    <a:lumOff val="35000"/>
                  </a:schemeClr>
                </a:solidFill>
                <a:latin typeface="Cambria" panose="02040503050406030204" pitchFamily="18" charset="0"/>
                <a:ea typeface="Cambria" panose="02040503050406030204" pitchFamily="18" charset="0"/>
              </a:rPr>
              <a:t> - </a:t>
            </a:r>
            <a:r>
              <a:rPr lang="en-US" sz="1600" dirty="0" err="1">
                <a:solidFill>
                  <a:schemeClr val="tx1">
                    <a:lumMod val="65000"/>
                    <a:lumOff val="35000"/>
                  </a:schemeClr>
                </a:solidFill>
                <a:latin typeface="Cambria" panose="02040503050406030204" pitchFamily="18" charset="0"/>
                <a:ea typeface="Cambria" panose="02040503050406030204" pitchFamily="18" charset="0"/>
              </a:rPr>
              <a:t>công</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cụ</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và</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máy</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móc</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hỗ</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trợ</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nhân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viên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sử</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dụng</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để</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hoàn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thành</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dự</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án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p>
          <a:p>
            <a:pPr marL="568325" lvl="1" indent="-285750" algn="just">
              <a:spcAft>
                <a:spcPts val="300"/>
              </a:spcAft>
              <a:buClr>
                <a:schemeClr val="accent2">
                  <a:lumMod val="75000"/>
                </a:schemeClr>
              </a:buClr>
              <a:buSzPct val="140000"/>
              <a:buFont typeface="Courier New" panose="02070309020205020404" pitchFamily="49" charset="0"/>
              <a:buChar char="o"/>
            </a:pPr>
            <a:r>
              <a:rPr lang="en-US" sz="1600" dirty="0">
                <a:solidFill>
                  <a:schemeClr val="tx1">
                    <a:lumMod val="65000"/>
                    <a:lumOff val="35000"/>
                  </a:schemeClr>
                </a:solidFill>
                <a:latin typeface="Cambria" panose="02040503050406030204" pitchFamily="18" charset="0"/>
                <a:ea typeface="Cambria" panose="02040503050406030204" pitchFamily="18" charset="0"/>
              </a:rPr>
              <a:t>Chi </a:t>
            </a:r>
            <a:r>
              <a:rPr lang="en-US" sz="1600" dirty="0" err="1">
                <a:solidFill>
                  <a:schemeClr val="tx1">
                    <a:lumMod val="65000"/>
                    <a:lumOff val="35000"/>
                  </a:schemeClr>
                </a:solidFill>
                <a:latin typeface="Cambria" panose="02040503050406030204" pitchFamily="18" charset="0"/>
                <a:ea typeface="Cambria" panose="02040503050406030204" pitchFamily="18" charset="0"/>
              </a:rPr>
              <a:t>phí</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quản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lý</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dự</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án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p>
          <a:p>
            <a:pPr marL="568325" lvl="1" indent="-285750" algn="just">
              <a:spcAft>
                <a:spcPts val="300"/>
              </a:spcAft>
              <a:buClr>
                <a:schemeClr val="accent2">
                  <a:lumMod val="75000"/>
                </a:schemeClr>
              </a:buClr>
              <a:buSzPct val="140000"/>
              <a:buFont typeface="Courier New" panose="02070309020205020404" pitchFamily="49" charset="0"/>
              <a:buChar char="o"/>
            </a:pPr>
            <a:r>
              <a:rPr lang="en-US" sz="1600" dirty="0">
                <a:solidFill>
                  <a:schemeClr val="tx1">
                    <a:lumMod val="65000"/>
                    <a:lumOff val="35000"/>
                  </a:schemeClr>
                </a:solidFill>
                <a:latin typeface="Cambria" panose="02040503050406030204" pitchFamily="18" charset="0"/>
                <a:ea typeface="Cambria" panose="02040503050406030204" pitchFamily="18" charset="0"/>
              </a:rPr>
              <a:t>Chi </a:t>
            </a:r>
            <a:r>
              <a:rPr lang="en-US" sz="1600" dirty="0" err="1">
                <a:solidFill>
                  <a:schemeClr val="tx1">
                    <a:lumMod val="65000"/>
                    <a:lumOff val="35000"/>
                  </a:schemeClr>
                </a:solidFill>
                <a:latin typeface="Cambria" panose="02040503050406030204" pitchFamily="18" charset="0"/>
                <a:ea typeface="Cambria" panose="02040503050406030204" pitchFamily="18" charset="0"/>
              </a:rPr>
              <a:t>phí</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kỹ</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thuật</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nếu</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cần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p>
          <a:p>
            <a:pPr marL="568325" lvl="1" indent="-285750" algn="just">
              <a:spcAft>
                <a:spcPts val="300"/>
              </a:spcAft>
              <a:buClr>
                <a:schemeClr val="accent2">
                  <a:lumMod val="75000"/>
                </a:schemeClr>
              </a:buClr>
              <a:buSzPct val="140000"/>
              <a:buFont typeface="Courier New" panose="02070309020205020404" pitchFamily="49" charset="0"/>
              <a:buChar char="o"/>
            </a:pPr>
            <a:r>
              <a:rPr lang="en-US" sz="1600" dirty="0">
                <a:solidFill>
                  <a:schemeClr val="tx1">
                    <a:lumMod val="65000"/>
                    <a:lumOff val="35000"/>
                  </a:schemeClr>
                </a:solidFill>
                <a:latin typeface="Cambria" panose="02040503050406030204" pitchFamily="18" charset="0"/>
                <a:ea typeface="Cambria" panose="02040503050406030204" pitchFamily="18" charset="0"/>
              </a:rPr>
              <a:t>Chi </a:t>
            </a:r>
            <a:r>
              <a:rPr lang="en-US" sz="1600" dirty="0" err="1">
                <a:solidFill>
                  <a:schemeClr val="tx1">
                    <a:lumMod val="65000"/>
                    <a:lumOff val="35000"/>
                  </a:schemeClr>
                </a:solidFill>
                <a:latin typeface="Cambria" panose="02040503050406030204" pitchFamily="18" charset="0"/>
                <a:ea typeface="Cambria" panose="02040503050406030204" pitchFamily="18" charset="0"/>
              </a:rPr>
              <a:t>phí</a:t>
            </a:r>
            <a:r>
              <a:rPr lang="en-US" sz="1600" dirty="0">
                <a:solidFill>
                  <a:schemeClr val="tx1">
                    <a:lumMod val="65000"/>
                    <a:lumOff val="35000"/>
                  </a:schemeClr>
                </a:solidFill>
                <a:latin typeface="Cambria" panose="02040503050406030204" pitchFamily="18" charset="0"/>
                <a:ea typeface="Cambria" panose="02040503050406030204" pitchFamily="18" charset="0"/>
              </a:rPr>
              <a:t> logistics (</a:t>
            </a:r>
            <a:r>
              <a:rPr lang="en-US" sz="1600" dirty="0" err="1">
                <a:solidFill>
                  <a:schemeClr val="tx1">
                    <a:lumMod val="65000"/>
                    <a:lumOff val="35000"/>
                  </a:schemeClr>
                </a:solidFill>
                <a:latin typeface="Cambria" panose="02040503050406030204" pitchFamily="18" charset="0"/>
                <a:ea typeface="Cambria" panose="02040503050406030204" pitchFamily="18" charset="0"/>
              </a:rPr>
              <a:t>nếu</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có</a:t>
            </a:r>
            <a:r>
              <a:rPr lang="en-US" sz="1600" dirty="0">
                <a:solidFill>
                  <a:schemeClr val="tx1">
                    <a:lumMod val="65000"/>
                    <a:lumOff val="35000"/>
                  </a:schemeClr>
                </a:solidFill>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Chi </a:t>
            </a:r>
            <a:r>
              <a:rPr lang="en-US" dirty="0" err="1">
                <a:latin typeface="Cambria" panose="02040503050406030204" pitchFamily="18" charset="0"/>
                <a:ea typeface="Cambria" panose="02040503050406030204" pitchFamily="18" charset="0"/>
              </a:rPr>
              <a:t>phí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tiếp</a:t>
            </a:r>
            <a:endParaRPr lang="en-US" dirty="0">
              <a:latin typeface="Cambria" panose="02040503050406030204" pitchFamily="18" charset="0"/>
              <a:ea typeface="Cambria" panose="02040503050406030204" pitchFamily="18" charset="0"/>
            </a:endParaRPr>
          </a:p>
          <a:p>
            <a:pPr marL="568325" lvl="1" indent="-285750" algn="just">
              <a:spcAft>
                <a:spcPts val="300"/>
              </a:spcAft>
              <a:buClr>
                <a:schemeClr val="accent2">
                  <a:lumMod val="75000"/>
                </a:schemeClr>
              </a:buClr>
              <a:buSzPct val="140000"/>
              <a:buFont typeface="Courier New" panose="02070309020205020404" pitchFamily="49" charset="0"/>
              <a:buChar char="o"/>
            </a:pPr>
            <a:r>
              <a:rPr lang="vi-VN" sz="1600" dirty="0">
                <a:solidFill>
                  <a:schemeClr val="tx1">
                    <a:lumMod val="65000"/>
                    <a:lumOff val="35000"/>
                  </a:schemeClr>
                </a:solidFill>
                <a:latin typeface="Cambria" panose="02040503050406030204" pitchFamily="18" charset="0"/>
                <a:ea typeface="Cambria" panose="02040503050406030204" pitchFamily="18" charset="0"/>
              </a:rPr>
              <a:t>Chi phí hoạt động chung, tức là tiền thuê văn phòng, điện nước, bảo hiểm, thiết bị văn phòng, tài nguyên,</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etc</a:t>
            </a:r>
            <a:endParaRPr lang="en-US" sz="1600" dirty="0">
              <a:solidFill>
                <a:schemeClr val="tx1">
                  <a:lumMod val="65000"/>
                  <a:lumOff val="35000"/>
                </a:schemeClr>
              </a:solidFill>
              <a:latin typeface="Cambria" panose="02040503050406030204" pitchFamily="18" charset="0"/>
              <a:ea typeface="Cambria" panose="02040503050406030204" pitchFamily="18" charset="0"/>
            </a:endParaRPr>
          </a:p>
          <a:p>
            <a:pPr marL="568325" lvl="1" indent="-285750" algn="just">
              <a:spcAft>
                <a:spcPts val="300"/>
              </a:spcAft>
              <a:buClr>
                <a:schemeClr val="accent2">
                  <a:lumMod val="75000"/>
                </a:schemeClr>
              </a:buClr>
              <a:buSzPct val="140000"/>
              <a:buFont typeface="Courier New" panose="02070309020205020404" pitchFamily="49" charset="0"/>
              <a:buChar char="o"/>
            </a:pPr>
            <a:r>
              <a:rPr lang="vi-VN" sz="1600" dirty="0">
                <a:solidFill>
                  <a:schemeClr val="tx1">
                    <a:lumMod val="65000"/>
                    <a:lumOff val="35000"/>
                  </a:schemeClr>
                </a:solidFill>
                <a:latin typeface="Cambria" panose="02040503050406030204" pitchFamily="18" charset="0"/>
                <a:ea typeface="Cambria" panose="02040503050406030204" pitchFamily="18" charset="0"/>
              </a:rPr>
              <a:t>Mức lương tăng hàng năm của nhân viên, thưởng lễ, tết,</a:t>
            </a:r>
            <a:r>
              <a:rPr lang="en-US" sz="1600" dirty="0">
                <a:solidFill>
                  <a:schemeClr val="tx1">
                    <a:lumMod val="65000"/>
                    <a:lumOff val="35000"/>
                  </a:schemeClr>
                </a:solidFill>
                <a:latin typeface="Cambria" panose="02040503050406030204" pitchFamily="18" charset="0"/>
                <a:ea typeface="Cambria" panose="02040503050406030204" pitchFamily="18" charset="0"/>
              </a:rPr>
              <a:t> </a:t>
            </a:r>
            <a:r>
              <a:rPr lang="en-US" sz="1600" dirty="0" err="1">
                <a:solidFill>
                  <a:schemeClr val="tx1">
                    <a:lumMod val="65000"/>
                    <a:lumOff val="35000"/>
                  </a:schemeClr>
                </a:solidFill>
                <a:latin typeface="Cambria" panose="02040503050406030204" pitchFamily="18" charset="0"/>
                <a:ea typeface="Cambria" panose="02040503050406030204" pitchFamily="18" charset="0"/>
              </a:rPr>
              <a:t>etc</a:t>
            </a:r>
            <a:endParaRPr lang="en-US" sz="1600" dirty="0">
              <a:solidFill>
                <a:schemeClr val="tx1">
                  <a:lumMod val="65000"/>
                  <a:lumOff val="35000"/>
                </a:schemeClr>
              </a:solidFill>
              <a:latin typeface="Cambria" panose="02040503050406030204" pitchFamily="18" charset="0"/>
              <a:ea typeface="Cambria" panose="02040503050406030204" pitchFamily="18" charset="0"/>
            </a:endParaRPr>
          </a:p>
          <a:p>
            <a:pPr marL="568325" lvl="1" indent="-285750" algn="just">
              <a:spcAft>
                <a:spcPts val="300"/>
              </a:spcAft>
              <a:buClr>
                <a:schemeClr val="accent2">
                  <a:lumMod val="75000"/>
                </a:schemeClr>
              </a:buClr>
              <a:buSzPct val="140000"/>
              <a:buFont typeface="Courier New" panose="02070309020205020404" pitchFamily="49" charset="0"/>
              <a:buChar char="o"/>
            </a:pPr>
            <a:r>
              <a:rPr lang="vi-VN" sz="1600" dirty="0">
                <a:solidFill>
                  <a:schemeClr val="tx1">
                    <a:lumMod val="65000"/>
                    <a:lumOff val="35000"/>
                  </a:schemeClr>
                </a:solidFill>
                <a:latin typeface="Cambria" panose="02040503050406030204" pitchFamily="18" charset="0"/>
                <a:ea typeface="Cambria" panose="02040503050406030204" pitchFamily="18" charset="0"/>
              </a:rPr>
              <a:t>Các công cụ công nghệ hỗ trợ làm việc hiệu quả</a:t>
            </a:r>
            <a:endParaRPr lang="en-US" sz="1600" dirty="0">
              <a:solidFill>
                <a:schemeClr val="tx1">
                  <a:lumMod val="65000"/>
                  <a:lumOff val="35000"/>
                </a:schemeClr>
              </a:solidFill>
              <a:latin typeface="Cambria" panose="02040503050406030204" pitchFamily="18" charset="0"/>
              <a:ea typeface="Cambria" panose="02040503050406030204" pitchFamily="18" charset="0"/>
            </a:endParaRPr>
          </a:p>
          <a:p>
            <a:pPr marL="0" lvl="1" algn="just">
              <a:spcBef>
                <a:spcPts val="600"/>
              </a:spcBef>
              <a:buClr>
                <a:schemeClr val="accent2">
                  <a:lumMod val="75000"/>
                </a:schemeClr>
              </a:buClr>
              <a:buSzPct val="140000"/>
            </a:pPr>
            <a:endParaRPr lang="vi-VN" dirty="0">
              <a:latin typeface="Cambria" panose="02040503050406030204" pitchFamily="18" charset="0"/>
              <a:ea typeface="Cambria" panose="02040503050406030204" pitchFamily="18" charset="0"/>
            </a:endParaRPr>
          </a:p>
        </p:txBody>
      </p:sp>
      <p:cxnSp>
        <p:nvCxnSpPr>
          <p:cNvPr id="7" name="Straight Connector 6">
            <a:extLst>
              <a:ext uri="{FF2B5EF4-FFF2-40B4-BE49-F238E27FC236}">
                <a16:creationId xmlns:a16="http://schemas.microsoft.com/office/drawing/2014/main" id="{F88D0FE2-4BFF-480C-AC4A-4043EC366C6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4836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KHÁI NIỆM QUẢN LÝ CHI PHÍ DỰ 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6BC9AA5-8946-053B-FB99-5970A0FF3789}"/>
              </a:ext>
            </a:extLst>
          </p:cNvPr>
          <p:cNvSpPr txBox="1"/>
          <p:nvPr/>
        </p:nvSpPr>
        <p:spPr>
          <a:xfrm>
            <a:off x="341127" y="724376"/>
            <a:ext cx="7756393" cy="3323987"/>
          </a:xfrm>
          <a:prstGeom prst="rect">
            <a:avLst/>
          </a:prstGeom>
          <a:noFill/>
        </p:spPr>
        <p:txBody>
          <a:bodyPr wrap="square">
            <a:spAutoFit/>
          </a:bodyPr>
          <a:lstStyle/>
          <a:p>
            <a:pPr marL="285750" lvl="1" indent="-285750" algn="just">
              <a:spcBef>
                <a:spcPts val="60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Tangible costs/benefits</a:t>
            </a:r>
          </a:p>
          <a:p>
            <a:pPr marL="285750" lvl="1" indent="-285750" algn="just">
              <a:spcBef>
                <a:spcPts val="60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Intangible costs/benefits</a:t>
            </a:r>
            <a:endParaRPr lang="vi-VN" dirty="0">
              <a:latin typeface="Cambria" panose="02040503050406030204" pitchFamily="18" charset="0"/>
              <a:ea typeface="Cambria" panose="02040503050406030204" pitchFamily="18" charset="0"/>
            </a:endParaRPr>
          </a:p>
          <a:p>
            <a:pPr marL="285750" lvl="1" indent="-285750" algn="just">
              <a:spcBef>
                <a:spcPts val="60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Lợi nhuận (</a:t>
            </a:r>
            <a:r>
              <a:rPr lang="en-US" dirty="0">
                <a:latin typeface="Cambria" panose="02040503050406030204" pitchFamily="18" charset="0"/>
                <a:ea typeface="Cambria" panose="02040503050406030204" pitchFamily="18" charset="0"/>
              </a:rPr>
              <a:t>P</a:t>
            </a:r>
            <a:r>
              <a:rPr lang="vi-VN" dirty="0">
                <a:latin typeface="Cambria" panose="02040503050406030204" pitchFamily="18" charset="0"/>
                <a:ea typeface="Cambria" panose="02040503050406030204" pitchFamily="18" charset="0"/>
              </a:rPr>
              <a:t>rofits). </a:t>
            </a:r>
            <a:endParaRPr lang="en-US" dirty="0">
              <a:latin typeface="Cambria" panose="02040503050406030204" pitchFamily="18" charset="0"/>
              <a:ea typeface="Cambria" panose="02040503050406030204" pitchFamily="18" charset="0"/>
            </a:endParaRPr>
          </a:p>
          <a:p>
            <a:pPr marL="285750" lvl="1" indent="-285750" algn="just">
              <a:spcBef>
                <a:spcPts val="60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Chi </a:t>
            </a:r>
            <a:r>
              <a:rPr lang="en-US" dirty="0" err="1">
                <a:latin typeface="Cambria" panose="02040503050406030204" pitchFamily="18" charset="0"/>
                <a:ea typeface="Cambria" panose="02040503050406030204" pitchFamily="18" charset="0"/>
              </a:rPr>
              <a:t>phí</a:t>
            </a:r>
            <a:r>
              <a:rPr lang="en-US" dirty="0">
                <a:latin typeface="Cambria" panose="02040503050406030204" pitchFamily="18" charset="0"/>
                <a:ea typeface="Cambria" panose="02040503050406030204" pitchFamily="18" charset="0"/>
              </a:rPr>
              <a:t> (Costs)</a:t>
            </a:r>
          </a:p>
          <a:p>
            <a:pPr marL="285750" lvl="1" indent="-285750" algn="just">
              <a:spcBef>
                <a:spcPts val="60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Vòng đời chi phí (Life cycle costing) cho chúng ta nhìn thấy được hình ảnh chi phí của dự án trong quá trình dự án đang thực hiện</a:t>
            </a:r>
            <a:endParaRPr lang="en-US" dirty="0">
              <a:latin typeface="Cambria" panose="02040503050406030204" pitchFamily="18" charset="0"/>
              <a:ea typeface="Cambria" panose="02040503050406030204" pitchFamily="18" charset="0"/>
            </a:endParaRPr>
          </a:p>
          <a:p>
            <a:pPr marL="285750" lvl="1" indent="-285750" algn="just">
              <a:spcBef>
                <a:spcPts val="60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Chi phí sunk cost (chi phí ẩn) là những chi phí phải bỏ ra trước khi bắt đầu dự án, loại chi phí này không thu lại được </a:t>
            </a:r>
            <a:endParaRPr lang="en-US" dirty="0">
              <a:latin typeface="Cambria" panose="02040503050406030204" pitchFamily="18" charset="0"/>
              <a:ea typeface="Cambria" panose="02040503050406030204" pitchFamily="18" charset="0"/>
            </a:endParaRPr>
          </a:p>
          <a:p>
            <a:pPr marL="285750" lvl="1" indent="-285750" algn="just">
              <a:spcBef>
                <a:spcPts val="60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Dự trữ (Reserves) là số tiền cần ước lượng để dành vào việc làm giảm rủi ro (rủi ro khó lường trước) </a:t>
            </a:r>
            <a:endParaRPr lang="en-US" dirty="0">
              <a:latin typeface="Cambria" panose="02040503050406030204" pitchFamily="18" charset="0"/>
              <a:ea typeface="Cambria" panose="02040503050406030204" pitchFamily="18" charset="0"/>
            </a:endParaRPr>
          </a:p>
        </p:txBody>
      </p:sp>
      <p:cxnSp>
        <p:nvCxnSpPr>
          <p:cNvPr id="7" name="Straight Connector 6">
            <a:extLst>
              <a:ext uri="{FF2B5EF4-FFF2-40B4-BE49-F238E27FC236}">
                <a16:creationId xmlns:a16="http://schemas.microsoft.com/office/drawing/2014/main" id="{F88D0FE2-4BFF-480C-AC4A-4043EC366C6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790A74F-18D2-4F55-C0DD-993DAEEC110D}"/>
              </a:ext>
            </a:extLst>
          </p:cNvPr>
          <p:cNvPicPr>
            <a:picLocks noChangeAspect="1"/>
          </p:cNvPicPr>
          <p:nvPr/>
        </p:nvPicPr>
        <p:blipFill>
          <a:blip r:embed="rId2"/>
          <a:stretch>
            <a:fillRect/>
          </a:stretch>
        </p:blipFill>
        <p:spPr>
          <a:xfrm>
            <a:off x="8339457" y="2829560"/>
            <a:ext cx="3571319" cy="3429000"/>
          </a:xfrm>
          <a:prstGeom prst="rect">
            <a:avLst/>
          </a:prstGeom>
        </p:spPr>
      </p:pic>
    </p:spTree>
    <p:extLst>
      <p:ext uri="{BB962C8B-B14F-4D97-AF65-F5344CB8AC3E}">
        <p14:creationId xmlns:p14="http://schemas.microsoft.com/office/powerpoint/2010/main" val="529396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0" indent="0">
              <a:lnSpc>
                <a:spcPct val="100000"/>
              </a:lnSpc>
              <a:spcBef>
                <a:spcPts val="0"/>
              </a:spcBef>
              <a:spcAft>
                <a:spcPts val="600"/>
              </a:spcAft>
              <a:buNone/>
            </a:pPr>
            <a:r>
              <a:rPr lang="en-US" sz="3200" b="1" dirty="0">
                <a:solidFill>
                  <a:schemeClr val="bg1"/>
                </a:solidFill>
                <a:latin typeface="Cambria" panose="02040503050406030204" pitchFamily="18" charset="0"/>
                <a:ea typeface="Cambria" panose="02040503050406030204" pitchFamily="18" charset="0"/>
              </a:rPr>
              <a:t>2. QUI TRÌNH QUẢN LÝ CHI PHÍ</a:t>
            </a:r>
          </a:p>
          <a:p>
            <a:pPr marL="346075" indent="-346075">
              <a:lnSpc>
                <a:spcPct val="100000"/>
              </a:lnSpc>
              <a:spcBef>
                <a:spcPts val="0"/>
              </a:spcBef>
              <a:spcAft>
                <a:spcPts val="600"/>
              </a:spcAft>
              <a:buFont typeface="+mj-lt"/>
              <a:buAutoNum type="arabicPeriod"/>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68288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958413" y="8636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78483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2. QUY TRÌNH QUẢN LÝ CHI PHÍ </a:t>
            </a: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3970318"/>
          </a:xfrm>
          <a:prstGeom prst="rect">
            <a:avLst/>
          </a:prstGeom>
          <a:noFill/>
        </p:spPr>
        <p:txBody>
          <a:bodyPr wrap="square">
            <a:spAutoFit/>
          </a:bodyPr>
          <a:lstStyle/>
          <a:p>
            <a:pPr algn="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cost management</a:t>
            </a:r>
          </a:p>
          <a:p>
            <a:pPr eaLnBrk="1" hangingPunct="1">
              <a:spcBef>
                <a:spcPct val="20000"/>
              </a:spcBef>
            </a:pPr>
            <a:endParaRPr lang="en-US" altLang="en-US" sz="2000" b="1" dirty="0">
              <a:solidFill>
                <a:schemeClr val="bg1"/>
              </a:solidFill>
              <a:latin typeface="Cambria" panose="02040503050406030204" pitchFamily="18" charset="0"/>
              <a:ea typeface="Cambria" panose="02040503050406030204" pitchFamily="18" charset="0"/>
            </a:endParaRPr>
          </a:p>
          <a:p>
            <a:pPr algn="r">
              <a:spcBef>
                <a:spcPct val="20000"/>
              </a:spcBef>
            </a:pPr>
            <a:r>
              <a:rPr lang="en-US" sz="2000" i="1" dirty="0">
                <a:solidFill>
                  <a:schemeClr val="bg1"/>
                </a:solidFill>
                <a:latin typeface="Cambria" panose="02040503050406030204" pitchFamily="18" charset="0"/>
                <a:ea typeface="Cambria" panose="02040503050406030204" pitchFamily="18" charset="0"/>
              </a:rPr>
              <a:t>“The Cost Management is among the most crucial project management knowledge areas and strongly connected with the </a:t>
            </a:r>
            <a:r>
              <a:rPr lang="en-US" sz="2000" i="1" dirty="0">
                <a:solidFill>
                  <a:schemeClr val="bg1"/>
                </a:solidFill>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Project Schedule Management</a:t>
            </a:r>
            <a:r>
              <a:rPr lang="en-US" sz="2000" i="1" dirty="0">
                <a:solidFill>
                  <a:schemeClr val="bg1"/>
                </a:solidFill>
                <a:latin typeface="Cambria" panose="02040503050406030204" pitchFamily="18" charset="0"/>
                <a:ea typeface="Cambria" panose="02040503050406030204" pitchFamily="18" charset="0"/>
              </a:rPr>
              <a:t> as we will be using the same estimation techniques we have used there to estimate the cost and eventually budget.”</a:t>
            </a:r>
          </a:p>
          <a:p>
            <a:pPr algn="r">
              <a:spcBef>
                <a:spcPct val="20000"/>
              </a:spcBef>
            </a:pPr>
            <a:endParaRPr lang="en-US" altLang="en-US" sz="2000" i="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C5F9D55-C61E-3350-F71E-41EE62480A56}"/>
              </a:ext>
            </a:extLst>
          </p:cNvPr>
          <p:cNvSpPr txBox="1"/>
          <p:nvPr/>
        </p:nvSpPr>
        <p:spPr>
          <a:xfrm>
            <a:off x="339355" y="776591"/>
            <a:ext cx="7409618" cy="2977738"/>
          </a:xfrm>
          <a:prstGeom prst="rect">
            <a:avLst/>
          </a:prstGeom>
          <a:noFill/>
        </p:spPr>
        <p:txBody>
          <a:bodyPr wrap="square">
            <a:spAutoFit/>
          </a:bodyPr>
          <a:lstStyle/>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Lập kế hoạch cho nguồn tài nguyên</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Resource Planning </a:t>
            </a:r>
            <a:r>
              <a:rPr lang="en-US" dirty="0">
                <a:latin typeface="Cambria" panose="02040503050406030204" pitchFamily="18" charset="0"/>
                <a:ea typeface="Cambria" panose="02040503050406030204" pitchFamily="18" charset="0"/>
              </a:rPr>
              <a:t>)</a:t>
            </a:r>
            <a:r>
              <a:rPr lang="vi-VN" dirty="0">
                <a:latin typeface="Cambria" panose="02040503050406030204" pitchFamily="18" charset="0"/>
                <a:ea typeface="Cambria" panose="02040503050406030204" pitchFamily="18" charset="0"/>
              </a:rPr>
              <a:t>: xác định nguồn tài nguyên cần thiết và số lượng để thực hiện dự án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Ước lượng chi phí</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Cost Estimating</a:t>
            </a:r>
            <a:r>
              <a:rPr lang="en-US" dirty="0">
                <a:latin typeface="Cambria" panose="02040503050406030204" pitchFamily="18" charset="0"/>
                <a:ea typeface="Cambria" panose="02040503050406030204" pitchFamily="18" charset="0"/>
              </a:rPr>
              <a:t>)</a:t>
            </a:r>
            <a:r>
              <a:rPr lang="vi-VN" dirty="0">
                <a:latin typeface="Cambria" panose="02040503050406030204" pitchFamily="18" charset="0"/>
                <a:ea typeface="Cambria" panose="02040503050406030204" pitchFamily="18" charset="0"/>
              </a:rPr>
              <a:t>: ước tính chi phí về các nguồn tài nguyên để hoàn tất một dự án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Dự t</a:t>
            </a:r>
            <a:r>
              <a:rPr lang="en-US" dirty="0" err="1">
                <a:latin typeface="Cambria" panose="02040503050406030204" pitchFamily="18" charset="0"/>
                <a:ea typeface="Cambria" panose="02040503050406030204" pitchFamily="18" charset="0"/>
              </a:rPr>
              <a:t>oán</a:t>
            </a:r>
            <a:r>
              <a:rPr lang="vi-VN" dirty="0">
                <a:latin typeface="Cambria" panose="02040503050406030204" pitchFamily="18" charset="0"/>
                <a:ea typeface="Cambria" panose="02040503050406030204" pitchFamily="18" charset="0"/>
              </a:rPr>
              <a:t> chi phí</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Cost Budgeting</a:t>
            </a:r>
            <a:r>
              <a:rPr lang="en-US" dirty="0">
                <a:latin typeface="Cambria" panose="02040503050406030204" pitchFamily="18" charset="0"/>
                <a:ea typeface="Cambria" panose="02040503050406030204" pitchFamily="18" charset="0"/>
              </a:rPr>
              <a:t>)</a:t>
            </a:r>
            <a:r>
              <a:rPr lang="vi-VN" dirty="0">
                <a:latin typeface="Cambria" panose="02040503050406030204" pitchFamily="18" charset="0"/>
                <a:ea typeface="Cambria" panose="02040503050406030204" pitchFamily="18" charset="0"/>
              </a:rPr>
              <a:t>: phân bổ toàn bộ chi phí ước tính vào từng hạng mục công việc để thiết lập một đường mức (Base line) cho việc đo lường việc thực hiện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Kiểm soát - Điều chỉnh chi phí</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Cost Control) : điều chỉnh thay đổi Chi phí dự án Đưa ra được những lựa chọn khác của lịch thực hiện</a:t>
            </a:r>
            <a:r>
              <a:rPr lang="en-US" dirty="0">
                <a:latin typeface="Cambria" panose="02040503050406030204" pitchFamily="18" charset="0"/>
                <a:ea typeface="Cambria" panose="02040503050406030204" pitchFamily="18" charset="0"/>
              </a:rPr>
              <a:t> (backup plan)</a:t>
            </a:r>
            <a:endParaRPr lang="vi-VN" dirty="0">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56C53127-0D87-877D-22F9-6B3DAB19AC1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582160" y="3691908"/>
            <a:ext cx="3166813" cy="2923437"/>
          </a:xfrm>
          <a:prstGeom prst="rect">
            <a:avLst/>
          </a:prstGeom>
        </p:spPr>
      </p:pic>
    </p:spTree>
    <p:extLst>
      <p:ext uri="{BB962C8B-B14F-4D97-AF65-F5344CB8AC3E}">
        <p14:creationId xmlns:p14="http://schemas.microsoft.com/office/powerpoint/2010/main" val="2063106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CHI PHÍ</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7" name="TextBox 6">
            <a:extLst>
              <a:ext uri="{FF2B5EF4-FFF2-40B4-BE49-F238E27FC236}">
                <a16:creationId xmlns:a16="http://schemas.microsoft.com/office/drawing/2014/main" id="{B348C8A9-B47D-0185-5219-26057F6AA413}"/>
              </a:ext>
            </a:extLst>
          </p:cNvPr>
          <p:cNvSpPr txBox="1"/>
          <p:nvPr/>
        </p:nvSpPr>
        <p:spPr>
          <a:xfrm>
            <a:off x="341126" y="801539"/>
            <a:ext cx="3742468" cy="2700739"/>
          </a:xfrm>
          <a:prstGeom prst="rect">
            <a:avLst/>
          </a:prstGeom>
          <a:noFill/>
        </p:spPr>
        <p:txBody>
          <a:bodyPr wrap="square">
            <a:spAutoFit/>
          </a:bodyPr>
          <a:lstStyle/>
          <a:p>
            <a:pPr algn="just"/>
            <a:r>
              <a:rPr lang="en-US" b="1" dirty="0" err="1">
                <a:latin typeface="Cambria" panose="02040503050406030204" pitchFamily="18" charset="0"/>
                <a:ea typeface="Cambria" panose="02040503050406030204" pitchFamily="18" charset="0"/>
              </a:rPr>
              <a:t>Các</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vấn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đề</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khi</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quản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lý</a:t>
            </a:r>
            <a:r>
              <a:rPr lang="en-US" b="1" dirty="0">
                <a:latin typeface="Cambria" panose="02040503050406030204" pitchFamily="18" charset="0"/>
                <a:ea typeface="Cambria" panose="02040503050406030204" pitchFamily="18" charset="0"/>
              </a:rPr>
              <a:t> chi </a:t>
            </a:r>
            <a:r>
              <a:rPr lang="en-US" b="1" dirty="0" err="1">
                <a:latin typeface="Cambria" panose="02040503050406030204" pitchFamily="18" charset="0"/>
                <a:ea typeface="Cambria" panose="02040503050406030204" pitchFamily="18" charset="0"/>
              </a:rPr>
              <a:t>phí</a:t>
            </a:r>
            <a:endParaRPr lang="en-US" b="1"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bước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chuẩn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bị</a:t>
            </a:r>
            <a:r>
              <a:rPr lang="en-US" dirty="0">
                <a:latin typeface="Cambria" panose="02040503050406030204" pitchFamily="18" charset="0"/>
                <a:ea typeface="Cambria" panose="02040503050406030204" pitchFamily="18" charset="0"/>
              </a:rPr>
              <a:t> chi </a:t>
            </a:r>
            <a:r>
              <a:rPr lang="en-US" dirty="0" err="1">
                <a:latin typeface="Cambria" panose="02040503050406030204" pitchFamily="18" charset="0"/>
                <a:ea typeface="Cambria" panose="02040503050406030204" pitchFamily="18" charset="0"/>
              </a:rPr>
              <a:t>phí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được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gấp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đủ</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Nhân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trách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đủ</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kinh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nghiệm</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en-US" dirty="0" err="1">
                <a:latin typeface="Cambria" panose="02040503050406030204" pitchFamily="18" charset="0"/>
                <a:ea typeface="Cambria" panose="02040503050406030204" pitchFamily="18" charset="0"/>
              </a:rPr>
              <a:t>Bản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chất</a:t>
            </a:r>
            <a:r>
              <a:rPr lang="en-US" dirty="0">
                <a:latin typeface="Cambria" panose="02040503050406030204" pitchFamily="18" charset="0"/>
                <a:ea typeface="Cambria" panose="02040503050406030204" pitchFamily="18" charset="0"/>
              </a:rPr>
              <a:t> con </a:t>
            </a:r>
            <a:r>
              <a:rPr lang="en-US" dirty="0" err="1">
                <a:latin typeface="Cambria" panose="02040503050406030204" pitchFamily="18" charset="0"/>
                <a:ea typeface="Cambria" panose="02040503050406030204" pitchFamily="18" charset="0"/>
              </a:rPr>
              <a:t>người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thiên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khuynh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hướng</a:t>
            </a:r>
            <a:r>
              <a:rPr lang="en-US" dirty="0">
                <a:latin typeface="Cambria" panose="02040503050406030204" pitchFamily="18" charset="0"/>
                <a:ea typeface="Cambria" panose="02040503050406030204" pitchFamily="18" charset="0"/>
              </a:rPr>
              <a:t> underestimate </a:t>
            </a:r>
          </a:p>
          <a:p>
            <a:pPr algn="just"/>
            <a:endParaRPr lang="en-US" b="1" dirty="0">
              <a:latin typeface="Cambria" panose="02040503050406030204" pitchFamily="18" charset="0"/>
              <a:ea typeface="Cambria" panose="02040503050406030204" pitchFamily="18" charset="0"/>
            </a:endParaRPr>
          </a:p>
          <a:p>
            <a:pPr algn="just"/>
            <a:endParaRPr lang="en-US" b="1" dirty="0">
              <a:latin typeface="Cambria" panose="02040503050406030204" pitchFamily="18" charset="0"/>
              <a:ea typeface="Cambria" panose="02040503050406030204" pitchFamily="18" charset="0"/>
            </a:endParaRPr>
          </a:p>
        </p:txBody>
      </p:sp>
      <p:pic>
        <p:nvPicPr>
          <p:cNvPr id="14" name="Picture 13">
            <a:extLst>
              <a:ext uri="{FF2B5EF4-FFF2-40B4-BE49-F238E27FC236}">
                <a16:creationId xmlns:a16="http://schemas.microsoft.com/office/drawing/2014/main" id="{BCA77515-7EEE-400F-8595-CD741C9199F4}"/>
              </a:ext>
            </a:extLst>
          </p:cNvPr>
          <p:cNvPicPr>
            <a:picLocks noChangeAspect="1"/>
          </p:cNvPicPr>
          <p:nvPr/>
        </p:nvPicPr>
        <p:blipFill>
          <a:blip r:embed="rId2"/>
          <a:stretch>
            <a:fillRect/>
          </a:stretch>
        </p:blipFill>
        <p:spPr>
          <a:xfrm>
            <a:off x="6240890" y="2142548"/>
            <a:ext cx="5951110" cy="4093977"/>
          </a:xfrm>
          <a:prstGeom prst="rect">
            <a:avLst/>
          </a:prstGeom>
        </p:spPr>
      </p:pic>
    </p:spTree>
    <p:extLst>
      <p:ext uri="{BB962C8B-B14F-4D97-AF65-F5344CB8AC3E}">
        <p14:creationId xmlns:p14="http://schemas.microsoft.com/office/powerpoint/2010/main" val="1510710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F4232A8-D2FC-F177-ED3E-D2FC50E3C65D}"/>
              </a:ext>
            </a:extLst>
          </p:cNvPr>
          <p:cNvPicPr>
            <a:picLocks noChangeAspect="1"/>
          </p:cNvPicPr>
          <p:nvPr/>
        </p:nvPicPr>
        <p:blipFill>
          <a:blip r:embed="rId2"/>
          <a:stretch>
            <a:fillRect/>
          </a:stretch>
        </p:blipFill>
        <p:spPr>
          <a:xfrm>
            <a:off x="5223296" y="4216405"/>
            <a:ext cx="6983577" cy="2203862"/>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CHI PHÍ</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7" name="TextBox 6">
            <a:extLst>
              <a:ext uri="{FF2B5EF4-FFF2-40B4-BE49-F238E27FC236}">
                <a16:creationId xmlns:a16="http://schemas.microsoft.com/office/drawing/2014/main" id="{B348C8A9-B47D-0185-5219-26057F6AA413}"/>
              </a:ext>
            </a:extLst>
          </p:cNvPr>
          <p:cNvSpPr txBox="1"/>
          <p:nvPr/>
        </p:nvSpPr>
        <p:spPr>
          <a:xfrm>
            <a:off x="341126" y="801539"/>
            <a:ext cx="11572265" cy="1592744"/>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Lập kế hoạch cho nguồn tài nguyên</a:t>
            </a:r>
            <a:r>
              <a:rPr lang="en-US" b="1" dirty="0">
                <a:latin typeface="Cambria" panose="02040503050406030204" pitchFamily="18" charset="0"/>
                <a:ea typeface="Cambria" panose="02040503050406030204" pitchFamily="18" charset="0"/>
              </a:rPr>
              <a:t> (</a:t>
            </a:r>
            <a:r>
              <a:rPr lang="vi-VN" b="1" dirty="0">
                <a:latin typeface="Cambria" panose="02040503050406030204" pitchFamily="18" charset="0"/>
                <a:ea typeface="Cambria" panose="02040503050406030204" pitchFamily="18" charset="0"/>
              </a:rPr>
              <a:t>Resource Planning</a:t>
            </a:r>
            <a:r>
              <a:rPr lang="en-US" b="1" dirty="0">
                <a:latin typeface="Cambria" panose="02040503050406030204" pitchFamily="18" charset="0"/>
                <a:ea typeface="Cambria" panose="02040503050406030204" pitchFamily="18" charset="0"/>
              </a:rPr>
              <a:t>) </a:t>
            </a: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Xác định nguồn tài nguyên hữu hình (con người, thiết bị, vật liệu ...) cần thiết để hoàn thành dự án.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Kế hoạch tài nguyên sẽ phụ thuộc vào bản chất riêng của từng dự án và tổ chức thực hiện dự án đó.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Vấn đề quan trọng là phải có người có kinh nghiệm, họ đã từng tham gia thực hiện những dự án tương tự.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Tổ chức phải hỗ trợ việc xác định những nguồn tài nguyên</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48529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F4232A8-D2FC-F177-ED3E-D2FC50E3C65D}"/>
              </a:ext>
            </a:extLst>
          </p:cNvPr>
          <p:cNvPicPr>
            <a:picLocks noChangeAspect="1"/>
          </p:cNvPicPr>
          <p:nvPr/>
        </p:nvPicPr>
        <p:blipFill>
          <a:blip r:embed="rId2"/>
          <a:stretch>
            <a:fillRect/>
          </a:stretch>
        </p:blipFill>
        <p:spPr>
          <a:xfrm>
            <a:off x="5223296" y="4216405"/>
            <a:ext cx="6983577" cy="2203862"/>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CHI PHÍ</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7" name="TextBox 6">
            <a:extLst>
              <a:ext uri="{FF2B5EF4-FFF2-40B4-BE49-F238E27FC236}">
                <a16:creationId xmlns:a16="http://schemas.microsoft.com/office/drawing/2014/main" id="{B348C8A9-B47D-0185-5219-26057F6AA413}"/>
              </a:ext>
            </a:extLst>
          </p:cNvPr>
          <p:cNvSpPr txBox="1"/>
          <p:nvPr/>
        </p:nvSpPr>
        <p:spPr>
          <a:xfrm>
            <a:off x="341126" y="801539"/>
            <a:ext cx="11572265" cy="2816156"/>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Lập kế hoạch cho nguồn tài nguyên</a:t>
            </a:r>
            <a:r>
              <a:rPr lang="en-US" b="1" dirty="0">
                <a:latin typeface="Cambria" panose="02040503050406030204" pitchFamily="18" charset="0"/>
                <a:ea typeface="Cambria" panose="02040503050406030204" pitchFamily="18" charset="0"/>
              </a:rPr>
              <a:t> (</a:t>
            </a:r>
            <a:r>
              <a:rPr lang="vi-VN" b="1" dirty="0">
                <a:latin typeface="Cambria" panose="02040503050406030204" pitchFamily="18" charset="0"/>
                <a:ea typeface="Cambria" panose="02040503050406030204" pitchFamily="18" charset="0"/>
              </a:rPr>
              <a:t>Resource Planning</a:t>
            </a:r>
            <a:r>
              <a:rPr lang="en-US" b="1" dirty="0">
                <a:latin typeface="Cambria" panose="02040503050406030204" pitchFamily="18" charset="0"/>
                <a:ea typeface="Cambria" panose="02040503050406030204" pitchFamily="18" charset="0"/>
              </a:rPr>
              <a:t>) </a:t>
            </a:r>
          </a:p>
          <a:p>
            <a:pPr marL="0" lvl="1" algn="just">
              <a:spcAft>
                <a:spcPts val="300"/>
              </a:spcAft>
              <a:buClr>
                <a:schemeClr val="accent2">
                  <a:lumMod val="75000"/>
                </a:schemeClr>
              </a:buClr>
            </a:pPr>
            <a:r>
              <a:rPr lang="vi-VN" i="1" dirty="0">
                <a:latin typeface="Cambria" panose="02040503050406030204" pitchFamily="18" charset="0"/>
                <a:ea typeface="Cambria" panose="02040503050406030204" pitchFamily="18" charset="0"/>
              </a:rPr>
              <a:t>Để xây dựng được kế hoạch tài nguyên cần cân nhắc như: </a:t>
            </a:r>
            <a:endParaRPr lang="en-US" i="1"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Những công việc cụ thể nào trên dự án sẽ gặp khó khăn và khó khăn?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Có những phạm vi nào của dự án ảnh hưởng đến tài nguyên?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Tổ chức đã thực hiện dự án nào trước đây tương tự như dự án đang thực hiện? Kỹ năng chuyên môn cá nhân của những người tham gia thực hiện? Có đáp ứng được không?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Tổ chức có đủ người, thiết bị, vật tư để thực hiện dự án ?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Tổ chức có cần yêu cầu thêm tài nguyên ? (có thể những tài nguyên này phải thuê mướn bên ngoài)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Có những chính sách của tổ chức ảnh hưởng đến những tài nguyên cần thiết?</a:t>
            </a:r>
            <a:endParaRPr lang="en-US"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75A51C84-6459-09FD-C01D-F96E0BA3B9D1}"/>
              </a:ext>
            </a:extLst>
          </p:cNvPr>
          <p:cNvSpPr txBox="1"/>
          <p:nvPr/>
        </p:nvSpPr>
        <p:spPr>
          <a:xfrm>
            <a:off x="339355" y="3800594"/>
            <a:ext cx="5329925" cy="1515800"/>
          </a:xfrm>
          <a:prstGeom prst="rect">
            <a:avLst/>
          </a:prstGeom>
          <a:noFill/>
        </p:spPr>
        <p:txBody>
          <a:bodyPr wrap="square">
            <a:spAutoFit/>
          </a:bodyPr>
          <a:lstStyle/>
          <a:p>
            <a:r>
              <a:rPr lang="vi-VN" i="1" dirty="0">
                <a:latin typeface="Cambria" panose="02040503050406030204" pitchFamily="18" charset="0"/>
                <a:ea typeface="Cambria" panose="02040503050406030204" pitchFamily="18" charset="0"/>
              </a:rPr>
              <a:t>Để giải quyết những vấn đề trên cần tham khảo đến:</a:t>
            </a:r>
            <a:r>
              <a:rPr lang="vi-VN" b="0" i="1" dirty="0">
                <a:solidFill>
                  <a:srgbClr val="000000"/>
                </a:solidFill>
                <a:effectLst/>
                <a:latin typeface="LiberationSans_cj_19"/>
              </a:rPr>
              <a:t> </a:t>
            </a:r>
            <a:endParaRPr lang="en-US" b="0" i="1" dirty="0">
              <a:solidFill>
                <a:srgbClr val="000000"/>
              </a:solidFill>
              <a:effectLst/>
              <a:latin typeface="LiberationSans_cj_19"/>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WBS, scope statement, thông tin trước đây và hiện tại, chính sách của tổ chức (policies)...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Kết quả cuối cùng là phải đưa ra danh sách những tài nguyên được yêu cầu (resource requirements)</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85104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F4232A8-D2FC-F177-ED3E-D2FC50E3C65D}"/>
              </a:ext>
            </a:extLst>
          </p:cNvPr>
          <p:cNvPicPr>
            <a:picLocks noChangeAspect="1"/>
          </p:cNvPicPr>
          <p:nvPr/>
        </p:nvPicPr>
        <p:blipFill>
          <a:blip r:embed="rId2"/>
          <a:stretch>
            <a:fillRect/>
          </a:stretch>
        </p:blipFill>
        <p:spPr>
          <a:xfrm>
            <a:off x="6096000" y="4491811"/>
            <a:ext cx="6110873" cy="1928456"/>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CHI PHÍ</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7" name="TextBox 6">
            <a:extLst>
              <a:ext uri="{FF2B5EF4-FFF2-40B4-BE49-F238E27FC236}">
                <a16:creationId xmlns:a16="http://schemas.microsoft.com/office/drawing/2014/main" id="{B348C8A9-B47D-0185-5219-26057F6AA413}"/>
              </a:ext>
            </a:extLst>
          </p:cNvPr>
          <p:cNvSpPr txBox="1"/>
          <p:nvPr/>
        </p:nvSpPr>
        <p:spPr>
          <a:xfrm>
            <a:off x="341126" y="801539"/>
            <a:ext cx="11536623" cy="4039567"/>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Ước lượng chi phí</a:t>
            </a:r>
            <a:r>
              <a:rPr lang="en-US" b="1" dirty="0">
                <a:latin typeface="Cambria" panose="02040503050406030204" pitchFamily="18" charset="0"/>
                <a:ea typeface="Cambria" panose="02040503050406030204" pitchFamily="18" charset="0"/>
              </a:rPr>
              <a:t> (</a:t>
            </a:r>
            <a:r>
              <a:rPr lang="vi-VN" b="1" dirty="0">
                <a:latin typeface="Cambria" panose="02040503050406030204" pitchFamily="18" charset="0"/>
                <a:ea typeface="Cambria" panose="02040503050406030204" pitchFamily="18" charset="0"/>
              </a:rPr>
              <a:t>Cost Estimating</a:t>
            </a:r>
            <a:r>
              <a:rPr lang="en-US" b="1" dirty="0">
                <a:latin typeface="Cambria" panose="02040503050406030204" pitchFamily="18" charset="0"/>
                <a:ea typeface="Cambria" panose="02040503050406030204" pitchFamily="18" charset="0"/>
              </a:rPr>
              <a:t>) </a:t>
            </a:r>
          </a:p>
          <a:p>
            <a:r>
              <a:rPr lang="vi-VN" i="1" dirty="0">
                <a:latin typeface="Cambria" panose="02040503050406030204" pitchFamily="18" charset="0"/>
                <a:ea typeface="Cambria" panose="02040503050406030204" pitchFamily="18" charset="0"/>
              </a:rPr>
              <a:t>Đầu ra quan trọng của quản lý chi phí dự án là ước tính chi phí </a:t>
            </a:r>
            <a:endParaRPr lang="en-US" i="1"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Có nhiều loại ước tính chi phí và những công cụ cùng với kỹ thuật giúp tạo ra chúng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Điều quan trọng là phát triển một kế hoạch quản lý chi phí trong đó mô tả sự dao động chi phí sẽ được quản lý trong dự án ra sao</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endParaRPr lang="en-US" dirty="0">
              <a:latin typeface="Cambria" panose="02040503050406030204" pitchFamily="18" charset="0"/>
              <a:ea typeface="Cambria" panose="02040503050406030204" pitchFamily="18" charset="0"/>
            </a:endParaRPr>
          </a:p>
          <a:p>
            <a:pPr marL="0" lvl="1">
              <a:spcAft>
                <a:spcPts val="300"/>
              </a:spcAft>
              <a:buClr>
                <a:schemeClr val="accent2">
                  <a:lumMod val="75000"/>
                </a:schemeClr>
              </a:buClr>
            </a:pPr>
            <a:r>
              <a:rPr lang="vi-VN" i="1" dirty="0">
                <a:latin typeface="Cambria" panose="02040503050406030204" pitchFamily="18" charset="0"/>
                <a:ea typeface="Cambria" panose="02040503050406030204" pitchFamily="18" charset="0"/>
              </a:rPr>
              <a:t>Công cụ và kỹ thuật ước tính</a:t>
            </a:r>
            <a:endParaRPr lang="en-US" i="1"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Ước tính tương tự (Analogous estimate)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Ư</a:t>
            </a:r>
            <a:r>
              <a:rPr lang="vi-VN" dirty="0">
                <a:latin typeface="Cambria" panose="02040503050406030204" pitchFamily="18" charset="0"/>
                <a:ea typeface="Cambria" panose="02040503050406030204" pitchFamily="18" charset="0"/>
              </a:rPr>
              <a:t>ớc tính từ trên xuống dưới (Top-down estimate)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Ước tính từ dưới lên trên(Bottom up estimate)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Mô hình hóa tham số (Paramatric modeling)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Mô hình chi phí xây dựng (Cocomo - Constructive cost model)</a:t>
            </a:r>
            <a:endParaRPr lang="en-US" dirty="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14516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F4232A8-D2FC-F177-ED3E-D2FC50E3C65D}"/>
              </a:ext>
            </a:extLst>
          </p:cNvPr>
          <p:cNvPicPr>
            <a:picLocks noChangeAspect="1"/>
          </p:cNvPicPr>
          <p:nvPr/>
        </p:nvPicPr>
        <p:blipFill>
          <a:blip r:embed="rId2"/>
          <a:stretch>
            <a:fillRect/>
          </a:stretch>
        </p:blipFill>
        <p:spPr>
          <a:xfrm>
            <a:off x="6096000" y="4491811"/>
            <a:ext cx="6110873" cy="1928456"/>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CHI PHÍ</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7" name="TextBox 6">
            <a:extLst>
              <a:ext uri="{FF2B5EF4-FFF2-40B4-BE49-F238E27FC236}">
                <a16:creationId xmlns:a16="http://schemas.microsoft.com/office/drawing/2014/main" id="{B348C8A9-B47D-0185-5219-26057F6AA413}"/>
              </a:ext>
            </a:extLst>
          </p:cNvPr>
          <p:cNvSpPr txBox="1"/>
          <p:nvPr/>
        </p:nvSpPr>
        <p:spPr>
          <a:xfrm>
            <a:off x="341126" y="801539"/>
            <a:ext cx="11536623" cy="2777683"/>
          </a:xfrm>
          <a:prstGeom prst="rect">
            <a:avLst/>
          </a:prstGeom>
          <a:noFill/>
        </p:spPr>
        <p:txBody>
          <a:bodyPr wrap="square">
            <a:spAutoFit/>
          </a:bodyPr>
          <a:lstStyle/>
          <a:p>
            <a:pPr marL="0" lvl="1" algn="just">
              <a:spcAft>
                <a:spcPts val="300"/>
              </a:spcAft>
              <a:buClr>
                <a:schemeClr val="accent2">
                  <a:lumMod val="75000"/>
                </a:schemeClr>
              </a:buClr>
            </a:pPr>
            <a:r>
              <a:rPr lang="vi-VN" b="1" dirty="0">
                <a:latin typeface="Cambria" panose="02040503050406030204" pitchFamily="18" charset="0"/>
                <a:ea typeface="Cambria" panose="02040503050406030204" pitchFamily="18" charset="0"/>
              </a:rPr>
              <a:t>Ước tính tương tự (Analogous estimate) </a:t>
            </a:r>
            <a:endParaRPr lang="en-US" b="1" dirty="0">
              <a:latin typeface="Cambria" panose="02040503050406030204" pitchFamily="18" charset="0"/>
              <a:ea typeface="Cambria" panose="02040503050406030204" pitchFamily="18" charset="0"/>
            </a:endParaRPr>
          </a:p>
          <a:p>
            <a:pPr marL="0" lvl="1">
              <a:spcAft>
                <a:spcPts val="300"/>
              </a:spcAft>
              <a:buClr>
                <a:schemeClr val="accent2">
                  <a:lumMod val="75000"/>
                </a:schemeClr>
              </a:buClr>
            </a:pPr>
            <a:r>
              <a:rPr lang="vi-VN" i="1" dirty="0">
                <a:latin typeface="Cambria" panose="02040503050406030204" pitchFamily="18" charset="0"/>
                <a:ea typeface="Cambria" panose="02040503050406030204" pitchFamily="18" charset="0"/>
              </a:rPr>
              <a:t>Sử dụng con số chi phí thực sự của một dự án đã thực hiện trước đây mà tương tự như dự án cần ước lượng. </a:t>
            </a:r>
            <a:endParaRPr lang="en-US" i="1"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Phương pháp này thì kết quả ước lượng thường thấp hơn những phương pháp khác và độ chính xác cũng kém hơn.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Tuy nhiên, nó có độ tin tưởng và thuyết phục hơn khi ta chia dự án ra từng phần và so sánh những phần đó với dự án tương tự, sau đó tăng thêm hay giảm đi.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Phương pháp này không hiệu quả, nếu phải ước lượng những phần mềm, công nghệ, thiết bị mới. </a:t>
            </a:r>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8555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F4232A8-D2FC-F177-ED3E-D2FC50E3C65D}"/>
              </a:ext>
            </a:extLst>
          </p:cNvPr>
          <p:cNvPicPr>
            <a:picLocks noChangeAspect="1"/>
          </p:cNvPicPr>
          <p:nvPr/>
        </p:nvPicPr>
        <p:blipFill>
          <a:blip r:embed="rId2"/>
          <a:stretch>
            <a:fillRect/>
          </a:stretch>
        </p:blipFill>
        <p:spPr>
          <a:xfrm>
            <a:off x="6096000" y="4491811"/>
            <a:ext cx="6110873" cy="1928456"/>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CHI PHÍ</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7" name="TextBox 6">
            <a:extLst>
              <a:ext uri="{FF2B5EF4-FFF2-40B4-BE49-F238E27FC236}">
                <a16:creationId xmlns:a16="http://schemas.microsoft.com/office/drawing/2014/main" id="{B348C8A9-B47D-0185-5219-26057F6AA413}"/>
              </a:ext>
            </a:extLst>
          </p:cNvPr>
          <p:cNvSpPr txBox="1"/>
          <p:nvPr/>
        </p:nvSpPr>
        <p:spPr>
          <a:xfrm>
            <a:off x="341126" y="801539"/>
            <a:ext cx="11536623" cy="3447098"/>
          </a:xfrm>
          <a:prstGeom prst="rect">
            <a:avLst/>
          </a:prstGeom>
          <a:noFill/>
        </p:spPr>
        <p:txBody>
          <a:bodyPr wrap="square">
            <a:spAutoFit/>
          </a:bodyPr>
          <a:lstStyle/>
          <a:p>
            <a:pPr marL="0" lvl="1" algn="just">
              <a:spcAft>
                <a:spcPts val="300"/>
              </a:spcAft>
              <a:buClr>
                <a:schemeClr val="accent2">
                  <a:lumMod val="75000"/>
                </a:schemeClr>
              </a:buClr>
            </a:pPr>
            <a:r>
              <a:rPr lang="en-US" b="1" dirty="0">
                <a:latin typeface="Cambria" panose="02040503050406030204" pitchFamily="18" charset="0"/>
                <a:ea typeface="Cambria" panose="02040503050406030204" pitchFamily="18" charset="0"/>
              </a:rPr>
              <a:t>Ư</a:t>
            </a:r>
            <a:r>
              <a:rPr lang="vi-VN" b="1" dirty="0">
                <a:latin typeface="Cambria" panose="02040503050406030204" pitchFamily="18" charset="0"/>
                <a:ea typeface="Cambria" panose="02040503050406030204" pitchFamily="18" charset="0"/>
              </a:rPr>
              <a:t>ớc tính từ trên xuống dưới (Top-down estimate) </a:t>
            </a:r>
            <a:endParaRPr lang="en-US" b="1"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Sử dụng các chi phí thực của một dự án tương tự trước đó để ước tính cho chi phí của dự án hiện tại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Kỹ thuật này đòi hỏi việc đánh giá của chuyên gia và ít tốn kém hơn nhưng cũng ít chính xác hơn các kỹ thuật khác</a:t>
            </a:r>
            <a:endParaRPr lang="en-US" dirty="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a:p>
            <a:pPr marL="0" lvl="1" algn="just">
              <a:spcAft>
                <a:spcPts val="300"/>
              </a:spcAft>
              <a:buClr>
                <a:schemeClr val="accent2">
                  <a:lumMod val="75000"/>
                </a:schemeClr>
              </a:buClr>
            </a:pPr>
            <a:r>
              <a:rPr lang="vi-VN" b="1" dirty="0">
                <a:latin typeface="Cambria" panose="02040503050406030204" pitchFamily="18" charset="0"/>
                <a:ea typeface="Cambria" panose="02040503050406030204" pitchFamily="18" charset="0"/>
              </a:rPr>
              <a:t>Ước</a:t>
            </a:r>
            <a:r>
              <a:rPr lang="vi-VN" dirty="0">
                <a:latin typeface="Cambria" panose="02040503050406030204" pitchFamily="18" charset="0"/>
                <a:ea typeface="Cambria" panose="02040503050406030204" pitchFamily="18" charset="0"/>
              </a:rPr>
              <a:t> </a:t>
            </a:r>
            <a:r>
              <a:rPr lang="vi-VN" b="1" dirty="0">
                <a:latin typeface="Cambria" panose="02040503050406030204" pitchFamily="18" charset="0"/>
                <a:ea typeface="Cambria" panose="02040503050406030204" pitchFamily="18" charset="0"/>
              </a:rPr>
              <a:t>tính từ dưới lên trên(Bottom up estimate) </a:t>
            </a:r>
            <a:endParaRPr lang="en-US" b="1"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Liên quan đến việc ước tính các nhiệm vụ hay hoạt động riêng lẻ, rồi tính tổng lại để có chi phí toàn bộ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Nhờ tính từng nhiệm vụ riêng lẻ và kinh nghiệm của các người đánh giá sẽ dẫn đến việc ước tính chính xác hơn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Nếu có sẵn WBS, PM có thể phân công cho mỗi người phụ trách ước tính chi phí cho công việc được theo dõi của họ. PM sẽ cộng các chi phí này lại để tạo ra ước tính chi phí ở mức cao hơn trong WBS và cuối cùng cho cả dự án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Nhược điểm: thường tốn nhiều thời gian</a:t>
            </a:r>
            <a:endParaRPr lang="en-US" dirty="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07251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F4232A8-D2FC-F177-ED3E-D2FC50E3C65D}"/>
              </a:ext>
            </a:extLst>
          </p:cNvPr>
          <p:cNvPicPr>
            <a:picLocks noChangeAspect="1"/>
          </p:cNvPicPr>
          <p:nvPr/>
        </p:nvPicPr>
        <p:blipFill>
          <a:blip r:embed="rId2"/>
          <a:stretch>
            <a:fillRect/>
          </a:stretch>
        </p:blipFill>
        <p:spPr>
          <a:xfrm>
            <a:off x="6096000" y="4491811"/>
            <a:ext cx="6110873" cy="1928456"/>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CHI PHÍ</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sp>
        <p:nvSpPr>
          <p:cNvPr id="7" name="TextBox 6">
            <a:extLst>
              <a:ext uri="{FF2B5EF4-FFF2-40B4-BE49-F238E27FC236}">
                <a16:creationId xmlns:a16="http://schemas.microsoft.com/office/drawing/2014/main" id="{B348C8A9-B47D-0185-5219-26057F6AA413}"/>
              </a:ext>
            </a:extLst>
          </p:cNvPr>
          <p:cNvSpPr txBox="1"/>
          <p:nvPr/>
        </p:nvSpPr>
        <p:spPr>
          <a:xfrm>
            <a:off x="341126" y="801539"/>
            <a:ext cx="11536623" cy="2146742"/>
          </a:xfrm>
          <a:prstGeom prst="rect">
            <a:avLst/>
          </a:prstGeom>
          <a:noFill/>
        </p:spPr>
        <p:txBody>
          <a:bodyPr wrap="square">
            <a:spAutoFit/>
          </a:bodyPr>
          <a:lstStyle/>
          <a:p>
            <a:pPr marL="0" lvl="1" algn="just">
              <a:spcAft>
                <a:spcPts val="300"/>
              </a:spcAft>
              <a:buClr>
                <a:schemeClr val="accent2">
                  <a:lumMod val="75000"/>
                </a:schemeClr>
              </a:buClr>
            </a:pPr>
            <a:r>
              <a:rPr lang="vi-VN" b="1" dirty="0">
                <a:latin typeface="Cambria" panose="02040503050406030204" pitchFamily="18" charset="0"/>
                <a:ea typeface="Cambria" panose="02040503050406030204" pitchFamily="18" charset="0"/>
              </a:rPr>
              <a:t>Mô hình hóa tham số (Paramatric modeling) </a:t>
            </a:r>
            <a:endParaRPr lang="en-US" b="1"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Sử dụng các đặc tính của dự án trong mô hình toán học để ước tính chi phí cho dự án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Mô hình này có thể ước tính chi phí đối với các dự án phát triển phần mềm dựa vào các yếu tố như: ngôn ngữ lập trình dùng trong dự án, trình độ chuyên nghiệp của người lập trình, kích cỡ và độ phức tạp của dữ liệu có liên quan,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etc</a:t>
            </a:r>
            <a:r>
              <a:rPr lang="vi-VN"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marL="285750" lvl="1" indent="-285750" algn="just">
              <a:spcAft>
                <a:spcPts val="300"/>
              </a:spcAft>
              <a:buClr>
                <a:schemeClr val="accent2">
                  <a:lumMod val="75000"/>
                </a:schemeClr>
              </a:buClr>
              <a:buFont typeface="Wingdings" panose="05000000000000000000" pitchFamily="2" charset="2"/>
              <a:buChar char="§"/>
            </a:pPr>
            <a:r>
              <a:rPr lang="en-US" dirty="0">
                <a:latin typeface="Cambria" panose="02040503050406030204" pitchFamily="18" charset="0"/>
                <a:ea typeface="Cambria" panose="02040503050406030204" pitchFamily="18" charset="0"/>
              </a:rPr>
              <a:t>M</a:t>
            </a:r>
            <a:r>
              <a:rPr lang="vi-VN" dirty="0">
                <a:latin typeface="Cambria" panose="02040503050406030204" pitchFamily="18" charset="0"/>
                <a:ea typeface="Cambria" panose="02040503050406030204" pitchFamily="18" charset="0"/>
              </a:rPr>
              <a:t>ô hình tham số có thể có độ tin cậy cao nhất khi thông tin được dùng để tạo mô hình là chính xác, các tham số có thể định lượng dễ dàng, và mô hình dễ thích ứng với các kích cỡ khác nhau của dự án.</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1873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0" indent="0">
              <a:lnSpc>
                <a:spcPct val="100000"/>
              </a:lnSpc>
              <a:spcBef>
                <a:spcPts val="0"/>
              </a:spcBef>
              <a:spcAft>
                <a:spcPts val="600"/>
              </a:spcAft>
              <a:buNone/>
            </a:pPr>
            <a:r>
              <a:rPr lang="en-US" sz="3200" b="1" dirty="0">
                <a:solidFill>
                  <a:schemeClr val="bg1"/>
                </a:solidFill>
                <a:latin typeface="Cambria" panose="02040503050406030204" pitchFamily="18" charset="0"/>
                <a:ea typeface="Cambria" panose="02040503050406030204" pitchFamily="18" charset="0"/>
              </a:rPr>
              <a:t>3. KIỂM SOÁT VÀ ĐIỀU CHỈNH CHI PHÍ</a:t>
            </a:r>
          </a:p>
          <a:p>
            <a:pPr marL="346075" indent="-346075">
              <a:lnSpc>
                <a:spcPct val="100000"/>
              </a:lnSpc>
              <a:spcBef>
                <a:spcPts val="0"/>
              </a:spcBef>
              <a:spcAft>
                <a:spcPts val="600"/>
              </a:spcAft>
              <a:buFont typeface="+mj-lt"/>
              <a:buAutoNum type="arabicPeriod"/>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86799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3. KIỂM SOÁT &amp; ĐIỀU CHỈNH CHI PHÍ </a:t>
            </a:r>
          </a:p>
        </p:txBody>
      </p:sp>
      <p:sp>
        <p:nvSpPr>
          <p:cNvPr id="4" name="TextBox 3">
            <a:extLst>
              <a:ext uri="{FF2B5EF4-FFF2-40B4-BE49-F238E27FC236}">
                <a16:creationId xmlns:a16="http://schemas.microsoft.com/office/drawing/2014/main" id="{F17B2001-CA8C-70EA-0637-325BE64AB4BE}"/>
              </a:ext>
            </a:extLst>
          </p:cNvPr>
          <p:cNvSpPr txBox="1"/>
          <p:nvPr/>
        </p:nvSpPr>
        <p:spPr>
          <a:xfrm>
            <a:off x="337582" y="784286"/>
            <a:ext cx="7492711" cy="2377574"/>
          </a:xfrm>
          <a:prstGeom prst="rect">
            <a:avLst/>
          </a:prstGeom>
          <a:noFill/>
        </p:spPr>
        <p:txBody>
          <a:bodyPr wrap="square">
            <a:spAutoFit/>
          </a:bodyPr>
          <a:lstStyle/>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Nhóm</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Giám sát việc thực thi về chi phí để phát hiện những điều khác biệt với kế hoạch </a:t>
            </a:r>
            <a:endParaRPr lang="en-US"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Bảo đảm rằng tất cả những thay đổi hợp lý đều phải được ghi nhận vào cost baseline một cách chính xác </a:t>
            </a:r>
            <a:endParaRPr lang="en-US"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n</a:t>
            </a:r>
            <a:r>
              <a:rPr lang="vi-VN" dirty="0">
                <a:latin typeface="Cambria" panose="02040503050406030204" pitchFamily="18" charset="0"/>
                <a:ea typeface="Cambria" panose="02040503050406030204" pitchFamily="18" charset="0"/>
              </a:rPr>
              <a:t>găn chặn những thay đổi không đúng, không thích hợp và những thay đổi trái phép (unauthrized) </a:t>
            </a:r>
            <a:endParaRPr lang="en-US"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Thông báo sự thay đổi đến những người liên quan có thẩm quyền</a:t>
            </a:r>
            <a:endParaRPr lang="en-US"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CF49E226-5D3A-8372-08B6-7CBA11417E13}"/>
              </a:ext>
            </a:extLst>
          </p:cNvPr>
          <p:cNvSpPr txBox="1"/>
          <p:nvPr/>
        </p:nvSpPr>
        <p:spPr>
          <a:xfrm>
            <a:off x="8027580" y="367844"/>
            <a:ext cx="4164420" cy="1477328"/>
          </a:xfrm>
          <a:prstGeom prst="rect">
            <a:avLst/>
          </a:prstGeom>
          <a:noFill/>
        </p:spPr>
        <p:txBody>
          <a:bodyPr wrap="square">
            <a:spAutoFit/>
          </a:bodyPr>
          <a:lstStyle/>
          <a:p>
            <a:pPr algn="r"/>
            <a:r>
              <a:rPr lang="en-US" altLang="en-US" sz="1800" b="1" dirty="0">
                <a:solidFill>
                  <a:schemeClr val="bg1"/>
                </a:solidFill>
                <a:latin typeface="Cambria" panose="02040503050406030204" pitchFamily="18" charset="0"/>
                <a:ea typeface="Cambria" panose="02040503050406030204" pitchFamily="18" charset="0"/>
              </a:rPr>
              <a:t>Project cost control</a:t>
            </a:r>
          </a:p>
          <a:p>
            <a:pPr algn="r"/>
            <a:endParaRPr lang="en-US" b="1" i="0" dirty="0">
              <a:solidFill>
                <a:srgbClr val="5F6368"/>
              </a:solidFill>
              <a:effectLst/>
              <a:latin typeface="arial" panose="020B0604020202020204" pitchFamily="34" charset="0"/>
            </a:endParaRPr>
          </a:p>
          <a:p>
            <a:pPr algn="r"/>
            <a:r>
              <a:rPr lang="en-US" i="1" dirty="0">
                <a:solidFill>
                  <a:schemeClr val="bg1"/>
                </a:solidFill>
                <a:latin typeface="Cambria" panose="02040503050406030204" pitchFamily="18" charset="0"/>
                <a:ea typeface="Cambria" panose="02040503050406030204" pitchFamily="18" charset="0"/>
              </a:rPr>
              <a:t>Cost control involves identifying expenses and finding ways to reduce them to increase profits.</a:t>
            </a:r>
          </a:p>
        </p:txBody>
      </p:sp>
    </p:spTree>
    <p:extLst>
      <p:ext uri="{BB962C8B-B14F-4D97-AF65-F5344CB8AC3E}">
        <p14:creationId xmlns:p14="http://schemas.microsoft.com/office/powerpoint/2010/main" val="3450066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2ACAAF-75FB-FE92-C053-8F43FEA2E85F}"/>
              </a:ext>
            </a:extLst>
          </p:cNvPr>
          <p:cNvPicPr>
            <a:picLocks noChangeAspect="1"/>
          </p:cNvPicPr>
          <p:nvPr/>
        </p:nvPicPr>
        <p:blipFill>
          <a:blip r:embed="rId2"/>
          <a:stretch>
            <a:fillRect/>
          </a:stretch>
        </p:blipFill>
        <p:spPr>
          <a:xfrm>
            <a:off x="6036791" y="3281471"/>
            <a:ext cx="5840959" cy="2915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KIỂM SOÁT VÀ ĐIỀU CHỈNH CHI PHÍ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11536623" cy="2377574"/>
          </a:xfrm>
          <a:prstGeom prst="rect">
            <a:avLst/>
          </a:prstGeom>
          <a:noFill/>
        </p:spPr>
        <p:txBody>
          <a:bodyPr wrap="square">
            <a:spAutoFit/>
          </a:bodyPr>
          <a:lstStyle/>
          <a:p>
            <a:pPr marL="0" lvl="1" algn="just">
              <a:spcAft>
                <a:spcPts val="300"/>
              </a:spcAft>
              <a:buClr>
                <a:schemeClr val="accent2">
                  <a:lumMod val="75000"/>
                </a:schemeClr>
              </a:buClr>
            </a:pPr>
            <a:r>
              <a:rPr lang="en-US" b="1" dirty="0" err="1">
                <a:latin typeface="Cambria" panose="02040503050406030204" pitchFamily="18" charset="0"/>
                <a:ea typeface="Cambria" panose="02040503050406030204" pitchFamily="18" charset="0"/>
              </a:rPr>
              <a:t>Công</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cụ</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hỗ</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trợ</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việc</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kiểm</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tra</a:t>
            </a:r>
            <a:r>
              <a:rPr lang="en-US" b="1" dirty="0">
                <a:latin typeface="Cambria" panose="02040503050406030204" pitchFamily="18" charset="0"/>
                <a:ea typeface="Cambria" panose="02040503050406030204" pitchFamily="18" charset="0"/>
              </a:rPr>
              <a:t> chi </a:t>
            </a:r>
            <a:r>
              <a:rPr lang="en-US" b="1" dirty="0" err="1">
                <a:latin typeface="Cambria" panose="02040503050406030204" pitchFamily="18" charset="0"/>
                <a:ea typeface="Cambria" panose="02040503050406030204" pitchFamily="18" charset="0"/>
              </a:rPr>
              <a:t>phí</a:t>
            </a:r>
            <a:endParaRPr lang="en-US" b="1"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EV</a:t>
            </a:r>
            <a:r>
              <a:rPr lang="en-US" dirty="0">
                <a:latin typeface="Cambria" panose="02040503050406030204" pitchFamily="18" charset="0"/>
                <a:ea typeface="Cambria" panose="02040503050406030204" pitchFamily="18" charset="0"/>
              </a:rPr>
              <a:t>T</a:t>
            </a:r>
            <a:r>
              <a:rPr lang="vi-VN" dirty="0">
                <a:latin typeface="Cambria" panose="02040503050406030204" pitchFamily="18" charset="0"/>
                <a:ea typeface="Cambria" panose="02040503050406030204" pitchFamily="18" charset="0"/>
              </a:rPr>
              <a:t> là một kỹ thuật đo lường, tích hợp dữ liệu của phạm vi, thời gian và chi phí dự án để đưa ra một đường ranh giới thực hiện chi phí (Cost Baseline). </a:t>
            </a:r>
            <a:endParaRPr lang="en-US"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Người quản lí dự án và những nhóm thành viên cần xác định làm thế nào để có thể kết hợp được phạm vi, thời gian, chi phí và thực hiện một cách tốt nhất. </a:t>
            </a:r>
            <a:endParaRPr lang="en-US"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Do vậy, họ cần có những thông tin chính xác để so sánh với lằn mức ngân sách, như ban đầu đã ước lượng. Từ đó định ra chi phí thực sự cần bao nhiêu để hoàn thành công việc.</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48855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KIỂM SOÁT VÀ ĐIỀU CHỈNH CHI PHÍ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5541513" cy="4593565"/>
          </a:xfrm>
          <a:prstGeom prst="rect">
            <a:avLst/>
          </a:prstGeom>
          <a:noFill/>
        </p:spPr>
        <p:txBody>
          <a:bodyPr wrap="square">
            <a:spAutoFit/>
          </a:bodyPr>
          <a:lstStyle/>
          <a:p>
            <a:pPr marL="0" lvl="1" algn="just">
              <a:spcAft>
                <a:spcPts val="300"/>
              </a:spcAft>
              <a:buClr>
                <a:schemeClr val="accent2">
                  <a:lumMod val="75000"/>
                </a:schemeClr>
              </a:buClr>
            </a:pPr>
            <a:r>
              <a:rPr lang="en-US" b="1" dirty="0" err="1">
                <a:latin typeface="Cambria" panose="02040503050406030204" pitchFamily="18" charset="0"/>
                <a:ea typeface="Cambria" panose="02040503050406030204" pitchFamily="18" charset="0"/>
              </a:rPr>
              <a:t>Thuật</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ngữ</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trong</a:t>
            </a:r>
            <a:r>
              <a:rPr lang="en-US" b="1" dirty="0">
                <a:latin typeface="Cambria" panose="02040503050406030204" pitchFamily="18" charset="0"/>
                <a:ea typeface="Cambria" panose="02040503050406030204" pitchFamily="18" charset="0"/>
              </a:rPr>
              <a:t> EVT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Giá trị trù tính (PV=Planned Value), còn gọi là ngân sách chi phí công việc đã lên lịch (BCWS=Bugedted Cost of Work Scheduled), cũng là ngân sách dự trù cho tổng cho tổng chi phí sẽ chi tiêu cho một công việc trong suốt một giai đoạn định trước. </a:t>
            </a:r>
            <a:endParaRPr lang="en-US"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Chi phí thực sự (AC=Actual Cost), còn gọi là chi phí thực sự của công việc được thực hiện (ACWP= Actual Cost of Work Performed), là tổng cộng các chi phí trực tiếp hay gián tiếp trong việc hoàn tất công việc trong một giai đoạn định trước. </a:t>
            </a:r>
            <a:endParaRPr lang="en-US"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Giá trị thu được (EV= Earned Value), còn gọi là chi phí ngân sách cho việc tiến hành công việc (BCWP= Budgeted Cost of Work ), là dự trù giá trị của công việc thật sự hoàn thành </a:t>
            </a:r>
            <a:endParaRPr lang="en-US"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7C2ACAAF-75FB-FE92-C053-8F43FEA2E85F}"/>
              </a:ext>
            </a:extLst>
          </p:cNvPr>
          <p:cNvPicPr>
            <a:picLocks noChangeAspect="1"/>
          </p:cNvPicPr>
          <p:nvPr/>
        </p:nvPicPr>
        <p:blipFill>
          <a:blip r:embed="rId2"/>
          <a:stretch>
            <a:fillRect/>
          </a:stretch>
        </p:blipFill>
        <p:spPr>
          <a:xfrm>
            <a:off x="6004560" y="1005965"/>
            <a:ext cx="5846313" cy="2917672"/>
          </a:xfrm>
          <a:prstGeom prst="rect">
            <a:avLst/>
          </a:prstGeom>
        </p:spPr>
      </p:pic>
    </p:spTree>
    <p:extLst>
      <p:ext uri="{BB962C8B-B14F-4D97-AF65-F5344CB8AC3E}">
        <p14:creationId xmlns:p14="http://schemas.microsoft.com/office/powerpoint/2010/main" val="17184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KIỂM SOÁT VÀ ĐIỀU CHỈNH CHI PHÍ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5754873" cy="5455340"/>
          </a:xfrm>
          <a:prstGeom prst="rect">
            <a:avLst/>
          </a:prstGeom>
          <a:noFill/>
        </p:spPr>
        <p:txBody>
          <a:bodyPr wrap="square">
            <a:spAutoFit/>
          </a:bodyPr>
          <a:lstStyle/>
          <a:p>
            <a:pPr marL="0" lvl="1" algn="just">
              <a:spcAft>
                <a:spcPts val="300"/>
              </a:spcAft>
              <a:buClr>
                <a:schemeClr val="accent2">
                  <a:lumMod val="75000"/>
                </a:schemeClr>
              </a:buClr>
            </a:pPr>
            <a:r>
              <a:rPr lang="en-US" b="1" dirty="0">
                <a:latin typeface="Cambria" panose="02040503050406030204" pitchFamily="18" charset="0"/>
                <a:ea typeface="Cambria" panose="02040503050406030204" pitchFamily="18" charset="0"/>
              </a:rPr>
              <a:t>E</a:t>
            </a:r>
            <a:r>
              <a:rPr lang="vi-VN" b="1" dirty="0">
                <a:latin typeface="Cambria" panose="02040503050406030204" pitchFamily="18" charset="0"/>
                <a:ea typeface="Cambria" panose="02040503050406030204" pitchFamily="18" charset="0"/>
              </a:rPr>
              <a:t>arned value technique – EVT </a:t>
            </a:r>
            <a:endParaRPr lang="en-US" b="1" dirty="0">
              <a:latin typeface="Cambria" panose="02040503050406030204" pitchFamily="18" charset="0"/>
              <a:ea typeface="Cambria" panose="02040503050406030204" pitchFamily="18" charset="0"/>
            </a:endParaRPr>
          </a:p>
          <a:p>
            <a:pPr marL="0" lvl="1" algn="just">
              <a:spcAft>
                <a:spcPts val="300"/>
              </a:spcAft>
              <a:buClr>
                <a:schemeClr val="accent2">
                  <a:lumMod val="75000"/>
                </a:schemeClr>
              </a:buClr>
            </a:pPr>
            <a:r>
              <a:rPr lang="vi-VN" dirty="0">
                <a:latin typeface="Cambria" panose="02040503050406030204" pitchFamily="18" charset="0"/>
                <a:ea typeface="Cambria" panose="02040503050406030204" pitchFamily="18" charset="0"/>
              </a:rPr>
              <a:t>Viện Quản lý dự án đề xuất kỹ thuật giá trị thu được (earned value technique – EVT) được mô tả trong PMBOK (Project Management Body of Knowledge – Hiểu biết về quản lý dự án).</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Cost Variance: Biến động chi phí CV = EV – AC</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Schedule Variance : Biến động lịch trình SV = EV – PV</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Cost Performance Index: Chỉ số hiệu suất chi phí CPI = EV/AC (chỉ số CPI &lt; 1 chứng tỏ vượt quá chi phí).</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Schedule Performance Index: Chỉ số hiệu suất lịch trình SPI = EV/PV (SPI lớn hơn hoặc bằng 1 cho biết dự án đang trong tình trạng thuận lợi)</a:t>
            </a:r>
            <a:endParaRPr lang="en-US"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endParaRPr lang="vi-VN" dirty="0">
              <a:latin typeface="Cambria" panose="02040503050406030204" pitchFamily="18" charset="0"/>
              <a:ea typeface="Cambria" panose="02040503050406030204" pitchFamily="18" charset="0"/>
            </a:endParaRPr>
          </a:p>
          <a:p>
            <a:pPr marL="0" lvl="1" algn="just">
              <a:spcAft>
                <a:spcPts val="300"/>
              </a:spcAft>
              <a:buClr>
                <a:schemeClr val="accent2">
                  <a:lumMod val="75000"/>
                </a:schemeClr>
              </a:buClr>
            </a:pPr>
            <a:r>
              <a:rPr lang="vi-VN" dirty="0">
                <a:latin typeface="Cambria" panose="02040503050406030204" pitchFamily="18" charset="0"/>
                <a:ea typeface="Cambria" panose="02040503050406030204" pitchFamily="18" charset="0"/>
              </a:rPr>
              <a:t>Ví dụ, ngân sách (PV) cho một dự án </a:t>
            </a:r>
            <a:r>
              <a:rPr lang="en-US" dirty="0" err="1">
                <a:latin typeface="Cambria" panose="02040503050406030204" pitchFamily="18" charset="0"/>
                <a:ea typeface="Cambria" panose="02040503050406030204" pitchFamily="18" charset="0"/>
              </a:rPr>
              <a:t>kéo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dài</a:t>
            </a:r>
            <a:r>
              <a:rPr lang="en-US" dirty="0">
                <a:latin typeface="Cambria" panose="02040503050406030204" pitchFamily="18" charset="0"/>
                <a:ea typeface="Cambria" panose="02040503050406030204" pitchFamily="18" charset="0"/>
              </a:rPr>
              <a:t> 5 </a:t>
            </a:r>
            <a:r>
              <a:rPr lang="en-US" dirty="0" err="1">
                <a:latin typeface="Cambria" panose="02040503050406030204" pitchFamily="18" charset="0"/>
                <a:ea typeface="Cambria" panose="02040503050406030204" pitchFamily="18" charset="0"/>
              </a:rPr>
              <a:t>tháng</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là $40,000. Số tiền cho công việc đã hoàn thành (Earned Value (EV)</a:t>
            </a:r>
            <a:r>
              <a:rPr lang="en-US" dirty="0">
                <a:latin typeface="Cambria" panose="02040503050406030204" pitchFamily="18" charset="0"/>
                <a:ea typeface="Cambria" panose="02040503050406030204" pitchFamily="18" charset="0"/>
              </a:rPr>
              <a:t> – </a:t>
            </a:r>
            <a:r>
              <a:rPr lang="vi-VN" dirty="0">
                <a:latin typeface="Cambria" panose="02040503050406030204" pitchFamily="18" charset="0"/>
                <a:ea typeface="Cambria" panose="02040503050406030204" pitchFamily="18" charset="0"/>
              </a:rPr>
              <a:t>Giá trị thực nhận) là $35.000. Tuy nhiên, chi phí thực tế phát sinh cho đến nay là $38.000.</a:t>
            </a:r>
          </a:p>
        </p:txBody>
      </p:sp>
      <p:pic>
        <p:nvPicPr>
          <p:cNvPr id="3" name="Picture 2">
            <a:extLst>
              <a:ext uri="{FF2B5EF4-FFF2-40B4-BE49-F238E27FC236}">
                <a16:creationId xmlns:a16="http://schemas.microsoft.com/office/drawing/2014/main" id="{7C2ACAAF-75FB-FE92-C053-8F43FEA2E85F}"/>
              </a:ext>
            </a:extLst>
          </p:cNvPr>
          <p:cNvPicPr>
            <a:picLocks noChangeAspect="1"/>
          </p:cNvPicPr>
          <p:nvPr/>
        </p:nvPicPr>
        <p:blipFill>
          <a:blip r:embed="rId2"/>
          <a:stretch>
            <a:fillRect/>
          </a:stretch>
        </p:blipFill>
        <p:spPr>
          <a:xfrm>
            <a:off x="6390642" y="1005965"/>
            <a:ext cx="5460231" cy="2724993"/>
          </a:xfrm>
          <a:prstGeom prst="rect">
            <a:avLst/>
          </a:prstGeom>
        </p:spPr>
      </p:pic>
    </p:spTree>
    <p:extLst>
      <p:ext uri="{BB962C8B-B14F-4D97-AF65-F5344CB8AC3E}">
        <p14:creationId xmlns:p14="http://schemas.microsoft.com/office/powerpoint/2010/main" val="1810301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KIỂM SOÁT VÀ ĐIỀU CHỈNH CHI PHÍ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11536623" cy="6047809"/>
          </a:xfrm>
          <a:prstGeom prst="rect">
            <a:avLst/>
          </a:prstGeom>
          <a:noFill/>
        </p:spPr>
        <p:txBody>
          <a:bodyPr wrap="square">
            <a:spAutoFit/>
          </a:bodyPr>
          <a:lstStyle/>
          <a:p>
            <a:pPr marL="0" lvl="1" algn="just">
              <a:spcAft>
                <a:spcPts val="300"/>
              </a:spcAft>
              <a:buClr>
                <a:schemeClr val="accent2">
                  <a:lumMod val="75000"/>
                </a:schemeClr>
              </a:buClr>
            </a:pPr>
            <a:r>
              <a:rPr lang="en-US" b="1" dirty="0">
                <a:latin typeface="Cambria" panose="02040503050406030204" pitchFamily="18" charset="0"/>
                <a:ea typeface="Cambria" panose="02040503050406030204" pitchFamily="18" charset="0"/>
              </a:rPr>
              <a:t>E</a:t>
            </a:r>
            <a:r>
              <a:rPr lang="vi-VN" b="1" dirty="0">
                <a:latin typeface="Cambria" panose="02040503050406030204" pitchFamily="18" charset="0"/>
                <a:ea typeface="Cambria" panose="02040503050406030204" pitchFamily="18" charset="0"/>
              </a:rPr>
              <a:t>arned value technique – EVT </a:t>
            </a:r>
            <a:endParaRPr lang="en-US" b="1" dirty="0">
              <a:latin typeface="Cambria" panose="02040503050406030204" pitchFamily="18" charset="0"/>
              <a:ea typeface="Cambria" panose="02040503050406030204" pitchFamily="18" charset="0"/>
            </a:endParaRPr>
          </a:p>
          <a:p>
            <a:pPr algn="just"/>
            <a:r>
              <a:rPr lang="vi-VN" dirty="0">
                <a:latin typeface="Cambria" panose="02040503050406030204" pitchFamily="18" charset="0"/>
                <a:ea typeface="Cambria" panose="02040503050406030204" pitchFamily="18" charset="0"/>
              </a:rPr>
              <a:t>Xem xét các phép tính sau:</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Cost Variance: Biến động chi phí CV = EV – AC = $35.000 – $38.000 = – $3.000</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Schedule Variance: Biến động lịch trình SV = EV – PV = $35.000 đô la – $40.000 = -$5.000</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Cost Performance Index: Chỉ số hiệu suất chi phí CPI = EV/AC = $35.000/$38.000 = 0.92 ( vượt quá chi phí).</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Schedule Performance Index: Chỉ số hiệu suất lịch trình. SPI = EV/PV = $35.000/$40.000 = 0.875 (dự án chậm tiến độ so với kế hoạch).</a:t>
            </a:r>
            <a:endParaRPr lang="en-US"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endParaRPr lang="en-US" dirty="0">
              <a:latin typeface="Cambria" panose="02040503050406030204" pitchFamily="18" charset="0"/>
              <a:ea typeface="Cambria" panose="02040503050406030204" pitchFamily="18" charset="0"/>
            </a:endParaRPr>
          </a:p>
          <a:p>
            <a:pPr algn="just"/>
            <a:r>
              <a:rPr lang="vi-VN" b="1" dirty="0">
                <a:latin typeface="Cambria" panose="02040503050406030204" pitchFamily="18" charset="0"/>
                <a:ea typeface="Cambria" panose="02040503050406030204" pitchFamily="18" charset="0"/>
              </a:rPr>
              <a:t>Estimate to complete: Dự toán hoàn thành </a:t>
            </a:r>
            <a:r>
              <a:rPr lang="vi-VN"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C</a:t>
            </a:r>
            <a:r>
              <a:rPr lang="vi-VN" dirty="0">
                <a:latin typeface="Cambria" panose="02040503050406030204" pitchFamily="18" charset="0"/>
                <a:ea typeface="Cambria" panose="02040503050406030204" pitchFamily="18" charset="0"/>
              </a:rPr>
              <a:t>ó thể ước tính chi phí hoàn thành dự án dựa trên những điều đã được hoàn thành cho đến nay, so với ngân sách khi hoàn thành.</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Để tính toán Estimate to complete – Dự toán hoàn thành. (ETC), hãy sử dụng một trong hai công thức (BAC – Budget At Completion – Ngân sách hoàn thành, tương đương với Planned Value – Giá trị kế hoạch khi hoàn thành): Khi sai lệch hiện tại là không điển hình và không được mong đợi ​​sẽ xảy ra trong tương lai thì sử dụng: ETC = BAC – EV</a:t>
            </a:r>
          </a:p>
          <a:p>
            <a:pPr algn="just"/>
            <a:r>
              <a:rPr lang="vi-VN" dirty="0">
                <a:latin typeface="Cambria" panose="02040503050406030204" pitchFamily="18" charset="0"/>
                <a:ea typeface="Cambria" panose="02040503050406030204" pitchFamily="18" charset="0"/>
              </a:rPr>
              <a:t>Khi sai lệch hiện tại được coi là điển hình của những sai lệch trong tương lai:</a:t>
            </a:r>
          </a:p>
          <a:p>
            <a:pPr algn="just"/>
            <a:r>
              <a:rPr lang="vi-VN" dirty="0">
                <a:latin typeface="Cambria" panose="02040503050406030204" pitchFamily="18" charset="0"/>
                <a:ea typeface="Cambria" panose="02040503050406030204" pitchFamily="18" charset="0"/>
              </a:rPr>
              <a:t>ETC = (BAC – EV)/CPI</a:t>
            </a:r>
          </a:p>
          <a:p>
            <a:pPr algn="just"/>
            <a:r>
              <a:rPr lang="vi-VN" dirty="0">
                <a:latin typeface="Cambria" panose="02040503050406030204" pitchFamily="18" charset="0"/>
                <a:ea typeface="Cambria" panose="02040503050406030204" pitchFamily="18" charset="0"/>
              </a:rPr>
              <a:t>Trong ví dụ trên, nếu tổng ngân sách dự án là $60.000 và các chênh lệch được coi là điển hình, phép tính sẽ như sau:</a:t>
            </a:r>
          </a:p>
          <a:p>
            <a:pPr algn="just"/>
            <a:r>
              <a:rPr lang="vi-VN" dirty="0">
                <a:latin typeface="Cambria" panose="02040503050406030204" pitchFamily="18" charset="0"/>
                <a:ea typeface="Cambria" panose="02040503050406030204" pitchFamily="18" charset="0"/>
              </a:rPr>
              <a:t>ETC = ($60.000 – $35.000)/0.92 = $27.174</a:t>
            </a:r>
          </a:p>
          <a:p>
            <a:pPr algn="just"/>
            <a:r>
              <a:rPr lang="vi-VN" dirty="0">
                <a:latin typeface="Cambria" panose="02040503050406030204" pitchFamily="18" charset="0"/>
                <a:ea typeface="Cambria" panose="02040503050406030204" pitchFamily="18" charset="0"/>
              </a:rPr>
              <a:t>Bạn cần $ 27,174 để hoàn thành công việc còn lại.</a:t>
            </a:r>
          </a:p>
          <a:p>
            <a:pPr marL="0" lvl="1" algn="just">
              <a:spcBef>
                <a:spcPts val="600"/>
              </a:spcBef>
              <a:spcAft>
                <a:spcPts val="300"/>
              </a:spcAft>
              <a:buClr>
                <a:schemeClr val="accent2">
                  <a:lumMod val="75000"/>
                </a:schemeClr>
              </a:buClr>
              <a:buSzPct val="140000"/>
            </a:pPr>
            <a:endParaRPr lang="vi-V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04811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KIỂM SOÁT VÀ ĐIỀU CHỈNH CHI PHÍ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11536623" cy="3254737"/>
          </a:xfrm>
          <a:prstGeom prst="rect">
            <a:avLst/>
          </a:prstGeom>
          <a:noFill/>
        </p:spPr>
        <p:txBody>
          <a:bodyPr wrap="square">
            <a:spAutoFit/>
          </a:bodyPr>
          <a:lstStyle/>
          <a:p>
            <a:pPr marL="0" lvl="1" algn="just">
              <a:spcAft>
                <a:spcPts val="300"/>
              </a:spcAft>
              <a:buClr>
                <a:schemeClr val="accent2">
                  <a:lumMod val="75000"/>
                </a:schemeClr>
              </a:buClr>
            </a:pPr>
            <a:r>
              <a:rPr lang="en-US" b="1" dirty="0">
                <a:latin typeface="Cambria" panose="02040503050406030204" pitchFamily="18" charset="0"/>
                <a:ea typeface="Cambria" panose="02040503050406030204" pitchFamily="18" charset="0"/>
              </a:rPr>
              <a:t>E</a:t>
            </a:r>
            <a:r>
              <a:rPr lang="vi-VN" b="1" dirty="0">
                <a:latin typeface="Cambria" panose="02040503050406030204" pitchFamily="18" charset="0"/>
                <a:ea typeface="Cambria" panose="02040503050406030204" pitchFamily="18" charset="0"/>
              </a:rPr>
              <a:t>arned value technique – EVT </a:t>
            </a:r>
            <a:endParaRPr lang="en-US" b="1" dirty="0">
              <a:latin typeface="Cambria" panose="02040503050406030204" pitchFamily="18" charset="0"/>
              <a:ea typeface="Cambria" panose="02040503050406030204" pitchFamily="18" charset="0"/>
            </a:endParaRPr>
          </a:p>
          <a:p>
            <a:pPr algn="just"/>
            <a:r>
              <a:rPr lang="vi-VN" dirty="0">
                <a:latin typeface="Cambria" panose="02040503050406030204" pitchFamily="18" charset="0"/>
                <a:ea typeface="Cambria" panose="02040503050406030204" pitchFamily="18" charset="0"/>
              </a:rPr>
              <a:t>Estimated actual cost – Dự toán hoàn thành thực tế – Đây là dự báo tổng giá trị dự án hoàn thành cao nhất. Công thức cơ bản nhất, với giả định chênh lệch chi phí cho đến hiện tại là không điển hình, dự toán hoàn thành thực tế (EAC) là:</a:t>
            </a:r>
          </a:p>
          <a:p>
            <a:pPr algn="just"/>
            <a:r>
              <a:rPr lang="vi-VN" dirty="0">
                <a:latin typeface="Cambria" panose="02040503050406030204" pitchFamily="18" charset="0"/>
                <a:ea typeface="Cambria" panose="02040503050406030204" pitchFamily="18" charset="0"/>
              </a:rPr>
              <a:t>EAC = AC + BAC – EV</a:t>
            </a:r>
          </a:p>
          <a:p>
            <a:pPr algn="just"/>
            <a:r>
              <a:rPr lang="vi-VN" dirty="0">
                <a:latin typeface="Cambria" panose="02040503050406030204" pitchFamily="18" charset="0"/>
                <a:ea typeface="Cambria" panose="02040503050406030204" pitchFamily="18" charset="0"/>
              </a:rPr>
              <a:t>Trong ví dụ trên, giá trị này được tính như sau:</a:t>
            </a:r>
          </a:p>
          <a:p>
            <a:pPr algn="just"/>
            <a:r>
              <a:rPr lang="vi-VN" dirty="0">
                <a:latin typeface="Cambria" panose="02040503050406030204" pitchFamily="18" charset="0"/>
                <a:ea typeface="Cambria" panose="02040503050406030204" pitchFamily="18" charset="0"/>
              </a:rPr>
              <a:t>EAC = $38.000 + $60.000 – $35.000 = $63.000</a:t>
            </a:r>
          </a:p>
          <a:p>
            <a:pPr algn="just"/>
            <a:r>
              <a:rPr lang="vi-VN" dirty="0">
                <a:latin typeface="Cambria" panose="02040503050406030204" pitchFamily="18" charset="0"/>
                <a:ea typeface="Cambria" panose="02040503050406030204" pitchFamily="18" charset="0"/>
              </a:rPr>
              <a:t>Nếu sai lệch về chi phí cho đến hiện tại là điển hình, sử dụng:</a:t>
            </a:r>
          </a:p>
          <a:p>
            <a:pPr algn="just"/>
            <a:r>
              <a:rPr lang="vi-VN" dirty="0">
                <a:latin typeface="Cambria" panose="02040503050406030204" pitchFamily="18" charset="0"/>
                <a:ea typeface="Cambria" panose="02040503050406030204" pitchFamily="18" charset="0"/>
              </a:rPr>
              <a:t>EAC = AC + ETC</a:t>
            </a:r>
          </a:p>
          <a:p>
            <a:pPr algn="just"/>
            <a:r>
              <a:rPr lang="vi-VN" dirty="0">
                <a:latin typeface="Cambria" panose="02040503050406030204" pitchFamily="18" charset="0"/>
                <a:ea typeface="Cambria" panose="02040503050406030204" pitchFamily="18" charset="0"/>
              </a:rPr>
              <a:t>Trong ví dụ trên, giá trị này được tính như sau:</a:t>
            </a:r>
          </a:p>
          <a:p>
            <a:pPr algn="just"/>
            <a:r>
              <a:rPr lang="vi-VN" dirty="0">
                <a:latin typeface="Cambria" panose="02040503050406030204" pitchFamily="18" charset="0"/>
                <a:ea typeface="Cambria" panose="02040503050406030204" pitchFamily="18" charset="0"/>
              </a:rPr>
              <a:t>EAC = $38.000 + $27.174 = $65.174</a:t>
            </a:r>
          </a:p>
          <a:p>
            <a:pPr marL="0" lvl="1" algn="just">
              <a:spcBef>
                <a:spcPts val="600"/>
              </a:spcBef>
              <a:spcAft>
                <a:spcPts val="300"/>
              </a:spcAft>
              <a:buClr>
                <a:schemeClr val="accent2">
                  <a:lumMod val="75000"/>
                </a:schemeClr>
              </a:buClr>
              <a:buSzPct val="140000"/>
            </a:pPr>
            <a:endParaRPr lang="vi-V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72589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KIỂM SOÁT VÀ ĐIỀU CHỈNH CHI PHÍ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20A3D274-F1D3-8E84-75A9-6561F6F51002}"/>
              </a:ext>
            </a:extLst>
          </p:cNvPr>
          <p:cNvPicPr>
            <a:picLocks noChangeAspect="1"/>
          </p:cNvPicPr>
          <p:nvPr/>
        </p:nvPicPr>
        <p:blipFill>
          <a:blip r:embed="rId2"/>
          <a:stretch>
            <a:fillRect/>
          </a:stretch>
        </p:blipFill>
        <p:spPr>
          <a:xfrm>
            <a:off x="423418" y="769176"/>
            <a:ext cx="9145880" cy="5561328"/>
          </a:xfrm>
          <a:prstGeom prst="rect">
            <a:avLst/>
          </a:prstGeom>
        </p:spPr>
      </p:pic>
    </p:spTree>
    <p:extLst>
      <p:ext uri="{BB962C8B-B14F-4D97-AF65-F5344CB8AC3E}">
        <p14:creationId xmlns:p14="http://schemas.microsoft.com/office/powerpoint/2010/main" val="4221724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0" indent="0">
              <a:lnSpc>
                <a:spcPct val="100000"/>
              </a:lnSpc>
              <a:spcBef>
                <a:spcPts val="0"/>
              </a:spcBef>
              <a:spcAft>
                <a:spcPts val="600"/>
              </a:spcAft>
              <a:buNone/>
            </a:pPr>
            <a:r>
              <a:rPr lang="en-US" sz="3200" b="1" dirty="0">
                <a:solidFill>
                  <a:schemeClr val="bg1"/>
                </a:solidFill>
                <a:latin typeface="Cambria" panose="02040503050406030204" pitchFamily="18" charset="0"/>
                <a:ea typeface="Cambria" panose="02040503050406030204" pitchFamily="18" charset="0"/>
              </a:rPr>
              <a:t>4. PHÂN TÍCH TÀI CHÍNH DỰ ÁN</a:t>
            </a:r>
          </a:p>
          <a:p>
            <a:pPr marL="346075" indent="-346075">
              <a:lnSpc>
                <a:spcPct val="100000"/>
              </a:lnSpc>
              <a:spcBef>
                <a:spcPts val="0"/>
              </a:spcBef>
              <a:spcAft>
                <a:spcPts val="600"/>
              </a:spcAft>
              <a:buFont typeface="+mj-lt"/>
              <a:buAutoNum type="arabicPeriod"/>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56997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2" y="384176"/>
            <a:ext cx="7577057" cy="78483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4. PHÂN TÍCH TÀI CHÍNH DỰ ÁN</a:t>
            </a:r>
          </a:p>
          <a:p>
            <a:pPr algn="l"/>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F7E9AD64-1A1F-98EA-C86E-DD43EFF8358E}"/>
              </a:ext>
            </a:extLst>
          </p:cNvPr>
          <p:cNvSpPr txBox="1"/>
          <p:nvPr/>
        </p:nvSpPr>
        <p:spPr>
          <a:xfrm>
            <a:off x="337582" y="776591"/>
            <a:ext cx="7525076" cy="2100575"/>
          </a:xfrm>
          <a:prstGeom prst="rect">
            <a:avLst/>
          </a:prstGeom>
          <a:noFill/>
        </p:spPr>
        <p:txBody>
          <a:bodyPr wrap="square">
            <a:spAutoFit/>
          </a:bodyPr>
          <a:lstStyle/>
          <a:p>
            <a:pPr marL="0" lvl="1" algn="just">
              <a:spcBef>
                <a:spcPts val="600"/>
              </a:spcBef>
              <a:spcAft>
                <a:spcPts val="300"/>
              </a:spcAft>
              <a:buClr>
                <a:schemeClr val="accent2">
                  <a:lumMod val="75000"/>
                </a:schemeClr>
              </a:buClr>
              <a:buSzPct val="140000"/>
            </a:pP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nhắc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tài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chính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yếu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trọng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trình</a:t>
            </a:r>
            <a:r>
              <a:rPr lang="en-US" dirty="0">
                <a:latin typeface="Cambria" panose="02040503050406030204" pitchFamily="18" charset="0"/>
                <a:ea typeface="Cambria" panose="02040503050406030204" pitchFamily="18" charset="0"/>
              </a:rPr>
              <a:t> ban </a:t>
            </a:r>
            <a:r>
              <a:rPr lang="vi-VN" dirty="0">
                <a:latin typeface="Cambria" panose="02040503050406030204" pitchFamily="18" charset="0"/>
                <a:ea typeface="Cambria" panose="02040503050406030204" pitchFamily="18" charset="0"/>
              </a:rPr>
              <a:t>đầu lựa chọn dự án. Ba phương pháp chính để xác định giá trị tài chính của các dự án</a:t>
            </a:r>
            <a:endParaRPr lang="en-US"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Tính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trị</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(Net Present Value – NPV)</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Tính Giá trị Thu được trên Vốn đầu tư (Return On</a:t>
            </a:r>
            <a:r>
              <a:rPr lang="en-US" dirty="0">
                <a:latin typeface="Cambria" panose="02040503050406030204" pitchFamily="18" charset="0"/>
                <a:ea typeface="Cambria" panose="02040503050406030204" pitchFamily="18" charset="0"/>
              </a:rPr>
              <a:t> Investment – ROI)</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Tính Giá trị kiếm được (Payback Analysis – PA)</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09534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PHÂN TÍCH TÀI CHÍNH DỰ 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C771FA-6FDC-C7F1-63BD-8FF533175D2D}"/>
              </a:ext>
            </a:extLst>
          </p:cNvPr>
          <p:cNvSpPr txBox="1"/>
          <p:nvPr/>
        </p:nvSpPr>
        <p:spPr>
          <a:xfrm>
            <a:off x="339353" y="757211"/>
            <a:ext cx="3409687" cy="4085734"/>
          </a:xfrm>
          <a:prstGeom prst="rect">
            <a:avLst/>
          </a:prstGeom>
          <a:noFill/>
        </p:spPr>
        <p:txBody>
          <a:bodyPr wrap="square">
            <a:spAutoFit/>
          </a:bodyPr>
          <a:lstStyle/>
          <a:p>
            <a:pPr marL="0" lvl="1" algn="just">
              <a:spcAft>
                <a:spcPts val="300"/>
              </a:spcAft>
              <a:buClr>
                <a:schemeClr val="accent2">
                  <a:lumMod val="75000"/>
                </a:schemeClr>
              </a:buClr>
            </a:pPr>
            <a:r>
              <a:rPr lang="en-US" b="1" dirty="0" err="1">
                <a:latin typeface="Cambria" panose="02040503050406030204" pitchFamily="18" charset="0"/>
                <a:ea typeface="Cambria" panose="02040503050406030204" pitchFamily="18" charset="0"/>
              </a:rPr>
              <a:t>Tính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Giá</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trị</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Thực</a:t>
            </a:r>
            <a:r>
              <a:rPr lang="en-US" b="1" dirty="0">
                <a:latin typeface="Cambria" panose="02040503050406030204" pitchFamily="18" charset="0"/>
                <a:ea typeface="Cambria" panose="02040503050406030204" pitchFamily="18" charset="0"/>
              </a:rPr>
              <a:t> </a:t>
            </a:r>
          </a:p>
          <a:p>
            <a:pPr marL="0" lvl="1" algn="just">
              <a:spcAft>
                <a:spcPts val="300"/>
              </a:spcAft>
              <a:buClr>
                <a:schemeClr val="accent2">
                  <a:lumMod val="75000"/>
                </a:schemeClr>
              </a:buClr>
            </a:pPr>
            <a:r>
              <a:rPr lang="en-US" b="1" dirty="0">
                <a:latin typeface="Cambria" panose="02040503050406030204" pitchFamily="18" charset="0"/>
                <a:ea typeface="Cambria" panose="02040503050406030204" pitchFamily="18" charset="0"/>
              </a:rPr>
              <a:t>(Net Present Value – NPV)</a:t>
            </a:r>
          </a:p>
          <a:p>
            <a:pPr marL="0" lvl="1" algn="just">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NPV là phương pháp tính toán số tiền mong đợi kiếm được hoặc số tiền bị lỗ cho 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p>
          <a:p>
            <a:pPr marL="0" lvl="1" algn="just">
              <a:spcAft>
                <a:spcPts val="300"/>
              </a:spcAft>
              <a:buClr>
                <a:schemeClr val="accent2">
                  <a:lumMod val="75000"/>
                </a:schemeClr>
              </a:buClr>
              <a:buSzPct val="140000"/>
            </a:pPr>
            <a:r>
              <a:rPr lang="vi-VN" dirty="0">
                <a:latin typeface="Cambria" panose="02040503050406030204" pitchFamily="18" charset="0"/>
                <a:ea typeface="Cambria" panose="02040503050406030204" pitchFamily="18" charset="0"/>
              </a:rPr>
              <a:t>Đối với dạng dự án có tiêu chí quan trọng về giá trị tài chính (số tiền kiếm được từ</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dự án) thì các dự án có giá trị NPV dương sẽ được cân nhắc để lựa chọn trong quá trình</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đánh giá. Theo đó, dự án nào tới thời điểm kết thúc, giá trị NPV càng cao thì được cho</a:t>
            </a:r>
            <a:r>
              <a:rPr lang="en-US" dirty="0">
                <a:latin typeface="Cambria" panose="02040503050406030204" pitchFamily="18" charset="0"/>
                <a:ea typeface="Cambria" panose="02040503050406030204" pitchFamily="18" charset="0"/>
              </a:rPr>
              <a:t> </a:t>
            </a:r>
            <a:r>
              <a:rPr lang="fr-FR" dirty="0">
                <a:latin typeface="Cambria" panose="02040503050406030204" pitchFamily="18" charset="0"/>
                <a:ea typeface="Cambria" panose="02040503050406030204" pitchFamily="18" charset="0"/>
              </a:rPr>
              <a:t>là </a:t>
            </a:r>
            <a:r>
              <a:rPr lang="fr-FR" dirty="0" err="1">
                <a:latin typeface="Cambria" panose="02040503050406030204" pitchFamily="18" charset="0"/>
                <a:ea typeface="Cambria" panose="02040503050406030204" pitchFamily="18" charset="0"/>
              </a:rPr>
              <a:t>dự</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án</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càng</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tốt</a:t>
            </a:r>
            <a:r>
              <a:rPr lang="fr-FR" dirty="0">
                <a:latin typeface="Cambria" panose="02040503050406030204" pitchFamily="18" charset="0"/>
                <a:ea typeface="Cambria" panose="02040503050406030204" pitchFamily="18" charset="0"/>
              </a:rPr>
              <a:t>.</a:t>
            </a:r>
          </a:p>
        </p:txBody>
      </p:sp>
      <p:sp>
        <p:nvSpPr>
          <p:cNvPr id="3" name="TextBox 2">
            <a:extLst>
              <a:ext uri="{FF2B5EF4-FFF2-40B4-BE49-F238E27FC236}">
                <a16:creationId xmlns:a16="http://schemas.microsoft.com/office/drawing/2014/main" id="{DDB73CDC-1893-7C7D-A383-2FDB66F120F5}"/>
              </a:ext>
            </a:extLst>
          </p:cNvPr>
          <p:cNvSpPr txBox="1"/>
          <p:nvPr/>
        </p:nvSpPr>
        <p:spPr>
          <a:xfrm>
            <a:off x="339352" y="5210043"/>
            <a:ext cx="11538397" cy="1238801"/>
          </a:xfrm>
          <a:prstGeom prst="rect">
            <a:avLst/>
          </a:prstGeom>
          <a:noFill/>
        </p:spPr>
        <p:txBody>
          <a:bodyPr wrap="square">
            <a:spAutoFit/>
          </a:bodyPr>
          <a:lstStyle/>
          <a:p>
            <a:pPr marL="0" lvl="1" algn="just">
              <a:spcAft>
                <a:spcPts val="300"/>
              </a:spcAft>
              <a:buClr>
                <a:schemeClr val="accent2">
                  <a:lumMod val="75000"/>
                </a:schemeClr>
              </a:buClr>
              <a:buSzPct val="140000"/>
            </a:pPr>
            <a:r>
              <a:rPr lang="en-US" dirty="0" err="1">
                <a:latin typeface="Cambria" panose="02040503050406030204" pitchFamily="18" charset="0"/>
                <a:ea typeface="Cambria" panose="02040503050406030204" pitchFamily="18" charset="0"/>
              </a:rPr>
              <a:t>Hình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tính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toán</a:t>
            </a:r>
            <a:r>
              <a:rPr lang="en-US" dirty="0">
                <a:latin typeface="Cambria" panose="02040503050406030204" pitchFamily="18" charset="0"/>
                <a:ea typeface="Cambria" panose="02040503050406030204" pitchFamily="18" charset="0"/>
              </a:rPr>
              <a:t> NPV.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1 (project 1)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2 (project 2) </a:t>
            </a:r>
            <a:r>
              <a:rPr lang="en-US" dirty="0" err="1">
                <a:latin typeface="Cambria" panose="02040503050406030204" pitchFamily="18" charset="0"/>
                <a:ea typeface="Cambria" panose="02040503050406030204" pitchFamily="18" charset="0"/>
              </a:rPr>
              <a:t>đều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5 </a:t>
            </a:r>
            <a:r>
              <a:rPr lang="en-US" dirty="0" err="1">
                <a:latin typeface="Cambria" panose="02040503050406030204" pitchFamily="18" charset="0"/>
                <a:ea typeface="Cambria" panose="02040503050406030204" pitchFamily="18" charset="0"/>
              </a:rPr>
              <a:t>năm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doanh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thu</a:t>
            </a:r>
            <a:r>
              <a:rPr lang="en-US" dirty="0">
                <a:latin typeface="Cambria" panose="02040503050406030204" pitchFamily="18" charset="0"/>
                <a:ea typeface="Cambria" panose="02040503050406030204" pitchFamily="18" charset="0"/>
              </a:rPr>
              <a:t> (Revenue)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chi </a:t>
            </a:r>
            <a:r>
              <a:rPr lang="en-US" dirty="0" err="1">
                <a:latin typeface="Cambria" panose="02040503050406030204" pitchFamily="18" charset="0"/>
                <a:ea typeface="Cambria" panose="02040503050406030204" pitchFamily="18" charset="0"/>
              </a:rPr>
              <a:t>phí</a:t>
            </a:r>
            <a:r>
              <a:rPr lang="en-US" dirty="0">
                <a:latin typeface="Cambria" panose="02040503050406030204" pitchFamily="18" charset="0"/>
                <a:ea typeface="Cambria" panose="02040503050406030204" pitchFamily="18" charset="0"/>
              </a:rPr>
              <a:t> (costs) </a:t>
            </a:r>
            <a:r>
              <a:rPr lang="vi-VN" dirty="0">
                <a:latin typeface="Cambria" panose="02040503050406030204" pitchFamily="18" charset="0"/>
                <a:ea typeface="Cambria" panose="02040503050406030204" pitchFamily="18" charset="0"/>
              </a:rPr>
              <a:t>trong 5 năm được ghi lại trong các trường tương ứng. Hàm npv() của Excel có thể tính</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giá trị NPV trong ví dụ này. Hai dự án có số tiền thu được cuối cùng đều là $5000 nhưng</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có NPV khác nhau do vốn bỏ ra khác nhau. NPV của dự án (2) tốt hơn của dự án (1)</a:t>
            </a:r>
            <a:endParaRPr lang="en-US" dirty="0">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6B204DC1-514D-9C9A-DBFB-A300E15A54B3}"/>
              </a:ext>
            </a:extLst>
          </p:cNvPr>
          <p:cNvPicPr>
            <a:picLocks noChangeAspect="1"/>
          </p:cNvPicPr>
          <p:nvPr/>
        </p:nvPicPr>
        <p:blipFill>
          <a:blip r:embed="rId2"/>
          <a:stretch>
            <a:fillRect/>
          </a:stretch>
        </p:blipFill>
        <p:spPr>
          <a:xfrm>
            <a:off x="3933276" y="796879"/>
            <a:ext cx="8034062" cy="3764961"/>
          </a:xfrm>
          <a:prstGeom prst="rect">
            <a:avLst/>
          </a:prstGeom>
        </p:spPr>
      </p:pic>
    </p:spTree>
    <p:extLst>
      <p:ext uri="{BB962C8B-B14F-4D97-AF65-F5344CB8AC3E}">
        <p14:creationId xmlns:p14="http://schemas.microsoft.com/office/powerpoint/2010/main" val="1720014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PHÂN TÍCH TÀI CHÍNH DỰ 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C771FA-6FDC-C7F1-63BD-8FF533175D2D}"/>
              </a:ext>
            </a:extLst>
          </p:cNvPr>
          <p:cNvSpPr txBox="1"/>
          <p:nvPr/>
        </p:nvSpPr>
        <p:spPr>
          <a:xfrm>
            <a:off x="339353" y="757211"/>
            <a:ext cx="7727687" cy="5632311"/>
          </a:xfrm>
          <a:prstGeom prst="rect">
            <a:avLst/>
          </a:prstGeom>
          <a:noFill/>
        </p:spPr>
        <p:txBody>
          <a:bodyPr wrap="square">
            <a:spAutoFit/>
          </a:bodyPr>
          <a:lstStyle/>
          <a:p>
            <a:pPr algn="l"/>
            <a:r>
              <a:rPr lang="vi-VN" b="1" dirty="0">
                <a:latin typeface="Cambria" panose="02040503050406030204" pitchFamily="18" charset="0"/>
                <a:ea typeface="Cambria" panose="02040503050406030204" pitchFamily="18" charset="0"/>
              </a:rPr>
              <a:t>Tính Giá trị Thu được trên Vốn đầu tư (Return On</a:t>
            </a:r>
            <a:r>
              <a:rPr lang="en-US" b="1" dirty="0">
                <a:latin typeface="Cambria" panose="02040503050406030204" pitchFamily="18" charset="0"/>
                <a:ea typeface="Cambria" panose="02040503050406030204" pitchFamily="18" charset="0"/>
              </a:rPr>
              <a:t> Investment – ROI)</a:t>
            </a:r>
          </a:p>
          <a:p>
            <a:pPr algn="just"/>
            <a:r>
              <a:rPr lang="vi-VN" dirty="0">
                <a:latin typeface="Cambria" panose="02040503050406030204" pitchFamily="18" charset="0"/>
                <a:ea typeface="Cambria" panose="02040503050406030204" pitchFamily="18" charset="0"/>
              </a:rPr>
              <a:t>Giá trị ROI là tỉ lệ thu nhập trên số tiền đầu tư cho đến thời điểm hiện tại</a:t>
            </a:r>
            <a:r>
              <a:rPr lang="en-US" dirty="0">
                <a:latin typeface="Cambria" panose="02040503050406030204" pitchFamily="18" charset="0"/>
                <a:ea typeface="Cambria" panose="02040503050406030204" pitchFamily="18" charset="0"/>
              </a:rPr>
              <a:t>. Theo </a:t>
            </a:r>
            <a:r>
              <a:rPr lang="en-US" dirty="0" err="1">
                <a:latin typeface="Cambria" panose="02040503050406030204" pitchFamily="18" charset="0"/>
                <a:ea typeface="Cambria" panose="02040503050406030204" pitchFamily="18" charset="0"/>
              </a:rPr>
              <a:t>đó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trị</a:t>
            </a:r>
            <a:r>
              <a:rPr lang="en-US" dirty="0">
                <a:latin typeface="Cambria" panose="02040503050406030204" pitchFamily="18" charset="0"/>
                <a:ea typeface="Cambria" panose="02040503050406030204" pitchFamily="18" charset="0"/>
              </a:rPr>
              <a:t> ROI </a:t>
            </a:r>
            <a:r>
              <a:rPr lang="en-US" dirty="0" err="1">
                <a:latin typeface="Cambria" panose="02040503050406030204" pitchFamily="18" charset="0"/>
                <a:ea typeface="Cambria" panose="02040503050406030204" pitchFamily="18" charset="0"/>
              </a:rPr>
              <a:t>càng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cao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càng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tốt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mặt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quả</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kinh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tế</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Việc chọn lựa dự án còn được căn cứ trên giá trị ROI thông qua việc ấn định một tỉ</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lệ ROI cần thiết mà dự án cần đạt, theo đó các dự án sẽ được chọn thực hiện nếu có</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ROI lớn hơn ngưỡng đó và bị loại nếu nhỏ hơn ngưỡng đó.</a:t>
            </a:r>
            <a:endParaRPr lang="en-US" dirty="0">
              <a:latin typeface="Cambria" panose="02040503050406030204" pitchFamily="18" charset="0"/>
              <a:ea typeface="Cambria" panose="02040503050406030204" pitchFamily="18" charset="0"/>
            </a:endParaRPr>
          </a:p>
          <a:p>
            <a:pPr algn="l"/>
            <a:endParaRPr lang="en-US" dirty="0">
              <a:latin typeface="Cambria" panose="02040503050406030204" pitchFamily="18" charset="0"/>
              <a:ea typeface="Cambria" panose="02040503050406030204" pitchFamily="18" charset="0"/>
            </a:endParaRPr>
          </a:p>
          <a:p>
            <a:pPr algn="l"/>
            <a:r>
              <a:rPr lang="vi-VN" b="1" dirty="0">
                <a:latin typeface="Cambria" panose="02040503050406030204" pitchFamily="18" charset="0"/>
                <a:ea typeface="Cambria" panose="02040503050406030204" pitchFamily="18" charset="0"/>
              </a:rPr>
              <a:t>Tính Giá trị kiếm được (Payback Analysis – PA)</a:t>
            </a:r>
            <a:endParaRPr lang="en-US" b="1" dirty="0">
              <a:latin typeface="Cambria" panose="02040503050406030204" pitchFamily="18" charset="0"/>
              <a:ea typeface="Cambria" panose="02040503050406030204" pitchFamily="18" charset="0"/>
            </a:endParaRPr>
          </a:p>
          <a:p>
            <a:pPr algn="just"/>
            <a:r>
              <a:rPr lang="vi-VN" dirty="0">
                <a:latin typeface="Cambria" panose="02040503050406030204" pitchFamily="18" charset="0"/>
                <a:ea typeface="Cambria" panose="02040503050406030204" pitchFamily="18" charset="0"/>
              </a:rPr>
              <a:t>Phân tích hoàn vốn tính toán sẽ mất bao lâu để doanh nghiệp thu lại được vốn đã bỏ ra đầu tư cho dự án. Thời gian hoàn vốn được xác định bằng cách lấy khoản đầu tư ban đầu chia cho dòng tiền trung bình hàng năm mà dự án sẽ tạo ra.</a:t>
            </a:r>
          </a:p>
          <a:p>
            <a:pPr algn="just"/>
            <a:r>
              <a:rPr lang="vi-VN" dirty="0">
                <a:latin typeface="Cambria" panose="02040503050406030204" pitchFamily="18" charset="0"/>
                <a:ea typeface="Cambria" panose="02040503050406030204" pitchFamily="18" charset="0"/>
              </a:rPr>
              <a:t>Ví dụ: nếu chi phí đầu tư ban đầu của dự án là 400 triệu đồng, và dự án tạo ra doanh thu 100 triệu đồng mỗi năm. Doanh nghiệp sẽ mất 4 năm để hoàn vốn.</a:t>
            </a:r>
            <a:endParaRPr lang="en-US" dirty="0">
              <a:latin typeface="Cambria" panose="02040503050406030204" pitchFamily="18" charset="0"/>
              <a:ea typeface="Cambria" panose="02040503050406030204" pitchFamily="18" charset="0"/>
            </a:endParaRPr>
          </a:p>
          <a:p>
            <a:pPr algn="just"/>
            <a:endParaRPr lang="vi-VN" dirty="0">
              <a:latin typeface="Cambria" panose="02040503050406030204" pitchFamily="18" charset="0"/>
              <a:ea typeface="Cambria" panose="02040503050406030204" pitchFamily="18" charset="0"/>
            </a:endParaRPr>
          </a:p>
          <a:p>
            <a:pPr algn="just"/>
            <a:r>
              <a:rPr lang="vi-VN" dirty="0">
                <a:latin typeface="Cambria" panose="02040503050406030204" pitchFamily="18" charset="0"/>
                <a:ea typeface="Cambria" panose="02040503050406030204" pitchFamily="18" charset="0"/>
              </a:rPr>
              <a:t>Phương pháp phân tích hoàn vốn có ưu điểm là đơn giản, dễ tính toán; phù hợp với việc xem xét dự án đầu tư có quy mô vừa và nhỏ, thu hồi vốn nhanh. Tuy nhiên, phương pháp này chỉ chú trọng xem xét lợi ích ngắn hạn và không tính đến yếu tố giá trị thời gian của tiền.</a:t>
            </a:r>
          </a:p>
          <a:p>
            <a:pPr algn="l"/>
            <a:endParaRPr lang="fr-FR"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825A5F85-8F92-86D7-9092-85F5E47AD435}"/>
              </a:ext>
            </a:extLst>
          </p:cNvPr>
          <p:cNvPicPr>
            <a:picLocks noChangeAspect="1"/>
          </p:cNvPicPr>
          <p:nvPr/>
        </p:nvPicPr>
        <p:blipFill>
          <a:blip r:embed="rId2"/>
          <a:stretch>
            <a:fillRect/>
          </a:stretch>
        </p:blipFill>
        <p:spPr>
          <a:xfrm>
            <a:off x="8172037" y="875246"/>
            <a:ext cx="3822676" cy="2843313"/>
          </a:xfrm>
          <a:prstGeom prst="rect">
            <a:avLst/>
          </a:prstGeom>
        </p:spPr>
      </p:pic>
    </p:spTree>
    <p:extLst>
      <p:ext uri="{BB962C8B-B14F-4D97-AF65-F5344CB8AC3E}">
        <p14:creationId xmlns:p14="http://schemas.microsoft.com/office/powerpoint/2010/main" val="28083262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PHÂN TÍCH TÀI CHÍNH DỰ 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C771FA-6FDC-C7F1-63BD-8FF533175D2D}"/>
              </a:ext>
            </a:extLst>
          </p:cNvPr>
          <p:cNvSpPr txBox="1"/>
          <p:nvPr/>
        </p:nvSpPr>
        <p:spPr>
          <a:xfrm>
            <a:off x="339353" y="757211"/>
            <a:ext cx="6142727" cy="5262979"/>
          </a:xfrm>
          <a:prstGeom prst="rect">
            <a:avLst/>
          </a:prstGeom>
          <a:noFill/>
        </p:spPr>
        <p:txBody>
          <a:bodyPr wrap="square">
            <a:spAutoFit/>
          </a:bodyPr>
          <a:lstStyle/>
          <a:p>
            <a:r>
              <a:rPr lang="en-US" b="1" dirty="0" err="1">
                <a:latin typeface="Cambria" panose="02040503050406030204" pitchFamily="18" charset="0"/>
                <a:ea typeface="Cambria" panose="02040503050406030204" pitchFamily="18" charset="0"/>
              </a:rPr>
              <a:t>Lựa</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chọn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dự</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án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dựa</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trên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mô</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hình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đánh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giá</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theo</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trọng</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số</a:t>
            </a:r>
            <a:endParaRPr lang="en-US"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Mô</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hình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này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cung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cấp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trình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thống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lựa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chọn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trên nhiều tiêu chí, được tính theo các bước như sau:</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Xác định các tiêu chí được cho là quan trọng tới quá trình lựa chọn dự án.</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Sau </a:t>
            </a:r>
            <a:r>
              <a:rPr lang="en-US" dirty="0" err="1">
                <a:latin typeface="Cambria" panose="02040503050406030204" pitchFamily="18" charset="0"/>
                <a:ea typeface="Cambria" panose="02040503050406030204" pitchFamily="18" charset="0"/>
              </a:rPr>
              <a:t>đó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trọng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tới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mỗi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tiêu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tổng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trọng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100%.</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Tiếp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đến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mỗi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tiêu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mỗi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hệ</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thống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thống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Nhân các điểm với các trọng số tương ứng để tính tổng số điểm có trọng số.</a:t>
            </a:r>
            <a:endParaRPr lang="en-US" dirty="0">
              <a:latin typeface="Cambria" panose="02040503050406030204" pitchFamily="18" charset="0"/>
              <a:ea typeface="Cambria" panose="02040503050406030204" pitchFamily="18" charset="0"/>
            </a:endParaRPr>
          </a:p>
          <a:p>
            <a:pPr algn="just"/>
            <a:r>
              <a:rPr lang="vi-VN" dirty="0">
                <a:latin typeface="Cambria" panose="02040503050406030204" pitchFamily="18" charset="0"/>
                <a:ea typeface="Cambria" panose="02040503050406030204" pitchFamily="18" charset="0"/>
              </a:rPr>
              <a:t>Dự án nào có tổng điểm càng cao thì được cho là càng tốt và sẽ được lựa chọn để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Còn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với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tổng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thấp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bị</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loại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bỏ</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Vấn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đề</a:t>
            </a:r>
            <a:r>
              <a:rPr lang="en-US" dirty="0">
                <a:latin typeface="Cambria" panose="02040503050406030204" pitchFamily="18" charset="0"/>
                <a:ea typeface="Cambria" panose="02040503050406030204" pitchFamily="18" charset="0"/>
              </a:rPr>
              <a:t> </a:t>
            </a:r>
            <a:r>
              <a:rPr lang="en-US" i="1" dirty="0" err="1">
                <a:solidFill>
                  <a:srgbClr val="0070C0"/>
                </a:solidFill>
                <a:latin typeface="Cambria" panose="02040503050406030204" pitchFamily="18" charset="0"/>
                <a:ea typeface="Cambria" panose="02040503050406030204" pitchFamily="18" charset="0"/>
              </a:rPr>
              <a:t>khó</a:t>
            </a:r>
            <a:r>
              <a:rPr lang="en-US" i="1" dirty="0">
                <a:solidFill>
                  <a:srgbClr val="0070C0"/>
                </a:solidFill>
                <a:latin typeface="Cambria" panose="02040503050406030204" pitchFamily="18" charset="0"/>
                <a:ea typeface="Cambria" panose="02040503050406030204" pitchFamily="18" charset="0"/>
              </a:rPr>
              <a:t> </a:t>
            </a:r>
            <a:r>
              <a:rPr lang="en-US" i="1" dirty="0" err="1">
                <a:solidFill>
                  <a:srgbClr val="0070C0"/>
                </a:solidFill>
                <a:latin typeface="Cambria" panose="02040503050406030204" pitchFamily="18" charset="0"/>
                <a:ea typeface="Cambria" panose="02040503050406030204" pitchFamily="18" charset="0"/>
              </a:rPr>
              <a:t>khăn</a:t>
            </a:r>
            <a:r>
              <a:rPr lang="en-US" i="1" dirty="0">
                <a:solidFill>
                  <a:srgbClr val="0070C0"/>
                </a:solidFill>
                <a:latin typeface="Cambria" panose="02040503050406030204" pitchFamily="18" charset="0"/>
                <a:ea typeface="Cambria" panose="02040503050406030204" pitchFamily="18" charset="0"/>
              </a:rPr>
              <a:t> </a:t>
            </a:r>
            <a:r>
              <a:rPr lang="en-US" i="1" dirty="0" err="1">
                <a:solidFill>
                  <a:srgbClr val="0070C0"/>
                </a:solidFill>
                <a:latin typeface="Cambria" panose="02040503050406030204" pitchFamily="18" charset="0"/>
                <a:ea typeface="Cambria" panose="02040503050406030204" pitchFamily="18" charset="0"/>
              </a:rPr>
              <a:t>nhất</a:t>
            </a:r>
            <a:r>
              <a:rPr lang="en-US" i="1" dirty="0">
                <a:solidFill>
                  <a:srgbClr val="0070C0"/>
                </a:solidFill>
                <a:latin typeface="Cambria" panose="02040503050406030204" pitchFamily="18" charset="0"/>
                <a:ea typeface="Cambria" panose="02040503050406030204" pitchFamily="18" charset="0"/>
              </a:rPr>
              <a:t> </a:t>
            </a:r>
            <a:r>
              <a:rPr lang="en-US" i="1" dirty="0" err="1">
                <a:solidFill>
                  <a:srgbClr val="0070C0"/>
                </a:solidFill>
                <a:latin typeface="Cambria" panose="02040503050406030204" pitchFamily="18" charset="0"/>
                <a:ea typeface="Cambria" panose="02040503050406030204" pitchFamily="18" charset="0"/>
              </a:rPr>
              <a:t>trong</a:t>
            </a:r>
            <a:r>
              <a:rPr lang="en-US" i="1" dirty="0">
                <a:solidFill>
                  <a:srgbClr val="0070C0"/>
                </a:solidFill>
                <a:latin typeface="Cambria" panose="02040503050406030204" pitchFamily="18" charset="0"/>
                <a:ea typeface="Cambria" panose="02040503050406030204" pitchFamily="18" charset="0"/>
              </a:rPr>
              <a:t> </a:t>
            </a:r>
            <a:r>
              <a:rPr lang="vi-VN" i="1" dirty="0">
                <a:solidFill>
                  <a:srgbClr val="0070C0"/>
                </a:solidFill>
                <a:latin typeface="Cambria" panose="02040503050406030204" pitchFamily="18" charset="0"/>
                <a:ea typeface="Cambria" panose="02040503050406030204" pitchFamily="18" charset="0"/>
              </a:rPr>
              <a:t>mô hình này là xác định các tiêu chí quan trọng và cho điểm tương ứng với các tiêu chí.</a:t>
            </a:r>
            <a:endParaRPr lang="fr-FR" i="1" dirty="0">
              <a:solidFill>
                <a:srgbClr val="0070C0"/>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120CAF46-CAFA-5FEB-060D-C3653147ECE8}"/>
              </a:ext>
            </a:extLst>
          </p:cNvPr>
          <p:cNvPicPr>
            <a:picLocks noChangeAspect="1"/>
          </p:cNvPicPr>
          <p:nvPr/>
        </p:nvPicPr>
        <p:blipFill>
          <a:blip r:embed="rId2"/>
          <a:stretch>
            <a:fillRect/>
          </a:stretch>
        </p:blipFill>
        <p:spPr>
          <a:xfrm>
            <a:off x="6566367" y="802641"/>
            <a:ext cx="5372343" cy="4128872"/>
          </a:xfrm>
          <a:prstGeom prst="rect">
            <a:avLst/>
          </a:prstGeom>
        </p:spPr>
      </p:pic>
    </p:spTree>
    <p:extLst>
      <p:ext uri="{BB962C8B-B14F-4D97-AF65-F5344CB8AC3E}">
        <p14:creationId xmlns:p14="http://schemas.microsoft.com/office/powerpoint/2010/main" val="40165745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r>
              <a:rPr lang="en-US" sz="4000" b="0" dirty="0">
                <a:solidFill>
                  <a:schemeClr val="bg1"/>
                </a:solidFill>
                <a:effectLst/>
                <a:latin typeface="Cambria" panose="02040503050406030204" pitchFamily="18" charset="0"/>
                <a:ea typeface="Cambria" panose="02040503050406030204" pitchFamily="18" charset="0"/>
              </a:rPr>
              <a:t>THANK YOU!</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en-US" sz="2700" dirty="0">
                <a:solidFill>
                  <a:schemeClr val="accent1">
                    <a:lumMod val="40000"/>
                    <a:lumOff val="60000"/>
                  </a:schemeClr>
                </a:solidFill>
                <a:latin typeface="Cambria" panose="02040503050406030204" pitchFamily="18" charset="0"/>
                <a:ea typeface="Cambria" panose="02040503050406030204" pitchFamily="18" charset="0"/>
              </a:rPr>
              <a:t>Chap IV: </a:t>
            </a:r>
            <a:r>
              <a:rPr lang="vi-VN" sz="2700" dirty="0">
                <a:solidFill>
                  <a:schemeClr val="accent1">
                    <a:lumMod val="40000"/>
                    <a:lumOff val="60000"/>
                  </a:schemeClr>
                </a:solidFill>
                <a:latin typeface="Cambria" panose="02040503050406030204" pitchFamily="18" charset="0"/>
                <a:ea typeface="Cambria" panose="02040503050406030204" pitchFamily="18" charset="0"/>
              </a:rPr>
              <a:t>IT </a:t>
            </a:r>
            <a:r>
              <a:rPr lang="en-US" sz="2700" dirty="0">
                <a:solidFill>
                  <a:schemeClr val="accent1">
                    <a:lumMod val="40000"/>
                    <a:lumOff val="60000"/>
                  </a:schemeClr>
                </a:solidFill>
                <a:latin typeface="Cambria" panose="02040503050406030204" pitchFamily="18" charset="0"/>
                <a:ea typeface="Cambria" panose="02040503050406030204" pitchFamily="18" charset="0"/>
              </a:rPr>
              <a:t>project Cost</a:t>
            </a:r>
            <a:r>
              <a:rPr lang="vi-VN" sz="2700" dirty="0">
                <a:solidFill>
                  <a:schemeClr val="accent1">
                    <a:lumMod val="40000"/>
                    <a:lumOff val="60000"/>
                  </a:schemeClr>
                </a:solidFill>
                <a:latin typeface="Cambria" panose="02040503050406030204" pitchFamily="18" charset="0"/>
                <a:ea typeface="Cambria" panose="02040503050406030204" pitchFamily="18" charset="0"/>
              </a:rPr>
              <a:t> management</a:t>
            </a:r>
            <a:br>
              <a:rPr lang="en-US" sz="2700" dirty="0">
                <a:solidFill>
                  <a:schemeClr val="bg1"/>
                </a:solidFill>
                <a:latin typeface="Cambria" panose="02040503050406030204" pitchFamily="18" charset="0"/>
                <a:ea typeface="Cambria" panose="02040503050406030204" pitchFamily="18" charset="0"/>
              </a:rPr>
            </a:br>
            <a:r>
              <a:rPr lang="en-US" sz="2000" dirty="0">
                <a:solidFill>
                  <a:schemeClr val="accent1">
                    <a:lumMod val="60000"/>
                    <a:lumOff val="40000"/>
                  </a:schemeClr>
                </a:solidFill>
                <a:latin typeface="Cambria" panose="02040503050406030204" pitchFamily="18" charset="0"/>
                <a:ea typeface="Cambria" panose="02040503050406030204" pitchFamily="18" charset="0"/>
              </a:rPr>
              <a:t>Lecturer</a:t>
            </a:r>
            <a:r>
              <a:rPr lang="en-US" sz="2000">
                <a:solidFill>
                  <a:schemeClr val="accent1">
                    <a:lumMod val="60000"/>
                    <a:lumOff val="40000"/>
                  </a:schemeClr>
                </a:solidFill>
                <a:latin typeface="Cambria" panose="02040503050406030204" pitchFamily="18" charset="0"/>
                <a:ea typeface="Cambria" panose="02040503050406030204" pitchFamily="18" charset="0"/>
              </a:rPr>
              <a:t>:  </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57340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ing slide">
  <a:themeElements>
    <a:clrScheme name="Custom 7">
      <a:dk1>
        <a:srgbClr val="FFFFFF"/>
      </a:dk1>
      <a:lt1>
        <a:srgbClr val="0070C0"/>
      </a:lt1>
      <a:dk2>
        <a:srgbClr val="FFFFFF"/>
      </a:dk2>
      <a:lt2>
        <a:srgbClr val="0070C0"/>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682412-66F4-472C-A8B4-F82FC664521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DF4F141-115F-43A3-871D-E2C8F45BAC52}">
  <ds:schemaRefs>
    <ds:schemaRef ds:uri="http://schemas.microsoft.com/office/2006/metadata/properties"/>
    <ds:schemaRef ds:uri="http://schemas.microsoft.com/office/infopath/2007/PartnerControls"/>
    <ds:schemaRef ds:uri="6e9c558a-331c-4b2a-9422-cc1872e64aa6"/>
    <ds:schemaRef ds:uri="0daeb402-9d2e-4002-a65f-37a660ceb8fd"/>
  </ds:schemaRefs>
</ds:datastoreItem>
</file>

<file path=customXml/itemProps3.xml><?xml version="1.0" encoding="utf-8"?>
<ds:datastoreItem xmlns:ds="http://schemas.openxmlformats.org/officeDocument/2006/customXml" ds:itemID="{143A5A13-9031-45F6-86DD-4727863B54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3026</TotalTime>
  <Words>3879</Words>
  <Application>Microsoft Office PowerPoint</Application>
  <PresentationFormat>Widescreen</PresentationFormat>
  <Paragraphs>236</Paragraphs>
  <Slides>30</Slides>
  <Notes>0</Notes>
  <HiddenSlides>0</HiddenSlides>
  <MMClips>0</MMClips>
  <ScaleCrop>false</ScaleCrop>
  <HeadingPairs>
    <vt:vector size="4" baseType="variant">
      <vt:variant>
        <vt:lpstr>Theme</vt:lpstr>
      </vt:variant>
      <vt:variant>
        <vt:i4>3</vt:i4>
      </vt:variant>
      <vt:variant>
        <vt:lpstr>Slide Titles</vt:lpstr>
      </vt:variant>
      <vt:variant>
        <vt:i4>30</vt:i4>
      </vt:variant>
    </vt:vector>
  </HeadingPairs>
  <TitlesOfParts>
    <vt:vector size="33" baseType="lpstr">
      <vt:lpstr>Office Theme</vt:lpstr>
      <vt:lpstr>Opening slide</vt:lpstr>
      <vt:lpstr>Body slide</vt:lpstr>
      <vt:lpstr> INFORMATION TECHNOLOGY PROJECT MANAGEMENT     Chap IV: IT project Cost management Lecturer: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Chap IV: IT project Cost management Lecturer: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TECHNOLOGY PROJECT MANAGEMENT  Chap I: Foundation of IT project management Lecturer: Dr. Thanh NGO</dc:title>
  <dc:creator>Thanh. Ngo Minh - CMC People Unit</dc:creator>
  <cp:lastModifiedBy>Thanh. Ngo Minh - CMC Corp Ban Nhan su &amp; PTNT</cp:lastModifiedBy>
  <cp:revision>218</cp:revision>
  <cp:lastPrinted>2024-03-12T04:48:54Z</cp:lastPrinted>
  <dcterms:created xsi:type="dcterms:W3CDTF">2024-02-01T10:29:10Z</dcterms:created>
  <dcterms:modified xsi:type="dcterms:W3CDTF">2026-09-22T06:55:23Z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