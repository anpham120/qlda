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4" r:id="rId5"/>
    <p:sldMasterId id="2147483666" r:id="rId6"/>
  </p:sldMasterIdLst>
  <p:sldIdLst>
    <p:sldId id="256" r:id="rId7"/>
    <p:sldId id="279" r:id="rId8"/>
    <p:sldId id="334" r:id="rId9"/>
    <p:sldId id="421" r:id="rId10"/>
    <p:sldId id="335" r:id="rId11"/>
    <p:sldId id="257" r:id="rId12"/>
    <p:sldId id="347" r:id="rId13"/>
    <p:sldId id="400" r:id="rId14"/>
    <p:sldId id="401" r:id="rId15"/>
    <p:sldId id="336" r:id="rId16"/>
    <p:sldId id="337" r:id="rId17"/>
    <p:sldId id="419" r:id="rId18"/>
    <p:sldId id="381" r:id="rId19"/>
    <p:sldId id="402" r:id="rId20"/>
    <p:sldId id="403" r:id="rId21"/>
    <p:sldId id="404" r:id="rId22"/>
    <p:sldId id="405" r:id="rId23"/>
    <p:sldId id="406" r:id="rId24"/>
    <p:sldId id="408" r:id="rId25"/>
    <p:sldId id="407" r:id="rId26"/>
    <p:sldId id="409" r:id="rId27"/>
    <p:sldId id="410" r:id="rId28"/>
    <p:sldId id="411" r:id="rId29"/>
    <p:sldId id="412" r:id="rId30"/>
    <p:sldId id="413" r:id="rId31"/>
    <p:sldId id="414" r:id="rId32"/>
    <p:sldId id="415" r:id="rId33"/>
    <p:sldId id="416" r:id="rId34"/>
    <p:sldId id="417" r:id="rId35"/>
    <p:sldId id="418" r:id="rId36"/>
    <p:sldId id="420" r:id="rId37"/>
    <p:sldId id="292" r:id="rId38"/>
  </p:sldIdLst>
  <p:sldSz cx="12192000" cy="6858000"/>
  <p:notesSz cx="6954838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1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presProps" Target="presProp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C586A-3CA7-A6B6-6B3B-4583D57BE5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51776E-AB3C-97F0-AA67-BD2E18056A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7923A-7CEC-4869-8AF4-836E8C807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F127-7721-4FB8-A2C6-5E97C2B5E01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91799-8705-EA78-77FB-A8D1418A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50114-BB6A-8616-2731-F19508492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3FC1-3A4E-448F-B845-A3E46F94B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654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253F8-D7EF-0AA8-3598-5AC952F1D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1DE3F-5386-056B-1DEC-19911D2C2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05957-DD56-E507-21A2-8C0A5BE9F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F127-7721-4FB8-A2C6-5E97C2B5E01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B9A55-8E66-EC08-7034-455A1E5E9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F6D1F-72C9-BA38-AAB4-6FAC937E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3FC1-3A4E-448F-B845-A3E46F94B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058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42EB5-995E-9071-E3A1-95E9D7E50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CF681-C1B8-C11A-F353-03F536F24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5EFDC-3504-A413-429F-299170D34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F127-7721-4FB8-A2C6-5E97C2B5E01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9A7B8-12DD-1BF3-FD41-6B3061949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061D4-168A-8F5C-1AF2-EEEE97F41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3FC1-3A4E-448F-B845-A3E46F94B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141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34875-A6FD-8948-4493-B9CE9F5BB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19F30-A0D3-1FEA-6295-76618F64BC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E2052-690E-6A4A-BF02-E46FD4005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FEBC34-12BA-F9D2-9978-AA8576AA8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F127-7721-4FB8-A2C6-5E97C2B5E01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96469-2D3A-F487-7765-67182F6A0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E2A04-E436-414E-4B0C-2404C44E9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3FC1-3A4E-448F-B845-A3E46F94B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235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D2111-8CAE-1681-AEAC-2079D2AEC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EED81-28F4-4AD3-11E7-6FFF95522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3B50D-C434-C047-6A82-F515AB35F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1BF45-750B-EE49-DA72-E92AF974D3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79E4D8-3EBB-E193-27A5-094D18445F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71CCED-E4D2-1960-BB38-F574A8621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F127-7721-4FB8-A2C6-5E97C2B5E01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E36CFE-AD2A-D7D2-B7AC-0E6731A1D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59C0B5-F8AA-4571-AFA6-A6728C204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3FC1-3A4E-448F-B845-A3E46F94B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48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E519E-BDB0-6C86-F8A0-76A5F77C2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38157-D72D-588F-3ADF-121F60C6D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F127-7721-4FB8-A2C6-5E97C2B5E01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717323-0A37-5519-2211-CB5A46A70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E187EF-3568-6D06-B0CC-CC03B437E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3FC1-3A4E-448F-B845-A3E46F94B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79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DA75DE-3AA6-3D68-4B0D-E41DC289D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F127-7721-4FB8-A2C6-5E97C2B5E01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C2F1D1-1AE5-9EFB-5C41-D0BA282D3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39EC7-3610-4119-B990-AAC57BFAB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3FC1-3A4E-448F-B845-A3E46F94B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235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1A1C0-DF73-59F9-7F79-1E20888F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0BE31-A6CE-0A68-9049-46835F690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EBAC79-BA96-6289-CE87-A607DC7FE7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EFF55-5B90-350B-AAD2-357346686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F127-7721-4FB8-A2C6-5E97C2B5E01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45FB3-ADD8-2ECF-805C-BE68FADBA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33929-8CD9-1DA0-4C06-B6934F51B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3FC1-3A4E-448F-B845-A3E46F94B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78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E5A5F-7783-499E-9377-321019983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CA243A-C284-88CE-16D1-09F73127C4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E3E7FA-2738-CC66-3A33-AF2665F88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52B17-F93D-D397-FB9D-F548BD362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F127-7721-4FB8-A2C6-5E97C2B5E01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48A4A-D02F-90AA-6306-2A3C8C61D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AF598-401C-397D-5CF5-3A9D5CA82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3FC1-3A4E-448F-B845-A3E46F94B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381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4A2BB-D4CC-5B9B-2348-E67CC05EB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7E9190-84A6-F9EA-2390-7756FA27F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9E116-5473-7F3F-8433-5244C90E7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F127-7721-4FB8-A2C6-5E97C2B5E01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5FA76-460F-9D21-A59E-4B4E1DD5E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0A51C-B070-BA37-CF7D-21A317D5A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3FC1-3A4E-448F-B845-A3E46F94B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50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743B3-1526-7C42-5D1E-F800423F8A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823CF1-92A9-379B-2137-1E6179E6A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C939-1232-F1BE-40EE-926F7F322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F127-7721-4FB8-A2C6-5E97C2B5E01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4AEF-05BD-1B4A-FFF2-7F78AB001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B8F82-AEF6-1E0B-765F-D74DBC301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3FC1-3A4E-448F-B845-A3E46F94B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874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574F-8BA0-4DD9-8A0D-88DF8E867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3437" y="1600199"/>
            <a:ext cx="6998563" cy="2732103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2D7F5-BC12-43B2-9B38-EB14BFE04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3437" y="4422159"/>
            <a:ext cx="6998564" cy="3651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91443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181B04-7A0A-4201-BF8A-A7E924267571}"/>
              </a:ext>
            </a:extLst>
          </p:cNvPr>
          <p:cNvSpPr txBox="1">
            <a:spLocks/>
          </p:cNvSpPr>
          <p:nvPr userDrawn="1"/>
        </p:nvSpPr>
        <p:spPr>
          <a:xfrm>
            <a:off x="3311370" y="18257"/>
            <a:ext cx="8880629" cy="789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05D78967-21EF-4AA2-8BE4-2FCA6F8A7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6" y="1"/>
            <a:ext cx="8187350" cy="571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1630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F51A7-6B22-4874-8FC5-ED388E5D1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176" y="1597981"/>
            <a:ext cx="10966059" cy="4578982"/>
          </a:xfrm>
        </p:spPr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E3DAE31-D39D-4D91-8F50-8D056054A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6" y="1"/>
            <a:ext cx="8231739" cy="561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6837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6E213-C056-49F2-8A77-C3C4C25F4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176" y="1597981"/>
            <a:ext cx="10941322" cy="4580877"/>
          </a:xfrm>
        </p:spPr>
        <p:txBody>
          <a:bodyPr/>
          <a:lstStyle>
            <a:lvl1pPr marL="0" indent="0">
              <a:buNone/>
              <a:defRPr sz="2400">
                <a:solidFill>
                  <a:srgbClr val="0070C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4381502F-F4F5-47E5-A036-3E8E88EBE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6" y="1"/>
            <a:ext cx="8231739" cy="561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 rot="19043258">
            <a:off x="470650" y="3521318"/>
            <a:ext cx="50855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For CMC University Student only</a:t>
            </a:r>
            <a:endParaRPr lang="en-AU" sz="26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 rot="19043258">
            <a:off x="5795684" y="3521317"/>
            <a:ext cx="50855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For CMC University Student only</a:t>
            </a:r>
            <a:endParaRPr lang="en-AU" sz="26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1034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F5726-7887-4ED4-A172-AF93078815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560" y="1606858"/>
            <a:ext cx="5483440" cy="457010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A0F843-3E9A-4C49-A1AC-A3FA71EF7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1" y="1606858"/>
            <a:ext cx="5483440" cy="457010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06B0EA4-C8A7-4132-BFEF-0DDFF81DF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6" y="1"/>
            <a:ext cx="8222861" cy="561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 rot="19043258">
            <a:off x="470650" y="3521318"/>
            <a:ext cx="50855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For CMC University Student only</a:t>
            </a:r>
            <a:endParaRPr lang="en-AU" sz="2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 rot="19043258">
            <a:off x="5795684" y="3521317"/>
            <a:ext cx="50855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For CMC University Student only</a:t>
            </a:r>
            <a:endParaRPr lang="en-AU" sz="2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322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1CF06-6B06-4E7F-82EA-7C5047EA6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175" y="1603275"/>
            <a:ext cx="546782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9E841-81B0-403F-B4A9-7ACB7AAF8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75" y="2512381"/>
            <a:ext cx="5462626" cy="36772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B9AEE-2F75-43DB-921D-43380FB8C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0802" y="1603275"/>
            <a:ext cx="546782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1E4C2-CBB6-4430-BE56-3BF9E9AA8B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0801" y="2512381"/>
            <a:ext cx="5467825" cy="36772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49F13EA-C024-48AE-90B5-68F588A6D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6" y="1"/>
            <a:ext cx="8231739" cy="5524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7848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747FC4C-9430-4B68-AD2B-00579939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6" y="1"/>
            <a:ext cx="8205106" cy="5429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 userDrawn="1"/>
        </p:nvSpPr>
        <p:spPr>
          <a:xfrm rot="19043258">
            <a:off x="470650" y="3521318"/>
            <a:ext cx="50855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For CMC University Student only</a:t>
            </a:r>
            <a:endParaRPr lang="en-AU" sz="2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/>
          <p:cNvSpPr txBox="1"/>
          <p:nvPr userDrawn="1"/>
        </p:nvSpPr>
        <p:spPr>
          <a:xfrm rot="19043258">
            <a:off x="5795684" y="3521317"/>
            <a:ext cx="50855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For CMC University Student only</a:t>
            </a:r>
            <a:endParaRPr lang="en-AU" sz="2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5505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B3D6C-BEF2-4E06-A9B0-9A309DB34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1394" y="1606858"/>
            <a:ext cx="6507234" cy="45631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ECDB52-24E0-4CBA-AE63-33BD3EF65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8176" y="1606859"/>
            <a:ext cx="4165766" cy="456312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38BBB283-F300-4A19-B448-60B2206B6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6" y="1"/>
            <a:ext cx="8205106" cy="5429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152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D3D43A-8744-40D7-AFFD-6F0B4A4ECB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606858"/>
            <a:ext cx="6375440" cy="4554244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5C3DD-CC1C-4A73-BCDA-09DF7D09C2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8175" y="1606859"/>
            <a:ext cx="4245665" cy="45542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64732130-B38F-4E21-8A3C-589F26725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6" y="1"/>
            <a:ext cx="8222861" cy="581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 rot="19043258">
            <a:off x="470650" y="3521318"/>
            <a:ext cx="50855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For CMC University Student only</a:t>
            </a:r>
            <a:endParaRPr lang="en-AU" sz="2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 rot="19043258">
            <a:off x="5795684" y="3521317"/>
            <a:ext cx="50855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For CMC University Student only</a:t>
            </a:r>
            <a:endParaRPr lang="en-AU" sz="2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2815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93FDE-0843-445A-8B34-9092D666F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176" y="1597981"/>
            <a:ext cx="10941322" cy="45789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3086777C-386E-4DFE-9BE7-63682A461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6" y="1"/>
            <a:ext cx="8213983" cy="571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6651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81CC48-27A5-4590-A158-B24464D8B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175" y="1589103"/>
            <a:ext cx="10941322" cy="458786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AABDBED6-01BA-4F2B-9569-ED8032753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6" y="1"/>
            <a:ext cx="8205106" cy="561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598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4.jp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image" Target="../media/image3.jp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F796FF-222D-1E2E-7D23-7C2CDFE14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ED22-2335-D77A-68F2-5BD129B13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4A63B-33FC-3D66-67A2-4F63979F6D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8F127-7721-4FB8-A2C6-5E97C2B5E01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09777-C88E-DEB1-2C91-66BDF4E702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51AD0-DD74-2C46-CF95-2202E3B9F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03FC1-3A4E-448F-B845-A3E46F94B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98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236DA72-9373-413D-90C2-B12F84A4BF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700E21E-0BA2-4C89-8691-A6161B41AA11}"/>
              </a:ext>
            </a:extLst>
          </p:cNvPr>
          <p:cNvSpPr/>
          <p:nvPr userDrawn="1"/>
        </p:nvSpPr>
        <p:spPr>
          <a:xfrm>
            <a:off x="5184559" y="1600200"/>
            <a:ext cx="7007441" cy="3657600"/>
          </a:xfrm>
          <a:prstGeom prst="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437EFD07-DCAC-4344-A296-7B657609E7D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78" y="183674"/>
            <a:ext cx="2736460" cy="49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223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EDE25AE-F103-49BC-9B89-0B1E7BCFB6DE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72738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16BAF0-010B-4DE2-BDEA-F2879C620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6" y="1"/>
            <a:ext cx="8213983" cy="572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BB290-2494-4607-B867-D433D7531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176" y="1313895"/>
            <a:ext cx="10941323" cy="48630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CB6BFF-A477-48C9-AA27-0D5A005B4CC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07121"/>
            <a:ext cx="12192000" cy="450879"/>
          </a:xfrm>
          <a:prstGeom prst="rect">
            <a:avLst/>
          </a:prstGeom>
        </p:spPr>
      </p:pic>
      <p:pic>
        <p:nvPicPr>
          <p:cNvPr id="16" name="Picture 15" descr="Logo&#10;&#10;Description automatically generated">
            <a:extLst>
              <a:ext uri="{FF2B5EF4-FFF2-40B4-BE49-F238E27FC236}">
                <a16:creationId xmlns:a16="http://schemas.microsoft.com/office/drawing/2014/main" id="{5381A15E-FFCE-435E-9C14-6C629375BFF6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9725" y="73518"/>
            <a:ext cx="2334099" cy="425701"/>
          </a:xfrm>
          <a:prstGeom prst="rect">
            <a:avLst/>
          </a:prstGeom>
        </p:spPr>
      </p:pic>
      <p:pic>
        <p:nvPicPr>
          <p:cNvPr id="17" name="Picture 16" descr="Shape&#10;&#10;Description automatically generated with medium confidence">
            <a:extLst>
              <a:ext uri="{FF2B5EF4-FFF2-40B4-BE49-F238E27FC236}">
                <a16:creationId xmlns:a16="http://schemas.microsoft.com/office/drawing/2014/main" id="{290B9EB1-B956-4D5D-A294-4C2DE882032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79" y="6585209"/>
            <a:ext cx="3743535" cy="32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090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zoetalentsolutions.com/course/information-technology-project-management-course/" TargetMode="Externa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zoetalentsolutions.com/course/information-technology-project-management-course/" TargetMode="Externa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rectangle with white dots&#10;&#10;Description automatically generated">
            <a:extLst>
              <a:ext uri="{FF2B5EF4-FFF2-40B4-BE49-F238E27FC236}">
                <a16:creationId xmlns:a16="http://schemas.microsoft.com/office/drawing/2014/main" id="{ECE4913A-95CE-44D8-6E6B-D51DE0600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blue sign with white text&#10;&#10;Description automatically generated">
            <a:extLst>
              <a:ext uri="{FF2B5EF4-FFF2-40B4-BE49-F238E27FC236}">
                <a16:creationId xmlns:a16="http://schemas.microsoft.com/office/drawing/2014/main" id="{B1B992CF-C5B0-3E18-5DBE-225492A94D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9552" y="208280"/>
            <a:ext cx="1613647" cy="777240"/>
          </a:xfrm>
          <a:prstGeom prst="rect">
            <a:avLst/>
          </a:prstGeom>
        </p:spPr>
      </p:pic>
      <p:pic>
        <p:nvPicPr>
          <p:cNvPr id="9" name="Picture 8" descr="A computer with a graph and a diagram&#10;&#10;Description automatically generated with medium confidence">
            <a:extLst>
              <a:ext uri="{FF2B5EF4-FFF2-40B4-BE49-F238E27FC236}">
                <a16:creationId xmlns:a16="http://schemas.microsoft.com/office/drawing/2014/main" id="{739FF32F-3E0B-257B-8470-E20496425F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3060691"/>
            <a:ext cx="7548880" cy="3589029"/>
          </a:xfrm>
          <a:prstGeom prst="rect">
            <a:avLst/>
          </a:prstGeom>
        </p:spPr>
      </p:pic>
      <p:sp>
        <p:nvSpPr>
          <p:cNvPr id="10" name="Title 4">
            <a:extLst>
              <a:ext uri="{FF2B5EF4-FFF2-40B4-BE49-F238E27FC236}">
                <a16:creationId xmlns:a16="http://schemas.microsoft.com/office/drawing/2014/main" id="{EC1A2CC1-88C2-9699-19F0-B13832AF9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277" y="4437371"/>
            <a:ext cx="6998563" cy="1382487"/>
          </a:xfrm>
        </p:spPr>
        <p:txBody>
          <a:bodyPr>
            <a:normAutofit fontScale="90000"/>
          </a:bodyPr>
          <a:lstStyle/>
          <a:p>
            <a:pPr algn="l"/>
            <a:br>
              <a:rPr lang="en-US" sz="4000" b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4000" b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INFORMATION TECHNOLOGY PROJECT MANAGEMENT </a:t>
            </a:r>
            <a:br>
              <a:rPr lang="en-US" sz="4000" b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sz="4000" b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sz="4000" b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sz="4000" b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7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Chap VI: </a:t>
            </a:r>
            <a:r>
              <a:rPr lang="vi-VN" sz="27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 </a:t>
            </a:r>
            <a:r>
              <a:rPr lang="en-US" sz="27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Risk</a:t>
            </a:r>
            <a:r>
              <a:rPr lang="vi-VN" sz="27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management</a:t>
            </a:r>
            <a:br>
              <a:rPr lang="en-US" sz="27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Lecturer:  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3684941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ircuit board&#10;&#10;Description automatically generated">
            <a:extLst>
              <a:ext uri="{FF2B5EF4-FFF2-40B4-BE49-F238E27FC236}">
                <a16:creationId xmlns:a16="http://schemas.microsoft.com/office/drawing/2014/main" id="{3515C3DC-5940-B1D2-647C-34C38945C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ubtitle 4">
            <a:extLst>
              <a:ext uri="{FF2B5EF4-FFF2-40B4-BE49-F238E27FC236}">
                <a16:creationId xmlns:a16="http://schemas.microsoft.com/office/drawing/2014/main" id="{CC5C7E55-634B-1DE0-9535-DC5071624720}"/>
              </a:ext>
            </a:extLst>
          </p:cNvPr>
          <p:cNvSpPr txBox="1">
            <a:spLocks/>
          </p:cNvSpPr>
          <p:nvPr/>
        </p:nvSpPr>
        <p:spPr>
          <a:xfrm>
            <a:off x="458055" y="975092"/>
            <a:ext cx="10788691" cy="2011680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i="0" u="none" strike="noStrike" baseline="0" dirty="0">
              <a:latin typeface="Times New Roman" panose="02020603050405020304" pitchFamily="18" charset="0"/>
            </a:endParaRPr>
          </a:p>
          <a:p>
            <a:pPr marL="346075" indent="-3460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-US" sz="96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6075" indent="-3460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9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TỔNG QUAN VỀ QUẢN LÝ RỦI TO DỰ ÁN </a:t>
            </a:r>
          </a:p>
          <a:p>
            <a:pPr marL="346075" indent="-3460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9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LẬP KẾ HOẠCH QUẢN LÝ RỦI RO </a:t>
            </a:r>
          </a:p>
          <a:p>
            <a:pPr marL="346075" indent="-3460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9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XÁC ĐỊNH RỦI RO </a:t>
            </a:r>
          </a:p>
          <a:p>
            <a:pPr marL="346075" indent="-3460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9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PHÂN TÍCH ĐỊNH TÍNH RỦI RO </a:t>
            </a:r>
          </a:p>
          <a:p>
            <a:pPr marL="346075" indent="-3460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vi-VN" sz="9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PHÂN TÍCH ĐỊNH LƯỢNG RỦI RO </a:t>
            </a:r>
          </a:p>
          <a:p>
            <a:pPr marL="346075" indent="-3460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9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KẾ HOẠCH ĐỐI PHÓ RỦI RO </a:t>
            </a:r>
          </a:p>
          <a:p>
            <a:pPr marL="346075" indent="-3460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9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GIÁM SÁT VÀ KIỂM SOÁT RỦI RO </a:t>
            </a:r>
            <a:r>
              <a:rPr lang="en-US" sz="1800" b="0" i="0" u="none" strike="noStrike" baseline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</a:p>
          <a:p>
            <a:pPr marL="346075" indent="-3460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-US" sz="18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5C758D-1344-FC52-DE08-DE5407E409D5}"/>
              </a:ext>
            </a:extLst>
          </p:cNvPr>
          <p:cNvSpPr/>
          <p:nvPr/>
        </p:nvSpPr>
        <p:spPr>
          <a:xfrm>
            <a:off x="458055" y="451872"/>
            <a:ext cx="17872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chemeClr val="accent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2758415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A7D571B-31DC-DFD8-0B63-31E0DE77B32B}"/>
              </a:ext>
            </a:extLst>
          </p:cNvPr>
          <p:cNvSpPr txBox="1"/>
          <p:nvPr/>
        </p:nvSpPr>
        <p:spPr>
          <a:xfrm>
            <a:off x="423429" y="443567"/>
            <a:ext cx="11571284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MỤC TIÊU CỦA CHAPTER VI – QUẢN LÝ RỦI RO DỰ ÁN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Hiểu được rủi ro là gì và tầm quan trọng của việc quản lý tốt rủi ro dự án.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Hiểu được qui trình quản lý rủi ro: lập kế hoạch, xác định rủi ro, phân hạng rủi ro, giải quyết rủi ro,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kiểm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soát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ro.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Dùng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số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qui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trình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phân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tích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cụ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kỹ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thuật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giúp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nhận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biết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Cung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cấp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pháp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pháp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sử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dụng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trị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ro.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F22D4B-9861-D201-7784-1270BEFCF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5328" y="3317178"/>
            <a:ext cx="3010487" cy="303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131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9C69506-27A0-7B20-05C1-17064CAF3EEF}"/>
              </a:ext>
            </a:extLst>
          </p:cNvPr>
          <p:cNvSpPr txBox="1">
            <a:spLocks noChangeArrowheads="1"/>
          </p:cNvSpPr>
          <p:nvPr/>
        </p:nvSpPr>
        <p:spPr>
          <a:xfrm>
            <a:off x="2087880" y="228600"/>
            <a:ext cx="7696200" cy="8540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/>
              <a:t>Rủi ro dự án HTTT…</a:t>
            </a:r>
            <a:endParaRPr lang="en-US" sz="4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7EDBE9-9ADD-898B-1C2C-6335568AB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80" y="37643"/>
            <a:ext cx="1866900" cy="33913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D5023C8-191A-56D5-F07E-9E8C20234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3580" y="28008"/>
            <a:ext cx="1819275" cy="34009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E449CC1-817C-9AA4-7E28-13FE9F3008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1880" y="28008"/>
            <a:ext cx="1828800" cy="340099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BCD3E94-3F43-71C1-65FA-93BBEAE7A3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9430" y="28008"/>
            <a:ext cx="1847850" cy="340099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C5A349A-FD43-83DE-D331-538838D710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9205" y="37643"/>
            <a:ext cx="1819275" cy="339135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CD82FCF-983C-521D-9044-A0397D5124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1880" y="6361671"/>
            <a:ext cx="676275" cy="3143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BD465B3-A8F7-8EAC-8C08-F76E2AA07D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2280" y="3385236"/>
            <a:ext cx="1857375" cy="3448050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27266017-D48B-18D8-207C-336337877628}"/>
              </a:ext>
            </a:extLst>
          </p:cNvPr>
          <p:cNvSpPr txBox="1">
            <a:spLocks/>
          </p:cNvSpPr>
          <p:nvPr/>
        </p:nvSpPr>
        <p:spPr bwMode="auto">
          <a:xfrm>
            <a:off x="1402080" y="6492875"/>
            <a:ext cx="25908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Quản trị dự án HTTT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F9E54BB-F532-4EEE-3606-20A1A9F8394C}"/>
              </a:ext>
            </a:extLst>
          </p:cNvPr>
          <p:cNvSpPr txBox="1">
            <a:spLocks/>
          </p:cNvSpPr>
          <p:nvPr/>
        </p:nvSpPr>
        <p:spPr>
          <a:xfrm>
            <a:off x="9990455" y="6492875"/>
            <a:ext cx="555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43931E29-6F43-458C-997D-B0FA91E6B38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663D29-B632-B3AC-E7E6-EF6FCA4AE1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8230" y="3411623"/>
            <a:ext cx="1847850" cy="33720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F30E8D0-F8EB-CA29-A95C-AAFE7BFA7E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30880" y="3399201"/>
            <a:ext cx="1857375" cy="34587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4136B83-1FFF-0299-2869-BCC7B7339E8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59680" y="3399201"/>
            <a:ext cx="1809750" cy="34587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04F4120-D239-ADC1-10A5-52E54317E63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3505" y="3379508"/>
            <a:ext cx="1857375" cy="347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007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ircuit board&#10;&#10;Description automatically generated">
            <a:extLst>
              <a:ext uri="{FF2B5EF4-FFF2-40B4-BE49-F238E27FC236}">
                <a16:creationId xmlns:a16="http://schemas.microsoft.com/office/drawing/2014/main" id="{3515C3DC-5940-B1D2-647C-34C38945C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ubtitle 4">
            <a:extLst>
              <a:ext uri="{FF2B5EF4-FFF2-40B4-BE49-F238E27FC236}">
                <a16:creationId xmlns:a16="http://schemas.microsoft.com/office/drawing/2014/main" id="{CC5C7E55-634B-1DE0-9535-DC5071624720}"/>
              </a:ext>
            </a:extLst>
          </p:cNvPr>
          <p:cNvSpPr txBox="1">
            <a:spLocks/>
          </p:cNvSpPr>
          <p:nvPr/>
        </p:nvSpPr>
        <p:spPr>
          <a:xfrm>
            <a:off x="407255" y="71120"/>
            <a:ext cx="10788691" cy="67868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i="0" u="none" strike="noStrike" baseline="0" dirty="0">
              <a:latin typeface="Times New Roman" panose="02020603050405020304" pitchFamily="18" charset="0"/>
            </a:endParaRPr>
          </a:p>
          <a:p>
            <a:pPr marL="346075" indent="-3460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TỔNG QUAN VỀ QUẢN LÝ RỦI TO DỰ ÁN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32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-US" sz="2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083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7A793E2-EC8B-C948-0AFC-E1263B58F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58413" y="86360"/>
            <a:ext cx="4164419" cy="685800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BDA1764-ADB2-C5F2-67B9-CD336399D252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7583" y="384176"/>
            <a:ext cx="650783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 TỔNG QUAN VỀ QUẢN LÝ RỦI RO DỰ ÁN</a:t>
            </a:r>
          </a:p>
          <a:p>
            <a:pPr>
              <a:spcAft>
                <a:spcPts val="600"/>
              </a:spcAft>
            </a:pPr>
            <a:endParaRPr lang="en-US" sz="20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CFE3C4-6ADE-F83F-786D-658746ABBB84}"/>
              </a:ext>
            </a:extLst>
          </p:cNvPr>
          <p:cNvSpPr txBox="1"/>
          <p:nvPr/>
        </p:nvSpPr>
        <p:spPr>
          <a:xfrm>
            <a:off x="8108407" y="384176"/>
            <a:ext cx="3804985" cy="2135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alt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Risk management</a:t>
            </a:r>
          </a:p>
          <a:p>
            <a:pPr eaLnBrk="1" hangingPunct="1">
              <a:spcBef>
                <a:spcPct val="20000"/>
              </a:spcBef>
            </a:pPr>
            <a:endParaRPr lang="en-US" altLang="en-US" sz="2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r" fontAlgn="base">
              <a:spcBef>
                <a:spcPct val="20000"/>
              </a:spcBef>
            </a:pPr>
            <a:r>
              <a:rPr lang="en-US" i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“Risk comes from </a:t>
            </a:r>
          </a:p>
          <a:p>
            <a:pPr algn="r" fontAlgn="base">
              <a:spcBef>
                <a:spcPct val="20000"/>
              </a:spcBef>
            </a:pPr>
            <a:r>
              <a:rPr lang="en-US" i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not knowing what you're doing.”</a:t>
            </a:r>
          </a:p>
          <a:p>
            <a:pPr algn="r" fontAlgn="base">
              <a:spcBef>
                <a:spcPct val="20000"/>
              </a:spcBef>
            </a:pPr>
            <a:r>
              <a:rPr lang="en-US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Warren Buffett</a:t>
            </a:r>
          </a:p>
          <a:p>
            <a:pPr algn="r">
              <a:spcBef>
                <a:spcPct val="20000"/>
              </a:spcBef>
            </a:pPr>
            <a:endParaRPr lang="en-US" altLang="en-US" sz="2000" i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E714B9-5A5F-472B-6C92-566A3A41D434}"/>
              </a:ext>
            </a:extLst>
          </p:cNvPr>
          <p:cNvSpPr txBox="1"/>
          <p:nvPr/>
        </p:nvSpPr>
        <p:spPr>
          <a:xfrm>
            <a:off x="337583" y="784286"/>
            <a:ext cx="7492216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nhiệm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vụ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sự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đối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phó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thông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qua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hoạt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mục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tiêu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đòi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hỏi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quan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nhất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Quản lý rủi ro thường không được chú ý trong các dự án, nhưng nó lại giúp cải thiện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được sự thành công của dự án trong việc giúp chọn lựa những dự án tốt, xác định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phạm vi dự án, và phát triển những ước tính có tính thực tế.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Rủi ro thường liên quan đến các vấn đề (có tác động xấu) chưa xảy ra tại thời điểm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khởi đầu của dự án, nhưng có thể xảy ra trong quá trình phát triển dự án. 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Ngay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từ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giai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đoạn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đầu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thì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dự 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(PM)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 vẫn cần xác định một chiến lược để quản lý rủi ro.</a:t>
            </a:r>
          </a:p>
        </p:txBody>
      </p:sp>
    </p:spTree>
    <p:extLst>
      <p:ext uri="{BB962C8B-B14F-4D97-AF65-F5344CB8AC3E}">
        <p14:creationId xmlns:p14="http://schemas.microsoft.com/office/powerpoint/2010/main" val="2115531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KHÁI NIỆM VÀ PHÂN LOẠI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8D0FE2-4BFF-480C-AC4A-4043EC366C6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0A18D69-D511-6314-DCBD-89280C11BD6A}"/>
              </a:ext>
            </a:extLst>
          </p:cNvPr>
          <p:cNvSpPr txBox="1"/>
          <p:nvPr/>
        </p:nvSpPr>
        <p:spPr>
          <a:xfrm>
            <a:off x="347567" y="735998"/>
            <a:ext cx="11647145" cy="3954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r>
              <a:rPr lang="en-US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nghĩa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kiện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hoặc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trạng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thái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không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chắc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chắn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nếu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nó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xảy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ra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sẽ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ảnh hưởng xấu (trong đa số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trường hợp) hoặc tốt (rất hiếm trường hợp) đối với các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mục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tiêu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liên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quan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tới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700" b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Xác</a:t>
            </a:r>
            <a:r>
              <a:rPr lang="en-US" sz="17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b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sz="17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b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7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b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7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700" b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Phân</a:t>
            </a:r>
            <a:r>
              <a:rPr lang="en-US" sz="17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b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tích</a:t>
            </a:r>
            <a:r>
              <a:rPr lang="en-US" sz="17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b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7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b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7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b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7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Kiểm soát rủi ro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. Mục đích của những công việc này là để tránh cho dự án khỏi bị rơi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vào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trạng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thái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khủng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hoảng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nhiều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khả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năng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dẫn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tới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thất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bại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đặc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thù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riêng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cho từng dự án cụ thể và được sử dụng </a:t>
            </a:r>
            <a:r>
              <a:rPr lang="vi-VN" sz="17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mang tính phòng bị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, còn công việc quản lý 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án được thiết kế chung cho tất cả dự án khác nhau và được sử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dụng mang tính phản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ứng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tế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r>
              <a:rPr lang="en-US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nghĩa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xử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mang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tính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thống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xác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phân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tích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đáp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ứng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tới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Nó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cũng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bao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gồm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làm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tối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thiểu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hóa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hậu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quả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tới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mục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tiêu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do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mang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lại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4836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KHÁI NIỆM VÀ PHÂN LOẠI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8D0FE2-4BFF-480C-AC4A-4043EC366C6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0A18D69-D511-6314-DCBD-89280C11BD6A}"/>
              </a:ext>
            </a:extLst>
          </p:cNvPr>
          <p:cNvSpPr txBox="1"/>
          <p:nvPr/>
        </p:nvSpPr>
        <p:spPr>
          <a:xfrm>
            <a:off x="347567" y="735998"/>
            <a:ext cx="11647145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r>
              <a:rPr lang="vi-VN" sz="1600" b="1" dirty="0">
                <a:latin typeface="Cambria" panose="02040503050406030204" pitchFamily="18" charset="0"/>
                <a:ea typeface="Cambria" panose="02040503050406030204" pitchFamily="18" charset="0"/>
              </a:rPr>
              <a:t>Đặc trưng của Rủi ro (của một dự án)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Độ không chắc chắn được thể hiện qua một xác suất trong khoảng 0 đến 1.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Khả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năng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đó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hay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số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hành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thể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kiểm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soát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ro.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Một hậu quả mất mát liên quan, ví dụ như một khoản 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chi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phí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năng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lực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hay danh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tiếng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tổ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chức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ty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nào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đó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etc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Thể hiện mức độ của rủi ro được tính bằng tích của xác suất xảy ra của rủi ro với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hậu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quả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mất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mát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tiềm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năng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0559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KHÁI NIỆM VÀ PHÂN LOẠI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8D0FE2-4BFF-480C-AC4A-4043EC366C6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0A18D69-D511-6314-DCBD-89280C11BD6A}"/>
              </a:ext>
            </a:extLst>
          </p:cNvPr>
          <p:cNvSpPr txBox="1"/>
          <p:nvPr/>
        </p:nvSpPr>
        <p:spPr>
          <a:xfrm>
            <a:off x="347567" y="735998"/>
            <a:ext cx="11647145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r>
              <a:rPr lang="en-US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Phân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loại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r>
              <a:rPr lang="vi-VN" sz="1700" i="1" dirty="0">
                <a:latin typeface="Cambria" panose="02040503050406030204" pitchFamily="18" charset="0"/>
                <a:ea typeface="Cambria" panose="02040503050406030204" pitchFamily="18" charset="0"/>
              </a:rPr>
              <a:t>Theo tiêu chí là các khía cạnh cần quản lý một dự án, rủi ro có thể được phân loại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thành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loại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sau</a:t>
            </a:r>
            <a:endParaRPr lang="en-US" sz="1700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lịch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Rủi ro về chi phí: xảy ra với trường hợp một dự án có ngân sách không hợp lý.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yêu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cầu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rất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dễ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xảy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ra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khi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xác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không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đúng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yêu cầu, xác định không đủ yêu cầu, yêu cầu không được thể hiện rõ ràng và không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đồng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nhất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Rủi ro về chất lượng dự án.</a:t>
            </a:r>
          </a:p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endParaRPr lang="vi-VN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r>
              <a:rPr lang="vi-VN" sz="1700" i="1" dirty="0">
                <a:latin typeface="Cambria" panose="02040503050406030204" pitchFamily="18" charset="0"/>
                <a:ea typeface="Cambria" panose="02040503050406030204" pitchFamily="18" charset="0"/>
              </a:rPr>
              <a:t>òn một cách khác để phân loại các rủi ro như sau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Các rủi ro biết trước: ví dụ như rủi ro về yêu cầu của khách hàng không rõ ràng, đội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ngũ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làm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không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kinh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nghiệm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Các rủi ro không biết trước nhưng có thể dự đoán được dựa trên kinh nghiệm: ví dụ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như khó khăn trong việc trao đổi với khách hàng, đội ngũ phát triển dự án không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vững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chắc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nhân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viên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không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toàn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tâm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toàn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ý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etc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Các rủi ro không có khả năng biết trước, tiên đoán trước: ví dụ như thiên tai gây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ảnh hưởng đến quá trình phát triển công nghệ thông tin.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450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ircuit board&#10;&#10;Description automatically generated">
            <a:extLst>
              <a:ext uri="{FF2B5EF4-FFF2-40B4-BE49-F238E27FC236}">
                <a16:creationId xmlns:a16="http://schemas.microsoft.com/office/drawing/2014/main" id="{3515C3DC-5940-B1D2-647C-34C38945C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ubtitle 4">
            <a:extLst>
              <a:ext uri="{FF2B5EF4-FFF2-40B4-BE49-F238E27FC236}">
                <a16:creationId xmlns:a16="http://schemas.microsoft.com/office/drawing/2014/main" id="{CC5C7E55-634B-1DE0-9535-DC5071624720}"/>
              </a:ext>
            </a:extLst>
          </p:cNvPr>
          <p:cNvSpPr txBox="1">
            <a:spLocks/>
          </p:cNvSpPr>
          <p:nvPr/>
        </p:nvSpPr>
        <p:spPr>
          <a:xfrm>
            <a:off x="407255" y="71120"/>
            <a:ext cx="10788691" cy="67868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i="0" u="none" strike="noStrike" baseline="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2. QUY TRÌNH QUẢN LÝ RỦI RO</a:t>
            </a:r>
          </a:p>
          <a:p>
            <a:pPr marL="346075" indent="-3460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-US" sz="32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-US" sz="2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288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7A793E2-EC8B-C948-0AFC-E1263B58F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7581" y="0"/>
            <a:ext cx="4164419" cy="685800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BDA1764-ADB2-C5F2-67B9-CD336399D252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7583" y="384176"/>
            <a:ext cx="609777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vi-VN" sz="20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QUY TRÌNH QUẢN LÝ RỦI RO</a:t>
            </a:r>
          </a:p>
          <a:p>
            <a:pPr>
              <a:spcAft>
                <a:spcPts val="600"/>
              </a:spcAft>
            </a:pPr>
            <a:endParaRPr lang="en-US" sz="20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CFE3C4-6ADE-F83F-786D-658746ABBB84}"/>
              </a:ext>
            </a:extLst>
          </p:cNvPr>
          <p:cNvSpPr txBox="1"/>
          <p:nvPr/>
        </p:nvSpPr>
        <p:spPr>
          <a:xfrm>
            <a:off x="8108407" y="384176"/>
            <a:ext cx="3804985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1" hangingPunct="1">
              <a:spcBef>
                <a:spcPct val="20000"/>
              </a:spcBef>
            </a:pPr>
            <a:r>
              <a:rPr lang="en-US" alt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Risk management</a:t>
            </a:r>
          </a:p>
          <a:p>
            <a:pPr eaLnBrk="1" hangingPunct="1">
              <a:spcBef>
                <a:spcPct val="20000"/>
              </a:spcBef>
            </a:pPr>
            <a:endParaRPr lang="en-US" altLang="en-US" sz="2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r">
              <a:spcBef>
                <a:spcPct val="20000"/>
              </a:spcBef>
            </a:pPr>
            <a:endParaRPr lang="en-US" altLang="en-US" sz="2000" i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5F9D55-C61E-3350-F71E-41EE62480A56}"/>
              </a:ext>
            </a:extLst>
          </p:cNvPr>
          <p:cNvSpPr txBox="1"/>
          <p:nvPr/>
        </p:nvSpPr>
        <p:spPr>
          <a:xfrm>
            <a:off x="339355" y="776591"/>
            <a:ext cx="7409618" cy="4747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spcBef>
                <a:spcPts val="600"/>
              </a:spcBef>
              <a:spcAft>
                <a:spcPts val="300"/>
              </a:spcAft>
              <a:buClr>
                <a:schemeClr val="accent2">
                  <a:lumMod val="75000"/>
                </a:schemeClr>
              </a:buClr>
              <a:buSzPct val="140000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Mục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đích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giảm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tối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thiểu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khả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năng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khi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đó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tăng tối đa những cơ hội tiềm năng. Những tiến trình chính bao gồm: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Lập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họach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quyết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tiếp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cận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họach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nhựng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i="1" dirty="0">
                <a:latin typeface="Cambria" panose="02040503050406030204" pitchFamily="18" charset="0"/>
                <a:ea typeface="Cambria" panose="02040503050406030204" pitchFamily="18" charset="0"/>
              </a:rPr>
              <a:t>quản lý rủi ro cho dự án như thế nào.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i="1" dirty="0">
                <a:latin typeface="Cambria" panose="02040503050406030204" pitchFamily="18" charset="0"/>
                <a:ea typeface="Cambria" panose="02040503050406030204" pitchFamily="18" charset="0"/>
              </a:rPr>
              <a:t>Nhận biết rủi ro: xác định yếu tố rủi ro nào ảnh hưởng tới một dự án và tài liệu về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đặc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điểm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chúng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i="1" dirty="0">
                <a:latin typeface="Cambria" panose="02040503050406030204" pitchFamily="18" charset="0"/>
                <a:ea typeface="Cambria" panose="02040503050406030204" pitchFamily="18" charset="0"/>
              </a:rPr>
              <a:t>Phân tích tính chất rủi ro: đặc điểm, phận tích rủi ro ưu tiên xem xét những ảnh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i="1" dirty="0">
                <a:latin typeface="Cambria" panose="02040503050406030204" pitchFamily="18" charset="0"/>
                <a:ea typeface="Cambria" panose="02040503050406030204" pitchFamily="18" charset="0"/>
              </a:rPr>
              <a:t>hưởng của chúng tới mục tiêu của dự án.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Phân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tích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mức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độ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xem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xét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khả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năng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thể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xảy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ra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hậu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quả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ro.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i="1" dirty="0">
                <a:latin typeface="Cambria" panose="02040503050406030204" pitchFamily="18" charset="0"/>
                <a:ea typeface="Cambria" panose="02040503050406030204" pitchFamily="18" charset="0"/>
              </a:rPr>
              <a:t>Kế hoạch đối phó rủi ro: thực hiện những bước đề cao những cơ hội và cắt giảm bớt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mối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đe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doạ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đáp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ứng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mục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tiêu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Giám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sát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kiểm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soát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giám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sát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đã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phát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nhận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biết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mới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cắt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giảm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đánh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giá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hiệu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quả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cắt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giảm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ro.</a:t>
            </a:r>
            <a:endParaRPr lang="vi-VN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106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THỜI ĐIỂM ĐÁNH GIÁ RỦI RO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5F014F0-A170-35A0-6640-3E89954B63B2}"/>
              </a:ext>
            </a:extLst>
          </p:cNvPr>
          <p:cNvSpPr txBox="1"/>
          <p:nvPr/>
        </p:nvSpPr>
        <p:spPr>
          <a:xfrm>
            <a:off x="339356" y="684708"/>
            <a:ext cx="448519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buClr>
                <a:schemeClr val="accent2">
                  <a:lumMod val="75000"/>
                </a:schemeClr>
              </a:buClr>
              <a:buSzPct val="140000"/>
            </a:pP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Thời điểm đánh giá rủi ro thông thường như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sự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kiện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quan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trọng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742950" lvl="1" indent="-285750">
              <a:buClr>
                <a:schemeClr val="accent2">
                  <a:lumMod val="75000"/>
                </a:schemeClr>
              </a:buClr>
              <a:buSzPct val="140000"/>
              <a:buFont typeface="Courier New" panose="02070309020205020404" pitchFamily="49" charset="0"/>
              <a:buChar char="o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Bắt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đầu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kết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thúc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giai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đoạn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742950" lvl="1" indent="-285750">
              <a:buClr>
                <a:schemeClr val="accent2">
                  <a:lumMod val="75000"/>
                </a:schemeClr>
              </a:buClr>
              <a:buSzPct val="140000"/>
              <a:buFont typeface="Courier New" panose="02070309020205020404" pitchFamily="49" charset="0"/>
              <a:buChar char="o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thời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điểm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xem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lại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(milestones).</a:t>
            </a:r>
          </a:p>
          <a:p>
            <a:pPr marL="742950" lvl="1" indent="-285750">
              <a:buClr>
                <a:schemeClr val="accent2">
                  <a:lumMod val="75000"/>
                </a:schemeClr>
              </a:buClr>
              <a:buSzPct val="140000"/>
              <a:buFont typeface="Courier New" panose="02070309020205020404" pitchFamily="49" charset="0"/>
              <a:buChar char="o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quyết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quan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trọng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Khi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khách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yêu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cầu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đội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ngũ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lãnh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đạo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hay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thái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độ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đối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nhóm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xây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dựng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Xuất hiện một số vấn đề về mặt kỹ thuật, như việc áp dụng công nghệ thất bại,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không sẵn có tài nguyên về công nghệ, không tương thích về công nghệ,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Khi môi trường thay đổi, chẳng hạn như có sự thay đổi về chính trị, về xã hội hay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luật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pháp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Khi có sự thay đổi về tài nguyên, phạm vi của dự án, và môi trường làm việc.</a:t>
            </a:r>
            <a:endParaRPr lang="vi-VN" sz="1600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203F53-E3A2-7E6B-618A-A6C04F8A9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835" y="818604"/>
            <a:ext cx="6075809" cy="301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645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F014F0-A170-35A0-6640-3E89954B63B2}"/>
              </a:ext>
            </a:extLst>
          </p:cNvPr>
          <p:cNvSpPr txBox="1"/>
          <p:nvPr/>
        </p:nvSpPr>
        <p:spPr>
          <a:xfrm>
            <a:off x="339354" y="724376"/>
            <a:ext cx="11574038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Thành viên trong dự án nên xem xét các tài liệu của dự án và nắm được nguy cơ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dẫn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tới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nhà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trợ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ty.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Mức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độ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chi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tiết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sẽ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yêu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cầu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Trong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Lập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họach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cần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phải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thêm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họach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phòng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họach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rút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lui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Quỹ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phòng</a:t>
            </a:r>
            <a:endParaRPr lang="en-US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Kế hoạch dự phòng (đối phó những bất ngờ) là những hoạt động xác định trước mà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thành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viên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sẽ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nếu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sự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kiện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xuất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Kế hoạch rút lui được thực hiện cho những rủi ro có tác động lớn tới những yêu cầu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mục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tiêu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Quỹ dự phòng (bất ngờ) hay tiền trợ cấp được giữ bởi nhà tài trợ và có thể dùng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giảm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nhẹ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chi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phí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hay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lịch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biểu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nếu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sự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phạm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vi hay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chất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lượng.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LẬP KẾ HỌACH QUẢN LÝ RỦI RO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418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LẬP KẾ HỌACH QUẢN LÝ RỦI RO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9306DC6-8849-BE32-2579-C300395BDF0E}"/>
              </a:ext>
            </a:extLst>
          </p:cNvPr>
          <p:cNvSpPr txBox="1"/>
          <p:nvPr/>
        </p:nvSpPr>
        <p:spPr>
          <a:xfrm>
            <a:off x="339355" y="801539"/>
            <a:ext cx="39380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endParaRPr lang="vi-VN" b="0" i="0" dirty="0">
              <a:solidFill>
                <a:srgbClr val="3F3F3F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F014F0-A170-35A0-6640-3E89954B63B2}"/>
              </a:ext>
            </a:extLst>
          </p:cNvPr>
          <p:cNvSpPr txBox="1"/>
          <p:nvPr/>
        </p:nvSpPr>
        <p:spPr>
          <a:xfrm>
            <a:off x="339354" y="724376"/>
            <a:ext cx="11538396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số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phạm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trù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khác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giúp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nhận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biết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tiềm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tàng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Rủi ro thị trường: Sản phẩm mới sẽ hữu ích cho công ty hay có thể tiêu thụ nó ở các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công ty khác? Và liệu người tiêu dùng có chấp nhận sản phẩm hay dịch vụ đó không?.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tài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chính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Liệu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ty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đủ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điều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kiện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?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phải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này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cách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tốt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nhất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sử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dụng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nguồn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tài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chính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ty?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nghệ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Liệu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khả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thi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mặt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kỹ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thuật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?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Liệu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nghệ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này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lỗi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thời trước khi một sản phẩm được sản xuất?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0CDBA2-FFC3-2F1E-2174-DC05DF687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851" y="2990673"/>
            <a:ext cx="5236862" cy="330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893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LẬP KẾ HỌACH QUẢN LÝ RỦI RO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9306DC6-8849-BE32-2579-C300395BDF0E}"/>
              </a:ext>
            </a:extLst>
          </p:cNvPr>
          <p:cNvSpPr txBox="1"/>
          <p:nvPr/>
        </p:nvSpPr>
        <p:spPr>
          <a:xfrm>
            <a:off x="339355" y="801539"/>
            <a:ext cx="39380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endParaRPr lang="vi-VN" b="0" i="0" dirty="0">
              <a:solidFill>
                <a:srgbClr val="3F3F3F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F014F0-A170-35A0-6640-3E89954B63B2}"/>
              </a:ext>
            </a:extLst>
          </p:cNvPr>
          <p:cNvSpPr txBox="1"/>
          <p:nvPr/>
        </p:nvSpPr>
        <p:spPr>
          <a:xfrm>
            <a:off x="339354" y="724376"/>
            <a:ext cx="11538396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Mục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đích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quá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trình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này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xác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cách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tiếp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cận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lên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hoạch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cho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hoạt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cho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Tiến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trình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này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gồm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endParaRPr lang="en-US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endParaRPr lang="en-US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1" algn="just">
              <a:buClr>
                <a:schemeClr val="accent2">
                  <a:lumMod val="75000"/>
                </a:schemeClr>
              </a:buClr>
              <a:buSzPct val="140000"/>
            </a:pP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Đầu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vào</a:t>
            </a:r>
            <a:endParaRPr lang="en-US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Chính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sách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tổ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chức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buClr>
                <a:schemeClr val="accent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vi-VN" sz="1600" i="1" dirty="0">
                <a:latin typeface="Cambria" panose="02040503050406030204" pitchFamily="18" charset="0"/>
                <a:ea typeface="Cambria" panose="02040503050406030204" pitchFamily="18" charset="0"/>
              </a:rPr>
              <a:t>Trách nhiệm, vai trò của các thành viên trong đội đã được xác định trước</a:t>
            </a:r>
          </a:p>
          <a:p>
            <a:pPr marL="742950" lvl="1" indent="-285750">
              <a:buClr>
                <a:schemeClr val="accent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vi-VN" sz="1600" i="1" dirty="0">
                <a:latin typeface="Cambria" panose="02040503050406030204" pitchFamily="18" charset="0"/>
                <a:ea typeface="Cambria" panose="02040503050406030204" pitchFamily="18" charset="0"/>
              </a:rPr>
              <a:t>Khả năng chấp nhận rủi ro của những người tham gia dự án</a:t>
            </a:r>
            <a:r>
              <a:rPr lang="vi-VN" sz="1800" b="0" i="0" u="none" strike="noStrike" baseline="0" dirty="0">
                <a:latin typeface="CIDFont+F1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Cấu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trúc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phân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rã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1" algn="just">
              <a:buClr>
                <a:schemeClr val="accent2">
                  <a:lumMod val="75000"/>
                </a:schemeClr>
              </a:buClr>
              <a:buSzPct val="140000"/>
            </a:pP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Đầu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</a:t>
            </a:r>
            <a:endParaRPr lang="en-US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Phương pháp luận về việc Đặt thời gian, Xác định mức độ rủi ro thông qua định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lượng và chuyển sang định tính.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Các ngưỡng chịu đựng.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pt-BR" sz="1600" dirty="0">
                <a:latin typeface="Cambria" panose="02040503050406030204" pitchFamily="18" charset="0"/>
                <a:ea typeface="Cambria" panose="02040503050406030204" pitchFamily="18" charset="0"/>
              </a:rPr>
              <a:t>Các định dạng báo cáo.</a:t>
            </a:r>
          </a:p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endParaRPr lang="pt-B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cụ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thuật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Lập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hoạch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cho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buổi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họp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thảo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luận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trao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800" b="0" i="0" u="none" strike="noStrike" baseline="0" dirty="0">
                <a:latin typeface="CIDFont+F1"/>
              </a:rPr>
              <a:t>.</a:t>
            </a:r>
            <a:endParaRPr lang="vi-V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943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NHẬN BIẾT RỦI RO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9306DC6-8849-BE32-2579-C300395BDF0E}"/>
              </a:ext>
            </a:extLst>
          </p:cNvPr>
          <p:cNvSpPr txBox="1"/>
          <p:nvPr/>
        </p:nvSpPr>
        <p:spPr>
          <a:xfrm>
            <a:off x="339355" y="801539"/>
            <a:ext cx="39380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endParaRPr lang="vi-VN" b="0" i="0" dirty="0">
              <a:solidFill>
                <a:srgbClr val="3F3F3F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F014F0-A170-35A0-6640-3E89954B63B2}"/>
              </a:ext>
            </a:extLst>
          </p:cNvPr>
          <p:cNvSpPr txBox="1"/>
          <p:nvPr/>
        </p:nvSpPr>
        <p:spPr>
          <a:xfrm>
            <a:off x="339354" y="724376"/>
            <a:ext cx="445036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Nhận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biết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quy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trình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nắm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bắt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gì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không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thoả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mãn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tiềm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tàng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từ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bên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ngoài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liên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quan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tới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mỗi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số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cụ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thuật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Nhận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biết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bao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gồm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Phát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huy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trí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tuệ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dân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chủ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(Brainstorming).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Kỹ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thuật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Delphi.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Phỏng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vấn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(Interviewing)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600" i="1" dirty="0">
                <a:latin typeface="Cambria" panose="02040503050406030204" pitchFamily="18" charset="0"/>
                <a:ea typeface="Cambria" panose="02040503050406030204" pitchFamily="18" charset="0"/>
              </a:rPr>
              <a:t>Phân tích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i="1" dirty="0">
                <a:latin typeface="Cambria" panose="02040503050406030204" pitchFamily="18" charset="0"/>
                <a:ea typeface="Cambria" panose="02040503050406030204" pitchFamily="18" charset="0"/>
              </a:rPr>
              <a:t>(SWOT)</a:t>
            </a:r>
            <a:endParaRPr lang="en-US" sz="1600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endParaRPr lang="vi-VN" sz="1800" b="0" i="0" u="none" strike="noStrike" baseline="0" dirty="0">
              <a:latin typeface="CIDFont+F1"/>
            </a:endParaRPr>
          </a:p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Mục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đích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quá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trình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này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xác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thể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xảy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yếu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tố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ảnh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hưởng bao gồm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Mục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tiêu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nghĩa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sản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phẩm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Cấu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trúc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phân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rã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600" i="1" dirty="0">
                <a:latin typeface="Cambria" panose="02040503050406030204" pitchFamily="18" charset="0"/>
                <a:ea typeface="Cambria" panose="02040503050406030204" pitchFamily="18" charset="0"/>
              </a:rPr>
              <a:t>Kinh nghiệm của người tham gia dự án.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Bảng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danh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sách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cần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kiểm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tra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vi-VN" sz="1600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566510-C884-8E93-B130-3DCDC6450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815" y="845723"/>
            <a:ext cx="6831935" cy="388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448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NHẬN BIẾT RỦI RO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9306DC6-8849-BE32-2579-C300395BDF0E}"/>
              </a:ext>
            </a:extLst>
          </p:cNvPr>
          <p:cNvSpPr txBox="1"/>
          <p:nvPr/>
        </p:nvSpPr>
        <p:spPr>
          <a:xfrm>
            <a:off x="339355" y="801539"/>
            <a:ext cx="39380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endParaRPr lang="vi-VN" b="0" i="0" dirty="0">
              <a:solidFill>
                <a:srgbClr val="3F3F3F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F014F0-A170-35A0-6640-3E89954B63B2}"/>
              </a:ext>
            </a:extLst>
          </p:cNvPr>
          <p:cNvSpPr txBox="1"/>
          <p:nvPr/>
        </p:nvSpPr>
        <p:spPr>
          <a:xfrm>
            <a:off x="339354" y="724376"/>
            <a:ext cx="3938005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Quá trình này được tiến hành dựa trên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Kỹ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thuật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xác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buClr>
                <a:schemeClr val="accent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Tổ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chức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khóa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học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nhỏ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nhằm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trao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thảo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luận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xác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ro.</a:t>
            </a:r>
          </a:p>
          <a:p>
            <a:pPr marL="742950" lvl="1" indent="-285750">
              <a:buClr>
                <a:schemeClr val="accent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Báo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cáo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kỳ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ro.</a:t>
            </a:r>
          </a:p>
          <a:p>
            <a:pPr marL="742950" lvl="1" indent="-285750">
              <a:buClr>
                <a:schemeClr val="accent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Phỏng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vấn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nói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chuyện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thành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viên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cốt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yếu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742950" lvl="1" indent="-285750">
              <a:buClr>
                <a:schemeClr val="accent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Kỹ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thuật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phân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rã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nhỏ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cấu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trúc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sự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kiện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742950" lvl="1" indent="-285750">
              <a:buClr>
                <a:schemeClr val="accent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Gắn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chặt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mục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tiêu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742950" lvl="1" indent="-285750">
              <a:buClr>
                <a:schemeClr val="accent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Liên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quan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tới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cấu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trúc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phân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rã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(WBS).</a:t>
            </a:r>
          </a:p>
          <a:p>
            <a:pPr marL="742950" lvl="1" indent="-285750">
              <a:buClr>
                <a:schemeClr val="accent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vi-VN" sz="1600" i="1" dirty="0">
                <a:latin typeface="Cambria" panose="02040503050406030204" pitchFamily="18" charset="0"/>
                <a:ea typeface="Cambria" panose="02040503050406030204" pitchFamily="18" charset="0"/>
              </a:rPr>
              <a:t>Việc xác định thứ tự ưu tiên ban đầu.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30AA8F-59A0-4923-F020-26185C8CC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815" y="845723"/>
            <a:ext cx="6831935" cy="388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107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PHÂN TÍCH RỦI RO (ĐỊNH TÍNH)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9306DC6-8849-BE32-2579-C300395BDF0E}"/>
              </a:ext>
            </a:extLst>
          </p:cNvPr>
          <p:cNvSpPr txBox="1"/>
          <p:nvPr/>
        </p:nvSpPr>
        <p:spPr>
          <a:xfrm>
            <a:off x="339355" y="801539"/>
            <a:ext cx="39380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endParaRPr lang="vi-VN" b="0" i="0" dirty="0">
              <a:solidFill>
                <a:srgbClr val="3F3F3F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F014F0-A170-35A0-6640-3E89954B63B2}"/>
              </a:ext>
            </a:extLst>
          </p:cNvPr>
          <p:cNvSpPr txBox="1"/>
          <p:nvPr/>
        </p:nvSpPr>
        <p:spPr>
          <a:xfrm>
            <a:off x="339355" y="684708"/>
            <a:ext cx="11538396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Perform qualitative risk analysis</a:t>
            </a:r>
          </a:p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Đánh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giá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khả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năng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thể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xãy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tác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xác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quy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mô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độ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ưu tiên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Công cụ và kỹ thuật lượng tính về rủi ro gồm</a:t>
            </a:r>
          </a:p>
          <a:p>
            <a:pPr marL="742950" lvl="1" indent="-285750">
              <a:buClr>
                <a:schemeClr val="accent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Ma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trận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Xác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suất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(impact matrix).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Tính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toán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yếu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tố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(risk factors):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đại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diện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sự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kiện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cụ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thể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dựa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trên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xác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suất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xảy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ra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kết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quả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nếu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xảy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ra</a:t>
            </a:r>
            <a:endParaRPr lang="en-US" sz="1600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buClr>
                <a:schemeClr val="accent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Kỹ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thuật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theo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dõi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10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danh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mục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hàng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đầu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742950" lvl="1" indent="-285750">
              <a:buClr>
                <a:schemeClr val="accent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Đánh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giá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chuyên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gia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Nhiều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ty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dựa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vào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trực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giác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kinh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nghiệm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chuyên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gia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giúp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nhận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biết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xu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thế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chuyên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i="1" dirty="0">
                <a:latin typeface="Cambria" panose="02040503050406030204" pitchFamily="18" charset="0"/>
                <a:ea typeface="Cambria" panose="02040503050406030204" pitchFamily="18" charset="0"/>
              </a:rPr>
              <a:t>gia có thể phân loại rủi ro như cao, vừa, hay thấp dùng những kỹ thuật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khác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nhau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algn="l"/>
            <a:endParaRPr lang="en-US" dirty="0">
              <a:latin typeface="CIDFont+F1"/>
              <a:ea typeface="Cambria" panose="02040503050406030204" pitchFamily="18" charset="0"/>
            </a:endParaRP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hân tích này còn được gọi là đánh giá các rủi ro, gồm các việc chính là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buClr>
                <a:schemeClr val="accent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Xác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xác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suất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xảy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ra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ro.</a:t>
            </a:r>
          </a:p>
          <a:p>
            <a:pPr marL="742950" lvl="1" indent="-285750">
              <a:buClr>
                <a:schemeClr val="accent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vi-VN" sz="1600" i="1" dirty="0">
                <a:latin typeface="Cambria" panose="02040503050406030204" pitchFamily="18" charset="0"/>
                <a:ea typeface="Cambria" panose="02040503050406030204" pitchFamily="18" charset="0"/>
              </a:rPr>
              <a:t>Xác định ảnh hưởng của rủi ro đó tới các mục tiêu của dự án trong trường hợp rủi ro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đó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xảy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ra.</a:t>
            </a:r>
            <a:endParaRPr lang="en-US" sz="1600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buClr>
                <a:schemeClr val="accent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Xác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độ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nguy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hiểm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endParaRPr lang="vi-VN" sz="1600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995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PHÂN TÍCH RỦI RO (ĐỊNH TÍNH)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5F014F0-A170-35A0-6640-3E89954B63B2}"/>
              </a:ext>
            </a:extLst>
          </p:cNvPr>
          <p:cNvSpPr txBox="1"/>
          <p:nvPr/>
        </p:nvSpPr>
        <p:spPr>
          <a:xfrm>
            <a:off x="339355" y="684708"/>
            <a:ext cx="57566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Việc phân tích rủi ro chia làm hai loại: định tính (dựa trên trị số ước lượng và mô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phỏng) và định lượng. Hai cách phân tích này thực hiện có thể chuyển đổi lẫn nhau, tức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là từ định tính sang định lượng hoặc ngược lại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5EC8CF-CB66-BFAC-ED18-FA22F32C7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55" y="2446857"/>
            <a:ext cx="5877745" cy="15432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EDA5FF-6022-0770-1322-A8D350AD116F}"/>
              </a:ext>
            </a:extLst>
          </p:cNvPr>
          <p:cNvSpPr txBox="1"/>
          <p:nvPr/>
        </p:nvSpPr>
        <p:spPr>
          <a:xfrm>
            <a:off x="341127" y="20775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i="1" dirty="0">
                <a:latin typeface="Cambria" panose="02040503050406030204" pitchFamily="18" charset="0"/>
                <a:ea typeface="Cambria" panose="02040503050406030204" pitchFamily="18" charset="0"/>
              </a:rPr>
              <a:t>Về tiêu chí độ ảnh hưởng</a:t>
            </a:r>
            <a:endParaRPr lang="en-US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123DFE-7FBC-E424-B16D-35FF05ABD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204" y="801412"/>
            <a:ext cx="5309546" cy="345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262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PHÂN TÍCH RỦI RO (ĐỊNH TÍNH)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5F014F0-A170-35A0-6640-3E89954B63B2}"/>
              </a:ext>
            </a:extLst>
          </p:cNvPr>
          <p:cNvSpPr txBox="1"/>
          <p:nvPr/>
        </p:nvSpPr>
        <p:spPr>
          <a:xfrm>
            <a:off x="339355" y="684708"/>
            <a:ext cx="59409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Việc phân tích rủi ro chia làm hai loại: định tính (dựa trên trị số ước lượng và mô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phỏng) và định lượng. Hai cách phân tích này thực hiện có thể chuyển đổi lẫn nhau, tức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là từ định tính sang định lượng hoặc ngược lại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4C93CD-53D4-9080-E113-875FF4294530}"/>
              </a:ext>
            </a:extLst>
          </p:cNvPr>
          <p:cNvSpPr txBox="1"/>
          <p:nvPr/>
        </p:nvSpPr>
        <p:spPr>
          <a:xfrm>
            <a:off x="339355" y="19890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tiêu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chí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xác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suất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xảy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ra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endParaRPr lang="en-US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FBD8FDD-3DF9-D57E-A798-4842C003A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46" y="2402313"/>
            <a:ext cx="5858693" cy="13146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6C5C9CB-FED4-8B40-FB75-FFFB24193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295" y="837587"/>
            <a:ext cx="5263350" cy="342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2561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PHÂN TÍCH RỦI RO (ĐỊNH TÍNH)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5F014F0-A170-35A0-6640-3E89954B63B2}"/>
              </a:ext>
            </a:extLst>
          </p:cNvPr>
          <p:cNvSpPr txBox="1"/>
          <p:nvPr/>
        </p:nvSpPr>
        <p:spPr>
          <a:xfrm>
            <a:off x="339355" y="684708"/>
            <a:ext cx="590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Việc phân tích rủi ro chia làm hai loại: định tính (dựa trên trị số ước lượng và mô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phỏng) và định lượng. Hai cách phân tích này thực hiện có thể chuyển đổi lẫn nhau, tức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là từ định tính sang định lượng hoặc ngược lại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4C93CD-53D4-9080-E113-875FF4294530}"/>
              </a:ext>
            </a:extLst>
          </p:cNvPr>
          <p:cNvSpPr txBox="1"/>
          <p:nvPr/>
        </p:nvSpPr>
        <p:spPr>
          <a:xfrm>
            <a:off x="339355" y="193676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1" u="none" strike="noStrike" baseline="0" dirty="0" err="1">
                <a:latin typeface="Cambria" panose="02040503050406030204" pitchFamily="18" charset="0"/>
                <a:ea typeface="Cambria" panose="02040503050406030204" pitchFamily="18" charset="0"/>
              </a:rPr>
              <a:t>Mức</a:t>
            </a:r>
            <a:r>
              <a:rPr lang="en-US" sz="1800" b="0" i="1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0" i="1" u="none" strike="noStrike" baseline="0" dirty="0" err="1">
                <a:latin typeface="Cambria" panose="02040503050406030204" pitchFamily="18" charset="0"/>
                <a:ea typeface="Cambria" panose="02040503050406030204" pitchFamily="18" charset="0"/>
              </a:rPr>
              <a:t>độ</a:t>
            </a:r>
            <a:r>
              <a:rPr lang="en-US" sz="1800" b="0" i="1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0" i="1" u="none" strike="noStrike" baseline="0" dirty="0" err="1">
                <a:latin typeface="Cambria" panose="02040503050406030204" pitchFamily="18" charset="0"/>
                <a:ea typeface="Cambria" panose="02040503050406030204" pitchFamily="18" charset="0"/>
              </a:rPr>
              <a:t>nghiêm</a:t>
            </a:r>
            <a:r>
              <a:rPr lang="en-US" sz="1800" b="0" i="1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0" i="1" u="none" strike="noStrike" baseline="0" dirty="0" err="1">
                <a:latin typeface="Cambria" panose="02040503050406030204" pitchFamily="18" charset="0"/>
                <a:ea typeface="Cambria" panose="02040503050406030204" pitchFamily="18" charset="0"/>
              </a:rPr>
              <a:t>trọng</a:t>
            </a:r>
            <a:r>
              <a:rPr lang="en-US" sz="1800" b="0" i="1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US" sz="1800" b="0" i="1" u="none" strike="noStrike" baseline="0" dirty="0" err="1">
                <a:latin typeface="Cambria" panose="02040503050406030204" pitchFamily="18" charset="0"/>
                <a:ea typeface="Cambria" panose="02040503050406030204" pitchFamily="18" charset="0"/>
              </a:rPr>
              <a:t>nguy</a:t>
            </a:r>
            <a:r>
              <a:rPr lang="en-US" sz="1800" b="0" i="1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0" i="1" u="none" strike="noStrike" baseline="0" dirty="0" err="1">
                <a:latin typeface="Cambria" panose="02040503050406030204" pitchFamily="18" charset="0"/>
                <a:ea typeface="Cambria" panose="02040503050406030204" pitchFamily="18" charset="0"/>
              </a:rPr>
              <a:t>hiểm</a:t>
            </a:r>
            <a:r>
              <a:rPr lang="en-US" sz="1800" b="0" i="1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US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566089-B9C4-B467-990E-86BC71564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09" y="2306096"/>
            <a:ext cx="5830114" cy="15146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173278-41EC-1BE9-D427-F467D7818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814" y="810120"/>
            <a:ext cx="5262831" cy="342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967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PHÂN TÍCH RỦI RO (ĐỊNH LƯỢNG)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5F014F0-A170-35A0-6640-3E89954B63B2}"/>
              </a:ext>
            </a:extLst>
          </p:cNvPr>
          <p:cNvSpPr txBox="1"/>
          <p:nvPr/>
        </p:nvSpPr>
        <p:spPr>
          <a:xfrm>
            <a:off x="339355" y="684708"/>
            <a:ext cx="1165535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Perform quantitative risk analysis</a:t>
            </a:r>
          </a:p>
          <a:p>
            <a:pPr algn="just"/>
            <a:endParaRPr lang="en-US" i="1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Thông thường theo sau việc phân tích tính chất rủi ro, nhưng cả hai khâu này có thể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đồng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thời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hoặc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tách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rời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quy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mô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phức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tạp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liên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quan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tới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nghệ tiên tiến thường đòi hỏi phân tích mức độ phạm vi rộng lớn. Kỹ thuật chính gồm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i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Phân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tích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dùng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cây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quyết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US" i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Deision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tree analysis):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Cây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quyết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phương pháp dùng biểu đồ giúp bạn chọn lựa hành động tốt nhất trong các tình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huống ở đó kết quả tương lai là không chắc chắn. MV là một dạng cây quyết định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giúp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tính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toán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giá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trị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EMV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quyết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dựa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trên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xác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suất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sự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kiện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giá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trị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kỳ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vọng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tiền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tệ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 </a:t>
            </a:r>
            <a:endParaRPr lang="vi-V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111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PHÂN TÍCH RỦI RO (ĐỊNH LƯỢNG)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5F014F0-A170-35A0-6640-3E89954B63B2}"/>
              </a:ext>
            </a:extLst>
          </p:cNvPr>
          <p:cNvSpPr txBox="1"/>
          <p:nvPr/>
        </p:nvSpPr>
        <p:spPr>
          <a:xfrm>
            <a:off x="339354" y="684708"/>
            <a:ext cx="438939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Thông thường theo sau việc phân tích tính chất rủi ro, nhưng cả hai khâu này có thể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đồng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thời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hoặc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tách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rời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quy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mô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phức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tạp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liên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quan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tới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nghệ tiên tiến thường đòi hỏi phân tích mức độ phạm vi rộng lớn. Kỹ thuật chính gồm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i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Mô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phỏng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(simulation):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Mô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phỏng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dùng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mô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hình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thống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phân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tích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hành vi mong chờ hay hoạt động của hệ thống. Phương pháp Monte Carlo mô ph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ỏng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kết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quả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mô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hình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nhiều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lần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cung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cấp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phân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bố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thống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kê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kết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quả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đã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tính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toán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vi-V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021FC6-9AF7-429F-67B3-57CC498E8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951" y="793951"/>
            <a:ext cx="6982799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2674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PHÂN TÍCH RỦI RO (ĐỊNH LƯỢNG)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5F014F0-A170-35A0-6640-3E89954B63B2}"/>
              </a:ext>
            </a:extLst>
          </p:cNvPr>
          <p:cNvSpPr txBox="1"/>
          <p:nvPr/>
        </p:nvSpPr>
        <p:spPr>
          <a:xfrm>
            <a:off x="339354" y="684708"/>
            <a:ext cx="559118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nhiều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cách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phân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hạng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dựa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trên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tiêu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chí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Mức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độ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nghiêm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trọng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ro.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Thời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gian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bắt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đầu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xuất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Khoảng thời gian cần thiết để giảm hay loại bỏ rủi ro (chỉ là ước lượng ban đầu).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số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tiêu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chí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khác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tùy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theo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từng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lvl="1" algn="just">
              <a:buClr>
                <a:schemeClr val="accent2">
                  <a:lumMod val="75000"/>
                </a:schemeClr>
              </a:buClr>
              <a:buSzPct val="140000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1" algn="just">
              <a:buClr>
                <a:schemeClr val="accent2">
                  <a:lumMod val="75000"/>
                </a:schemeClr>
              </a:buClr>
              <a:buSzPct val="14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Sau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khi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xếp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hạng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ta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nên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áp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dụng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cách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tiếp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cận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xác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10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đứng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đầu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danh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sách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xếp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hạng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mục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đích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Tập trung phát triển các chiến lược để làm giảm hoặc loại bỏ 10 rủi ro đó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Đưa danh sách 10 rủi ro đó vào các mục cần bàn luận trong các buổi họp dự án.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9745C2-D44D-380B-B628-FC4DCBE8D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794" y="792481"/>
            <a:ext cx="6018919" cy="311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7131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KẾ HOẠCH ĐỐI PHÓ RỦI RO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5F014F0-A170-35A0-6640-3E89954B63B2}"/>
              </a:ext>
            </a:extLst>
          </p:cNvPr>
          <p:cNvSpPr txBox="1"/>
          <p:nvPr/>
        </p:nvSpPr>
        <p:spPr>
          <a:xfrm>
            <a:off x="339354" y="684708"/>
            <a:ext cx="115383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Sau khi nhận biết mức độ rủi ro, bạn phải quyết định đối phó như thế nào. Ta có 4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chiến lược chính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vi-V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Tránh rủi ro: </a:t>
            </a:r>
            <a:r>
              <a:rPr lang="vi-VN" i="1" dirty="0">
                <a:latin typeface="Cambria" panose="02040503050406030204" pitchFamily="18" charset="0"/>
                <a:ea typeface="Cambria" panose="02040503050406030204" pitchFamily="18" charset="0"/>
              </a:rPr>
              <a:t>loại trừ mộ các rõ ràng mối đe dọa hay rủi ro, thường loại trừ nguyên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nhân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i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Chấp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nhận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chấp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nhận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kết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quả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nếu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xảy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ra.</a:t>
            </a:r>
            <a:endParaRPr lang="en-US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i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Thuyên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chuyển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luân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phiên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hậu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quả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giao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trách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niệm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cho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bên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thứ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ba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Giảm nhẹ rủi ro: </a:t>
            </a:r>
            <a:r>
              <a:rPr lang="vi-VN" i="1" dirty="0">
                <a:latin typeface="Cambria" panose="02040503050406030204" pitchFamily="18" charset="0"/>
                <a:ea typeface="Cambria" panose="02040503050406030204" pitchFamily="18" charset="0"/>
              </a:rPr>
              <a:t>việc giảm bớt ảnh hưởng một sự kiện rủi ro bằng việc cắt giảm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gì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thể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khi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sự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cố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xảy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ra.</a:t>
            </a:r>
            <a:endParaRPr lang="vi-VN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828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KẾ HOẠCH ĐỐI PHÓ RỦI RO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5F014F0-A170-35A0-6640-3E89954B63B2}"/>
              </a:ext>
            </a:extLst>
          </p:cNvPr>
          <p:cNvSpPr txBox="1"/>
          <p:nvPr/>
        </p:nvSpPr>
        <p:spPr>
          <a:xfrm>
            <a:off x="339355" y="684708"/>
            <a:ext cx="115132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Sau khi phân tích và xếp hạng các rủi ro, ta sẽ giải quyết theo các bước thể hiện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trong sơ đồ dưới đây gồm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Bước 1: </a:t>
            </a:r>
            <a:r>
              <a:rPr lang="vi-VN" i="1" dirty="0">
                <a:latin typeface="Cambria" panose="02040503050406030204" pitchFamily="18" charset="0"/>
                <a:ea typeface="Cambria" panose="02040503050406030204" pitchFamily="18" charset="0"/>
              </a:rPr>
              <a:t>Thiết lập những phương án làm giảm mức độ của rủi ro.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Bước 2: </a:t>
            </a:r>
            <a:r>
              <a:rPr lang="vi-VN" i="1" dirty="0">
                <a:latin typeface="Cambria" panose="02040503050406030204" pitchFamily="18" charset="0"/>
                <a:ea typeface="Cambria" panose="02040503050406030204" pitchFamily="18" charset="0"/>
              </a:rPr>
              <a:t>Phát triển kế hoạch thực hiện một phương án trong số những phương án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i="1" dirty="0">
                <a:latin typeface="Cambria" panose="02040503050406030204" pitchFamily="18" charset="0"/>
                <a:ea typeface="Cambria" panose="02040503050406030204" pitchFamily="18" charset="0"/>
              </a:rPr>
              <a:t>xác định ở bước 1.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Bước 3: </a:t>
            </a:r>
            <a:r>
              <a:rPr lang="vi-VN" i="1" dirty="0">
                <a:latin typeface="Cambria" panose="02040503050406030204" pitchFamily="18" charset="0"/>
                <a:ea typeface="Cambria" panose="02040503050406030204" pitchFamily="18" charset="0"/>
              </a:rPr>
              <a:t>Đánh giá lại rủi ro đó và các rủi ro khác sau khi phương án được thực hiện.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i="1" dirty="0">
                <a:latin typeface="Cambria" panose="02040503050406030204" pitchFamily="18" charset="0"/>
                <a:ea typeface="Cambria" panose="02040503050406030204" pitchFamily="18" charset="0"/>
              </a:rPr>
              <a:t>Sau đó lại lặp lại bước 1 với tập rủi ro với mức độ mới. Nếu sau khi đánh giá các rủi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i="1" dirty="0">
                <a:latin typeface="Cambria" panose="02040503050406030204" pitchFamily="18" charset="0"/>
                <a:ea typeface="Cambria" panose="02040503050406030204" pitchFamily="18" charset="0"/>
              </a:rPr>
              <a:t>ro mà thỏa mãn một số mức độ được coi là ngưỡng tối thiểu, thì quá trình lặp sẽ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dừng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vi-VN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317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KẾ HOẠCH ĐỐI PHÓ RỦI RO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5F014F0-A170-35A0-6640-3E89954B63B2}"/>
              </a:ext>
            </a:extLst>
          </p:cNvPr>
          <p:cNvSpPr txBox="1"/>
          <p:nvPr/>
        </p:nvSpPr>
        <p:spPr>
          <a:xfrm>
            <a:off x="339354" y="684708"/>
            <a:ext cx="53560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Kế hoạch giải quyết các rủi ro thường chủ yếu liên quan tới các phương án làm giảm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nhẹ các rủi ro, chính vì vậy kế hoạch giải quyết rủi ro thường được gọi là việc làm giảm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nhẹ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ro.</a:t>
            </a:r>
            <a:endParaRPr lang="vi-V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8668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KẾ HOẠCH ĐỐI PHÓ RỦI RO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5F014F0-A170-35A0-6640-3E89954B63B2}"/>
              </a:ext>
            </a:extLst>
          </p:cNvPr>
          <p:cNvSpPr txBox="1"/>
          <p:nvPr/>
        </p:nvSpPr>
        <p:spPr>
          <a:xfrm>
            <a:off x="339355" y="684708"/>
            <a:ext cx="1151329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Kế hoạch giải quyết các rủi ro thường chủ yếu liên quan tới các phương án làm giảm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nhẹ các rủi ro, chính vì vậy kế hoạch giải quyết rủi ro thường được gọi là việc làm giảm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nhẹ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ro.</a:t>
            </a:r>
          </a:p>
          <a:p>
            <a:pPr algn="just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vi-VN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Các chiến lược làm giảm nhẹ các rủi ro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Tránh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cách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phát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triển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gây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ro.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yên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i="1" dirty="0">
                <a:latin typeface="Cambria" panose="02040503050406030204" pitchFamily="18" charset="0"/>
                <a:ea typeface="Cambria" panose="02040503050406030204" pitchFamily="18" charset="0"/>
              </a:rPr>
              <a:t>rủi ro và chấp nhận nó cũng như những hậu quả mà nó gây ra nếu rủi ro xảy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i="1" dirty="0">
                <a:latin typeface="Cambria" panose="02040503050406030204" pitchFamily="18" charset="0"/>
                <a:ea typeface="Cambria" panose="02040503050406030204" pitchFamily="18" charset="0"/>
              </a:rPr>
              <a:t>ra. Chiến lược này chỉ dùng trong trường hợp chúng ta chịu được hậu quả và không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i="1" dirty="0">
                <a:latin typeface="Cambria" panose="02040503050406030204" pitchFamily="18" charset="0"/>
                <a:ea typeface="Cambria" panose="02040503050406030204" pitchFamily="18" charset="0"/>
              </a:rPr>
              <a:t>gây ảnh hưởng quá lớn đối với mục tiêu của dự án hoặc là chúng ta không còn cách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nào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khác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làm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giảm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nhẹ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đó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Chuyển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toàn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bộ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hay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phần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đó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sang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tổ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chức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khác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chịu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trách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nhiệm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. Thông </a:t>
            </a:r>
            <a:r>
              <a:rPr lang="vi-VN" sz="1600" i="1" dirty="0">
                <a:latin typeface="Cambria" panose="02040503050406030204" pitchFamily="18" charset="0"/>
                <a:ea typeface="Cambria" panose="02040503050406030204" pitchFamily="18" charset="0"/>
              </a:rPr>
              <a:t>thường đối với các nước phát triển, việc mua bảo hiểm cho dự án hay một phần dự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lựa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chọn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ty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làm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nghệ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thông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tin. 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hành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cụ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thể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làm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giảm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xác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suất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xuất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hoặc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ảnh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i="1" dirty="0">
                <a:latin typeface="Cambria" panose="02040503050406030204" pitchFamily="18" charset="0"/>
                <a:ea typeface="Cambria" panose="02040503050406030204" pitchFamily="18" charset="0"/>
              </a:rPr>
              <a:t>hưởng của rủi ro tới mục tiêu của dự án.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600" i="1" dirty="0">
                <a:latin typeface="Cambria" panose="02040503050406030204" pitchFamily="18" charset="0"/>
                <a:ea typeface="Cambria" panose="02040503050406030204" pitchFamily="18" charset="0"/>
              </a:rPr>
              <a:t>Thiết lập một quỹ phòng bị để sử dụng đến trong trường hợp rủi ro xảy ra.</a:t>
            </a:r>
            <a:endParaRPr lang="en-US" sz="1600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1" algn="just">
              <a:buClr>
                <a:schemeClr val="accent2">
                  <a:lumMod val="75000"/>
                </a:schemeClr>
              </a:buClr>
              <a:buSzPct val="140000"/>
            </a:pPr>
            <a:endParaRPr lang="en-US" sz="1600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Sau khi xác định xong chiến lược để đáp ứng các rủi ro, ta cần thực thi những hoạt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động để làm giảm mức độ các rủi ro. Lưu ý là các nhiệm vụ làm giảm rủi ro này phải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được tích hợp vào trong bản kế hoạch của dự án (cụ thể là vào WBS). Việc thực thi các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công việc giảm nhẹ rủi ro này phải được giám sát một cách chặt chẽ để tránh nhầm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lẫn, và để có tác dụng hiệu quả nhất. Các rủi ro phải được đánh giá lại sau khi các hoạt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động làm giảm nhẹ kết thúc, để đánh giá xem phương án lựa chọn có hiệu quả không.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Kết quả mà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PM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dự án mong đợi nhất là mức độ nghiêm trọng của rủi ro được đưa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mức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độ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thấp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nhất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81222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KẾ HOẠCH ĐỐI PHÓ RỦI RO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5F014F0-A170-35A0-6640-3E89954B63B2}"/>
              </a:ext>
            </a:extLst>
          </p:cNvPr>
          <p:cNvSpPr txBox="1"/>
          <p:nvPr/>
        </p:nvSpPr>
        <p:spPr>
          <a:xfrm>
            <a:off x="339355" y="684708"/>
            <a:ext cx="1151329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Kế hoạch giải quyết các rủi ro thường chủ yếu liên quan tới các phương án làm giảm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nhẹ các rủi ro, chính vì vậy kế hoạch giải quyết rủi ro thường được gọi là việc làm giảm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nhẹ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ro.</a:t>
            </a:r>
          </a:p>
          <a:p>
            <a:pPr algn="just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vi-VN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Các chiến lược làm giảm nhẹ các rủi ro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Tránh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cách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phát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triển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gây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ro.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yên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i="1" dirty="0">
                <a:latin typeface="Cambria" panose="02040503050406030204" pitchFamily="18" charset="0"/>
                <a:ea typeface="Cambria" panose="02040503050406030204" pitchFamily="18" charset="0"/>
              </a:rPr>
              <a:t>rủi ro và chấp nhận nó cũng như những hậu quả mà nó gây ra nếu rủi ro xảy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i="1" dirty="0">
                <a:latin typeface="Cambria" panose="02040503050406030204" pitchFamily="18" charset="0"/>
                <a:ea typeface="Cambria" panose="02040503050406030204" pitchFamily="18" charset="0"/>
              </a:rPr>
              <a:t>ra. Chiến lược này chỉ dùng trong trường hợp chúng ta chịu được hậu quả và không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i="1" dirty="0">
                <a:latin typeface="Cambria" panose="02040503050406030204" pitchFamily="18" charset="0"/>
                <a:ea typeface="Cambria" panose="02040503050406030204" pitchFamily="18" charset="0"/>
              </a:rPr>
              <a:t>gây ảnh hưởng quá lớn đối với mục tiêu của dự án hoặc là chúng ta không còn cách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nào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khác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làm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giảm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nhẹ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đó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Chuyển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toàn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bộ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hay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phần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đó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sang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tổ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chức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khác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chịu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trách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nhiệm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. Thông </a:t>
            </a:r>
            <a:r>
              <a:rPr lang="vi-VN" sz="1600" i="1" dirty="0">
                <a:latin typeface="Cambria" panose="02040503050406030204" pitchFamily="18" charset="0"/>
                <a:ea typeface="Cambria" panose="02040503050406030204" pitchFamily="18" charset="0"/>
              </a:rPr>
              <a:t>thường đối với các nước phát triển, việc mua bảo hiểm cho dự án hay một phần dự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lựa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chọn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ty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làm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nghệ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thông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tin. 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hành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cụ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thể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làm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giảm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xác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suất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xuất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hoặc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ảnh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i="1" dirty="0">
                <a:latin typeface="Cambria" panose="02040503050406030204" pitchFamily="18" charset="0"/>
                <a:ea typeface="Cambria" panose="02040503050406030204" pitchFamily="18" charset="0"/>
              </a:rPr>
              <a:t>hưởng của rủi ro tới mục tiêu của dự án.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600" i="1" dirty="0">
                <a:latin typeface="Cambria" panose="02040503050406030204" pitchFamily="18" charset="0"/>
                <a:ea typeface="Cambria" panose="02040503050406030204" pitchFamily="18" charset="0"/>
              </a:rPr>
              <a:t>Thiết lập một quỹ phòng bị để sử dụng đến trong trường hợp rủi ro xảy ra.</a:t>
            </a:r>
            <a:endParaRPr lang="en-US" sz="1600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1" algn="just">
              <a:buClr>
                <a:schemeClr val="accent2">
                  <a:lumMod val="75000"/>
                </a:schemeClr>
              </a:buClr>
              <a:buSzPct val="140000"/>
            </a:pPr>
            <a:endParaRPr lang="en-US" sz="1600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Sau khi xác định xong chiến lược để đáp ứng các rủi ro, ta cần thực thi những hoạt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động để làm giảm mức độ các rủi ro. Lưu ý là các nhiệm vụ làm giảm rủi ro này phải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được tích hợp vào trong bản kế hoạch của dự án (cụ thể là vào WBS). Việc thực thi các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công việc giảm nhẹ rủi ro này phải được giám sát một cách chặt chẽ để tránh nhầm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lẫn, và để có tác dụng hiệu quả nhất. Các rủi ro phải được đánh giá lại sau khi các hoạt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động làm giảm nhẹ kết thúc, để đánh giá xem phương án lựa chọn có hiệu quả không.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Kết quả mà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PM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dự án mong đợi nhất là mức độ nghiêm trọng của rủi ro được đưa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mức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độ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thấp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nhất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35955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GIÁM SÁT &amp; KIỂM SOÁT RỦI RO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5F014F0-A170-35A0-6640-3E89954B63B2}"/>
              </a:ext>
            </a:extLst>
          </p:cNvPr>
          <p:cNvSpPr txBox="1"/>
          <p:nvPr/>
        </p:nvSpPr>
        <p:spPr>
          <a:xfrm>
            <a:off x="339356" y="684708"/>
            <a:ext cx="6261742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Giám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sát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kiểm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soát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liên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quan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tới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hiểu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biết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tình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trạng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ro.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Kiểm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soát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liên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quan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đến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hoạch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khi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chúng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xảy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ra.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Kết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quả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chính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giám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sát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kiểm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soát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điều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chỉnh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hoạt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yêu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cầu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cập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nhật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hoạch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mới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Kiểm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soát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đối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phó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liên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quan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đến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chấp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hành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quy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trình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hoạch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đối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phó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sự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kiện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ro.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Rủi ro phải được kiểm soát cơ bản theo đặc điểm từng giai đoạn cụ thể, có sự quyết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định đối với những rủi ro và có chiến lược làm giảm nhẹ rủi.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Đây là bước cuối cùng của quá trình quản lý rủi ro, với các công việc như:</a:t>
            </a:r>
          </a:p>
          <a:p>
            <a:pPr marL="742950" lvl="1" indent="-285750">
              <a:buClr>
                <a:schemeClr val="accent2">
                  <a:lumMod val="75000"/>
                </a:schemeClr>
              </a:buClr>
              <a:buSzPct val="140000"/>
              <a:buFont typeface="Courier New" panose="02070309020205020404" pitchFamily="49" charset="0"/>
              <a:buChar char="o"/>
            </a:pPr>
            <a:r>
              <a:rPr lang="vi-VN" sz="1600" i="1" dirty="0">
                <a:latin typeface="Cambria" panose="02040503050406030204" pitchFamily="18" charset="0"/>
                <a:ea typeface="Cambria" panose="02040503050406030204" pitchFamily="18" charset="0"/>
              </a:rPr>
              <a:t>Cài đặt, kiểm tra từng bước và đánh giá lại các chiến lược làm giảm nhẹ rủi ro,</a:t>
            </a:r>
          </a:p>
          <a:p>
            <a:pPr marL="742950" lvl="1" indent="-285750">
              <a:buClr>
                <a:schemeClr val="accent2">
                  <a:lumMod val="75000"/>
                </a:schemeClr>
              </a:buClr>
              <a:buSzPct val="140000"/>
              <a:buFont typeface="Courier New" panose="02070309020205020404" pitchFamily="49" charset="0"/>
              <a:buChar char="o"/>
            </a:pPr>
            <a:r>
              <a:rPr lang="vi-VN" sz="1600" i="1" dirty="0">
                <a:latin typeface="Cambria" panose="02040503050406030204" pitchFamily="18" charset="0"/>
                <a:ea typeface="Cambria" panose="02040503050406030204" pitchFamily="18" charset="0"/>
              </a:rPr>
              <a:t>Thông báo trạng thái kế hoạch quản lý rủi ro với những người tham gia dự án,</a:t>
            </a:r>
          </a:p>
          <a:p>
            <a:pPr marL="742950" lvl="1" indent="-285750">
              <a:buClr>
                <a:schemeClr val="accent2">
                  <a:lumMod val="75000"/>
                </a:schemeClr>
              </a:buClr>
              <a:buSzPct val="140000"/>
              <a:buFont typeface="Courier New" panose="02070309020205020404" pitchFamily="49" charset="0"/>
              <a:buChar char="o"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Cập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nhật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tài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liệu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liên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quan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vi-VN" sz="1600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7700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4" y="201388"/>
            <a:ext cx="90484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KỸ THUẬT LÀM GIẢM RỦI RO – TỐI THIỂU HÓA CÁC MỐC MILESTONE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5F014F0-A170-35A0-6640-3E89954B63B2}"/>
              </a:ext>
            </a:extLst>
          </p:cNvPr>
          <p:cNvSpPr txBox="1"/>
          <p:nvPr/>
        </p:nvSpPr>
        <p:spPr>
          <a:xfrm>
            <a:off x="339355" y="684708"/>
            <a:ext cx="11655357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Đây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kỹ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thuật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sử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dụng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mục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tiêu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nhỏ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lịch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hoạt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khoảng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cách giữa các mốc xem xét lại dự án nên được rút ngắn lại ngắn nhất nếu có thể được.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Đây là cách tiếp cận rất ổn định và tương đối dễ dàng để lập kế hoạch và theo dõi quá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trình thực hiện, vì vậy nó được sử dụng phổ biến trong thực tế.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Hiệu quả của phương pháp này là làm giảm các loại rủi ro liên quan tới vấn đề trượt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lịch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vì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vấn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đề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này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loại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rủi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ro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khó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phát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được ngay từ đầu.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Ưu điểm của kỹ thuật này là cải thiện tính trực quan của trạng thái công việc và tốt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cho việc khôi phục lại dự án hoặc một phần của dự án. Nhược điểm của kỹ thuật này là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sẽ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phải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dùng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nhiều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theo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dõi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Kỹ thuật này được khuyến cáo dùng cho các dự án phát triển công nghệ thông tin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từ đầu, không dùng cho dự án bảo trì một công nghệ thông tin đã xây dựng từ trước,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và hữu dụng đối với các hoạt động và phương thức khó quản lý của việc phát triển dự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án. Hơn nữa, kỹ thuật này còn làm giảm những bất ngờ không mong đợi, và có thể cải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thiện các mục tiêu của dự án thông qua những thành tựu đã đạt được.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Để thực hiện được đúng kỹ thuật này, giám đốc dự án phải thực hiện đảm bảo một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số yêu cầu như: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vi-V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lịch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rất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chi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tiết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mốc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kiểm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tra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xem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xét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lại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(milestones)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ngay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từ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giai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đoạn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đầu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Khoảng cách giữa hai mốc xem xét của dự án được khuyến cáo là từ 1 đến 2 ngày,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nhưng khoảng cách này cũng có thể tăng dài lên từ 1 đến 2 tuần kỹ thuật vẫn tốt.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Rất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thích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hợp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phát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triển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theo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mô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hình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lặp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đi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lặp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lại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(iterative)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Sử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dụng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mốc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kiểm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tra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theo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kiểu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nhị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phân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gồm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hai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trạng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thái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làm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xong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hoặc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600" dirty="0">
                <a:latin typeface="Cambria" panose="02040503050406030204" pitchFamily="18" charset="0"/>
                <a:ea typeface="Cambria" panose="02040503050406030204" pitchFamily="18" charset="0"/>
              </a:rPr>
              <a:t>chưa xong.</a:t>
            </a:r>
          </a:p>
        </p:txBody>
      </p:sp>
    </p:spTree>
    <p:extLst>
      <p:ext uri="{BB962C8B-B14F-4D97-AF65-F5344CB8AC3E}">
        <p14:creationId xmlns:p14="http://schemas.microsoft.com/office/powerpoint/2010/main" val="15063957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rectangle with white dots&#10;&#10;Description automatically generated">
            <a:extLst>
              <a:ext uri="{FF2B5EF4-FFF2-40B4-BE49-F238E27FC236}">
                <a16:creationId xmlns:a16="http://schemas.microsoft.com/office/drawing/2014/main" id="{ECE4913A-95CE-44D8-6E6B-D51DE0600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blue sign with white text&#10;&#10;Description automatically generated">
            <a:extLst>
              <a:ext uri="{FF2B5EF4-FFF2-40B4-BE49-F238E27FC236}">
                <a16:creationId xmlns:a16="http://schemas.microsoft.com/office/drawing/2014/main" id="{B1B992CF-C5B0-3E18-5DBE-225492A94D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9552" y="208280"/>
            <a:ext cx="1613647" cy="777240"/>
          </a:xfrm>
          <a:prstGeom prst="rect">
            <a:avLst/>
          </a:prstGeom>
        </p:spPr>
      </p:pic>
      <p:pic>
        <p:nvPicPr>
          <p:cNvPr id="9" name="Picture 8" descr="A computer with a graph and a diagram&#10;&#10;Description automatically generated with medium confidence">
            <a:extLst>
              <a:ext uri="{FF2B5EF4-FFF2-40B4-BE49-F238E27FC236}">
                <a16:creationId xmlns:a16="http://schemas.microsoft.com/office/drawing/2014/main" id="{739FF32F-3E0B-257B-8470-E20496425F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3060691"/>
            <a:ext cx="7548880" cy="3589029"/>
          </a:xfrm>
          <a:prstGeom prst="rect">
            <a:avLst/>
          </a:prstGeom>
        </p:spPr>
      </p:pic>
      <p:sp>
        <p:nvSpPr>
          <p:cNvPr id="10" name="Title 4">
            <a:extLst>
              <a:ext uri="{FF2B5EF4-FFF2-40B4-BE49-F238E27FC236}">
                <a16:creationId xmlns:a16="http://schemas.microsoft.com/office/drawing/2014/main" id="{EC1A2CC1-88C2-9699-19F0-B13832AF9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277" y="4437371"/>
            <a:ext cx="6998563" cy="1382487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b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THANK YOU!</a:t>
            </a:r>
            <a:br>
              <a:rPr lang="en-US" sz="4000" b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sz="4000" b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sz="4000" b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sz="4000" b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7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Chap VI: </a:t>
            </a:r>
            <a:r>
              <a:rPr lang="vi-VN" sz="27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 </a:t>
            </a:r>
            <a:r>
              <a:rPr lang="en-US" sz="27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Risk</a:t>
            </a:r>
            <a:r>
              <a:rPr lang="vi-VN" sz="27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management</a:t>
            </a:r>
            <a:br>
              <a:rPr lang="en-US" sz="27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Lecturer</a:t>
            </a:r>
            <a:r>
              <a:rPr lang="en-US" sz="200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 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57340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pening slide">
  <a:themeElements>
    <a:clrScheme name="Custom 7">
      <a:dk1>
        <a:srgbClr val="FFFFFF"/>
      </a:dk1>
      <a:lt1>
        <a:srgbClr val="0070C0"/>
      </a:lt1>
      <a:dk2>
        <a:srgbClr val="FFFFFF"/>
      </a:dk2>
      <a:lt2>
        <a:srgbClr val="0070C0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ody slide">
  <a:themeElements>
    <a:clrScheme name="pptx template 1">
      <a:dk1>
        <a:srgbClr val="0070C0"/>
      </a:dk1>
      <a:lt1>
        <a:sysClr val="window" lastClr="FFFFFF"/>
      </a:lt1>
      <a:dk2>
        <a:srgbClr val="0070C0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9c558a-331c-4b2a-9422-cc1872e64aa6">
      <Terms xmlns="http://schemas.microsoft.com/office/infopath/2007/PartnerControls"/>
    </lcf76f155ced4ddcb4097134ff3c332f>
    <TaxCatchAll xmlns="0daeb402-9d2e-4002-a65f-37a660ceb8f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07973FBAC0FD44AFF67A0CF8CAB7ED" ma:contentTypeVersion="15" ma:contentTypeDescription="Create a new document." ma:contentTypeScope="" ma:versionID="74905d119c205581eaedd23186ce405f">
  <xsd:schema xmlns:xsd="http://www.w3.org/2001/XMLSchema" xmlns:xs="http://www.w3.org/2001/XMLSchema" xmlns:p="http://schemas.microsoft.com/office/2006/metadata/properties" xmlns:ns2="6e9c558a-331c-4b2a-9422-cc1872e64aa6" xmlns:ns3="0daeb402-9d2e-4002-a65f-37a660ceb8fd" targetNamespace="http://schemas.microsoft.com/office/2006/metadata/properties" ma:root="true" ma:fieldsID="708587739f1abd74a42e448662f10547" ns2:_="" ns3:_="">
    <xsd:import namespace="6e9c558a-331c-4b2a-9422-cc1872e64aa6"/>
    <xsd:import namespace="0daeb402-9d2e-4002-a65f-37a660ceb8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9c558a-331c-4b2a-9422-cc1872e64a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8aa48d64-e0f2-481a-8596-878e2f0ebd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aeb402-9d2e-4002-a65f-37a660ceb8f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c41332e-9ceb-47bb-9b4b-dcfc7eb8757e}" ma:internalName="TaxCatchAll" ma:showField="CatchAllData" ma:web="0daeb402-9d2e-4002-a65f-37a660ceb8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0C8588-255A-46FE-9F41-54EA633E86D9}">
  <ds:schemaRefs>
    <ds:schemaRef ds:uri="http://schemas.microsoft.com/office/2006/metadata/properties"/>
    <ds:schemaRef ds:uri="http://schemas.microsoft.com/office/infopath/2007/PartnerControls"/>
    <ds:schemaRef ds:uri="6e9c558a-331c-4b2a-9422-cc1872e64aa6"/>
    <ds:schemaRef ds:uri="0daeb402-9d2e-4002-a65f-37a660ceb8fd"/>
  </ds:schemaRefs>
</ds:datastoreItem>
</file>

<file path=customXml/itemProps2.xml><?xml version="1.0" encoding="utf-8"?>
<ds:datastoreItem xmlns:ds="http://schemas.openxmlformats.org/officeDocument/2006/customXml" ds:itemID="{38868D07-F5EE-401C-81CC-4D32459E7E5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179DE83-DC3C-49A3-A423-4B0D93811D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9c558a-331c-4b2a-9422-cc1872e64aa6"/>
    <ds:schemaRef ds:uri="0daeb402-9d2e-4002-a65f-37a660ceb8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3443</TotalTime>
  <Words>4736</Words>
  <Application>Microsoft Office PowerPoint</Application>
  <PresentationFormat>Widescreen</PresentationFormat>
  <Paragraphs>262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Office Theme</vt:lpstr>
      <vt:lpstr>Opening slide</vt:lpstr>
      <vt:lpstr>Body slide</vt:lpstr>
      <vt:lpstr> INFORMATION TECHNOLOGY PROJECT MANAGEMENT     Chap VI: IT project Risk management Lecturer: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    Chap VI: IT project Risk management Lecturer: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TECHNOLOGY PROJECT MANAGEMENT  Chap I: Foundation of IT project management Lecturer: Dr. Thanh NGO</dc:title>
  <dc:creator>Thanh. Ngo Minh - CMC People Unit</dc:creator>
  <cp:lastModifiedBy>Thanh. Ngo Minh - CMC Corp Ban Nhan su &amp; PTNT</cp:lastModifiedBy>
  <cp:revision>331</cp:revision>
  <cp:lastPrinted>2024-03-12T04:48:54Z</cp:lastPrinted>
  <dcterms:created xsi:type="dcterms:W3CDTF">2024-02-01T10:29:10Z</dcterms:created>
  <dcterms:modified xsi:type="dcterms:W3CDTF">2026-09-22T06:55:54Z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0x010100B307973FBAC0FD44AFF67A0CF8CAB7ED</vt:lpwstr>
  </property>
</Properties>
</file>