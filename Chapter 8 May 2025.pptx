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4" r:id="rId5"/>
    <p:sldMasterId id="2147483666" r:id="rId6"/>
  </p:sldMasterIdLst>
  <p:sldIdLst>
    <p:sldId id="256" r:id="rId7"/>
    <p:sldId id="279" r:id="rId8"/>
    <p:sldId id="334" r:id="rId9"/>
    <p:sldId id="335" r:id="rId10"/>
    <p:sldId id="257" r:id="rId11"/>
    <p:sldId id="336" r:id="rId12"/>
    <p:sldId id="337" r:id="rId13"/>
    <p:sldId id="419" r:id="rId14"/>
    <p:sldId id="433" r:id="rId15"/>
    <p:sldId id="434" r:id="rId16"/>
    <p:sldId id="435" r:id="rId17"/>
    <p:sldId id="436" r:id="rId18"/>
    <p:sldId id="437" r:id="rId19"/>
    <p:sldId id="438" r:id="rId20"/>
    <p:sldId id="439" r:id="rId21"/>
    <p:sldId id="440" r:id="rId22"/>
    <p:sldId id="441" r:id="rId23"/>
    <p:sldId id="442" r:id="rId24"/>
    <p:sldId id="443" r:id="rId25"/>
    <p:sldId id="444" r:id="rId26"/>
    <p:sldId id="292" r:id="rId27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586A-3CA7-A6B6-6B3B-4583D57BE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1776E-AB3C-97F0-AA67-BD2E18056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7923A-7CEC-4869-8AF4-836E8C80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91799-8705-EA78-77FB-A8D1418A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50114-BB6A-8616-2731-F1950849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5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53F8-D7EF-0AA8-3598-5AC952F1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DE3F-5386-056B-1DEC-19911D2C2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05957-DD56-E507-21A2-8C0A5BE9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B9A55-8E66-EC08-7034-455A1E5E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F6D1F-72C9-BA38-AAB4-6FAC937E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5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2EB5-995E-9071-E3A1-95E9D7E50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CF681-C1B8-C11A-F353-03F536F24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5EFDC-3504-A413-429F-299170D3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9A7B8-12DD-1BF3-FD41-6B306194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061D4-168A-8F5C-1AF2-EEEE97F4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41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4875-A6FD-8948-4493-B9CE9F5B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19F30-A0D3-1FEA-6295-76618F64B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2052-690E-6A4A-BF02-E46FD4005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EBC34-12BA-F9D2-9978-AA8576AA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96469-2D3A-F487-7765-67182F6A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E2A04-E436-414E-4B0C-2404C44E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3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2111-8CAE-1681-AEAC-2079D2AEC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EED81-28F4-4AD3-11E7-6FFF95522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B50D-C434-C047-6A82-F515AB35F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1BF45-750B-EE49-DA72-E92AF974D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79E4D8-3EBB-E193-27A5-094D18445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71CCED-E4D2-1960-BB38-F574A8621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E36CFE-AD2A-D7D2-B7AC-0E6731A1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9C0B5-F8AA-4571-AFA6-A6728C20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4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519E-BDB0-6C86-F8A0-76A5F77C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38157-D72D-588F-3ADF-121F60C6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17323-0A37-5519-2211-CB5A46A70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187EF-3568-6D06-B0CC-CC03B437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7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A75DE-3AA6-3D68-4B0D-E41DC28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2F1D1-1AE5-9EFB-5C41-D0BA282D3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39EC7-3610-4119-B990-AAC57BFA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3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A1C0-DF73-59F9-7F79-1E20888F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0BE31-A6CE-0A68-9049-46835F690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BAC79-BA96-6289-CE87-A607DC7FE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EFF55-5B90-350B-AAD2-357346686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45FB3-ADD8-2ECF-805C-BE68FADB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33929-8CD9-1DA0-4C06-B6934F51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8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5A5F-7783-499E-9377-32101998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A243A-C284-88CE-16D1-09F73127C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3E7FA-2738-CC66-3A33-AF2665F88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52B17-F93D-D397-FB9D-F548BD36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48A4A-D02F-90AA-6306-2A3C8C61D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AF598-401C-397D-5CF5-3A9D5CA8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8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A2BB-D4CC-5B9B-2348-E67CC05E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E9190-84A6-F9EA-2390-7756FA27F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E116-5473-7F3F-8433-5244C90E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5FA76-460F-9D21-A59E-4B4E1DD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0A51C-B070-BA37-CF7D-21A317D5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0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743B3-1526-7C42-5D1E-F800423F8A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23CF1-92A9-379B-2137-1E6179E6A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C939-1232-F1BE-40EE-926F7F32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4AEF-05BD-1B4A-FFF2-7F78AB001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B8F82-AEF6-1E0B-765F-D74DBC30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74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74F-8BA0-4DD9-8A0D-88DF8E867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3437" y="1600199"/>
            <a:ext cx="6998563" cy="273210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D7F5-BC12-43B2-9B38-EB14BFE04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3437" y="4422159"/>
            <a:ext cx="6998564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91443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181B04-7A0A-4201-BF8A-A7E924267571}"/>
              </a:ext>
            </a:extLst>
          </p:cNvPr>
          <p:cNvSpPr txBox="1">
            <a:spLocks/>
          </p:cNvSpPr>
          <p:nvPr userDrawn="1"/>
        </p:nvSpPr>
        <p:spPr>
          <a:xfrm>
            <a:off x="3311370" y="18257"/>
            <a:ext cx="8880629" cy="789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05D78967-21EF-4AA2-8BE4-2FCA6F8A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187350" cy="571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163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51A7-6B22-4874-8FC5-ED388E5D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76" y="1597981"/>
            <a:ext cx="10966059" cy="4578982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E3DAE31-D39D-4D91-8F50-8D056054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31739" cy="56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683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6E213-C056-49F2-8A77-C3C4C25F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76" y="1597981"/>
            <a:ext cx="10941322" cy="4580877"/>
          </a:xfrm>
        </p:spPr>
        <p:txBody>
          <a:bodyPr/>
          <a:lstStyle>
            <a:lvl1pPr marL="0" indent="0">
              <a:buNone/>
              <a:defRPr sz="2400">
                <a:solidFill>
                  <a:srgbClr val="0070C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381502F-F4F5-47E5-A036-3E8E88EB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31739" cy="56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 rot="19043258">
            <a:off x="470650" y="3521318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 rot="19043258">
            <a:off x="5795684" y="3521317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3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5726-7887-4ED4-A172-AF9307881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560" y="1606858"/>
            <a:ext cx="5483440" cy="45701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0F843-3E9A-4C49-A1AC-A3FA71EF7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1" y="1606858"/>
            <a:ext cx="5483440" cy="45701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06B0EA4-C8A7-4132-BFEF-0DDFF81D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22861" cy="56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 rot="19043258">
            <a:off x="470650" y="3521318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 rot="19043258">
            <a:off x="5795684" y="3521317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322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1CF06-6B06-4E7F-82EA-7C5047EA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75" y="1603275"/>
            <a:ext cx="54678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9E841-81B0-403F-B4A9-7ACB7AAF8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75" y="2512381"/>
            <a:ext cx="5462626" cy="36772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B9AEE-2F75-43DB-921D-43380FB8C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0802" y="1603275"/>
            <a:ext cx="54678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1E4C2-CBB6-4430-BE56-3BF9E9AA8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0801" y="2512381"/>
            <a:ext cx="5467825" cy="36772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49F13EA-C024-48AE-90B5-68F588A6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31739" cy="552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7848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747FC4C-9430-4B68-AD2B-0057993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05106" cy="542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 rot="19043258">
            <a:off x="470650" y="3521318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 rot="19043258">
            <a:off x="5795684" y="3521317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5505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3D6C-BEF2-4E06-A9B0-9A309DB3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1394" y="1606858"/>
            <a:ext cx="6507234" cy="45631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CDB52-24E0-4CBA-AE63-33BD3EF65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176" y="1606859"/>
            <a:ext cx="4165766" cy="45631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38BBB283-F300-4A19-B448-60B2206B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05106" cy="542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52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3D43A-8744-40D7-AFFD-6F0B4A4EC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06858"/>
            <a:ext cx="6375440" cy="455424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5C3DD-CC1C-4A73-BCDA-09DF7D09C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175" y="1606859"/>
            <a:ext cx="4245665" cy="45542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4732130-B38F-4E21-8A3C-589F2672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22861" cy="581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 rot="19043258">
            <a:off x="470650" y="3521318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 rot="19043258">
            <a:off x="5795684" y="3521317"/>
            <a:ext cx="5085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For CMC University Student only</a:t>
            </a:r>
            <a:endParaRPr lang="en-AU" sz="2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2815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93FDE-0843-445A-8B34-9092D666F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176" y="1597981"/>
            <a:ext cx="10941322" cy="45789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086777C-386E-4DFE-9BE7-63682A461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13983" cy="571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6651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1CC48-27A5-4590-A158-B24464D8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175" y="1589103"/>
            <a:ext cx="10941322" cy="458786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ABDBED6-01BA-4F2B-9569-ED803275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05106" cy="56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9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jp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3.jp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796FF-222D-1E2E-7D23-7C2CDFE14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ED22-2335-D77A-68F2-5BD129B1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4A63B-33FC-3D66-67A2-4F63979F6D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8F127-7721-4FB8-A2C6-5E97C2B5E01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09777-C88E-DEB1-2C91-66BDF4E70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51AD0-DD74-2C46-CF95-2202E3B9F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03FC1-3A4E-448F-B845-A3E46F94B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9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36DA72-9373-413D-90C2-B12F84A4BF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700E21E-0BA2-4C89-8691-A6161B41AA11}"/>
              </a:ext>
            </a:extLst>
          </p:cNvPr>
          <p:cNvSpPr/>
          <p:nvPr userDrawn="1"/>
        </p:nvSpPr>
        <p:spPr>
          <a:xfrm>
            <a:off x="5184559" y="1600200"/>
            <a:ext cx="7007441" cy="365760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437EFD07-DCAC-4344-A296-7B657609E7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8" y="183674"/>
            <a:ext cx="2736460" cy="49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22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EDE25AE-F103-49BC-9B89-0B1E7BCFB6D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273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6BAF0-010B-4DE2-BDEA-F2879C62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6" y="1"/>
            <a:ext cx="8213983" cy="572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B290-2494-4607-B867-D433D753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76" y="1313895"/>
            <a:ext cx="10941323" cy="4863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CB6BFF-A477-48C9-AA27-0D5A005B4CC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07121"/>
            <a:ext cx="12192000" cy="450879"/>
          </a:xfrm>
          <a:prstGeom prst="rect">
            <a:avLst/>
          </a:prstGeom>
        </p:spPr>
      </p:pic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5381A15E-FFCE-435E-9C14-6C629375BFF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725" y="73518"/>
            <a:ext cx="2334099" cy="425701"/>
          </a:xfrm>
          <a:prstGeom prst="rect">
            <a:avLst/>
          </a:prstGeom>
        </p:spPr>
      </p:pic>
      <p:pic>
        <p:nvPicPr>
          <p:cNvPr id="17" name="Picture 16" descr="Shape&#10;&#10;Description automatically generated with medium confidence">
            <a:extLst>
              <a:ext uri="{FF2B5EF4-FFF2-40B4-BE49-F238E27FC236}">
                <a16:creationId xmlns:a16="http://schemas.microsoft.com/office/drawing/2014/main" id="{290B9EB1-B956-4D5D-A294-4C2DE882032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79" y="6585209"/>
            <a:ext cx="3743535" cy="32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9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zoetalentsolutions.com/course/information-technology-project-management-course/" TargetMode="Externa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zoetalentsolutions.com/course/information-technology-project-management-course/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rectangle with white dots&#10;&#10;Description automatically generated">
            <a:extLst>
              <a:ext uri="{FF2B5EF4-FFF2-40B4-BE49-F238E27FC236}">
                <a16:creationId xmlns:a16="http://schemas.microsoft.com/office/drawing/2014/main" id="{ECE4913A-95CE-44D8-6E6B-D51DE0600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blue sign with white text&#10;&#10;Description automatically generated">
            <a:extLst>
              <a:ext uri="{FF2B5EF4-FFF2-40B4-BE49-F238E27FC236}">
                <a16:creationId xmlns:a16="http://schemas.microsoft.com/office/drawing/2014/main" id="{B1B992CF-C5B0-3E18-5DBE-225492A94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552" y="208280"/>
            <a:ext cx="1613647" cy="777240"/>
          </a:xfrm>
          <a:prstGeom prst="rect">
            <a:avLst/>
          </a:prstGeom>
        </p:spPr>
      </p:pic>
      <p:pic>
        <p:nvPicPr>
          <p:cNvPr id="9" name="Picture 8" descr="A computer with a graph and a diagram&#10;&#10;Description automatically generated with medium confidence">
            <a:extLst>
              <a:ext uri="{FF2B5EF4-FFF2-40B4-BE49-F238E27FC236}">
                <a16:creationId xmlns:a16="http://schemas.microsoft.com/office/drawing/2014/main" id="{739FF32F-3E0B-257B-8470-E20496425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060691"/>
            <a:ext cx="7548880" cy="3589029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EC1A2CC1-88C2-9699-19F0-B13832AF9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277" y="4437371"/>
            <a:ext cx="6998563" cy="1382487"/>
          </a:xfrm>
        </p:spPr>
        <p:txBody>
          <a:bodyPr>
            <a:normAutofit fontScale="90000"/>
          </a:bodyPr>
          <a:lstStyle/>
          <a:p>
            <a:pPr algn="l"/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INFORMATION TECHNOLOGY PROJECT MANAGEMENT </a:t>
            </a: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Chap VIII: </a:t>
            </a:r>
            <a:r>
              <a:rPr lang="vi-VN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Integration</a:t>
            </a:r>
            <a:r>
              <a:rPr lang="vi-VN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management</a:t>
            </a:r>
            <a:br>
              <a:rPr lang="en-US" sz="27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Lecturer: 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68494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515C3DC-5940-B1D2-647C-34C38945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4">
            <a:extLst>
              <a:ext uri="{FF2B5EF4-FFF2-40B4-BE49-F238E27FC236}">
                <a16:creationId xmlns:a16="http://schemas.microsoft.com/office/drawing/2014/main" id="{CC5C7E55-634B-1DE0-9535-DC5071624720}"/>
              </a:ext>
            </a:extLst>
          </p:cNvPr>
          <p:cNvSpPr txBox="1">
            <a:spLocks/>
          </p:cNvSpPr>
          <p:nvPr/>
        </p:nvSpPr>
        <p:spPr>
          <a:xfrm>
            <a:off x="458055" y="975092"/>
            <a:ext cx="10788691" cy="201168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4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TỔNG QUAN VỀ QUẢN LÝ TÍCH HỢP DỰ ÁN 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 TRÌNH QUẢN LÝ TÍCH HỢP DỰ ÁN 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CHUYỂN NGƯỜI DÙNG QUA HỆ THỐNG MỚI</a:t>
            </a:r>
          </a:p>
          <a:p>
            <a:endParaRPr lang="en-US" sz="1800" b="0" i="0" u="none" strike="noStrike" baseline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5C758D-1344-FC52-DE08-DE5407E409D5}"/>
              </a:ext>
            </a:extLst>
          </p:cNvPr>
          <p:cNvSpPr/>
          <p:nvPr/>
        </p:nvSpPr>
        <p:spPr>
          <a:xfrm>
            <a:off x="458055" y="451872"/>
            <a:ext cx="17872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75841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7D571B-31DC-DFD8-0B63-31E0DE77B32B}"/>
              </a:ext>
            </a:extLst>
          </p:cNvPr>
          <p:cNvSpPr txBox="1"/>
          <p:nvPr/>
        </p:nvSpPr>
        <p:spPr>
          <a:xfrm>
            <a:off x="423429" y="443567"/>
            <a:ext cx="11454321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MỤC TIÊU CỦA CHAPTER VIII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Hiểu được tầm quan trọng của quản lý tích hợp dự án.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Giải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thích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yếu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tố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dẫn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hỗ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Hiểu được qui trình điều khiển thay đổi tích hợp, lập kế hoạch và quản lý sự thay đổi trong các dự 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CNTT,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Nắm được cách chuyển người dùng sang hệ thống mới, họp tổng kết, kết thúc dự án và tiêu chí thành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8131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515C3DC-5940-B1D2-647C-34C38945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4">
            <a:extLst>
              <a:ext uri="{FF2B5EF4-FFF2-40B4-BE49-F238E27FC236}">
                <a16:creationId xmlns:a16="http://schemas.microsoft.com/office/drawing/2014/main" id="{CC5C7E55-634B-1DE0-9535-DC5071624720}"/>
              </a:ext>
            </a:extLst>
          </p:cNvPr>
          <p:cNvSpPr txBox="1">
            <a:spLocks/>
          </p:cNvSpPr>
          <p:nvPr/>
        </p:nvSpPr>
        <p:spPr>
          <a:xfrm>
            <a:off x="407255" y="71120"/>
            <a:ext cx="10788691" cy="67868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TỔNG QUAN VỀ QUẢN LÝ TÍCH HỢP DỰ ÁN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83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7A793E2-EC8B-C948-0AFC-E1263B58F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7581" y="0"/>
            <a:ext cx="4164419" cy="68580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BDA1764-ADB2-C5F2-67B9-CD336399D252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7583" y="384176"/>
            <a:ext cx="65078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TỔNG QUAN VỀ QUẢN LÝ TÍCH HỢP DỰ ÁN</a:t>
            </a:r>
          </a:p>
          <a:p>
            <a:pPr>
              <a:spcAft>
                <a:spcPts val="600"/>
              </a:spcAft>
            </a:pPr>
            <a:endParaRPr lang="en-US" sz="20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CFE3C4-6ADE-F83F-786D-658746ABBB84}"/>
              </a:ext>
            </a:extLst>
          </p:cNvPr>
          <p:cNvSpPr txBox="1"/>
          <p:nvPr/>
        </p:nvSpPr>
        <p:spPr>
          <a:xfrm>
            <a:off x="8108407" y="384176"/>
            <a:ext cx="38049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Integration management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714B9-5A5F-472B-6C92-566A3A41D434}"/>
              </a:ext>
            </a:extLst>
          </p:cNvPr>
          <p:cNvSpPr txBox="1"/>
          <p:nvPr/>
        </p:nvSpPr>
        <p:spPr>
          <a:xfrm>
            <a:off x="337583" y="784286"/>
            <a:ext cx="730854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Chìa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khóa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tốt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Người quản lý dự án phải điều phối tất cả các lãnh vực kiến thức trong suốt chu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(project life cycle).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Nhiều người quản lý dự án mới gặp khó khăn khi nhìn vào bức tranh tổng thể 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muốn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tập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trung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chi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tiết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553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515C3DC-5940-B1D2-647C-34C38945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4">
            <a:extLst>
              <a:ext uri="{FF2B5EF4-FFF2-40B4-BE49-F238E27FC236}">
                <a16:creationId xmlns:a16="http://schemas.microsoft.com/office/drawing/2014/main" id="{CC5C7E55-634B-1DE0-9535-DC5071624720}"/>
              </a:ext>
            </a:extLst>
          </p:cNvPr>
          <p:cNvSpPr txBox="1">
            <a:spLocks/>
          </p:cNvSpPr>
          <p:nvPr/>
        </p:nvSpPr>
        <p:spPr>
          <a:xfrm>
            <a:off x="407255" y="71120"/>
            <a:ext cx="10788691" cy="67868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QUY TRÌNH QUẢN LÝ TÍCH HỢP DỰ ÁN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88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7A793E2-EC8B-C948-0AFC-E1263B58F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7581" y="0"/>
            <a:ext cx="4164419" cy="68580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BDA1764-ADB2-C5F2-67B9-CD336399D252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7583" y="384176"/>
            <a:ext cx="609777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vi-VN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 TRÌNH TÍCH HỢP DỰ ÁN</a:t>
            </a:r>
          </a:p>
          <a:p>
            <a:pPr>
              <a:spcAft>
                <a:spcPts val="600"/>
              </a:spcAft>
            </a:pPr>
            <a:endParaRPr lang="en-US" sz="20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CFE3C4-6ADE-F83F-786D-658746ABBB84}"/>
              </a:ext>
            </a:extLst>
          </p:cNvPr>
          <p:cNvSpPr txBox="1"/>
          <p:nvPr/>
        </p:nvSpPr>
        <p:spPr>
          <a:xfrm>
            <a:off x="8282906" y="191405"/>
            <a:ext cx="380498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spcBef>
                <a:spcPct val="20000"/>
              </a:spcBef>
            </a:pPr>
            <a:r>
              <a:rPr lang="en-US" alt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Integration management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r">
              <a:spcBef>
                <a:spcPct val="20000"/>
              </a:spcBef>
            </a:pPr>
            <a:endParaRPr lang="en-US" altLang="en-US" sz="2000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0E4F7-2C73-C1F0-9BD7-6FBEB363A78D}"/>
              </a:ext>
            </a:extLst>
          </p:cNvPr>
          <p:cNvSpPr txBox="1"/>
          <p:nvPr/>
        </p:nvSpPr>
        <p:spPr>
          <a:xfrm>
            <a:off x="337582" y="776591"/>
            <a:ext cx="758588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chính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bao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lấy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qui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đưa vào thành một tài liệu nhất quán và kết dính – kế hoạch dự án.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phối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toàn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bộ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3106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 TRÌNH QUẢN LÝ TÍCH HỢP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F014F0-A170-35A0-6640-3E89954B63B2}"/>
              </a:ext>
            </a:extLst>
          </p:cNvPr>
          <p:cNvSpPr txBox="1"/>
          <p:nvPr/>
        </p:nvSpPr>
        <p:spPr>
          <a:xfrm>
            <a:off x="339355" y="684708"/>
            <a:ext cx="11513290" cy="583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dùng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phối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tất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cả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400" dirty="0">
                <a:latin typeface="Cambria" panose="02040503050406030204" pitchFamily="18" charset="0"/>
                <a:ea typeface="Cambria" panose="02040503050406030204" pitchFamily="18" charset="0"/>
              </a:rPr>
              <a:t>Mục đích chính là hướng dẫn thực thi dự án.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400" dirty="0">
                <a:latin typeface="Cambria" panose="02040503050406030204" pitchFamily="18" charset="0"/>
                <a:ea typeface="Cambria" panose="02040503050406030204" pitchFamily="18" charset="0"/>
              </a:rPr>
              <a:t>Kế hoạch dự án giúp người quản lý dự án lãnh đạo nhóm dự án và đánh giá tình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đo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so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US" sz="14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thuộc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endParaRPr lang="en-US" sz="14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duy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(dynamic).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linh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(flexible).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400" dirty="0">
                <a:latin typeface="Cambria" panose="02040503050406030204" pitchFamily="18" charset="0"/>
                <a:ea typeface="Cambria" panose="02040503050406030204" pitchFamily="18" charset="0"/>
              </a:rPr>
              <a:t>Kế hoạch phải được cập nhật khi có thay đổi.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400" dirty="0">
                <a:latin typeface="Cambria" panose="02040503050406030204" pitchFamily="18" charset="0"/>
                <a:ea typeface="Cambria" panose="02040503050406030204" pitchFamily="18" charset="0"/>
              </a:rPr>
              <a:t>Kế hoạch phải đóng vai trò tài liệu hướng dẫn thực thi dự án.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endParaRPr lang="vi-V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phần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phổ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biến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endParaRPr lang="en-US" sz="14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Tổng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tả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tổ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chức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qui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dùng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Thông tin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lịch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biểu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ngân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l"/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Bên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tham</a:t>
            </a:r>
            <a:r>
              <a:rPr lang="en-US" sz="14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endParaRPr lang="en-US" sz="14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Tên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ty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Bên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tham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Vai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trò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họ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Bên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tham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400" dirty="0">
                <a:latin typeface="Cambria" panose="02040503050406030204" pitchFamily="18" charset="0"/>
                <a:ea typeface="Cambria" panose="02040503050406030204" pitchFamily="18" charset="0"/>
              </a:rPr>
              <a:t>Mức ảnh hưởng và quan tâm đến dự án.</a:t>
            </a:r>
          </a:p>
          <a:p>
            <a:pPr marL="285750" lvl="1" indent="-285750" algn="just"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Đề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xuất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mối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vi-V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vi-V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64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 TRÌNH QUẢN LÝ TÍCH HỢP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AD2571-C6C5-1F64-1D59-8B412499A1A0}"/>
              </a:ext>
            </a:extLst>
          </p:cNvPr>
          <p:cNvSpPr txBox="1"/>
          <p:nvPr/>
        </p:nvSpPr>
        <p:spPr>
          <a:xfrm>
            <a:off x="339355" y="688788"/>
            <a:ext cx="11538395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đòi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hỏi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Hầu hết thời gian và tiền bạc được dùng trong quá trình thực thi dự án.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Lãnh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ứng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vì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án được tạo ra trong quá trình này.</a:t>
            </a:r>
          </a:p>
          <a:p>
            <a:pPr marL="0" lvl="1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en-US" sz="17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trọng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endParaRPr lang="en-US" sz="17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Các kỹ năng quản lý tổng quát như kỹ năng lãnh đạo, giao tiếp, và chính trị.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kiến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dùng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lvl="1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en-US" sz="17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Hệ giao việc (Work Authorization System): một phương pháp bảo đảm con người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đủ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đúng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lúc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đúng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Họp đánh giá tình trạng (Status Review Meetings): các buổi họp thường kỳ để trao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tin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mềm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(Project Management Software):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mềm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đặc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biệt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hỗ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05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 TRÌNH QUẢN LÝ TÍCH HỢP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AD2571-C6C5-1F64-1D59-8B412499A1A0}"/>
              </a:ext>
            </a:extLst>
          </p:cNvPr>
          <p:cNvSpPr txBox="1"/>
          <p:nvPr/>
        </p:nvSpPr>
        <p:spPr>
          <a:xfrm>
            <a:off x="339355" y="688788"/>
            <a:ext cx="11538395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suốt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chu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 Ba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yếu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tố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bảo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đảm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lợi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ra.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ra.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đối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CNTT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Cách nhìn trước đây: Nhóm dự án cần nỗ lực làm đúng theo kế hoạch, đúng thời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phạm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vi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ngân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Vấn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đề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hiếm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đồng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ý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ngay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phạm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vi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rằng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gian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chi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phí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chính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nhìn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đại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giao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tiếp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thỏa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thuận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tục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Giải pháp: Thay đổi thường có lợi, và nhóm dự án cần lập kế hoạch cho điều này.</a:t>
            </a:r>
          </a:p>
          <a:p>
            <a:pPr marL="0" lvl="1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endParaRPr lang="en-US" sz="17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Một qui trình mang tính hình thức mô tả các tài liệu dự án có thể được thay đổi khi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nào và như thế nào.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Mô tả ai được phép thay đổi và thay đổi như thế nào.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Thường gồm bảng điều khiển thay đổi (CCB), quản trị cấu hình, và một qui 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truyền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18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 TRÌNH QUẢN LÝ TÍCH HỢP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AD2571-C6C5-1F64-1D59-8B412499A1A0}"/>
              </a:ext>
            </a:extLst>
          </p:cNvPr>
          <p:cNvSpPr txBox="1"/>
          <p:nvPr/>
        </p:nvSpPr>
        <p:spPr>
          <a:xfrm>
            <a:off x="339355" y="688788"/>
            <a:ext cx="11538395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suốt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chu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 Ba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yếu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tố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bảo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đảm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lợi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ra.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ra.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Ban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soát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(CCB=Change Controlling Board)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Một nhóm người chịu trách nhiệm về phê duyệt hoặc từ chối thay đổi của dự án.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CCB cung cấp những hướng dẫn để chuẩn bị yêu cầu thay đổi, đánh giá yêu cầu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thay đổi, và quản lý việc thực hiện những thay đổi được duyệt.</a:t>
            </a:r>
          </a:p>
          <a:p>
            <a:pPr marL="0" lvl="1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trị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endParaRPr lang="en-US" sz="170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Bảo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đảm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đúng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đầy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đủ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Tập trung vào quản lý công nghệ bằng cách xác định và điều khiển các đặc trưng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chức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trị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viết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yêu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điều khiển thay đổi, lưu và báo cáo những thay đổi, và kiểm tra sản phẩm xem 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phù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yêu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hay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4142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515C3DC-5940-B1D2-647C-34C38945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4">
            <a:extLst>
              <a:ext uri="{FF2B5EF4-FFF2-40B4-BE49-F238E27FC236}">
                <a16:creationId xmlns:a16="http://schemas.microsoft.com/office/drawing/2014/main" id="{CC5C7E55-634B-1DE0-9535-DC5071624720}"/>
              </a:ext>
            </a:extLst>
          </p:cNvPr>
          <p:cNvSpPr txBox="1">
            <a:spLocks/>
          </p:cNvSpPr>
          <p:nvPr/>
        </p:nvSpPr>
        <p:spPr>
          <a:xfrm>
            <a:off x="407255" y="71120"/>
            <a:ext cx="10788691" cy="67868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CHUYỂN NGƯỜI DÙNG QUA HỆ THỐNG MỚI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590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7A793E2-EC8B-C948-0AFC-E1263B58F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7581" y="0"/>
            <a:ext cx="4164419" cy="68580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BDA1764-ADB2-C5F2-67B9-CD336399D252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7583" y="384176"/>
            <a:ext cx="609777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vi-VN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CHUYỂN NGƯỜI DÙNG QUA HỆ THỐNG MỚI</a:t>
            </a:r>
          </a:p>
          <a:p>
            <a:pPr>
              <a:spcAft>
                <a:spcPts val="600"/>
              </a:spcAft>
            </a:pPr>
            <a:endParaRPr lang="en-US" sz="20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CFE3C4-6ADE-F83F-786D-658746ABBB84}"/>
              </a:ext>
            </a:extLst>
          </p:cNvPr>
          <p:cNvSpPr txBox="1"/>
          <p:nvPr/>
        </p:nvSpPr>
        <p:spPr>
          <a:xfrm>
            <a:off x="8282906" y="191405"/>
            <a:ext cx="380498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spcBef>
                <a:spcPct val="20000"/>
              </a:spcBef>
            </a:pPr>
            <a:r>
              <a:rPr lang="en-US" altLang="en-US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Integration management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r">
              <a:spcBef>
                <a:spcPct val="20000"/>
              </a:spcBef>
            </a:pPr>
            <a:endParaRPr lang="en-US" altLang="en-US" sz="2000" i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0E4F7-2C73-C1F0-9BD7-6FBEB363A78D}"/>
              </a:ext>
            </a:extLst>
          </p:cNvPr>
          <p:cNvSpPr txBox="1"/>
          <p:nvPr/>
        </p:nvSpPr>
        <p:spPr>
          <a:xfrm>
            <a:off x="337582" y="776591"/>
            <a:ext cx="7585889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Khi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xây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hoàn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tiếp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toàn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bộ người sử dụng hệ thống hiện tại sang hệ thống mới (giai đoạn migration).</a:t>
            </a:r>
          </a:p>
          <a:p>
            <a:pPr algn="just"/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giai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đoạn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nội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dung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sau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Mô tả về môi trường máy tính, về cơ sở dữ liệu, về giao diện với người sử dụng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đang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thiết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Mô tả về những ràng buộc về việc thực hiện sự chuyển đổi, ví dụ như khi nào thì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sang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dùng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…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Liệt kê những tổ chức và cá nhân bị ảnh hưởng và thông tin để liên hệ với họ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Kế hoạch các bước sẽ được thực hiện để xác định có cần ngắt dịch vụ, tạm thời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ngừng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nếu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thì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sẽ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tạm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ngừng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bao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lâu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xem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đào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ngũ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hỗ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tiếp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?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Nếu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thì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họ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hay đoạn chương trình mới để hướng dẫn không?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24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CHUYỂN NGƯỜI DÙNG QUA HỆ THỐNG MỚI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AD2571-C6C5-1F64-1D59-8B412499A1A0}"/>
              </a:ext>
            </a:extLst>
          </p:cNvPr>
          <p:cNvSpPr txBox="1"/>
          <p:nvPr/>
        </p:nvSpPr>
        <p:spPr>
          <a:xfrm>
            <a:off x="339355" y="688788"/>
            <a:ext cx="1153839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>
                <a:latin typeface="Cambria" panose="02040503050406030204" pitchFamily="18" charset="0"/>
                <a:ea typeface="Cambria" panose="02040503050406030204" pitchFamily="18" charset="0"/>
              </a:rPr>
              <a:t>Chiến lược</a:t>
            </a:r>
          </a:p>
          <a:p>
            <a:pPr algn="l"/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chú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ý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ần tìm hiểu về những mốc thời hạn quan trọng đối với khách hàng, ví dụ như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thì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ổn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etc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Phương thức chuyển đổi gồm có hai cách: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Thứ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dạng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Flash – Cut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toàn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bộ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cũ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sang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hai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ngay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tức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song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Cách chuyển đổi ngay lập tức là cách thực hiện nhanh nhất nhưng vẫn cần một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kế hoạch phòng bị trong trường hợp việc chuyển đổi không đi đến thành công tốt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đẹp. Phương thức này cần có một kế hoạch và kiểm thử cặn kẽ.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Cách chuyển đổi song song có thể làm giảm được các rủi ro, vì thực hiện song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song  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thứ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hai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từng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giai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đoạn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thế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từng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tại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bằng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phần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tại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điểm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Việc lựa chọn phương thức nào phụ thuộc vào mức độ gián đoạn công việc, sự không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tương thích bên trong của sản phẩm mới với sản phẩm cũ, và mức độ thoải mái về chất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lượng của hệ thống. Nếu sự không tương thích này quá lớn thì giai đoạn để thích nghi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cần kéo dài hơn.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239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CHUYỂN NGƯỜI DÙNG QUA HỆ THỐNG MỚI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AD2571-C6C5-1F64-1D59-8B412499A1A0}"/>
              </a:ext>
            </a:extLst>
          </p:cNvPr>
          <p:cNvSpPr txBox="1"/>
          <p:nvPr/>
        </p:nvSpPr>
        <p:spPr>
          <a:xfrm>
            <a:off x="339355" y="688788"/>
            <a:ext cx="11538395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khai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mới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khách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sau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danh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(checklist)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phối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tránh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bị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thiếu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bị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hỏng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Đây là công việc được thực hiện theo nhóm gồm kỹ sư lập trình, kỹ sư đảm bảo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chất lượng, và có thể cần các chữ ký của những người quản lý dự án.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iệc triển khai hệ thống cần có một kế hoạch từ trước để diễn ra trong một ngày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ấn định nào đó và các công việc được lên kế hoạch một cách chi tiết.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Thứ hai là hướng dẫn các đối tượng khách hàng dùng sản phẩm mới, gồm: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Người sử dụng cuối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vi-VN" sz="17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Kỹ thuật viên thao tác hệ thống, kỹ sư bảo trì bảo dưỡng hệ thống.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Thứ ba là chuẩn bị sẵn sàng các tài liệu (để người dùng tham khảo và dùng) 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ài đặt hệ thống, gồm việc tạo những chương trình nhỏ để thiết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lập môi trường chạy cho hệ thống.</a:t>
            </a:r>
          </a:p>
        </p:txBody>
      </p:sp>
    </p:spTree>
    <p:extLst>
      <p:ext uri="{BB962C8B-B14F-4D97-AF65-F5344CB8AC3E}">
        <p14:creationId xmlns:p14="http://schemas.microsoft.com/office/powerpoint/2010/main" val="177013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CHUYỂN NGƯỜI DÙNG QUA HỆ THỐNG MỚI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AD2571-C6C5-1F64-1D59-8B412499A1A0}"/>
              </a:ext>
            </a:extLst>
          </p:cNvPr>
          <p:cNvSpPr txBox="1"/>
          <p:nvPr/>
        </p:nvSpPr>
        <p:spPr>
          <a:xfrm>
            <a:off x="339355" y="688788"/>
            <a:ext cx="11538395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khai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mới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khách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sau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danh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mục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(checklist)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phối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tránh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bị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thiếu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khiến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bị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hỏng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Đây là công việc được thực hiện theo nhóm gồm kỹ sư lập trình, kỹ sư đảm bảo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chất lượng, và có thể cần các chữ ký của những người quản lý dự án.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iệc triển khai hệ thống cần có một kế hoạch từ trước để diễn ra trong một ngày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ấn định nào đó và các công việc được lên kế hoạch một cách chi tiết.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Thứ hai là hướng dẫn các đối tượng khách hàng dùng sản phẩm mới, gồm: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Người sử dụng cuối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vi-VN" sz="17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Kỹ thuật viên thao tác hệ thống, kỹ sư bảo trì bảo dưỡng hệ thống.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Thứ ba là chuẩn bị sẵn sàng các tài liệu (để người dùng tham khảo và dùng) 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ài đặt hệ thống, gồm việc tạo những chương trình nhỏ để thiết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lập môi trường chạy cho hệ thống.</a:t>
            </a:r>
          </a:p>
        </p:txBody>
      </p:sp>
    </p:spTree>
    <p:extLst>
      <p:ext uri="{BB962C8B-B14F-4D97-AF65-F5344CB8AC3E}">
        <p14:creationId xmlns:p14="http://schemas.microsoft.com/office/powerpoint/2010/main" val="2060354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515C3DC-5940-B1D2-647C-34C38945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4">
            <a:extLst>
              <a:ext uri="{FF2B5EF4-FFF2-40B4-BE49-F238E27FC236}">
                <a16:creationId xmlns:a16="http://schemas.microsoft.com/office/drawing/2014/main" id="{CC5C7E55-634B-1DE0-9535-DC5071624720}"/>
              </a:ext>
            </a:extLst>
          </p:cNvPr>
          <p:cNvSpPr txBox="1">
            <a:spLocks/>
          </p:cNvSpPr>
          <p:nvPr/>
        </p:nvSpPr>
        <p:spPr>
          <a:xfrm>
            <a:off x="407255" y="71120"/>
            <a:ext cx="10788691" cy="67868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HỌP TỔNG KẾT DỰ ÁN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76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HỌP TỔNG KẾT DỰ ÁN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AD2571-C6C5-1F64-1D59-8B412499A1A0}"/>
              </a:ext>
            </a:extLst>
          </p:cNvPr>
          <p:cNvSpPr txBox="1"/>
          <p:nvPr/>
        </p:nvSpPr>
        <p:spPr>
          <a:xfrm>
            <a:off x="339355" y="688788"/>
            <a:ext cx="1153839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Buổi họp này còn được gọi là buổi họp rút kinh nghiệm (lesson learn) từ dự án 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sau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suất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etc.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tập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trung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tích các quá trình thực hiện công việc (nhưng không tập trung vào người thực hiện 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việc) để đưa ra những bài học kinh nghiệm cho những dự án tương tự trong tương lai,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chỉ ra những điểm cần lưu ý, cần thực hành thêm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etc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vi-V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Lấy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ý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kiến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hồi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nhằm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thập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tất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cả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các dữ liệu liên quan (như kích cỡ, số lượng sản phẩm, các lần yêu cầu thay đổi, dữ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gian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hao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tốn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…).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Tiến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hành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buổi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họp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thập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hồi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rồi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trao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thảo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luận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nhóm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Tóm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tắt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lại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nội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dung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buổi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họp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báo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tổng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rút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kinh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nghiệm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lvl="1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Việc tổng kết dự án dường như khá đơn giản nhưng trong nhiều trường hợp thì không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phải vậy, vì liên quan đến một số vấn đề tiềm ẩn thường xảy ra như: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yêu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hay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thêm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mới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Hay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tranh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cãi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nghiệm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sản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đối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án, đây thường là lỗi của việc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tích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tổng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sai hoặc thiếu những yêu cầu của khách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viên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đội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Khó giữ động cơ thúc đẩy cho toàn đội làm việc với hiệu suất cao trong giai đoạn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cuối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Khó khăn chuyển đổi sang giai đoạn bảo trì bảo dưỡng hệ thống.</a:t>
            </a:r>
          </a:p>
        </p:txBody>
      </p:sp>
    </p:spTree>
    <p:extLst>
      <p:ext uri="{BB962C8B-B14F-4D97-AF65-F5344CB8AC3E}">
        <p14:creationId xmlns:p14="http://schemas.microsoft.com/office/powerpoint/2010/main" val="3440772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515C3DC-5940-B1D2-647C-34C38945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4">
            <a:extLst>
              <a:ext uri="{FF2B5EF4-FFF2-40B4-BE49-F238E27FC236}">
                <a16:creationId xmlns:a16="http://schemas.microsoft.com/office/drawing/2014/main" id="{CC5C7E55-634B-1DE0-9535-DC5071624720}"/>
              </a:ext>
            </a:extLst>
          </p:cNvPr>
          <p:cNvSpPr txBox="1">
            <a:spLocks/>
          </p:cNvSpPr>
          <p:nvPr/>
        </p:nvSpPr>
        <p:spPr>
          <a:xfrm>
            <a:off x="407255" y="71120"/>
            <a:ext cx="10788691" cy="67868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 TIÊU CHÍ THÀNH CÔNG DỰ ÁN</a:t>
            </a:r>
          </a:p>
          <a:p>
            <a:pPr marL="346075" indent="-3460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895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1C872D-B634-EEF8-EAA0-80AE740697E9}"/>
              </a:ext>
            </a:extLst>
          </p:cNvPr>
          <p:cNvCxnSpPr>
            <a:cxnSpLocks/>
          </p:cNvCxnSpPr>
          <p:nvPr/>
        </p:nvCxnSpPr>
        <p:spPr>
          <a:xfrm>
            <a:off x="8493049" y="6380072"/>
            <a:ext cx="33847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EB9EB1-7974-59C7-C364-23C4EC51EB08}"/>
              </a:ext>
            </a:extLst>
          </p:cNvPr>
          <p:cNvSpPr txBox="1"/>
          <p:nvPr/>
        </p:nvSpPr>
        <p:spPr>
          <a:xfrm>
            <a:off x="339355" y="244931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TIÊU CHÍ THÀNH CÔNG DỰ ÁN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D4E7C-0666-758E-19E6-5612C7D50072}"/>
              </a:ext>
            </a:extLst>
          </p:cNvPr>
          <p:cNvCxnSpPr>
            <a:cxnSpLocks/>
          </p:cNvCxnSpPr>
          <p:nvPr/>
        </p:nvCxnSpPr>
        <p:spPr>
          <a:xfrm>
            <a:off x="423418" y="684708"/>
            <a:ext cx="1142922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2290FE-00E8-047C-6B7A-FE60E47E378B}"/>
              </a:ext>
            </a:extLst>
          </p:cNvPr>
          <p:cNvCxnSpPr>
            <a:cxnSpLocks/>
          </p:cNvCxnSpPr>
          <p:nvPr/>
        </p:nvCxnSpPr>
        <p:spPr>
          <a:xfrm>
            <a:off x="9750056" y="6380072"/>
            <a:ext cx="2127694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147FD0-1CE5-9DDF-5BA9-7BCE393F507E}"/>
              </a:ext>
            </a:extLst>
          </p:cNvPr>
          <p:cNvSpPr txBox="1"/>
          <p:nvPr/>
        </p:nvSpPr>
        <p:spPr>
          <a:xfrm>
            <a:off x="10010900" y="6358818"/>
            <a:ext cx="19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CMC UNIVERSITY 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B330E-E7D9-FE37-809F-715CA1BD317A}"/>
              </a:ext>
            </a:extLst>
          </p:cNvPr>
          <p:cNvCxnSpPr>
            <a:cxnSpLocks/>
          </p:cNvCxnSpPr>
          <p:nvPr/>
        </p:nvCxnSpPr>
        <p:spPr>
          <a:xfrm>
            <a:off x="423430" y="6384152"/>
            <a:ext cx="9145880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AD2571-C6C5-1F64-1D59-8B412499A1A0}"/>
              </a:ext>
            </a:extLst>
          </p:cNvPr>
          <p:cNvSpPr txBox="1"/>
          <p:nvPr/>
        </p:nvSpPr>
        <p:spPr>
          <a:xfrm>
            <a:off x="339355" y="688788"/>
            <a:ext cx="115383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dựa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3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chí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chính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Dự án được thực hiện đúng theo tiến độ, hoàn thành đúng thời hạn yêu cầu 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Để thực hiện được điều đó đội dự án cần thực hiện tốt việc </a:t>
            </a:r>
            <a:r>
              <a:rPr lang="vi-VN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lập kế hoạch, ước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lượng, và kiểm soát việc thực thi các việc trong hệ thống.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vi-VN" sz="1700" dirty="0">
                <a:latin typeface="Cambria" panose="02040503050406030204" pitchFamily="18" charset="0"/>
                <a:ea typeface="Cambria" panose="02040503050406030204" pitchFamily="18" charset="0"/>
              </a:rPr>
              <a:t>Dự án được thực hiện với chi phí trong phạm vi ngân sách cho phép.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Để đạt được tiêu chí này, các việc </a:t>
            </a:r>
            <a:r>
              <a:rPr lang="vi-VN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lập kế hoạch, ước lượng và kiểm soát cần được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tốt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lvl="1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Tuân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thủ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đúng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yêu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khách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hàng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2" indent="-285750" algn="just">
              <a:spcBef>
                <a:spcPts val="600"/>
              </a:spcBef>
              <a:buClr>
                <a:schemeClr val="accent2">
                  <a:lumMod val="75000"/>
                </a:schemeClr>
              </a:buClr>
              <a:buSzPct val="140000"/>
              <a:buFont typeface="Courier New" panose="02070309020205020404" pitchFamily="49" charset="0"/>
              <a:buChar char="o"/>
            </a:pPr>
            <a:r>
              <a:rPr lang="vi-VN" sz="1700" i="1" dirty="0">
                <a:latin typeface="Cambria" panose="02040503050406030204" pitchFamily="18" charset="0"/>
                <a:ea typeface="Cambria" panose="02040503050406030204" pitchFamily="18" charset="0"/>
              </a:rPr>
              <a:t>Để đạt được tiêu chí này đội dự án phải ý thức được tầm quan trọng về </a:t>
            </a:r>
            <a:r>
              <a:rPr lang="vi-VN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yêu cầu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cả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đội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đang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tìm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hiểu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tốt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khái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niệm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thỏa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thuận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quan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trọng</a:t>
            </a:r>
            <a:r>
              <a:rPr lang="en-US" sz="17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l"/>
            <a:endParaRPr lang="vi-V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985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rectangle with white dots&#10;&#10;Description automatically generated">
            <a:extLst>
              <a:ext uri="{FF2B5EF4-FFF2-40B4-BE49-F238E27FC236}">
                <a16:creationId xmlns:a16="http://schemas.microsoft.com/office/drawing/2014/main" id="{ECE4913A-95CE-44D8-6E6B-D51DE0600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blue sign with white text&#10;&#10;Description automatically generated">
            <a:extLst>
              <a:ext uri="{FF2B5EF4-FFF2-40B4-BE49-F238E27FC236}">
                <a16:creationId xmlns:a16="http://schemas.microsoft.com/office/drawing/2014/main" id="{B1B992CF-C5B0-3E18-5DBE-225492A94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552" y="208280"/>
            <a:ext cx="1613647" cy="777240"/>
          </a:xfrm>
          <a:prstGeom prst="rect">
            <a:avLst/>
          </a:prstGeom>
        </p:spPr>
      </p:pic>
      <p:pic>
        <p:nvPicPr>
          <p:cNvPr id="9" name="Picture 8" descr="A computer with a graph and a diagram&#10;&#10;Description automatically generated with medium confidence">
            <a:extLst>
              <a:ext uri="{FF2B5EF4-FFF2-40B4-BE49-F238E27FC236}">
                <a16:creationId xmlns:a16="http://schemas.microsoft.com/office/drawing/2014/main" id="{739FF32F-3E0B-257B-8470-E20496425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060691"/>
            <a:ext cx="7548880" cy="3589029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EC1A2CC1-88C2-9699-19F0-B13832AF9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277" y="4437371"/>
            <a:ext cx="6998563" cy="1382487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000" b="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Chap VIII: </a:t>
            </a:r>
            <a:r>
              <a:rPr lang="vi-VN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Integration</a:t>
            </a:r>
            <a:r>
              <a:rPr lang="vi-VN" sz="27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management</a:t>
            </a:r>
            <a:br>
              <a:rPr lang="en-US" sz="27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Lecturer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5734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ing slide">
  <a:themeElements>
    <a:clrScheme name="Custom 7">
      <a:dk1>
        <a:srgbClr val="FFFFFF"/>
      </a:dk1>
      <a:lt1>
        <a:srgbClr val="0070C0"/>
      </a:lt1>
      <a:dk2>
        <a:srgbClr val="FFFFFF"/>
      </a:dk2>
      <a:lt2>
        <a:srgbClr val="0070C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07973FBAC0FD44AFF67A0CF8CAB7ED" ma:contentTypeVersion="15" ma:contentTypeDescription="Create a new document." ma:contentTypeScope="" ma:versionID="74905d119c205581eaedd23186ce405f">
  <xsd:schema xmlns:xsd="http://www.w3.org/2001/XMLSchema" xmlns:xs="http://www.w3.org/2001/XMLSchema" xmlns:p="http://schemas.microsoft.com/office/2006/metadata/properties" xmlns:ns2="6e9c558a-331c-4b2a-9422-cc1872e64aa6" xmlns:ns3="0daeb402-9d2e-4002-a65f-37a660ceb8fd" targetNamespace="http://schemas.microsoft.com/office/2006/metadata/properties" ma:root="true" ma:fieldsID="708587739f1abd74a42e448662f10547" ns2:_="" ns3:_="">
    <xsd:import namespace="6e9c558a-331c-4b2a-9422-cc1872e64aa6"/>
    <xsd:import namespace="0daeb402-9d2e-4002-a65f-37a660ceb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c558a-331c-4b2a-9422-cc1872e64a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aa48d64-e0f2-481a-8596-878e2f0ebd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aeb402-9d2e-4002-a65f-37a660ceb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c41332e-9ceb-47bb-9b4b-dcfc7eb8757e}" ma:internalName="TaxCatchAll" ma:showField="CatchAllData" ma:web="0daeb402-9d2e-4002-a65f-37a660ceb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9c558a-331c-4b2a-9422-cc1872e64aa6">
      <Terms xmlns="http://schemas.microsoft.com/office/infopath/2007/PartnerControls"/>
    </lcf76f155ced4ddcb4097134ff3c332f>
    <TaxCatchAll xmlns="0daeb402-9d2e-4002-a65f-37a660ceb8f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897F4B-D50A-4563-BD25-45F5C9AA87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9c558a-331c-4b2a-9422-cc1872e64aa6"/>
    <ds:schemaRef ds:uri="0daeb402-9d2e-4002-a65f-37a660ceb8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BE70F8-54F0-4559-A067-9245E5CA97AC}">
  <ds:schemaRefs>
    <ds:schemaRef ds:uri="http://schemas.microsoft.com/office/2006/metadata/properties"/>
    <ds:schemaRef ds:uri="http://schemas.microsoft.com/office/infopath/2007/PartnerControls"/>
    <ds:schemaRef ds:uri="6e9c558a-331c-4b2a-9422-cc1872e64aa6"/>
    <ds:schemaRef ds:uri="0daeb402-9d2e-4002-a65f-37a660ceb8fd"/>
  </ds:schemaRefs>
</ds:datastoreItem>
</file>

<file path=customXml/itemProps3.xml><?xml version="1.0" encoding="utf-8"?>
<ds:datastoreItem xmlns:ds="http://schemas.openxmlformats.org/officeDocument/2006/customXml" ds:itemID="{579916AD-EAA5-4171-949D-2A3E85E0DB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3646</TotalTime>
  <Words>2838</Words>
  <Application>Microsoft Office PowerPoint</Application>
  <PresentationFormat>Widescreen</PresentationFormat>
  <Paragraphs>178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Office Theme</vt:lpstr>
      <vt:lpstr>Opening slide</vt:lpstr>
      <vt:lpstr>Body slide</vt:lpstr>
      <vt:lpstr> INFORMATION TECHNOLOGY PROJECT MANAGEMENT     Chap VIII: IT project Integration management Lecturer: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   Chap VIII: IT project Integration management Lecturer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TECHNOLOGY PROJECT MANAGEMENT  Chap I: Foundation of IT project management Lecturer: Dr. Thanh NGO</dc:title>
  <dc:creator>Thanh. Ngo Minh - CMC People Unit</dc:creator>
  <cp:lastModifiedBy>Thanh. Ngo Minh - CMC Corp Ban Nhan su &amp; PTNT</cp:lastModifiedBy>
  <cp:revision>386</cp:revision>
  <cp:lastPrinted>2024-03-12T04:48:54Z</cp:lastPrinted>
  <dcterms:created xsi:type="dcterms:W3CDTF">2024-02-01T10:29:10Z</dcterms:created>
  <dcterms:modified xsi:type="dcterms:W3CDTF">2026-09-22T06:56:57Z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0x010100B307973FBAC0FD44AFF67A0CF8CAB7ED</vt:lpwstr>
  </property>
</Properties>
</file>