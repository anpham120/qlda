
<file path=[Content_Types].xml><?xml version="1.0" encoding="utf-8"?>
<Types xmlns="http://schemas.openxmlformats.org/package/2006/content-types">
  <Default Extension="bin" ContentType="application/vnd.openxmlformats-officedocument.oleObject"/>
  <Default Extension="jfif" ContentType="image/jpeg"/>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 id="2147483666" r:id="rId6"/>
  </p:sldMasterIdLst>
  <p:sldIdLst>
    <p:sldId id="256" r:id="rId7"/>
    <p:sldId id="279" r:id="rId8"/>
    <p:sldId id="316" r:id="rId9"/>
    <p:sldId id="331" r:id="rId10"/>
    <p:sldId id="257" r:id="rId11"/>
    <p:sldId id="280" r:id="rId12"/>
    <p:sldId id="332" r:id="rId13"/>
    <p:sldId id="311" r:id="rId14"/>
    <p:sldId id="312" r:id="rId15"/>
    <p:sldId id="313" r:id="rId16"/>
    <p:sldId id="314" r:id="rId17"/>
    <p:sldId id="322" r:id="rId18"/>
    <p:sldId id="281" r:id="rId19"/>
    <p:sldId id="330" r:id="rId20"/>
    <p:sldId id="305" r:id="rId21"/>
    <p:sldId id="315" r:id="rId22"/>
    <p:sldId id="318" r:id="rId23"/>
    <p:sldId id="319" r:id="rId24"/>
    <p:sldId id="320" r:id="rId25"/>
    <p:sldId id="321" r:id="rId26"/>
    <p:sldId id="293" r:id="rId27"/>
    <p:sldId id="306" r:id="rId28"/>
    <p:sldId id="308" r:id="rId29"/>
    <p:sldId id="285" r:id="rId30"/>
    <p:sldId id="325" r:id="rId31"/>
    <p:sldId id="326" r:id="rId32"/>
    <p:sldId id="327" r:id="rId33"/>
    <p:sldId id="328" r:id="rId34"/>
    <p:sldId id="324" r:id="rId35"/>
    <p:sldId id="323" r:id="rId36"/>
    <p:sldId id="310" r:id="rId37"/>
    <p:sldId id="307" r:id="rId38"/>
    <p:sldId id="329" r:id="rId39"/>
    <p:sldId id="309" r:id="rId40"/>
    <p:sldId id="292" r:id="rId41"/>
  </p:sldIdLst>
  <p:sldSz cx="12192000" cy="6858000"/>
  <p:notesSz cx="6858000" cy="9144000"/>
  <p:defaultTextStyle>
    <a:defPPr>
      <a:defRPr lang="v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presProps" Target="pres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20" Type="http://schemas.openxmlformats.org/officeDocument/2006/relationships/slide" Target="slides/slide14.xml"/><Relationship Id="rId41" Type="http://schemas.openxmlformats.org/officeDocument/2006/relationships/slide" Target="slides/slide3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31A2-43DA-A907-B216AA4F77A8}"/>
              </c:ext>
            </c:extLst>
          </c:dPt>
          <c:dPt>
            <c:idx val="1"/>
            <c:bubble3D val="0"/>
            <c:spPr>
              <a:solidFill>
                <a:schemeClr val="bg2">
                  <a:lumMod val="85000"/>
                </a:schemeClr>
              </a:solidFill>
            </c:spPr>
            <c:extLst>
              <c:ext xmlns:c16="http://schemas.microsoft.com/office/drawing/2014/chart" uri="{C3380CC4-5D6E-409C-BE32-E72D297353CC}">
                <c16:uniqueId val="{00000003-31A2-43DA-A907-B216AA4F77A8}"/>
              </c:ext>
            </c:extLst>
          </c:dPt>
          <c:cat>
            <c:strRef>
              <c:f>Sheet1!$A$2:$A$3</c:f>
              <c:strCache>
                <c:ptCount val="2"/>
                <c:pt idx="0">
                  <c:v>PwC </c:v>
                </c:pt>
                <c:pt idx="1">
                  <c:v>Other</c:v>
                </c:pt>
              </c:strCache>
            </c:strRef>
          </c:cat>
          <c:val>
            <c:numRef>
              <c:f>Sheet1!$B$2:$B$3</c:f>
              <c:numCache>
                <c:formatCode>General</c:formatCode>
                <c:ptCount val="2"/>
                <c:pt idx="0">
                  <c:v>41</c:v>
                </c:pt>
                <c:pt idx="1">
                  <c:v>59</c:v>
                </c:pt>
              </c:numCache>
            </c:numRef>
          </c:val>
          <c:extLst>
            <c:ext xmlns:c16="http://schemas.microsoft.com/office/drawing/2014/chart" uri="{C3380CC4-5D6E-409C-BE32-E72D297353CC}">
              <c16:uniqueId val="{00000004-31A2-43DA-A907-B216AA4F77A8}"/>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dPt>
            <c:idx val="0"/>
            <c:bubble3D val="0"/>
            <c:spPr>
              <a:solidFill>
                <a:schemeClr val="accent5"/>
              </a:solidFill>
            </c:spPr>
            <c:extLst>
              <c:ext xmlns:c16="http://schemas.microsoft.com/office/drawing/2014/chart" uri="{C3380CC4-5D6E-409C-BE32-E72D297353CC}">
                <c16:uniqueId val="{00000001-AD1B-48EF-BC4C-090F80245AEB}"/>
              </c:ext>
            </c:extLst>
          </c:dPt>
          <c:dPt>
            <c:idx val="1"/>
            <c:bubble3D val="0"/>
            <c:spPr>
              <a:solidFill>
                <a:schemeClr val="bg2">
                  <a:lumMod val="85000"/>
                </a:schemeClr>
              </a:solidFill>
            </c:spPr>
            <c:extLst>
              <c:ext xmlns:c16="http://schemas.microsoft.com/office/drawing/2014/chart" uri="{C3380CC4-5D6E-409C-BE32-E72D297353CC}">
                <c16:uniqueId val="{00000003-AD1B-48EF-BC4C-090F80245AEB}"/>
              </c:ext>
            </c:extLst>
          </c:dPt>
          <c:cat>
            <c:strRef>
              <c:f>Sheet1!$A$2:$A$4</c:f>
              <c:strCache>
                <c:ptCount val="2"/>
                <c:pt idx="0">
                  <c:v>PwC </c:v>
                </c:pt>
                <c:pt idx="1">
                  <c:v>Other</c:v>
                </c:pt>
              </c:strCache>
            </c:strRef>
          </c:cat>
          <c:val>
            <c:numRef>
              <c:f>Sheet1!$B$2:$B$4</c:f>
              <c:numCache>
                <c:formatCode>General</c:formatCode>
                <c:ptCount val="3"/>
                <c:pt idx="0">
                  <c:v>38</c:v>
                </c:pt>
                <c:pt idx="1">
                  <c:v>62</c:v>
                </c:pt>
              </c:numCache>
            </c:numRef>
          </c:val>
          <c:extLst>
            <c:ext xmlns:c16="http://schemas.microsoft.com/office/drawing/2014/chart" uri="{C3380CC4-5D6E-409C-BE32-E72D297353CC}">
              <c16:uniqueId val="{00000004-AD1B-48EF-BC4C-090F80245AEB}"/>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C586A-3CA7-A6B6-6B3B-4583D57BE5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A51776E-AB3C-97F0-AA67-BD2E18056A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57923A-7CEC-4869-8AF4-836E8C807E7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8E91799-8705-EA78-77FB-A8D1418A02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750114-BB6A-8616-2731-F1950849203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3096540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253F8-D7EF-0AA8-3598-5AC952F1DC9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31DE3F-5386-056B-1DEC-19911D2C22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205957-DD56-E507-21A2-8C0A5BE9F660}"/>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98EB9A55-8E66-EC08-7034-455A1E5E90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AF6D1F-72C9-BA38-AAB4-6FAC937E22B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770587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42EB5-995E-9071-E3A1-95E9D7E50C1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ACF681-C1B8-C11A-F353-03F536F2449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95EFDC-3504-A413-429F-299170D34B2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369A7B8-12DD-1BF3-FD41-6B30619495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061D4-168A-8F5C-1AF2-EEEE97F41137}"/>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677141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34875-A6FD-8948-4493-B9CE9F5BBE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319F30-A0D3-1FEA-6295-76618F64BC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92E2052-690E-6A4A-BF02-E46FD40059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FEBC34-12BA-F9D2-9978-AA8576AA8E1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7896469-2D3A-F487-7765-67182F6A047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29E2A04-E436-414E-4B0C-2404C44E969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5272353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D2111-8CAE-1681-AEAC-2079D2AEC84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EEED81-28F4-4AD3-11E7-6FFF955226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93B50D-C434-C047-6A82-F515AB35F1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D91BF45-750B-EE49-DA72-E92AF974D3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79E4D8-3EBB-E193-27A5-094D18445F9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71CCED-E4D2-1960-BB38-F574A862185F}"/>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8" name="Footer Placeholder 7">
            <a:extLst>
              <a:ext uri="{FF2B5EF4-FFF2-40B4-BE49-F238E27FC236}">
                <a16:creationId xmlns:a16="http://schemas.microsoft.com/office/drawing/2014/main" id="{39E36CFE-AD2A-D7D2-B7AC-0E6731A1D4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559C0B5-F8AA-4571-AFA6-A6728C20434F}"/>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810648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E519E-BDB0-6C86-F8A0-76A5F77C274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0638157-D72D-588F-3ADF-121F60C6DC9A}"/>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4" name="Footer Placeholder 3">
            <a:extLst>
              <a:ext uri="{FF2B5EF4-FFF2-40B4-BE49-F238E27FC236}">
                <a16:creationId xmlns:a16="http://schemas.microsoft.com/office/drawing/2014/main" id="{57717323-0A37-5519-2211-CB5A46A701B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E187EF-3568-6D06-B0CC-CC03B437E3F6}"/>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047579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DA75DE-3AA6-3D68-4B0D-E41DC289D11E}"/>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3" name="Footer Placeholder 2">
            <a:extLst>
              <a:ext uri="{FF2B5EF4-FFF2-40B4-BE49-F238E27FC236}">
                <a16:creationId xmlns:a16="http://schemas.microsoft.com/office/drawing/2014/main" id="{9AC2F1D1-1AE5-9EFB-5C41-D0BA282D35B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D39EC7-3610-4119-B990-AAC57BFAB70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520235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1A1C0-DF73-59F9-7F79-1E20888F5B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80BE31-A6CE-0A68-9049-46835F6903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CEBAC79-BA96-6289-CE87-A607DC7FE7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EEFF55-5B90-350B-AAD2-357346686E34}"/>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B2545FB3-ADD8-2ECF-805C-BE68FADBACD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833929-8CD9-1DA0-4C06-B6934F51B118}"/>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3685784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E5A5F-7783-499E-9377-3210199834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CA243A-C284-88CE-16D1-09F73127C4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E3E7FA-2738-CC66-3A33-AF2665F889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D52B17-F93D-D397-FB9D-F548BD362AB1}"/>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6" name="Footer Placeholder 5">
            <a:extLst>
              <a:ext uri="{FF2B5EF4-FFF2-40B4-BE49-F238E27FC236}">
                <a16:creationId xmlns:a16="http://schemas.microsoft.com/office/drawing/2014/main" id="{8A648A4A-D02F-90AA-6306-2A3C8C61D5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1AF598-401C-397D-5CF5-3A9D5CA82750}"/>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7723812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4A2BB-D4CC-5B9B-2348-E67CC05EB3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7E9190-84A6-F9EA-2390-7756FA27F3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E116-5473-7F3F-8433-5244C90E7BD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2FC5FA76-460F-9D21-A59E-4B4E1DD5E1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620A51C-B070-BA37-CF7D-21A317D5AB3E}"/>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283250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3743B3-1526-7C42-5D1E-F800423F8A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823CF1-92A9-379B-2137-1E6179E6A4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BC939-1232-F1BE-40EE-926F7F3221E8}"/>
              </a:ext>
            </a:extLst>
          </p:cNvPr>
          <p:cNvSpPr>
            <a:spLocks noGrp="1"/>
          </p:cNvSpPr>
          <p:nvPr>
            <p:ph type="dt" sz="half" idx="10"/>
          </p:nvPr>
        </p:nvSpPr>
        <p:spPr/>
        <p:txBody>
          <a:body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49314AEF-05BD-1B4A-FFF2-7F78AB0012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DB8F82-AEF6-1E0B-765F-D74DBC301561}"/>
              </a:ext>
            </a:extLst>
          </p:cNvPr>
          <p:cNvSpPr>
            <a:spLocks noGrp="1"/>
          </p:cNvSpPr>
          <p:nvPr>
            <p:ph type="sldNum" sz="quarter" idx="12"/>
          </p:nvPr>
        </p:nvSpPr>
        <p:spPr/>
        <p:txBody>
          <a:bodyPr/>
          <a:lstStyle/>
          <a:p>
            <a:fld id="{22103FC1-3A4E-448F-B845-A3E46F94BBE5}" type="slidenum">
              <a:rPr lang="en-US" smtClean="0"/>
              <a:t>‹#›</a:t>
            </a:fld>
            <a:endParaRPr lang="en-US"/>
          </a:p>
        </p:txBody>
      </p:sp>
    </p:spTree>
    <p:extLst>
      <p:ext uri="{BB962C8B-B14F-4D97-AF65-F5344CB8AC3E}">
        <p14:creationId xmlns:p14="http://schemas.microsoft.com/office/powerpoint/2010/main" val="18068744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4574F-8BA0-4DD9-8A0D-88DF8E86708B}"/>
              </a:ext>
            </a:extLst>
          </p:cNvPr>
          <p:cNvSpPr>
            <a:spLocks noGrp="1"/>
          </p:cNvSpPr>
          <p:nvPr>
            <p:ph type="ctrTitle"/>
          </p:nvPr>
        </p:nvSpPr>
        <p:spPr>
          <a:xfrm>
            <a:off x="5193437" y="1600199"/>
            <a:ext cx="6998563" cy="2732103"/>
          </a:xfrm>
          <a:prstGeom prst="rect">
            <a:avLst/>
          </a:prstGeom>
        </p:spPr>
        <p:txBody>
          <a:bodyPr anchor="b"/>
          <a:lstStyle>
            <a:lvl1pPr algn="l">
              <a:defRPr sz="6000">
                <a:latin typeface="Cambria" panose="02040503050406030204" pitchFamily="18" charset="0"/>
                <a:ea typeface="Cambria" panose="02040503050406030204" pitchFamily="18" charset="0"/>
              </a:defRPr>
            </a:lvl1pPr>
          </a:lstStyle>
          <a:p>
            <a:r>
              <a:rPr lang="en-US" dirty="0"/>
              <a:t>Click to edit Master title style</a:t>
            </a:r>
          </a:p>
        </p:txBody>
      </p:sp>
      <p:sp>
        <p:nvSpPr>
          <p:cNvPr id="3" name="Subtitle 2">
            <a:extLst>
              <a:ext uri="{FF2B5EF4-FFF2-40B4-BE49-F238E27FC236}">
                <a16:creationId xmlns:a16="http://schemas.microsoft.com/office/drawing/2014/main" id="{E082D7F5-BC12-43B2-9B38-EB14BFE04EE1}"/>
              </a:ext>
            </a:extLst>
          </p:cNvPr>
          <p:cNvSpPr>
            <a:spLocks noGrp="1"/>
          </p:cNvSpPr>
          <p:nvPr>
            <p:ph type="subTitle" idx="1"/>
          </p:nvPr>
        </p:nvSpPr>
        <p:spPr>
          <a:xfrm>
            <a:off x="5193437" y="4422159"/>
            <a:ext cx="6998564" cy="365125"/>
          </a:xfrm>
          <a:prstGeom prst="rect">
            <a:avLst/>
          </a:prstGeom>
        </p:spPr>
        <p:txBody>
          <a:bodyPr/>
          <a:lstStyle>
            <a:lvl1pPr marL="0" indent="0" algn="l">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Tree>
    <p:extLst>
      <p:ext uri="{BB962C8B-B14F-4D97-AF65-F5344CB8AC3E}">
        <p14:creationId xmlns:p14="http://schemas.microsoft.com/office/powerpoint/2010/main" val="34914430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E181B04-7A0A-4201-BF8A-A7E924267571}"/>
              </a:ext>
            </a:extLst>
          </p:cNvPr>
          <p:cNvSpPr txBox="1">
            <a:spLocks/>
          </p:cNvSpPr>
          <p:nvPr userDrawn="1"/>
        </p:nvSpPr>
        <p:spPr>
          <a:xfrm>
            <a:off x="3311370" y="18257"/>
            <a:ext cx="8880629" cy="789612"/>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3000" b="1" kern="1200">
                <a:solidFill>
                  <a:schemeClr val="tx1"/>
                </a:solidFill>
                <a:latin typeface="+mj-lt"/>
                <a:ea typeface="+mj-ea"/>
                <a:cs typeface="+mj-cs"/>
              </a:defRPr>
            </a:lvl1pPr>
          </a:lstStyle>
          <a:p>
            <a:endParaRPr lang="en-US" dirty="0"/>
          </a:p>
        </p:txBody>
      </p:sp>
      <p:sp>
        <p:nvSpPr>
          <p:cNvPr id="6" name="Title Placeholder 1">
            <a:extLst>
              <a:ext uri="{FF2B5EF4-FFF2-40B4-BE49-F238E27FC236}">
                <a16:creationId xmlns:a16="http://schemas.microsoft.com/office/drawing/2014/main" id="{05D78967-21EF-4AA2-8BE4-2FCA6F8A7653}"/>
              </a:ext>
            </a:extLst>
          </p:cNvPr>
          <p:cNvSpPr>
            <a:spLocks noGrp="1"/>
          </p:cNvSpPr>
          <p:nvPr>
            <p:ph type="title"/>
          </p:nvPr>
        </p:nvSpPr>
        <p:spPr>
          <a:xfrm>
            <a:off x="628176" y="1"/>
            <a:ext cx="8187350" cy="571499"/>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12591630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1F51A7-6B22-4874-8FC5-ED388E5D187B}"/>
              </a:ext>
            </a:extLst>
          </p:cNvPr>
          <p:cNvSpPr>
            <a:spLocks noGrp="1"/>
          </p:cNvSpPr>
          <p:nvPr>
            <p:ph idx="1"/>
          </p:nvPr>
        </p:nvSpPr>
        <p:spPr>
          <a:xfrm>
            <a:off x="628176" y="1597981"/>
            <a:ext cx="10966059" cy="4578982"/>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6E3DAE31-D39D-4D91-8F50-8D056054A62F}"/>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lvl1pPr>
              <a:defRPr>
                <a:latin typeface="Cambria" panose="02040503050406030204" pitchFamily="18" charset="0"/>
                <a:ea typeface="Cambria" panose="02040503050406030204" pitchFamily="18" charset="0"/>
              </a:defRPr>
            </a:lvl1pPr>
          </a:lstStyle>
          <a:p>
            <a:endParaRPr lang="en-US" dirty="0"/>
          </a:p>
        </p:txBody>
      </p:sp>
    </p:spTree>
    <p:extLst>
      <p:ext uri="{BB962C8B-B14F-4D97-AF65-F5344CB8AC3E}">
        <p14:creationId xmlns:p14="http://schemas.microsoft.com/office/powerpoint/2010/main" val="41656837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AA6E213-C056-49F2-8A77-C3C4C25F42D3}"/>
              </a:ext>
            </a:extLst>
          </p:cNvPr>
          <p:cNvSpPr>
            <a:spLocks noGrp="1"/>
          </p:cNvSpPr>
          <p:nvPr>
            <p:ph type="body" idx="1"/>
          </p:nvPr>
        </p:nvSpPr>
        <p:spPr>
          <a:xfrm>
            <a:off x="628176" y="1597981"/>
            <a:ext cx="10941322" cy="4580877"/>
          </a:xfrm>
        </p:spPr>
        <p:txBody>
          <a:bodyPr/>
          <a:lstStyle>
            <a:lvl1pPr marL="0" indent="0">
              <a:buNone/>
              <a:defRPr sz="2400">
                <a:solidFill>
                  <a:srgbClr val="0070C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Title Placeholder 1">
            <a:extLst>
              <a:ext uri="{FF2B5EF4-FFF2-40B4-BE49-F238E27FC236}">
                <a16:creationId xmlns:a16="http://schemas.microsoft.com/office/drawing/2014/main" id="{4381502F-F4F5-47E5-A036-3E8E88EBED0C}"/>
              </a:ext>
            </a:extLst>
          </p:cNvPr>
          <p:cNvSpPr>
            <a:spLocks noGrp="1"/>
          </p:cNvSpPr>
          <p:nvPr>
            <p:ph type="title"/>
          </p:nvPr>
        </p:nvSpPr>
        <p:spPr>
          <a:xfrm>
            <a:off x="628176" y="1"/>
            <a:ext cx="8231739"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20000"/>
                    <a:lumOff val="80000"/>
                  </a:schemeClr>
                </a:solidFill>
              </a:rPr>
              <a:t>For CMC University Student only</a:t>
            </a:r>
            <a:endParaRPr lang="en-AU" sz="2600" dirty="0">
              <a:solidFill>
                <a:schemeClr val="tx2">
                  <a:lumMod val="20000"/>
                  <a:lumOff val="80000"/>
                </a:schemeClr>
              </a:solidFill>
            </a:endParaRPr>
          </a:p>
        </p:txBody>
      </p:sp>
    </p:spTree>
    <p:extLst>
      <p:ext uri="{BB962C8B-B14F-4D97-AF65-F5344CB8AC3E}">
        <p14:creationId xmlns:p14="http://schemas.microsoft.com/office/powerpoint/2010/main" val="34111034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5F5726-7887-4ED4-A172-AF9307881508}"/>
              </a:ext>
            </a:extLst>
          </p:cNvPr>
          <p:cNvSpPr>
            <a:spLocks noGrp="1"/>
          </p:cNvSpPr>
          <p:nvPr>
            <p:ph sz="half" idx="1"/>
          </p:nvPr>
        </p:nvSpPr>
        <p:spPr>
          <a:xfrm>
            <a:off x="612560"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CA0F843-3E9A-4C49-A1AC-A3FA71EF7350}"/>
              </a:ext>
            </a:extLst>
          </p:cNvPr>
          <p:cNvSpPr>
            <a:spLocks noGrp="1"/>
          </p:cNvSpPr>
          <p:nvPr>
            <p:ph sz="half" idx="2"/>
          </p:nvPr>
        </p:nvSpPr>
        <p:spPr>
          <a:xfrm>
            <a:off x="6096001" y="1606858"/>
            <a:ext cx="5483440" cy="457010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A06B0EA4-C8A7-4132-BFEF-0DDFF81DF1AE}"/>
              </a:ext>
            </a:extLst>
          </p:cNvPr>
          <p:cNvSpPr>
            <a:spLocks noGrp="1"/>
          </p:cNvSpPr>
          <p:nvPr>
            <p:ph type="title"/>
          </p:nvPr>
        </p:nvSpPr>
        <p:spPr>
          <a:xfrm>
            <a:off x="628176" y="1"/>
            <a:ext cx="8222861" cy="561974"/>
          </a:xfrm>
          <a:prstGeom prst="rect">
            <a:avLst/>
          </a:prstGeom>
        </p:spPr>
        <p:txBody>
          <a:bodyPr vert="horz" lIns="91440" tIns="45720" rIns="91440" bIns="45720" rtlCol="0" anchor="ctr">
            <a:normAutofit/>
          </a:bodyPr>
          <a:lstStyle/>
          <a:p>
            <a:endParaRPr lang="en-US" dirty="0"/>
          </a:p>
        </p:txBody>
      </p:sp>
      <p:sp>
        <p:nvSpPr>
          <p:cNvPr id="5" name="TextBox 4"/>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6" name="TextBox 5"/>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15673224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241CF06-6B06-4E7F-82EA-7C5047EA60A1}"/>
              </a:ext>
            </a:extLst>
          </p:cNvPr>
          <p:cNvSpPr>
            <a:spLocks noGrp="1"/>
          </p:cNvSpPr>
          <p:nvPr>
            <p:ph type="body" idx="1"/>
          </p:nvPr>
        </p:nvSpPr>
        <p:spPr>
          <a:xfrm>
            <a:off x="628175"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FD9E841-81B0-403F-B4A9-7ACB7AAF8E75}"/>
              </a:ext>
            </a:extLst>
          </p:cNvPr>
          <p:cNvSpPr>
            <a:spLocks noGrp="1"/>
          </p:cNvSpPr>
          <p:nvPr>
            <p:ph sz="half" idx="2"/>
          </p:nvPr>
        </p:nvSpPr>
        <p:spPr>
          <a:xfrm>
            <a:off x="628175" y="2512381"/>
            <a:ext cx="5462626"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10BB9AEE-2F75-43DB-921D-43380FB8C592}"/>
              </a:ext>
            </a:extLst>
          </p:cNvPr>
          <p:cNvSpPr>
            <a:spLocks noGrp="1"/>
          </p:cNvSpPr>
          <p:nvPr>
            <p:ph type="body" sz="quarter" idx="3"/>
          </p:nvPr>
        </p:nvSpPr>
        <p:spPr>
          <a:xfrm>
            <a:off x="6090802" y="1603275"/>
            <a:ext cx="546782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F1E4C2-CBB6-4430-BE56-3BF9E9AA8B7D}"/>
              </a:ext>
            </a:extLst>
          </p:cNvPr>
          <p:cNvSpPr>
            <a:spLocks noGrp="1"/>
          </p:cNvSpPr>
          <p:nvPr>
            <p:ph sz="quarter" idx="4"/>
          </p:nvPr>
        </p:nvSpPr>
        <p:spPr>
          <a:xfrm>
            <a:off x="6090801" y="2512381"/>
            <a:ext cx="5467825" cy="367728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Placeholder 1">
            <a:extLst>
              <a:ext uri="{FF2B5EF4-FFF2-40B4-BE49-F238E27FC236}">
                <a16:creationId xmlns:a16="http://schemas.microsoft.com/office/drawing/2014/main" id="{A49F13EA-C024-48AE-90B5-68F588A6D2CF}"/>
              </a:ext>
            </a:extLst>
          </p:cNvPr>
          <p:cNvSpPr>
            <a:spLocks noGrp="1"/>
          </p:cNvSpPr>
          <p:nvPr>
            <p:ph type="title"/>
          </p:nvPr>
        </p:nvSpPr>
        <p:spPr>
          <a:xfrm>
            <a:off x="628176" y="1"/>
            <a:ext cx="8231739" cy="55244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01278481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747FC4C-9430-4B68-AD2B-005799395D39}"/>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
        <p:nvSpPr>
          <p:cNvPr id="4" name="TextBox 3"/>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5" name="TextBox 4"/>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224550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B3D6C-BEF2-4E06-A9B0-9A309DB3444E}"/>
              </a:ext>
            </a:extLst>
          </p:cNvPr>
          <p:cNvSpPr>
            <a:spLocks noGrp="1"/>
          </p:cNvSpPr>
          <p:nvPr>
            <p:ph idx="1"/>
          </p:nvPr>
        </p:nvSpPr>
        <p:spPr>
          <a:xfrm>
            <a:off x="5051394" y="1606858"/>
            <a:ext cx="6507234" cy="456312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48ECDB52-24E0-4CBA-AE63-33BD3EF657F8}"/>
              </a:ext>
            </a:extLst>
          </p:cNvPr>
          <p:cNvSpPr>
            <a:spLocks noGrp="1"/>
          </p:cNvSpPr>
          <p:nvPr>
            <p:ph type="body" sz="half" idx="2"/>
          </p:nvPr>
        </p:nvSpPr>
        <p:spPr>
          <a:xfrm>
            <a:off x="628176" y="1606859"/>
            <a:ext cx="4165766" cy="456312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38BBB283-F300-4A19-B448-60B2206B6F55}"/>
              </a:ext>
            </a:extLst>
          </p:cNvPr>
          <p:cNvSpPr>
            <a:spLocks noGrp="1"/>
          </p:cNvSpPr>
          <p:nvPr>
            <p:ph type="title"/>
          </p:nvPr>
        </p:nvSpPr>
        <p:spPr>
          <a:xfrm>
            <a:off x="628176" y="1"/>
            <a:ext cx="8205106" cy="54292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3174152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6D3D43A-8744-40D7-AFFD-6F0B4A4ECB2C}"/>
              </a:ext>
            </a:extLst>
          </p:cNvPr>
          <p:cNvSpPr>
            <a:spLocks noGrp="1"/>
          </p:cNvSpPr>
          <p:nvPr>
            <p:ph type="pic" idx="1"/>
          </p:nvPr>
        </p:nvSpPr>
        <p:spPr>
          <a:xfrm>
            <a:off x="5183188" y="1606858"/>
            <a:ext cx="6375440" cy="4554244"/>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ED85C3DD-CC1C-4A73-BCDA-09DF7D09C2C1}"/>
              </a:ext>
            </a:extLst>
          </p:cNvPr>
          <p:cNvSpPr>
            <a:spLocks noGrp="1"/>
          </p:cNvSpPr>
          <p:nvPr>
            <p:ph type="body" sz="half" idx="2"/>
          </p:nvPr>
        </p:nvSpPr>
        <p:spPr>
          <a:xfrm>
            <a:off x="628175" y="1606859"/>
            <a:ext cx="4245665" cy="4554244"/>
          </a:xfrm>
        </p:spPr>
        <p:txBody>
          <a:bodyPr>
            <a:normAutofit/>
          </a:bodyPr>
          <a:lstStyle>
            <a:lvl1pPr marL="0" indent="0">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Title Placeholder 1">
            <a:extLst>
              <a:ext uri="{FF2B5EF4-FFF2-40B4-BE49-F238E27FC236}">
                <a16:creationId xmlns:a16="http://schemas.microsoft.com/office/drawing/2014/main" id="{64732130-B38F-4E21-8A3C-589F26725E53}"/>
              </a:ext>
            </a:extLst>
          </p:cNvPr>
          <p:cNvSpPr>
            <a:spLocks noGrp="1"/>
          </p:cNvSpPr>
          <p:nvPr>
            <p:ph type="title"/>
          </p:nvPr>
        </p:nvSpPr>
        <p:spPr>
          <a:xfrm>
            <a:off x="628176" y="1"/>
            <a:ext cx="8222861" cy="581024"/>
          </a:xfrm>
          <a:prstGeom prst="rect">
            <a:avLst/>
          </a:prstGeom>
        </p:spPr>
        <p:txBody>
          <a:bodyPr vert="horz" lIns="91440" tIns="45720" rIns="91440" bIns="45720" rtlCol="0" anchor="ctr">
            <a:normAutofit/>
          </a:bodyPr>
          <a:lstStyle/>
          <a:p>
            <a:endParaRPr lang="en-US" dirty="0"/>
          </a:p>
        </p:txBody>
      </p:sp>
      <p:sp>
        <p:nvSpPr>
          <p:cNvPr id="6" name="TextBox 5"/>
          <p:cNvSpPr txBox="1"/>
          <p:nvPr userDrawn="1"/>
        </p:nvSpPr>
        <p:spPr>
          <a:xfrm rot="19043258">
            <a:off x="470650" y="3521318"/>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
        <p:nvSpPr>
          <p:cNvPr id="7" name="TextBox 6"/>
          <p:cNvSpPr txBox="1"/>
          <p:nvPr userDrawn="1"/>
        </p:nvSpPr>
        <p:spPr>
          <a:xfrm rot="19043258">
            <a:off x="5795684" y="3521317"/>
            <a:ext cx="5085518" cy="492443"/>
          </a:xfrm>
          <a:prstGeom prst="rect">
            <a:avLst/>
          </a:prstGeom>
          <a:noFill/>
        </p:spPr>
        <p:txBody>
          <a:bodyPr wrap="square" rtlCol="0">
            <a:spAutoFit/>
          </a:bodyPr>
          <a:lstStyle/>
          <a:p>
            <a:r>
              <a:rPr lang="en-US" sz="2600" dirty="0">
                <a:solidFill>
                  <a:schemeClr val="tx2">
                    <a:lumMod val="40000"/>
                    <a:lumOff val="60000"/>
                  </a:schemeClr>
                </a:solidFill>
              </a:rPr>
              <a:t>For CMC University Student only</a:t>
            </a:r>
            <a:endParaRPr lang="en-AU" sz="2600" dirty="0">
              <a:solidFill>
                <a:schemeClr val="tx2">
                  <a:lumMod val="40000"/>
                  <a:lumOff val="60000"/>
                </a:schemeClr>
              </a:solidFill>
            </a:endParaRPr>
          </a:p>
        </p:txBody>
      </p:sp>
    </p:spTree>
    <p:extLst>
      <p:ext uri="{BB962C8B-B14F-4D97-AF65-F5344CB8AC3E}">
        <p14:creationId xmlns:p14="http://schemas.microsoft.com/office/powerpoint/2010/main" val="34722815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38B93FDE-0843-445A-8B34-9092D666FC3E}"/>
              </a:ext>
            </a:extLst>
          </p:cNvPr>
          <p:cNvSpPr>
            <a:spLocks noGrp="1"/>
          </p:cNvSpPr>
          <p:nvPr>
            <p:ph type="body" orient="vert" idx="1"/>
          </p:nvPr>
        </p:nvSpPr>
        <p:spPr>
          <a:xfrm>
            <a:off x="628176" y="1597981"/>
            <a:ext cx="10941322" cy="457898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Placeholder 1">
            <a:extLst>
              <a:ext uri="{FF2B5EF4-FFF2-40B4-BE49-F238E27FC236}">
                <a16:creationId xmlns:a16="http://schemas.microsoft.com/office/drawing/2014/main" id="{3086777C-386E-4DFE-9BE7-63682A461485}"/>
              </a:ext>
            </a:extLst>
          </p:cNvPr>
          <p:cNvSpPr>
            <a:spLocks noGrp="1"/>
          </p:cNvSpPr>
          <p:nvPr>
            <p:ph type="title"/>
          </p:nvPr>
        </p:nvSpPr>
        <p:spPr>
          <a:xfrm>
            <a:off x="628176" y="1"/>
            <a:ext cx="8213983" cy="571499"/>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86651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8781CC48-27A5-4590-A158-B24464D8BE2C}"/>
              </a:ext>
            </a:extLst>
          </p:cNvPr>
          <p:cNvSpPr>
            <a:spLocks noGrp="1"/>
          </p:cNvSpPr>
          <p:nvPr>
            <p:ph type="body" orient="vert" idx="1"/>
          </p:nvPr>
        </p:nvSpPr>
        <p:spPr>
          <a:xfrm>
            <a:off x="628175" y="1589103"/>
            <a:ext cx="10941322" cy="458786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Placeholder 1">
            <a:extLst>
              <a:ext uri="{FF2B5EF4-FFF2-40B4-BE49-F238E27FC236}">
                <a16:creationId xmlns:a16="http://schemas.microsoft.com/office/drawing/2014/main" id="{AABDBED6-01BA-4F2B-9569-ED8032753950}"/>
              </a:ext>
            </a:extLst>
          </p:cNvPr>
          <p:cNvSpPr>
            <a:spLocks noGrp="1"/>
          </p:cNvSpPr>
          <p:nvPr>
            <p:ph type="title"/>
          </p:nvPr>
        </p:nvSpPr>
        <p:spPr>
          <a:xfrm>
            <a:off x="628176" y="1"/>
            <a:ext cx="8205106" cy="561974"/>
          </a:xfrm>
          <a:prstGeom prst="rect">
            <a:avLst/>
          </a:prstGeom>
        </p:spPr>
        <p:txBody>
          <a:bodyPr vert="horz" lIns="91440" tIns="45720" rIns="91440" bIns="45720" rtlCol="0" anchor="ctr">
            <a:normAutofit/>
          </a:bodyPr>
          <a:lstStyle/>
          <a:p>
            <a:endParaRPr lang="en-US" dirty="0"/>
          </a:p>
        </p:txBody>
      </p:sp>
    </p:spTree>
    <p:extLst>
      <p:ext uri="{BB962C8B-B14F-4D97-AF65-F5344CB8AC3E}">
        <p14:creationId xmlns:p14="http://schemas.microsoft.com/office/powerpoint/2010/main" val="1329598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12.xml"/><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4.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image" Target="../media/image3.jp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theme" Target="../theme/theme3.xml"/><Relationship Id="rId5" Type="http://schemas.openxmlformats.org/officeDocument/2006/relationships/slideLayout" Target="../slideLayouts/slideLayout17.xml"/><Relationship Id="rId15" Type="http://schemas.openxmlformats.org/officeDocument/2006/relationships/image" Target="../media/image6.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796FF-222D-1E2E-7D23-7C2CDFE14F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41ED22-2335-D77A-68F2-5BD129B137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24A63B-33FC-3D66-67A2-4F63979F6D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F8F127-7721-4FB8-A2C6-5E97C2B5E019}" type="datetimeFigureOut">
              <a:rPr lang="en-US" smtClean="0"/>
              <a:t>9/21/2026</a:t>
            </a:fld>
            <a:endParaRPr lang="en-US"/>
          </a:p>
        </p:txBody>
      </p:sp>
      <p:sp>
        <p:nvSpPr>
          <p:cNvPr id="5" name="Footer Placeholder 4">
            <a:extLst>
              <a:ext uri="{FF2B5EF4-FFF2-40B4-BE49-F238E27FC236}">
                <a16:creationId xmlns:a16="http://schemas.microsoft.com/office/drawing/2014/main" id="{F7709777-C88E-DEB1-2C91-66BDF4E702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DB51AD0-DD74-2C46-CF95-2202E3B9F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103FC1-3A4E-448F-B845-A3E46F94BBE5}" type="slidenum">
              <a:rPr lang="en-US" smtClean="0"/>
              <a:t>‹#›</a:t>
            </a:fld>
            <a:endParaRPr lang="en-US"/>
          </a:p>
        </p:txBody>
      </p:sp>
    </p:spTree>
    <p:extLst>
      <p:ext uri="{BB962C8B-B14F-4D97-AF65-F5344CB8AC3E}">
        <p14:creationId xmlns:p14="http://schemas.microsoft.com/office/powerpoint/2010/main" val="477498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236DA72-9373-413D-90C2-B12F84A4BF3F}"/>
              </a:ext>
            </a:extLst>
          </p:cNvPr>
          <p:cNvPicPr>
            <a:picLocks noChangeAspect="1"/>
          </p:cNvPicPr>
          <p:nvPr userDrawn="1"/>
        </p:nvPicPr>
        <p:blipFill>
          <a:blip r:embed="rId3" cstate="hqprint">
            <a:extLst>
              <a:ext uri="{28A0092B-C50C-407E-A947-70E740481C1C}">
                <a14:useLocalDpi xmlns:a14="http://schemas.microsoft.com/office/drawing/2010/main" val="0"/>
              </a:ext>
            </a:extLst>
          </a:blip>
          <a:srcRect/>
          <a:stretch/>
        </p:blipFill>
        <p:spPr>
          <a:xfrm>
            <a:off x="0" y="0"/>
            <a:ext cx="12192000" cy="6857999"/>
          </a:xfrm>
          <a:prstGeom prst="rect">
            <a:avLst/>
          </a:prstGeom>
        </p:spPr>
      </p:pic>
      <p:sp>
        <p:nvSpPr>
          <p:cNvPr id="13" name="Rectangle 12">
            <a:extLst>
              <a:ext uri="{FF2B5EF4-FFF2-40B4-BE49-F238E27FC236}">
                <a16:creationId xmlns:a16="http://schemas.microsoft.com/office/drawing/2014/main" id="{B700E21E-0BA2-4C89-8691-A6161B41AA11}"/>
              </a:ext>
            </a:extLst>
          </p:cNvPr>
          <p:cNvSpPr/>
          <p:nvPr userDrawn="1"/>
        </p:nvSpPr>
        <p:spPr>
          <a:xfrm>
            <a:off x="5184559" y="1600200"/>
            <a:ext cx="7007441" cy="3657600"/>
          </a:xfrm>
          <a:prstGeom prst="rect">
            <a:avLst/>
          </a:prstGeom>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Logo&#10;&#10;Description automatically generated">
            <a:extLst>
              <a:ext uri="{FF2B5EF4-FFF2-40B4-BE49-F238E27FC236}">
                <a16:creationId xmlns:a16="http://schemas.microsoft.com/office/drawing/2014/main" id="{437EFD07-DCAC-4344-A296-7B657609E7D2}"/>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28178" y="183674"/>
            <a:ext cx="2736460" cy="499085"/>
          </a:xfrm>
          <a:prstGeom prst="rect">
            <a:avLst/>
          </a:prstGeom>
        </p:spPr>
      </p:pic>
    </p:spTree>
    <p:extLst>
      <p:ext uri="{BB962C8B-B14F-4D97-AF65-F5344CB8AC3E}">
        <p14:creationId xmlns:p14="http://schemas.microsoft.com/office/powerpoint/2010/main" val="1165223161"/>
      </p:ext>
    </p:extLst>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EDE25AE-F103-49BC-9B89-0B1E7BCFB6DE}"/>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2192000" cy="572738"/>
          </a:xfrm>
          <a:prstGeom prst="rect">
            <a:avLst/>
          </a:prstGeom>
        </p:spPr>
      </p:pic>
      <p:sp>
        <p:nvSpPr>
          <p:cNvPr id="2" name="Title Placeholder 1">
            <a:extLst>
              <a:ext uri="{FF2B5EF4-FFF2-40B4-BE49-F238E27FC236}">
                <a16:creationId xmlns:a16="http://schemas.microsoft.com/office/drawing/2014/main" id="{2316BAF0-010B-4DE2-BDEA-F2879C620864}"/>
              </a:ext>
            </a:extLst>
          </p:cNvPr>
          <p:cNvSpPr>
            <a:spLocks noGrp="1"/>
          </p:cNvSpPr>
          <p:nvPr>
            <p:ph type="title"/>
          </p:nvPr>
        </p:nvSpPr>
        <p:spPr>
          <a:xfrm>
            <a:off x="628176" y="1"/>
            <a:ext cx="8213983" cy="572737"/>
          </a:xfrm>
          <a:prstGeom prst="rect">
            <a:avLst/>
          </a:prstGeom>
        </p:spPr>
        <p:txBody>
          <a:bodyPr vert="horz" lIns="91440" tIns="45720" rIns="91440" bIns="45720" rtlCol="0" anchor="ctr">
            <a:normAutofit/>
          </a:bodyPr>
          <a:lstStyle/>
          <a:p>
            <a:endParaRPr lang="en-US" dirty="0"/>
          </a:p>
        </p:txBody>
      </p:sp>
      <p:sp>
        <p:nvSpPr>
          <p:cNvPr id="3" name="Text Placeholder 2">
            <a:extLst>
              <a:ext uri="{FF2B5EF4-FFF2-40B4-BE49-F238E27FC236}">
                <a16:creationId xmlns:a16="http://schemas.microsoft.com/office/drawing/2014/main" id="{73FBB290-2494-4607-B867-D433D7531872}"/>
              </a:ext>
            </a:extLst>
          </p:cNvPr>
          <p:cNvSpPr>
            <a:spLocks noGrp="1"/>
          </p:cNvSpPr>
          <p:nvPr>
            <p:ph type="body" idx="1"/>
          </p:nvPr>
        </p:nvSpPr>
        <p:spPr>
          <a:xfrm>
            <a:off x="628176" y="1313895"/>
            <a:ext cx="10941323" cy="486306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Picture 11">
            <a:extLst>
              <a:ext uri="{FF2B5EF4-FFF2-40B4-BE49-F238E27FC236}">
                <a16:creationId xmlns:a16="http://schemas.microsoft.com/office/drawing/2014/main" id="{24CB6BFF-A477-48C9-AA27-0D5A005B4CCB}"/>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6407121"/>
            <a:ext cx="12192000" cy="450879"/>
          </a:xfrm>
          <a:prstGeom prst="rect">
            <a:avLst/>
          </a:prstGeom>
        </p:spPr>
      </p:pic>
      <p:pic>
        <p:nvPicPr>
          <p:cNvPr id="16" name="Picture 15" descr="Logo&#10;&#10;Description automatically generated">
            <a:extLst>
              <a:ext uri="{FF2B5EF4-FFF2-40B4-BE49-F238E27FC236}">
                <a16:creationId xmlns:a16="http://schemas.microsoft.com/office/drawing/2014/main" id="{5381A15E-FFCE-435E-9C14-6C629375BFF6}"/>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9229725" y="73518"/>
            <a:ext cx="2334099" cy="425701"/>
          </a:xfrm>
          <a:prstGeom prst="rect">
            <a:avLst/>
          </a:prstGeom>
        </p:spPr>
      </p:pic>
      <p:pic>
        <p:nvPicPr>
          <p:cNvPr id="17" name="Picture 16" descr="Shape&#10;&#10;Description automatically generated with medium confidence">
            <a:extLst>
              <a:ext uri="{FF2B5EF4-FFF2-40B4-BE49-F238E27FC236}">
                <a16:creationId xmlns:a16="http://schemas.microsoft.com/office/drawing/2014/main" id="{290B9EB1-B956-4D5D-A294-4C2DE8820324}"/>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524479" y="6585209"/>
            <a:ext cx="3743535" cy="321429"/>
          </a:xfrm>
          <a:prstGeom prst="rect">
            <a:avLst/>
          </a:prstGeom>
        </p:spPr>
      </p:pic>
    </p:spTree>
    <p:extLst>
      <p:ext uri="{BB962C8B-B14F-4D97-AF65-F5344CB8AC3E}">
        <p14:creationId xmlns:p14="http://schemas.microsoft.com/office/powerpoint/2010/main" val="2515090941"/>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Lst>
  <p:txStyles>
    <p:titleStyle>
      <a:lvl1pPr algn="l" defTabSz="914400" rtl="0" eaLnBrk="1" latinLnBrk="0" hangingPunct="1">
        <a:lnSpc>
          <a:spcPct val="90000"/>
        </a:lnSpc>
        <a:spcBef>
          <a:spcPct val="0"/>
        </a:spcBef>
        <a:buNone/>
        <a:defRPr sz="30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3.png"/><Relationship Id="rId12" Type="http://schemas.openxmlformats.org/officeDocument/2006/relationships/oleObject" Target="../embeddings/oleObject6.bin"/><Relationship Id="rId2"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oleObject" Target="../embeddings/oleObject3.bin"/><Relationship Id="rId11" Type="http://schemas.openxmlformats.org/officeDocument/2006/relationships/image" Target="../media/image15.png"/><Relationship Id="rId5" Type="http://schemas.openxmlformats.org/officeDocument/2006/relationships/image" Target="../media/image12.png"/><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9.jfi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7.jpg"/><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 Id="rId5" Type="http://schemas.openxmlformats.org/officeDocument/2006/relationships/hyperlink" Target="https://zoetalentsolutions.com/course/information-technology-project-management-course/" TargetMode="Externa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vi" sz="4000" b="0" dirty="0">
                <a:solidFill>
                  <a:schemeClr val="bg1"/>
                </a:solidFill>
                <a:effectLst/>
                <a:latin typeface="Cambria" panose="02040503050406030204" pitchFamily="18" charset="0"/>
                <a:ea typeface="Cambria" panose="02040503050406030204" pitchFamily="18" charset="0"/>
              </a:rPr>
              <a:t>QUẢN LÝ DỰ ÁN </a:t>
            </a:r>
            <a:br>
              <a:rPr lang="en-US" sz="4000" b="0" dirty="0">
                <a:solidFill>
                  <a:schemeClr val="bg1"/>
                </a:solidFill>
                <a:effectLst/>
                <a:latin typeface="Cambria" panose="02040503050406030204" pitchFamily="18" charset="0"/>
                <a:ea typeface="Cambria" panose="02040503050406030204" pitchFamily="18" charset="0"/>
              </a:rPr>
            </a:br>
            <a:r>
              <a:rPr lang="vi" sz="4000" b="0" dirty="0">
                <a:solidFill>
                  <a:schemeClr val="bg1"/>
                </a:solidFill>
                <a:effectLst/>
                <a:latin typeface="Cambria" panose="02040503050406030204" pitchFamily="18" charset="0"/>
                <a:ea typeface="Cambria" panose="02040503050406030204" pitchFamily="18" charset="0"/>
              </a:rPr>
              <a:t>CÔNG NGHỆ</a:t>
            </a:r>
            <a:r>
              <a:rPr lang="en-US" sz="4000" b="0" dirty="0">
                <a:solidFill>
                  <a:schemeClr val="bg1"/>
                </a:solidFill>
                <a:effectLst/>
                <a:latin typeface="Cambria" panose="02040503050406030204" pitchFamily="18" charset="0"/>
                <a:ea typeface="Cambria" panose="02040503050406030204" pitchFamily="18" charset="0"/>
              </a:rPr>
              <a:t> THÔNG TIN </a:t>
            </a:r>
            <a:r>
              <a:rPr lang="vi" sz="4000" b="0" dirty="0">
                <a:solidFill>
                  <a:schemeClr val="bg1"/>
                </a:solidFill>
                <a:effectLst/>
                <a:latin typeface="Cambria" panose="02040503050406030204" pitchFamily="18" charset="0"/>
                <a:ea typeface="Cambria" panose="02040503050406030204" pitchFamily="18" charset="0"/>
              </a:rPr>
              <a:t>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vi" sz="2700" dirty="0">
                <a:solidFill>
                  <a:schemeClr val="accent1">
                    <a:lumMod val="40000"/>
                    <a:lumOff val="60000"/>
                  </a:schemeClr>
                </a:solidFill>
                <a:latin typeface="Cambria" panose="02040503050406030204" pitchFamily="18" charset="0"/>
                <a:ea typeface="Cambria" panose="02040503050406030204" pitchFamily="18" charset="0"/>
              </a:rPr>
              <a:t>Chương I</a:t>
            </a:r>
            <a:r>
              <a:rPr lang="en-US" sz="2700" dirty="0">
                <a:solidFill>
                  <a:schemeClr val="accent1">
                    <a:lumMod val="40000"/>
                    <a:lumOff val="60000"/>
                  </a:schemeClr>
                </a:solidFill>
                <a:latin typeface="Cambria" panose="02040503050406030204" pitchFamily="18" charset="0"/>
                <a:ea typeface="Cambria" panose="02040503050406030204" pitchFamily="18" charset="0"/>
              </a:rPr>
              <a:t>I</a:t>
            </a:r>
            <a:r>
              <a:rPr lang="vi" sz="2700" dirty="0">
                <a:solidFill>
                  <a:schemeClr val="accent1">
                    <a:lumMod val="40000"/>
                    <a:lumOff val="60000"/>
                  </a:schemeClr>
                </a:solidFill>
                <a:latin typeface="Cambria" panose="02040503050406030204" pitchFamily="18" charset="0"/>
                <a:ea typeface="Cambria" panose="02040503050406030204" pitchFamily="18" charset="0"/>
              </a:rPr>
              <a:t>: </a:t>
            </a:r>
            <a:r>
              <a:rPr lang="en-US" sz="2700" dirty="0" err="1">
                <a:solidFill>
                  <a:schemeClr val="accent1">
                    <a:lumMod val="40000"/>
                    <a:lumOff val="60000"/>
                  </a:schemeClr>
                </a:solidFill>
                <a:latin typeface="Cambria" panose="02040503050406030204" pitchFamily="18" charset="0"/>
                <a:ea typeface="Cambria" panose="02040503050406030204" pitchFamily="18" charset="0"/>
              </a:rPr>
              <a:t>Quản</a:t>
            </a:r>
            <a:r>
              <a:rPr lang="en-US" sz="2700" dirty="0">
                <a:solidFill>
                  <a:schemeClr val="accent1">
                    <a:lumMod val="40000"/>
                    <a:lumOff val="60000"/>
                  </a:schemeClr>
                </a:solidFill>
                <a:latin typeface="Cambria" panose="02040503050406030204" pitchFamily="18" charset="0"/>
                <a:ea typeface="Cambria" panose="02040503050406030204" pitchFamily="18" charset="0"/>
              </a:rPr>
              <a:t> </a:t>
            </a:r>
            <a:r>
              <a:rPr lang="en-US" sz="2700" dirty="0" err="1">
                <a:solidFill>
                  <a:schemeClr val="accent1">
                    <a:lumMod val="40000"/>
                    <a:lumOff val="60000"/>
                  </a:schemeClr>
                </a:solidFill>
                <a:latin typeface="Cambria" panose="02040503050406030204" pitchFamily="18" charset="0"/>
                <a:ea typeface="Cambria" panose="02040503050406030204" pitchFamily="18" charset="0"/>
              </a:rPr>
              <a:t>lý</a:t>
            </a:r>
            <a:r>
              <a:rPr lang="en-US" sz="2700" dirty="0">
                <a:solidFill>
                  <a:schemeClr val="accent1">
                    <a:lumMod val="40000"/>
                    <a:lumOff val="60000"/>
                  </a:schemeClr>
                </a:solidFill>
                <a:latin typeface="Cambria" panose="02040503050406030204" pitchFamily="18" charset="0"/>
                <a:ea typeface="Cambria" panose="02040503050406030204" pitchFamily="18" charset="0"/>
              </a:rPr>
              <a:t> </a:t>
            </a:r>
            <a:r>
              <a:rPr lang="en-US" sz="2700" dirty="0" err="1">
                <a:solidFill>
                  <a:schemeClr val="accent1">
                    <a:lumMod val="40000"/>
                    <a:lumOff val="60000"/>
                  </a:schemeClr>
                </a:solidFill>
                <a:latin typeface="Cambria" panose="02040503050406030204" pitchFamily="18" charset="0"/>
                <a:ea typeface="Cambria" panose="02040503050406030204" pitchFamily="18" charset="0"/>
              </a:rPr>
              <a:t>phạm</a:t>
            </a:r>
            <a:r>
              <a:rPr lang="en-US" sz="2700" dirty="0">
                <a:solidFill>
                  <a:schemeClr val="accent1">
                    <a:lumMod val="40000"/>
                    <a:lumOff val="60000"/>
                  </a:schemeClr>
                </a:solidFill>
                <a:latin typeface="Cambria" panose="02040503050406030204" pitchFamily="18" charset="0"/>
                <a:ea typeface="Cambria" panose="02040503050406030204" pitchFamily="18" charset="0"/>
              </a:rPr>
              <a:t> vi</a:t>
            </a:r>
            <a:r>
              <a:rPr lang="vi" sz="2700" dirty="0">
                <a:solidFill>
                  <a:schemeClr val="accent1">
                    <a:lumMod val="40000"/>
                    <a:lumOff val="60000"/>
                  </a:schemeClr>
                </a:solidFill>
                <a:latin typeface="Cambria" panose="02040503050406030204" pitchFamily="18" charset="0"/>
                <a:ea typeface="Cambria" panose="02040503050406030204" pitchFamily="18" charset="0"/>
              </a:rPr>
              <a:t> dự án CNTT </a:t>
            </a:r>
            <a:br>
              <a:rPr lang="en-US" sz="2700" dirty="0">
                <a:solidFill>
                  <a:schemeClr val="bg1"/>
                </a:solidFill>
                <a:latin typeface="Cambria" panose="02040503050406030204" pitchFamily="18" charset="0"/>
                <a:ea typeface="Cambria" panose="02040503050406030204" pitchFamily="18" charset="0"/>
              </a:rPr>
            </a:br>
            <a:r>
              <a:rPr lang="vi" sz="2000" dirty="0">
                <a:solidFill>
                  <a:schemeClr val="accent1">
                    <a:lumMod val="60000"/>
                    <a:lumOff val="40000"/>
                  </a:schemeClr>
                </a:solidFill>
                <a:latin typeface="Cambria" panose="02040503050406030204" pitchFamily="18" charset="0"/>
                <a:ea typeface="Cambria" panose="02040503050406030204" pitchFamily="18" charset="0"/>
              </a:rPr>
              <a:t>Giảng viên:</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6849416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circuit board&#10;&#10;Description automatically generated">
            <a:extLst>
              <a:ext uri="{FF2B5EF4-FFF2-40B4-BE49-F238E27FC236}">
                <a16:creationId xmlns:a16="http://schemas.microsoft.com/office/drawing/2014/main" id="{3515C3DC-5940-B1D2-647C-34C38945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Subtitle 4">
            <a:extLst>
              <a:ext uri="{FF2B5EF4-FFF2-40B4-BE49-F238E27FC236}">
                <a16:creationId xmlns:a16="http://schemas.microsoft.com/office/drawing/2014/main" id="{CC5C7E55-634B-1DE0-9535-DC5071624720}"/>
              </a:ext>
            </a:extLst>
          </p:cNvPr>
          <p:cNvSpPr txBox="1">
            <a:spLocks/>
          </p:cNvSpPr>
          <p:nvPr/>
        </p:nvSpPr>
        <p:spPr>
          <a:xfrm>
            <a:off x="458055" y="975092"/>
            <a:ext cx="10788691" cy="20116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nSpc>
                <a:spcPct val="100000"/>
              </a:lnSpc>
              <a:spcBef>
                <a:spcPts val="0"/>
              </a:spcBef>
              <a:spcAft>
                <a:spcPts val="600"/>
              </a:spcAft>
              <a:buFont typeface="+mj-lt"/>
              <a:buAutoNum type="arabicPeriod"/>
            </a:pPr>
            <a:r>
              <a:rPr lang="vi" sz="1800" b="1" dirty="0">
                <a:solidFill>
                  <a:schemeClr val="bg1"/>
                </a:solidFill>
                <a:latin typeface="Cambria" panose="02040503050406030204" pitchFamily="18" charset="0"/>
                <a:ea typeface="Cambria" panose="02040503050406030204" pitchFamily="18" charset="0"/>
              </a:rPr>
              <a:t>GIỚI THIỆU PHẠM VI DỰ ÁN</a:t>
            </a:r>
          </a:p>
          <a:p>
            <a:pPr marL="514350" indent="-514350">
              <a:lnSpc>
                <a:spcPct val="100000"/>
              </a:lnSpc>
              <a:spcBef>
                <a:spcPts val="0"/>
              </a:spcBef>
              <a:spcAft>
                <a:spcPts val="600"/>
              </a:spcAft>
              <a:buFont typeface="+mj-lt"/>
              <a:buAutoNum type="arabicPeriod"/>
            </a:pPr>
            <a:r>
              <a:rPr lang="vi" sz="1800" b="1" dirty="0">
                <a:solidFill>
                  <a:schemeClr val="bg1"/>
                </a:solidFill>
                <a:latin typeface="Cambria" panose="02040503050406030204" pitchFamily="18" charset="0"/>
                <a:ea typeface="Cambria" panose="02040503050406030204" pitchFamily="18" charset="0"/>
              </a:rPr>
              <a:t>QUY TRÌNH QUẢN LÝ PHẠM VI DỰ ÁN</a:t>
            </a:r>
          </a:p>
          <a:p>
            <a:pPr marL="514350" indent="-514350">
              <a:lnSpc>
                <a:spcPct val="100000"/>
              </a:lnSpc>
              <a:spcBef>
                <a:spcPts val="0"/>
              </a:spcBef>
              <a:spcAft>
                <a:spcPts val="600"/>
              </a:spcAft>
              <a:buFont typeface="+mj-lt"/>
              <a:buAutoNum type="arabicPeriod"/>
            </a:pPr>
            <a:r>
              <a:rPr lang="vi" sz="1800" b="1" dirty="0">
                <a:solidFill>
                  <a:schemeClr val="bg1"/>
                </a:solidFill>
                <a:latin typeface="Cambria" panose="02040503050406030204" pitchFamily="18" charset="0"/>
                <a:ea typeface="Cambria" panose="02040503050406030204" pitchFamily="18" charset="0"/>
              </a:rPr>
              <a:t>CẤU TRÚC PHÂN CHIA CÔNG VIỆC (WBS)</a:t>
            </a:r>
          </a:p>
          <a:p>
            <a:pPr marL="514350" indent="-514350">
              <a:lnSpc>
                <a:spcPct val="100000"/>
              </a:lnSpc>
              <a:spcBef>
                <a:spcPts val="0"/>
              </a:spcBef>
              <a:spcAft>
                <a:spcPts val="600"/>
              </a:spcAft>
              <a:buFont typeface="+mj-lt"/>
              <a:buAutoNum type="arabicPeriod"/>
            </a:pPr>
            <a:r>
              <a:rPr lang="vi" sz="1800" b="1" dirty="0">
                <a:solidFill>
                  <a:schemeClr val="bg1"/>
                </a:solidFill>
                <a:latin typeface="Cambria" panose="02040503050406030204" pitchFamily="18" charset="0"/>
                <a:ea typeface="Cambria" panose="02040503050406030204" pitchFamily="18" charset="0"/>
              </a:rPr>
              <a:t>KIỂM SOÁT VÀ QUẢN LÝ SỰ THAY ĐỔI </a:t>
            </a:r>
            <a:r>
              <a:rPr lang="en-US" sz="1800" b="1" dirty="0">
                <a:solidFill>
                  <a:schemeClr val="bg1"/>
                </a:solidFill>
                <a:latin typeface="Cambria" panose="02040503050406030204" pitchFamily="18" charset="0"/>
                <a:ea typeface="Cambria" panose="02040503050406030204" pitchFamily="18" charset="0"/>
              </a:rPr>
              <a:t>PHẠM VI</a:t>
            </a:r>
            <a:endParaRPr lang="vi" sz="1800" b="1" dirty="0">
              <a:solidFill>
                <a:schemeClr val="bg1"/>
              </a:solidFill>
              <a:latin typeface="Cambria" panose="02040503050406030204" pitchFamily="18" charset="0"/>
              <a:ea typeface="Cambria" panose="02040503050406030204" pitchFamily="18" charset="0"/>
            </a:endParaRPr>
          </a:p>
          <a:p>
            <a:pPr marL="514350" indent="-514350">
              <a:lnSpc>
                <a:spcPct val="100000"/>
              </a:lnSpc>
              <a:spcBef>
                <a:spcPts val="0"/>
              </a:spcBef>
              <a:spcAft>
                <a:spcPts val="600"/>
              </a:spcAft>
              <a:buFont typeface="+mj-lt"/>
              <a:buAutoNum type="arabicPeriod"/>
            </a:pPr>
            <a:endParaRPr lang="en-US" sz="2000" b="1" dirty="0">
              <a:solidFill>
                <a:schemeClr val="bg1"/>
              </a:solidFill>
              <a:latin typeface="Cambria" panose="02040503050406030204" pitchFamily="18" charset="0"/>
              <a:ea typeface="Cambria" panose="02040503050406030204" pitchFamily="18" charset="0"/>
            </a:endParaRPr>
          </a:p>
        </p:txBody>
      </p:sp>
      <p:sp>
        <p:nvSpPr>
          <p:cNvPr id="5" name="Rectangle 4">
            <a:extLst>
              <a:ext uri="{FF2B5EF4-FFF2-40B4-BE49-F238E27FC236}">
                <a16:creationId xmlns:a16="http://schemas.microsoft.com/office/drawing/2014/main" id="{A95C758D-1344-FC52-DE08-DE5407E409D5}"/>
              </a:ext>
            </a:extLst>
          </p:cNvPr>
          <p:cNvSpPr/>
          <p:nvPr/>
        </p:nvSpPr>
        <p:spPr>
          <a:xfrm>
            <a:off x="458055" y="451872"/>
            <a:ext cx="2485170" cy="523220"/>
          </a:xfrm>
          <a:prstGeom prst="rect">
            <a:avLst/>
          </a:prstGeom>
        </p:spPr>
        <p:txBody>
          <a:bodyPr wrap="square">
            <a:spAutoFit/>
          </a:bodyPr>
          <a:lstStyle/>
          <a:p>
            <a:r>
              <a:rPr lang="vi" sz="2800" b="1" dirty="0">
                <a:solidFill>
                  <a:schemeClr val="accent5"/>
                </a:solidFill>
                <a:latin typeface="Cambria" panose="02040503050406030204" pitchFamily="18" charset="0"/>
                <a:ea typeface="Cambria" panose="02040503050406030204" pitchFamily="18" charset="0"/>
              </a:rPr>
              <a:t>NỘI DUNG</a:t>
            </a:r>
          </a:p>
        </p:txBody>
      </p:sp>
    </p:spTree>
    <p:extLst>
      <p:ext uri="{BB962C8B-B14F-4D97-AF65-F5344CB8AC3E}">
        <p14:creationId xmlns:p14="http://schemas.microsoft.com/office/powerpoint/2010/main" val="2758415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nvGrpSpPr>
          <p:cNvPr id="2" name="Group 17">
            <a:extLst>
              <a:ext uri="{FF2B5EF4-FFF2-40B4-BE49-F238E27FC236}">
                <a16:creationId xmlns:a16="http://schemas.microsoft.com/office/drawing/2014/main" id="{B519BB3C-881A-E02E-8836-2029D688C7F2}"/>
              </a:ext>
            </a:extLst>
          </p:cNvPr>
          <p:cNvGrpSpPr>
            <a:grpSpLocks/>
          </p:cNvGrpSpPr>
          <p:nvPr/>
        </p:nvGrpSpPr>
        <p:grpSpPr bwMode="auto">
          <a:xfrm>
            <a:off x="1229443" y="564314"/>
            <a:ext cx="2540000" cy="2144713"/>
            <a:chOff x="338" y="935"/>
            <a:chExt cx="1600" cy="1351"/>
          </a:xfrm>
        </p:grpSpPr>
        <p:graphicFrame>
          <p:nvGraphicFramePr>
            <p:cNvPr id="8" name="Object 8">
              <a:extLst>
                <a:ext uri="{FF2B5EF4-FFF2-40B4-BE49-F238E27FC236}">
                  <a16:creationId xmlns:a16="http://schemas.microsoft.com/office/drawing/2014/main" id="{4788A20E-EFA1-3F3E-65D1-04C7C2662501}"/>
                </a:ext>
              </a:extLst>
            </p:cNvPr>
            <p:cNvGraphicFramePr>
              <a:graphicFrameLocks noChangeAspect="1"/>
            </p:cNvGraphicFramePr>
            <p:nvPr/>
          </p:nvGraphicFramePr>
          <p:xfrm>
            <a:off x="567" y="935"/>
            <a:ext cx="1194" cy="726"/>
          </p:xfrm>
          <a:graphic>
            <a:graphicData uri="http://schemas.openxmlformats.org/presentationml/2006/ole">
              <mc:AlternateContent xmlns:mc="http://schemas.openxmlformats.org/markup-compatibility/2006">
                <mc:Choice xmlns:v="urn:schemas-microsoft-com:vml" Requires="v">
                  <p:oleObj name="Photo Editor Photo" r:id="rId2" imgW="1895238" imgH="1152381" progId="MSPhotoEd.3">
                    <p:embed/>
                  </p:oleObj>
                </mc:Choice>
                <mc:Fallback>
                  <p:oleObj name="Photo Editor Photo" r:id="rId2" imgW="1895238" imgH="1152381" progId="MSPhotoEd.3">
                    <p:embed/>
                    <p:pic>
                      <p:nvPicPr>
                        <p:cNvPr id="8" name="Object 8">
                          <a:extLst>
                            <a:ext uri="{FF2B5EF4-FFF2-40B4-BE49-F238E27FC236}">
                              <a16:creationId xmlns:a16="http://schemas.microsoft.com/office/drawing/2014/main" id="{4788A20E-EFA1-3F3E-65D1-04C7C26625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7" y="935"/>
                          <a:ext cx="1194" cy="7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Text Box 12">
              <a:extLst>
                <a:ext uri="{FF2B5EF4-FFF2-40B4-BE49-F238E27FC236}">
                  <a16:creationId xmlns:a16="http://schemas.microsoft.com/office/drawing/2014/main" id="{3AAD99FD-9E72-E3CE-4B8A-852DCA41B6D4}"/>
                </a:ext>
              </a:extLst>
            </p:cNvPr>
            <p:cNvSpPr txBox="1">
              <a:spLocks noChangeArrowheads="1"/>
            </p:cNvSpPr>
            <p:nvPr/>
          </p:nvSpPr>
          <p:spPr bwMode="auto">
            <a:xfrm>
              <a:off x="338" y="1879"/>
              <a:ext cx="1600"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vi" altLang="en-US" sz="1800" b="1" i="0" dirty="0">
                  <a:latin typeface="Cambria" panose="02040503050406030204" pitchFamily="18" charset="0"/>
                  <a:ea typeface="Cambria" panose="02040503050406030204" pitchFamily="18" charset="0"/>
                </a:rPr>
                <a:t>Nhu cầu của khách hàng</a:t>
              </a:r>
            </a:p>
          </p:txBody>
        </p:sp>
      </p:grpSp>
      <p:grpSp>
        <p:nvGrpSpPr>
          <p:cNvPr id="10" name="Group 16">
            <a:extLst>
              <a:ext uri="{FF2B5EF4-FFF2-40B4-BE49-F238E27FC236}">
                <a16:creationId xmlns:a16="http://schemas.microsoft.com/office/drawing/2014/main" id="{0B32F776-1DB6-2603-5892-9336A02D1D74}"/>
              </a:ext>
            </a:extLst>
          </p:cNvPr>
          <p:cNvGrpSpPr>
            <a:grpSpLocks/>
          </p:cNvGrpSpPr>
          <p:nvPr/>
        </p:nvGrpSpPr>
        <p:grpSpPr bwMode="auto">
          <a:xfrm>
            <a:off x="4438698" y="396513"/>
            <a:ext cx="3967771" cy="2359779"/>
            <a:chOff x="2109" y="594"/>
            <a:chExt cx="2276" cy="1304"/>
          </a:xfrm>
        </p:grpSpPr>
        <p:graphicFrame>
          <p:nvGraphicFramePr>
            <p:cNvPr id="12" name="Object 11">
              <a:extLst>
                <a:ext uri="{FF2B5EF4-FFF2-40B4-BE49-F238E27FC236}">
                  <a16:creationId xmlns:a16="http://schemas.microsoft.com/office/drawing/2014/main" id="{9DF40F1A-2B31-1381-5BBC-C8D79004A531}"/>
                </a:ext>
              </a:extLst>
            </p:cNvPr>
            <p:cNvGraphicFramePr>
              <a:graphicFrameLocks noChangeAspect="1"/>
            </p:cNvGraphicFramePr>
            <p:nvPr/>
          </p:nvGraphicFramePr>
          <p:xfrm>
            <a:off x="2109" y="618"/>
            <a:ext cx="1617" cy="894"/>
          </p:xfrm>
          <a:graphic>
            <a:graphicData uri="http://schemas.openxmlformats.org/presentationml/2006/ole">
              <mc:AlternateContent xmlns:mc="http://schemas.openxmlformats.org/markup-compatibility/2006">
                <mc:Choice xmlns:v="urn:schemas-microsoft-com:vml" Requires="v">
                  <p:oleObj name="Photo Editor Photo" r:id="rId4" imgW="1533739" imgH="847843" progId="MSPhotoEd.3">
                    <p:embed/>
                  </p:oleObj>
                </mc:Choice>
                <mc:Fallback>
                  <p:oleObj name="Photo Editor Photo" r:id="rId4" imgW="1533739" imgH="847843" progId="MSPhotoEd.3">
                    <p:embed/>
                    <p:pic>
                      <p:nvPicPr>
                        <p:cNvPr id="12" name="Object 11">
                          <a:extLst>
                            <a:ext uri="{FF2B5EF4-FFF2-40B4-BE49-F238E27FC236}">
                              <a16:creationId xmlns:a16="http://schemas.microsoft.com/office/drawing/2014/main" id="{9DF40F1A-2B31-1381-5BBC-C8D79004A5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09" y="618"/>
                          <a:ext cx="1617" cy="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 name="Text Box 13">
              <a:extLst>
                <a:ext uri="{FF2B5EF4-FFF2-40B4-BE49-F238E27FC236}">
                  <a16:creationId xmlns:a16="http://schemas.microsoft.com/office/drawing/2014/main" id="{519333FC-E27B-881F-D6F8-36C00D9FCC55}"/>
                </a:ext>
              </a:extLst>
            </p:cNvPr>
            <p:cNvSpPr txBox="1">
              <a:spLocks noChangeArrowheads="1"/>
            </p:cNvSpPr>
            <p:nvPr/>
          </p:nvSpPr>
          <p:spPr bwMode="auto">
            <a:xfrm>
              <a:off x="2318" y="1541"/>
              <a:ext cx="1600"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vi" altLang="en-US" sz="1800" b="1" i="0" dirty="0">
                  <a:latin typeface="Cambria" panose="02040503050406030204" pitchFamily="18" charset="0"/>
                  <a:ea typeface="Cambria" panose="02040503050406030204" pitchFamily="18" charset="0"/>
                </a:rPr>
                <a:t>Mô tả nhu cầu của khách hàng</a:t>
              </a:r>
            </a:p>
          </p:txBody>
        </p:sp>
        <p:sp>
          <p:nvSpPr>
            <p:cNvPr id="14" name="AutoShape 14">
              <a:extLst>
                <a:ext uri="{FF2B5EF4-FFF2-40B4-BE49-F238E27FC236}">
                  <a16:creationId xmlns:a16="http://schemas.microsoft.com/office/drawing/2014/main" id="{8C8A9006-F066-BD3F-E450-DF5127A4353D}"/>
                </a:ext>
              </a:extLst>
            </p:cNvPr>
            <p:cNvSpPr>
              <a:spLocks noChangeArrowheads="1"/>
            </p:cNvSpPr>
            <p:nvPr/>
          </p:nvSpPr>
          <p:spPr bwMode="auto">
            <a:xfrm>
              <a:off x="3557" y="594"/>
              <a:ext cx="828" cy="816"/>
            </a:xfrm>
            <a:prstGeom prst="foldedCorner">
              <a:avLst>
                <a:gd name="adj" fmla="val 12500"/>
              </a:avLst>
            </a:prstGeom>
            <a:solidFill>
              <a:srgbClr val="FFFF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Cambria" panose="02040503050406030204" pitchFamily="18" charset="0"/>
                <a:ea typeface="Cambria" panose="02040503050406030204" pitchFamily="18" charset="0"/>
              </a:endParaRPr>
            </a:p>
          </p:txBody>
        </p:sp>
        <p:sp>
          <p:nvSpPr>
            <p:cNvPr id="15" name="Rectangle 15">
              <a:extLst>
                <a:ext uri="{FF2B5EF4-FFF2-40B4-BE49-F238E27FC236}">
                  <a16:creationId xmlns:a16="http://schemas.microsoft.com/office/drawing/2014/main" id="{A8543275-7035-5CDE-9F45-86ADFF80B3A4}"/>
                </a:ext>
              </a:extLst>
            </p:cNvPr>
            <p:cNvSpPr>
              <a:spLocks noChangeArrowheads="1"/>
            </p:cNvSpPr>
            <p:nvPr/>
          </p:nvSpPr>
          <p:spPr bwMode="auto">
            <a:xfrm>
              <a:off x="3566" y="605"/>
              <a:ext cx="819" cy="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vi" altLang="en-US" i="0" dirty="0">
                  <a:latin typeface="Cambria" panose="02040503050406030204" pitchFamily="18" charset="0"/>
                  <a:ea typeface="Cambria" panose="02040503050406030204" pitchFamily="18" charset="0"/>
                </a:rPr>
                <a:t>đơn giản, màu đỏ, mạnh mẽ, có bánh xe</a:t>
              </a:r>
            </a:p>
          </p:txBody>
        </p:sp>
      </p:grpSp>
      <p:grpSp>
        <p:nvGrpSpPr>
          <p:cNvPr id="16" name="Group 25">
            <a:extLst>
              <a:ext uri="{FF2B5EF4-FFF2-40B4-BE49-F238E27FC236}">
                <a16:creationId xmlns:a16="http://schemas.microsoft.com/office/drawing/2014/main" id="{79F2690B-61FE-3655-4145-CD0097BA1501}"/>
              </a:ext>
            </a:extLst>
          </p:cNvPr>
          <p:cNvGrpSpPr>
            <a:grpSpLocks/>
          </p:cNvGrpSpPr>
          <p:nvPr/>
        </p:nvGrpSpPr>
        <p:grpSpPr bwMode="auto">
          <a:xfrm>
            <a:off x="1485859" y="2909181"/>
            <a:ext cx="2282826" cy="2981325"/>
            <a:chOff x="376" y="2205"/>
            <a:chExt cx="1438" cy="1878"/>
          </a:xfrm>
        </p:grpSpPr>
        <p:graphicFrame>
          <p:nvGraphicFramePr>
            <p:cNvPr id="17" name="Object 10">
              <a:extLst>
                <a:ext uri="{FF2B5EF4-FFF2-40B4-BE49-F238E27FC236}">
                  <a16:creationId xmlns:a16="http://schemas.microsoft.com/office/drawing/2014/main" id="{1250B231-A334-4656-DEDB-53D6A44DCDF1}"/>
                </a:ext>
              </a:extLst>
            </p:cNvPr>
            <p:cNvGraphicFramePr>
              <a:graphicFrameLocks noChangeAspect="1"/>
            </p:cNvGraphicFramePr>
            <p:nvPr/>
          </p:nvGraphicFramePr>
          <p:xfrm>
            <a:off x="476" y="2205"/>
            <a:ext cx="1276" cy="1497"/>
          </p:xfrm>
          <a:graphic>
            <a:graphicData uri="http://schemas.openxmlformats.org/presentationml/2006/ole">
              <mc:AlternateContent xmlns:mc="http://schemas.openxmlformats.org/markup-compatibility/2006">
                <mc:Choice xmlns:v="urn:schemas-microsoft-com:vml" Requires="v">
                  <p:oleObj name="Photo Editor Photo" r:id="rId6" imgW="1486107" imgH="1743318" progId="MSPhotoEd.3">
                    <p:embed/>
                  </p:oleObj>
                </mc:Choice>
                <mc:Fallback>
                  <p:oleObj name="Photo Editor Photo" r:id="rId6" imgW="1486107" imgH="1743318" progId="MSPhotoEd.3">
                    <p:embed/>
                    <p:pic>
                      <p:nvPicPr>
                        <p:cNvPr id="17" name="Object 10">
                          <a:extLst>
                            <a:ext uri="{FF2B5EF4-FFF2-40B4-BE49-F238E27FC236}">
                              <a16:creationId xmlns:a16="http://schemas.microsoft.com/office/drawing/2014/main" id="{1250B231-A334-4656-DEDB-53D6A44DCD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6" y="2205"/>
                          <a:ext cx="1276" cy="1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 Box 18">
              <a:extLst>
                <a:ext uri="{FF2B5EF4-FFF2-40B4-BE49-F238E27FC236}">
                  <a16:creationId xmlns:a16="http://schemas.microsoft.com/office/drawing/2014/main" id="{4ADD7D0C-EC07-74F6-C13A-6489EC95548C}"/>
                </a:ext>
              </a:extLst>
            </p:cNvPr>
            <p:cNvSpPr txBox="1">
              <a:spLocks noChangeArrowheads="1"/>
            </p:cNvSpPr>
            <p:nvPr/>
          </p:nvSpPr>
          <p:spPr bwMode="auto">
            <a:xfrm>
              <a:off x="376" y="3850"/>
              <a:ext cx="143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err="1">
                  <a:latin typeface="Cambria" panose="02040503050406030204" pitchFamily="18" charset="0"/>
                  <a:ea typeface="Cambria" panose="02040503050406030204" pitchFamily="18" charset="0"/>
                </a:rPr>
                <a:t>Sản</a:t>
              </a:r>
              <a:r>
                <a:rPr lang="en-US" altLang="en-US" b="1" dirty="0">
                  <a:latin typeface="Cambria" panose="02040503050406030204" pitchFamily="18" charset="0"/>
                  <a:ea typeface="Cambria" panose="02040503050406030204" pitchFamily="18" charset="0"/>
                </a:rPr>
                <a:t> </a:t>
              </a:r>
              <a:r>
                <a:rPr lang="en-US" altLang="en-US" b="1" dirty="0" err="1">
                  <a:latin typeface="Cambria" panose="02040503050406030204" pitchFamily="18" charset="0"/>
                  <a:ea typeface="Cambria" panose="02040503050406030204" pitchFamily="18" charset="0"/>
                </a:rPr>
                <a:t>phẩm</a:t>
              </a:r>
              <a:r>
                <a:rPr lang="en-US" altLang="en-US" b="1" dirty="0">
                  <a:latin typeface="Cambria" panose="02040503050406030204" pitchFamily="18" charset="0"/>
                  <a:ea typeface="Cambria" panose="02040503050406030204" pitchFamily="18" charset="0"/>
                </a:rPr>
                <a:t> </a:t>
              </a:r>
              <a:r>
                <a:rPr lang="en-US" altLang="en-US" b="1" dirty="0" err="1">
                  <a:latin typeface="Cambria" panose="02040503050406030204" pitchFamily="18" charset="0"/>
                  <a:ea typeface="Cambria" panose="02040503050406030204" pitchFamily="18" charset="0"/>
                </a:rPr>
                <a:t>cuối</a:t>
              </a:r>
              <a:r>
                <a:rPr lang="en-US" altLang="en-US" b="1" dirty="0">
                  <a:latin typeface="Cambria" panose="02040503050406030204" pitchFamily="18" charset="0"/>
                  <a:ea typeface="Cambria" panose="02040503050406030204" pitchFamily="18" charset="0"/>
                </a:rPr>
                <a:t> </a:t>
              </a:r>
              <a:r>
                <a:rPr lang="en-US" altLang="en-US" b="1" dirty="0" err="1">
                  <a:latin typeface="Cambria" panose="02040503050406030204" pitchFamily="18" charset="0"/>
                  <a:ea typeface="Cambria" panose="02040503050406030204" pitchFamily="18" charset="0"/>
                </a:rPr>
                <a:t>cùng</a:t>
              </a:r>
              <a:endParaRPr lang="vi" altLang="en-US" sz="1800" b="1" i="0" dirty="0">
                <a:latin typeface="Cambria" panose="02040503050406030204" pitchFamily="18" charset="0"/>
                <a:ea typeface="Cambria" panose="02040503050406030204" pitchFamily="18" charset="0"/>
              </a:endParaRPr>
            </a:p>
          </p:txBody>
        </p:sp>
      </p:grpSp>
      <p:grpSp>
        <p:nvGrpSpPr>
          <p:cNvPr id="19" name="Group 23">
            <a:extLst>
              <a:ext uri="{FF2B5EF4-FFF2-40B4-BE49-F238E27FC236}">
                <a16:creationId xmlns:a16="http://schemas.microsoft.com/office/drawing/2014/main" id="{36CB1DAC-FDC8-D147-5E62-07A8CEFC3541}"/>
              </a:ext>
            </a:extLst>
          </p:cNvPr>
          <p:cNvGrpSpPr>
            <a:grpSpLocks/>
          </p:cNvGrpSpPr>
          <p:nvPr/>
        </p:nvGrpSpPr>
        <p:grpSpPr bwMode="auto">
          <a:xfrm>
            <a:off x="5111419" y="3091638"/>
            <a:ext cx="2303462" cy="2873376"/>
            <a:chOff x="2311" y="2432"/>
            <a:chExt cx="1451" cy="1810"/>
          </a:xfrm>
        </p:grpSpPr>
        <p:graphicFrame>
          <p:nvGraphicFramePr>
            <p:cNvPr id="20" name="Object 7">
              <a:extLst>
                <a:ext uri="{FF2B5EF4-FFF2-40B4-BE49-F238E27FC236}">
                  <a16:creationId xmlns:a16="http://schemas.microsoft.com/office/drawing/2014/main" id="{AA78F174-DD9F-C11F-8ED0-0C450C9701B3}"/>
                </a:ext>
              </a:extLst>
            </p:cNvPr>
            <p:cNvGraphicFramePr>
              <a:graphicFrameLocks noChangeAspect="1"/>
            </p:cNvGraphicFramePr>
            <p:nvPr/>
          </p:nvGraphicFramePr>
          <p:xfrm>
            <a:off x="2426" y="2432"/>
            <a:ext cx="1222" cy="1141"/>
          </p:xfrm>
          <a:graphic>
            <a:graphicData uri="http://schemas.openxmlformats.org/presentationml/2006/ole">
              <mc:AlternateContent xmlns:mc="http://schemas.openxmlformats.org/markup-compatibility/2006">
                <mc:Choice xmlns:v="urn:schemas-microsoft-com:vml" Requires="v">
                  <p:oleObj name="Photo Editor Photo" r:id="rId8" imgW="1000000" imgH="933580" progId="MSPhotoEd.3">
                    <p:embed/>
                  </p:oleObj>
                </mc:Choice>
                <mc:Fallback>
                  <p:oleObj name="Photo Editor Photo" r:id="rId8" imgW="1000000" imgH="933580" progId="MSPhotoEd.3">
                    <p:embed/>
                    <p:pic>
                      <p:nvPicPr>
                        <p:cNvPr id="20" name="Object 7">
                          <a:extLst>
                            <a:ext uri="{FF2B5EF4-FFF2-40B4-BE49-F238E27FC236}">
                              <a16:creationId xmlns:a16="http://schemas.microsoft.com/office/drawing/2014/main" id="{AA78F174-DD9F-C11F-8ED0-0C450C9701B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26" y="2432"/>
                          <a:ext cx="1222" cy="11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19">
              <a:extLst>
                <a:ext uri="{FF2B5EF4-FFF2-40B4-BE49-F238E27FC236}">
                  <a16:creationId xmlns:a16="http://schemas.microsoft.com/office/drawing/2014/main" id="{5D913EBE-0A91-9A73-E20A-094C200DD678}"/>
                </a:ext>
              </a:extLst>
            </p:cNvPr>
            <p:cNvSpPr txBox="1">
              <a:spLocks noChangeArrowheads="1"/>
            </p:cNvSpPr>
            <p:nvPr/>
          </p:nvSpPr>
          <p:spPr bwMode="auto">
            <a:xfrm>
              <a:off x="2311" y="3835"/>
              <a:ext cx="1451"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vi" altLang="en-US" sz="1800" b="1" i="0" dirty="0">
                  <a:latin typeface="Cambria" panose="02040503050406030204" pitchFamily="18" charset="0"/>
                  <a:ea typeface="Cambria" panose="02040503050406030204" pitchFamily="18" charset="0"/>
                </a:rPr>
                <a:t>Nhà sản xuất dự kiến sẽ làm gì</a:t>
              </a:r>
            </a:p>
          </p:txBody>
        </p:sp>
      </p:grpSp>
      <p:grpSp>
        <p:nvGrpSpPr>
          <p:cNvPr id="23" name="Group 22">
            <a:extLst>
              <a:ext uri="{FF2B5EF4-FFF2-40B4-BE49-F238E27FC236}">
                <a16:creationId xmlns:a16="http://schemas.microsoft.com/office/drawing/2014/main" id="{9121B23D-4877-06A1-25E7-3C7BF86CF93B}"/>
              </a:ext>
            </a:extLst>
          </p:cNvPr>
          <p:cNvGrpSpPr>
            <a:grpSpLocks/>
          </p:cNvGrpSpPr>
          <p:nvPr/>
        </p:nvGrpSpPr>
        <p:grpSpPr bwMode="auto">
          <a:xfrm>
            <a:off x="8714706" y="3642609"/>
            <a:ext cx="2592387" cy="2322514"/>
            <a:chOff x="3969" y="2568"/>
            <a:chExt cx="1633" cy="1463"/>
          </a:xfrm>
        </p:grpSpPr>
        <p:graphicFrame>
          <p:nvGraphicFramePr>
            <p:cNvPr id="24" name="Object 6">
              <a:extLst>
                <a:ext uri="{FF2B5EF4-FFF2-40B4-BE49-F238E27FC236}">
                  <a16:creationId xmlns:a16="http://schemas.microsoft.com/office/drawing/2014/main" id="{BB8BB872-EA36-4149-3803-740D08B56DDD}"/>
                </a:ext>
              </a:extLst>
            </p:cNvPr>
            <p:cNvGraphicFramePr>
              <a:graphicFrameLocks noChangeAspect="1"/>
            </p:cNvGraphicFramePr>
            <p:nvPr/>
          </p:nvGraphicFramePr>
          <p:xfrm>
            <a:off x="4014" y="2568"/>
            <a:ext cx="1315" cy="829"/>
          </p:xfrm>
          <a:graphic>
            <a:graphicData uri="http://schemas.openxmlformats.org/presentationml/2006/ole">
              <mc:AlternateContent xmlns:mc="http://schemas.openxmlformats.org/markup-compatibility/2006">
                <mc:Choice xmlns:v="urn:schemas-microsoft-com:vml" Requires="v">
                  <p:oleObj name="Photo Editor Photo" r:id="rId10" imgW="1390844" imgH="876190" progId="MSPhotoEd.3">
                    <p:embed/>
                  </p:oleObj>
                </mc:Choice>
                <mc:Fallback>
                  <p:oleObj name="Photo Editor Photo" r:id="rId10" imgW="1390844" imgH="876190" progId="MSPhotoEd.3">
                    <p:embed/>
                    <p:pic>
                      <p:nvPicPr>
                        <p:cNvPr id="24" name="Object 6">
                          <a:extLst>
                            <a:ext uri="{FF2B5EF4-FFF2-40B4-BE49-F238E27FC236}">
                              <a16:creationId xmlns:a16="http://schemas.microsoft.com/office/drawing/2014/main" id="{BB8BB872-EA36-4149-3803-740D08B56DD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14" y="2568"/>
                          <a:ext cx="1315" cy="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5" name="Text Box 20">
              <a:extLst>
                <a:ext uri="{FF2B5EF4-FFF2-40B4-BE49-F238E27FC236}">
                  <a16:creationId xmlns:a16="http://schemas.microsoft.com/office/drawing/2014/main" id="{BF9E57A7-59BB-76EE-9996-04B0E1681BF3}"/>
                </a:ext>
              </a:extLst>
            </p:cNvPr>
            <p:cNvSpPr txBox="1">
              <a:spLocks noChangeArrowheads="1"/>
            </p:cNvSpPr>
            <p:nvPr/>
          </p:nvSpPr>
          <p:spPr bwMode="auto">
            <a:xfrm>
              <a:off x="3969" y="3624"/>
              <a:ext cx="163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vi" altLang="en-US" sz="1800" b="1" i="0" dirty="0">
                  <a:latin typeface="Cambria" panose="02040503050406030204" pitchFamily="18" charset="0"/>
                  <a:ea typeface="Cambria" panose="02040503050406030204" pitchFamily="18" charset="0"/>
                </a:rPr>
                <a:t>Những gì </a:t>
              </a:r>
              <a:r>
                <a:rPr lang="en-US" altLang="en-US" sz="1800" b="1" i="0" dirty="0" err="1">
                  <a:latin typeface="Cambria" panose="02040503050406030204" pitchFamily="18" charset="0"/>
                  <a:ea typeface="Cambria" panose="02040503050406030204" pitchFamily="18" charset="0"/>
                </a:rPr>
                <a:t>thiết</a:t>
              </a:r>
              <a:r>
                <a:rPr lang="en-US" altLang="en-US" sz="1800" b="1" i="0" dirty="0">
                  <a:latin typeface="Cambria" panose="02040503050406030204" pitchFamily="18" charset="0"/>
                  <a:ea typeface="Cambria" panose="02040503050406030204" pitchFamily="18" charset="0"/>
                </a:rPr>
                <a:t> </a:t>
              </a:r>
              <a:r>
                <a:rPr lang="en-US" altLang="en-US" sz="1800" b="1" i="0" dirty="0" err="1">
                  <a:latin typeface="Cambria" panose="02040503050406030204" pitchFamily="18" charset="0"/>
                  <a:ea typeface="Cambria" panose="02040503050406030204" pitchFamily="18" charset="0"/>
                </a:rPr>
                <a:t>kế</a:t>
              </a:r>
              <a:r>
                <a:rPr lang="vi" altLang="en-US" sz="1800" b="1" i="0" dirty="0">
                  <a:latin typeface="Cambria" panose="02040503050406030204" pitchFamily="18" charset="0"/>
                  <a:ea typeface="Cambria" panose="02040503050406030204" pitchFamily="18" charset="0"/>
                </a:rPr>
                <a:t> đã mô tả</a:t>
              </a:r>
            </a:p>
          </p:txBody>
        </p:sp>
      </p:grpSp>
      <p:grpSp>
        <p:nvGrpSpPr>
          <p:cNvPr id="26" name="Group 24">
            <a:extLst>
              <a:ext uri="{FF2B5EF4-FFF2-40B4-BE49-F238E27FC236}">
                <a16:creationId xmlns:a16="http://schemas.microsoft.com/office/drawing/2014/main" id="{EFEFF306-EBC7-39FA-5ADB-6026BEF7608A}"/>
              </a:ext>
            </a:extLst>
          </p:cNvPr>
          <p:cNvGrpSpPr>
            <a:grpSpLocks/>
          </p:cNvGrpSpPr>
          <p:nvPr/>
        </p:nvGrpSpPr>
        <p:grpSpPr bwMode="auto">
          <a:xfrm>
            <a:off x="8625312" y="368786"/>
            <a:ext cx="2474913" cy="2339975"/>
            <a:chOff x="4796" y="611"/>
            <a:chExt cx="1559" cy="1474"/>
          </a:xfrm>
        </p:grpSpPr>
        <p:graphicFrame>
          <p:nvGraphicFramePr>
            <p:cNvPr id="28" name="Object 9">
              <a:extLst>
                <a:ext uri="{FF2B5EF4-FFF2-40B4-BE49-F238E27FC236}">
                  <a16:creationId xmlns:a16="http://schemas.microsoft.com/office/drawing/2014/main" id="{2B65C803-CB72-F202-CC72-C4EAE4E63769}"/>
                </a:ext>
              </a:extLst>
            </p:cNvPr>
            <p:cNvGraphicFramePr>
              <a:graphicFrameLocks noChangeAspect="1"/>
            </p:cNvGraphicFramePr>
            <p:nvPr>
              <p:extLst>
                <p:ext uri="{D42A27DB-BD31-4B8C-83A1-F6EECF244321}">
                  <p14:modId xmlns:p14="http://schemas.microsoft.com/office/powerpoint/2010/main" val="39251207"/>
                </p:ext>
              </p:extLst>
            </p:nvPr>
          </p:nvGraphicFramePr>
          <p:xfrm>
            <a:off x="4847" y="611"/>
            <a:ext cx="1315" cy="1091"/>
          </p:xfrm>
          <a:graphic>
            <a:graphicData uri="http://schemas.openxmlformats.org/presentationml/2006/ole">
              <mc:AlternateContent xmlns:mc="http://schemas.openxmlformats.org/markup-compatibility/2006">
                <mc:Choice xmlns:v="urn:schemas-microsoft-com:vml" Requires="v">
                  <p:oleObj name="Photo Editor Photo" r:id="rId12" imgW="952633" imgH="790476" progId="MSPhotoEd.3">
                    <p:embed/>
                  </p:oleObj>
                </mc:Choice>
                <mc:Fallback>
                  <p:oleObj name="Photo Editor Photo" r:id="rId12" imgW="952633" imgH="790476" progId="MSPhotoEd.3">
                    <p:embed/>
                    <p:pic>
                      <p:nvPicPr>
                        <p:cNvPr id="28" name="Object 9">
                          <a:extLst>
                            <a:ext uri="{FF2B5EF4-FFF2-40B4-BE49-F238E27FC236}">
                              <a16:creationId xmlns:a16="http://schemas.microsoft.com/office/drawing/2014/main" id="{2B65C803-CB72-F202-CC72-C4EAE4E6376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47" y="611"/>
                          <a:ext cx="1315" cy="10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 name="Text Box 21">
              <a:extLst>
                <a:ext uri="{FF2B5EF4-FFF2-40B4-BE49-F238E27FC236}">
                  <a16:creationId xmlns:a16="http://schemas.microsoft.com/office/drawing/2014/main" id="{B6EB58E1-A711-7546-75C7-99ACD099832D}"/>
                </a:ext>
              </a:extLst>
            </p:cNvPr>
            <p:cNvSpPr txBox="1">
              <a:spLocks noChangeArrowheads="1"/>
            </p:cNvSpPr>
            <p:nvPr/>
          </p:nvSpPr>
          <p:spPr bwMode="auto">
            <a:xfrm>
              <a:off x="4796" y="1678"/>
              <a:ext cx="1559"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altLang="en-US" sz="1800" b="1" i="0" dirty="0" err="1">
                  <a:latin typeface="Cambria" panose="02040503050406030204" pitchFamily="18" charset="0"/>
                  <a:ea typeface="Cambria" panose="02040503050406030204" pitchFamily="18" charset="0"/>
                </a:rPr>
                <a:t>Thiết</a:t>
              </a:r>
              <a:r>
                <a:rPr lang="en-US" altLang="en-US" sz="1800" b="1" i="0" dirty="0">
                  <a:latin typeface="Cambria" panose="02040503050406030204" pitchFamily="18" charset="0"/>
                  <a:ea typeface="Cambria" panose="02040503050406030204" pitchFamily="18" charset="0"/>
                </a:rPr>
                <a:t> </a:t>
              </a:r>
              <a:r>
                <a:rPr lang="en-US" altLang="en-US" sz="1800" b="1" i="0" dirty="0" err="1">
                  <a:latin typeface="Cambria" panose="02040503050406030204" pitchFamily="18" charset="0"/>
                  <a:ea typeface="Cambria" panose="02040503050406030204" pitchFamily="18" charset="0"/>
                </a:rPr>
                <a:t>kế</a:t>
              </a:r>
              <a:r>
                <a:rPr lang="en-US" altLang="en-US" sz="1800" b="1" i="0" dirty="0">
                  <a:latin typeface="Cambria" panose="02040503050406030204" pitchFamily="18" charset="0"/>
                  <a:ea typeface="Cambria" panose="02040503050406030204" pitchFamily="18" charset="0"/>
                </a:rPr>
                <a:t> </a:t>
              </a:r>
              <a:r>
                <a:rPr lang="en-US" altLang="en-US" sz="1800" b="1" i="0" dirty="0" err="1">
                  <a:latin typeface="Cambria" panose="02040503050406030204" pitchFamily="18" charset="0"/>
                  <a:ea typeface="Cambria" panose="02040503050406030204" pitchFamily="18" charset="0"/>
                </a:rPr>
                <a:t>đã</a:t>
              </a:r>
              <a:r>
                <a:rPr lang="en-US" altLang="en-US" sz="1800" b="1" i="0" dirty="0">
                  <a:latin typeface="Cambria" panose="02040503050406030204" pitchFamily="18" charset="0"/>
                  <a:ea typeface="Cambria" panose="02040503050406030204" pitchFamily="18" charset="0"/>
                </a:rPr>
                <a:t> </a:t>
              </a:r>
              <a:r>
                <a:rPr lang="vi" altLang="en-US" sz="1800" b="1" i="0" dirty="0">
                  <a:latin typeface="Cambria" panose="02040503050406030204" pitchFamily="18" charset="0"/>
                  <a:ea typeface="Cambria" panose="02040503050406030204" pitchFamily="18" charset="0"/>
                </a:rPr>
                <a:t>hiểu </a:t>
              </a:r>
              <a:r>
                <a:rPr lang="en-US" altLang="en-US" sz="1800" b="1" i="0" dirty="0" err="1">
                  <a:latin typeface="Cambria" panose="02040503050406030204" pitchFamily="18" charset="0"/>
                  <a:ea typeface="Cambria" panose="02040503050406030204" pitchFamily="18" charset="0"/>
                </a:rPr>
                <a:t>như</a:t>
              </a:r>
              <a:r>
                <a:rPr lang="en-US" altLang="en-US" sz="1800" b="1" i="0" dirty="0">
                  <a:latin typeface="Cambria" panose="02040503050406030204" pitchFamily="18" charset="0"/>
                  <a:ea typeface="Cambria" panose="02040503050406030204" pitchFamily="18" charset="0"/>
                </a:rPr>
                <a:t> </a:t>
              </a:r>
              <a:r>
                <a:rPr lang="en-US" altLang="en-US" sz="1800" b="1" i="0" dirty="0" err="1">
                  <a:latin typeface="Cambria" panose="02040503050406030204" pitchFamily="18" charset="0"/>
                  <a:ea typeface="Cambria" panose="02040503050406030204" pitchFamily="18" charset="0"/>
                </a:rPr>
                <a:t>nào</a:t>
              </a:r>
              <a:endParaRPr lang="vi" altLang="en-US" sz="1800" b="1" i="0" dirty="0">
                <a:latin typeface="Cambria" panose="02040503050406030204" pitchFamily="18" charset="0"/>
                <a:ea typeface="Cambria" panose="02040503050406030204" pitchFamily="18" charset="0"/>
              </a:endParaRPr>
            </a:p>
          </p:txBody>
        </p:sp>
      </p:grpSp>
    </p:spTree>
    <p:extLst>
      <p:ext uri="{BB962C8B-B14F-4D97-AF65-F5344CB8AC3E}">
        <p14:creationId xmlns:p14="http://schemas.microsoft.com/office/powerpoint/2010/main" val="1865502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7D571B-31DC-DFD8-0B63-31E0DE77B32B}"/>
              </a:ext>
            </a:extLst>
          </p:cNvPr>
          <p:cNvSpPr txBox="1"/>
          <p:nvPr/>
        </p:nvSpPr>
        <p:spPr>
          <a:xfrm>
            <a:off x="423430" y="443567"/>
            <a:ext cx="11454320" cy="4527393"/>
          </a:xfrm>
          <a:prstGeom prst="rect">
            <a:avLst/>
          </a:prstGeom>
          <a:noFill/>
        </p:spPr>
        <p:txBody>
          <a:bodyPr wrap="square">
            <a:spAutoFit/>
          </a:bodyPr>
          <a:lstStyle/>
          <a:p>
            <a:pPr algn="l"/>
            <a:r>
              <a:rPr lang="vi" sz="2000" b="1" dirty="0">
                <a:solidFill>
                  <a:schemeClr val="accent2">
                    <a:lumMod val="75000"/>
                  </a:schemeClr>
                </a:solidFill>
                <a:latin typeface="Cambria" panose="02040503050406030204" pitchFamily="18" charset="0"/>
                <a:ea typeface="Cambria" panose="02040503050406030204" pitchFamily="18" charset="0"/>
              </a:rPr>
              <a:t>TẦM QUAN TRỌNG CỦA QUẢN LÝ PHẠM VI DỰ ÁN</a:t>
            </a:r>
          </a:p>
          <a:p>
            <a:pPr marL="0" lvl="1" algn="just">
              <a:spcBef>
                <a:spcPct val="30000"/>
              </a:spcBef>
            </a:pPr>
            <a:r>
              <a:rPr lang="vi" dirty="0">
                <a:latin typeface="Cambria" panose="02040503050406030204" pitchFamily="18" charset="0"/>
                <a:ea typeface="Cambria" panose="02040503050406030204" pitchFamily="18" charset="0"/>
              </a:rPr>
              <a:t>Đối với một nhà quản lý dự án , việc quản lý kỳ vọng của các bên liên quan và khách hàng là một trong những nhiệm vụ đầy thách thức nhất. Với phạm vi dự án xác định, các nhà quản lý có thể dễ dàng đi đúng hướng và đảm bảo rằng tất cả các thời hạn đều được tuân thủ trong suốt vòng đời của dự án.</a:t>
            </a:r>
            <a:endParaRPr lang="en-US" dirty="0">
              <a:latin typeface="Cambria" panose="02040503050406030204" pitchFamily="18" charset="0"/>
              <a:ea typeface="Cambria" panose="02040503050406030204" pitchFamily="18" charset="0"/>
            </a:endParaRPr>
          </a:p>
          <a:p>
            <a:pPr marL="0" lvl="1" algn="just">
              <a:spcBef>
                <a:spcPct val="30000"/>
              </a:spcBef>
            </a:pPr>
            <a:r>
              <a:rPr lang="vi" i="1" dirty="0">
                <a:latin typeface="Cambria" panose="02040503050406030204" pitchFamily="18" charset="0"/>
                <a:ea typeface="Cambria" panose="02040503050406030204" pitchFamily="18" charset="0"/>
              </a:rPr>
              <a:t>Việc quản lý phạm vi dự án được xác định rõ ràng sẽ giúp tránh các vấn đề thường gặp như:</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Yêu cầu thay đổi liên tục</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Xoay hướng dự án khi bạn đã đi được nửa chặng đường</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Nhận ra rằng kết quả cuối cùng không như mong đợi</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Xem xét lại ngân sách đã thảo luận</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Chậm tiến độ dự án</a:t>
            </a:r>
          </a:p>
          <a:p>
            <a:pPr algn="l"/>
            <a:endParaRPr lang="en-US" b="0" i="0" dirty="0">
              <a:solidFill>
                <a:srgbClr val="1D2B36"/>
              </a:solidFill>
              <a:effectLst/>
              <a:latin typeface="Graphik Web Regular"/>
            </a:endParaRPr>
          </a:p>
          <a:p>
            <a:pPr marL="0" lvl="1" algn="just">
              <a:spcBef>
                <a:spcPct val="30000"/>
              </a:spcBef>
            </a:pPr>
            <a:r>
              <a:rPr lang="vi" dirty="0">
                <a:latin typeface="Cambria" panose="02040503050406030204" pitchFamily="18" charset="0"/>
                <a:ea typeface="Cambria" panose="02040503050406030204" pitchFamily="18" charset="0"/>
              </a:rPr>
              <a:t>Quản lý phạm vi dự án hiệu quả cung cấp ý tưởng rõ ràng về thời gian, lao động và chi phí liên quan đến dự án. Nó giúp phân biệt giữa những gì cần thiết và những gì không cần thiết để hoàn thành dự án. Phạm vi trong quản lý dự án cũng thiết lập các yếu tố kiểm soát của dự án để giải quyết các yếu tố có thể thay đổi trong suốt vòng đời dự án.</a:t>
            </a:r>
          </a:p>
        </p:txBody>
      </p:sp>
    </p:spTree>
    <p:extLst>
      <p:ext uri="{BB962C8B-B14F-4D97-AF65-F5344CB8AC3E}">
        <p14:creationId xmlns:p14="http://schemas.microsoft.com/office/powerpoint/2010/main" val="2945791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1. GIỚI THIỆU PHẠM VI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3600986"/>
          </a:xfrm>
          <a:prstGeom prst="rect">
            <a:avLst/>
          </a:prstGeom>
          <a:noFill/>
        </p:spPr>
        <p:txBody>
          <a:bodyPr wrap="square">
            <a:spAutoFit/>
          </a:bodyPr>
          <a:lstStyle/>
          <a:p>
            <a:pPr eaLnBrk="1" hangingPunct="1">
              <a:spcBef>
                <a:spcPct val="20000"/>
              </a:spcBef>
            </a:pPr>
            <a:r>
              <a:rPr lang="en-US" altLang="en-US" sz="2000" b="1" dirty="0">
                <a:solidFill>
                  <a:schemeClr val="bg1"/>
                </a:solidFill>
                <a:latin typeface="Cambria" panose="02040503050406030204" pitchFamily="18" charset="0"/>
                <a:ea typeface="Cambria" panose="02040503050406030204" pitchFamily="18" charset="0"/>
              </a:rPr>
              <a:t>Project scope</a:t>
            </a:r>
          </a:p>
          <a:p>
            <a:pPr eaLnBrk="1" hangingPunct="1">
              <a:spcBef>
                <a:spcPct val="20000"/>
              </a:spcBef>
            </a:pPr>
            <a:endParaRPr lang="en-US" altLang="en-US" sz="2000" b="1" dirty="0">
              <a:solidFill>
                <a:schemeClr val="bg1"/>
              </a:solidFill>
              <a:latin typeface="Cambria" panose="02040503050406030204" pitchFamily="18" charset="0"/>
              <a:ea typeface="Cambria" panose="02040503050406030204" pitchFamily="18" charset="0"/>
            </a:endParaRPr>
          </a:p>
          <a:p>
            <a:pPr algn="r">
              <a:spcBef>
                <a:spcPct val="20000"/>
              </a:spcBef>
            </a:pPr>
            <a:r>
              <a:rPr lang="en-US" sz="2000" i="1" dirty="0">
                <a:solidFill>
                  <a:schemeClr val="bg1"/>
                </a:solidFill>
                <a:latin typeface="Cambria" panose="02040503050406030204" pitchFamily="18" charset="0"/>
                <a:ea typeface="Cambria" panose="02040503050406030204" pitchFamily="18" charset="0"/>
              </a:rPr>
              <a:t>“refers to the size of the project being completed. The size is measured in terms of project quality, complexity, quantity or magnitude of deliverable(s), detail, number of features and the capacity of the deliverable (such as the number of users a software can support)”</a:t>
            </a:r>
            <a:endParaRPr lang="en-US" altLang="en-US" sz="20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FE714B9-5A5F-472B-6C92-566A3A41D434}"/>
              </a:ext>
            </a:extLst>
          </p:cNvPr>
          <p:cNvSpPr txBox="1"/>
          <p:nvPr/>
        </p:nvSpPr>
        <p:spPr>
          <a:xfrm>
            <a:off x="337583" y="784286"/>
            <a:ext cx="7492216" cy="1920526"/>
          </a:xfrm>
          <a:prstGeom prst="rect">
            <a:avLst/>
          </a:prstGeom>
          <a:noFill/>
        </p:spPr>
        <p:txBody>
          <a:bodyPr wrap="square">
            <a:spAutoFit/>
          </a:bodyPr>
          <a:lstStyle/>
          <a:p>
            <a:pPr marL="0" lvl="1" algn="just" eaLnBrk="1" hangingPunct="1">
              <a:spcBef>
                <a:spcPct val="30000"/>
              </a:spcBef>
            </a:pPr>
            <a:r>
              <a:rPr lang="vi" dirty="0">
                <a:latin typeface="Cambria" panose="02040503050406030204" pitchFamily="18" charset="0"/>
                <a:ea typeface="Cambria" panose="02040503050406030204" pitchFamily="18" charset="0"/>
              </a:rPr>
              <a:t>Phạm vi dự án là </a:t>
            </a:r>
            <a:r>
              <a:rPr lang="vi" altLang="en-US" dirty="0">
                <a:latin typeface="Cambria" panose="02040503050406030204" pitchFamily="18" charset="0"/>
                <a:ea typeface="Cambria" panose="02040503050406030204" pitchFamily="18" charset="0"/>
              </a:rPr>
              <a:t>định nghĩa về kết quả cuối cùng hoặc nhiệm vụ của dự án – một sản phẩm hoặc dịch vụ dành cho khách hàng – theo các điều khoản cụ thể, hữu hình và có thể đo lường được.</a:t>
            </a:r>
          </a:p>
          <a:p>
            <a:pPr marL="0" lvl="1" algn="just">
              <a:spcBef>
                <a:spcPct val="30000"/>
              </a:spcBef>
              <a:defRPr/>
            </a:pPr>
            <a:r>
              <a:rPr lang="vi" dirty="0">
                <a:latin typeface="Cambria" panose="02040503050406030204" pitchFamily="18" charset="0"/>
                <a:ea typeface="Cambria" panose="02040503050406030204" pitchFamily="18" charset="0"/>
              </a:rPr>
              <a:t>“Các quy trình cần thiết để đảm bảo rằng dự án bao gồm tất cả các công việc cần thiết và chỉ những công việc cần thiết để hoàn thành dự án thành công”</a:t>
            </a:r>
          </a:p>
          <a:p>
            <a:pPr marL="0" lvl="1" algn="just">
              <a:spcBef>
                <a:spcPct val="30000"/>
              </a:spcBef>
              <a:defRPr/>
            </a:pPr>
            <a:r>
              <a:rPr lang="vi" dirty="0">
                <a:latin typeface="Cambria" panose="02040503050406030204" pitchFamily="18" charset="0"/>
                <a:ea typeface="Cambria" panose="02040503050406030204" pitchFamily="18" charset="0"/>
              </a:rPr>
              <a:t>Trả lời câu hỏi – “Cuối cùng, dự án sẽ tạo ra sản phẩm gì”.</a:t>
            </a:r>
          </a:p>
        </p:txBody>
      </p:sp>
      <p:sp>
        <p:nvSpPr>
          <p:cNvPr id="9" name="TextBox 8">
            <a:extLst>
              <a:ext uri="{FF2B5EF4-FFF2-40B4-BE49-F238E27FC236}">
                <a16:creationId xmlns:a16="http://schemas.microsoft.com/office/drawing/2014/main" id="{96D572D1-90E1-4D9E-E488-61B320C6945A}"/>
              </a:ext>
            </a:extLst>
          </p:cNvPr>
          <p:cNvSpPr txBox="1"/>
          <p:nvPr/>
        </p:nvSpPr>
        <p:spPr>
          <a:xfrm>
            <a:off x="3798032" y="6301155"/>
            <a:ext cx="5250691" cy="369332"/>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Ba ràng buộc của quản lý dự án</a:t>
            </a:r>
          </a:p>
        </p:txBody>
      </p:sp>
      <p:pic>
        <p:nvPicPr>
          <p:cNvPr id="10" name="Picture 9">
            <a:extLst>
              <a:ext uri="{FF2B5EF4-FFF2-40B4-BE49-F238E27FC236}">
                <a16:creationId xmlns:a16="http://schemas.microsoft.com/office/drawing/2014/main" id="{FAC61E58-F99D-2B28-0719-B14007DA4D49}"/>
              </a:ext>
            </a:extLst>
          </p:cNvPr>
          <p:cNvPicPr>
            <a:picLocks noChangeAspect="1"/>
          </p:cNvPicPr>
          <p:nvPr/>
        </p:nvPicPr>
        <p:blipFill>
          <a:blip r:embed="rId3"/>
          <a:stretch>
            <a:fillRect/>
          </a:stretch>
        </p:blipFill>
        <p:spPr>
          <a:xfrm>
            <a:off x="3798032" y="3426694"/>
            <a:ext cx="3433436" cy="2682534"/>
          </a:xfrm>
          <a:prstGeom prst="rect">
            <a:avLst/>
          </a:prstGeom>
        </p:spPr>
      </p:pic>
      <p:sp>
        <p:nvSpPr>
          <p:cNvPr id="11" name="TextBox 10">
            <a:extLst>
              <a:ext uri="{FF2B5EF4-FFF2-40B4-BE49-F238E27FC236}">
                <a16:creationId xmlns:a16="http://schemas.microsoft.com/office/drawing/2014/main" id="{A4D83BBD-6E82-AAAB-24D3-210C4119F7F1}"/>
              </a:ext>
            </a:extLst>
          </p:cNvPr>
          <p:cNvSpPr txBox="1"/>
          <p:nvPr/>
        </p:nvSpPr>
        <p:spPr>
          <a:xfrm>
            <a:off x="5514750" y="3340516"/>
            <a:ext cx="1488911" cy="268651"/>
          </a:xfrm>
          <a:prstGeom prst="rect">
            <a:avLst/>
          </a:prstGeom>
          <a:noFill/>
        </p:spPr>
        <p:txBody>
          <a:bodyPr wrap="square" lIns="0" tIns="0" rIns="0" bIns="0" rtlCol="0">
            <a:noAutofit/>
          </a:bodyPr>
          <a:lstStyle/>
          <a:p>
            <a:pPr indent="-274320" algn="ctr"/>
            <a:r>
              <a:rPr lang="vi" sz="2000" b="1" dirty="0">
                <a:solidFill>
                  <a:schemeClr val="bg2">
                    <a:lumMod val="50000"/>
                  </a:schemeClr>
                </a:solidFill>
                <a:latin typeface="Cambria" panose="02040503050406030204" pitchFamily="18" charset="0"/>
                <a:ea typeface="Cambria" panose="02040503050406030204" pitchFamily="18" charset="0"/>
              </a:rPr>
              <a:t>Thời gian</a:t>
            </a:r>
            <a:r>
              <a:rPr lang="vi"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2" name="TextBox 11">
            <a:extLst>
              <a:ext uri="{FF2B5EF4-FFF2-40B4-BE49-F238E27FC236}">
                <a16:creationId xmlns:a16="http://schemas.microsoft.com/office/drawing/2014/main" id="{D6EFD198-559E-BD9A-31C2-CEE6446FAD3C}"/>
              </a:ext>
            </a:extLst>
          </p:cNvPr>
          <p:cNvSpPr txBox="1"/>
          <p:nvPr/>
        </p:nvSpPr>
        <p:spPr>
          <a:xfrm>
            <a:off x="2642013" y="5652986"/>
            <a:ext cx="1488911" cy="268651"/>
          </a:xfrm>
          <a:prstGeom prst="rect">
            <a:avLst/>
          </a:prstGeom>
          <a:noFill/>
        </p:spPr>
        <p:txBody>
          <a:bodyPr wrap="square" lIns="0" tIns="0" rIns="0" bIns="0" rtlCol="0">
            <a:noAutofit/>
          </a:bodyPr>
          <a:lstStyle/>
          <a:p>
            <a:pPr indent="-274320" algn="ctr"/>
            <a:r>
              <a:rPr lang="vi" sz="2000" b="1" dirty="0">
                <a:solidFill>
                  <a:schemeClr val="bg2">
                    <a:lumMod val="50000"/>
                  </a:schemeClr>
                </a:solidFill>
                <a:latin typeface="Cambria" panose="02040503050406030204" pitchFamily="18" charset="0"/>
                <a:ea typeface="Cambria" panose="02040503050406030204" pitchFamily="18" charset="0"/>
              </a:rPr>
              <a:t>Phạm vi</a:t>
            </a:r>
            <a:r>
              <a:rPr lang="vi"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3" name="TextBox 12">
            <a:extLst>
              <a:ext uri="{FF2B5EF4-FFF2-40B4-BE49-F238E27FC236}">
                <a16:creationId xmlns:a16="http://schemas.microsoft.com/office/drawing/2014/main" id="{3557E6FB-F563-0F10-5649-C3CBACFD91A6}"/>
              </a:ext>
            </a:extLst>
          </p:cNvPr>
          <p:cNvSpPr txBox="1"/>
          <p:nvPr/>
        </p:nvSpPr>
        <p:spPr>
          <a:xfrm>
            <a:off x="6676313" y="5787312"/>
            <a:ext cx="1488911" cy="268651"/>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Chi </a:t>
            </a:r>
            <a:r>
              <a:rPr lang="en-US" sz="2000" b="1" dirty="0" err="1">
                <a:solidFill>
                  <a:schemeClr val="bg2">
                    <a:lumMod val="50000"/>
                  </a:schemeClr>
                </a:solidFill>
                <a:latin typeface="Cambria" panose="02040503050406030204" pitchFamily="18" charset="0"/>
                <a:ea typeface="Cambria" panose="02040503050406030204" pitchFamily="18" charset="0"/>
              </a:rPr>
              <a:t>phí</a:t>
            </a:r>
            <a:endParaRPr lang="vi" sz="1600" b="1" dirty="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1553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36C4C66-D7F8-A6F8-D872-5CC3BD1828FB}"/>
              </a:ext>
            </a:extLst>
          </p:cNvPr>
          <p:cNvPicPr>
            <a:picLocks noChangeAspect="1"/>
          </p:cNvPicPr>
          <p:nvPr/>
        </p:nvPicPr>
        <p:blipFill>
          <a:blip r:embed="rId2"/>
          <a:stretch>
            <a:fillRect/>
          </a:stretch>
        </p:blipFill>
        <p:spPr>
          <a:xfrm>
            <a:off x="7517485" y="2428896"/>
            <a:ext cx="4674515" cy="3652186"/>
          </a:xfrm>
          <a:prstGeom prst="rect">
            <a:avLst/>
          </a:prstGeom>
        </p:spPr>
      </p:pic>
      <p:sp>
        <p:nvSpPr>
          <p:cNvPr id="18" name="TextBox 17">
            <a:extLst>
              <a:ext uri="{FF2B5EF4-FFF2-40B4-BE49-F238E27FC236}">
                <a16:creationId xmlns:a16="http://schemas.microsoft.com/office/drawing/2014/main" id="{5ABFBE90-B732-1A0F-283F-703DEE930234}"/>
              </a:ext>
            </a:extLst>
          </p:cNvPr>
          <p:cNvSpPr txBox="1"/>
          <p:nvPr/>
        </p:nvSpPr>
        <p:spPr>
          <a:xfrm>
            <a:off x="339353" y="1875316"/>
            <a:ext cx="7769053" cy="3970318"/>
          </a:xfrm>
          <a:prstGeom prst="rect">
            <a:avLst/>
          </a:prstGeom>
          <a:noFill/>
        </p:spPr>
        <p:txBody>
          <a:bodyPr wrap="square">
            <a:spAutoFit/>
          </a:bodyPr>
          <a:lstStyle/>
          <a:p>
            <a:pPr algn="l"/>
            <a:r>
              <a:rPr lang="vi" b="1" dirty="0">
                <a:latin typeface="Cambria" panose="02040503050406030204" pitchFamily="18" charset="0"/>
                <a:ea typeface="Cambria" panose="02040503050406030204" pitchFamily="18" charset="0"/>
              </a:rPr>
              <a:t>Phạm vi</a:t>
            </a:r>
          </a:p>
          <a:p>
            <a:pPr algn="just"/>
            <a:r>
              <a:rPr lang="vi" dirty="0">
                <a:latin typeface="Cambria" panose="02040503050406030204" pitchFamily="18" charset="0"/>
                <a:ea typeface="Cambria" panose="02040503050406030204" pitchFamily="18" charset="0"/>
              </a:rPr>
              <a:t>Thành phần phạm vi của tam giác đề cập đến quy mô của dự án đang được hoàn thành. Quy mô được đo lường theo chất lượng dự án, độ phức tạp, số lượng hoặc quy mô của sản phẩm, chi tiết, số lượng tính năng và khả năng của sản phẩm (chẳng hạn như số lượng người dùng mà phần mềm có thể hỗ trợ). Phải tránh tình trạng mở rộng phạm vi không được quản lý và không mong muốn —một sự gia tăng tiêu cực trong các yêu cầu của dự án—để giữ cho chi phí và thời gian của dự án được kiểm soát.</a:t>
            </a:r>
          </a:p>
          <a:p>
            <a:pPr algn="just"/>
            <a:endParaRPr lang="en-US" dirty="0">
              <a:latin typeface="Cambria" panose="02040503050406030204" pitchFamily="18" charset="0"/>
              <a:ea typeface="Cambria" panose="02040503050406030204" pitchFamily="18" charset="0"/>
            </a:endParaRPr>
          </a:p>
          <a:p>
            <a:pPr algn="just"/>
            <a:r>
              <a:rPr lang="vi" dirty="0">
                <a:latin typeface="Cambria" panose="02040503050406030204" pitchFamily="18" charset="0"/>
                <a:ea typeface="Cambria" panose="02040503050406030204" pitchFamily="18" charset="0"/>
              </a:rPr>
              <a:t>Một số lựa chọn ví dụ giúp cân bằng phạm vi bao gồm:</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Thêm hoặc </a:t>
            </a:r>
            <a:r>
              <a:rPr lang="en-US" dirty="0" err="1">
                <a:latin typeface="Cambria" panose="02040503050406030204" pitchFamily="18" charset="0"/>
                <a:ea typeface="Cambria" panose="02040503050406030204" pitchFamily="18" charset="0"/>
              </a:rPr>
              <a:t>loại</a:t>
            </a: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bỏ</a:t>
            </a:r>
            <a:r>
              <a:rPr lang="vi" dirty="0">
                <a:latin typeface="Cambria" panose="02040503050406030204" pitchFamily="18" charset="0"/>
                <a:ea typeface="Cambria" panose="02040503050406030204" pitchFamily="18" charset="0"/>
              </a:rPr>
              <a:t> tài nguyên</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Sử dụng kế hoạch quản lý thay đổi để kiểm soát phạm vi</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Cắt giảm các nhiệm vụ dễ làm để dành chỗ cho các nhiệm vụ ưu tiên</a:t>
            </a:r>
          </a:p>
          <a:p>
            <a:pPr marL="742950" lvl="1" indent="-285750" algn="just">
              <a:spcBef>
                <a:spcPct val="0"/>
              </a:spcBef>
              <a:buClr>
                <a:schemeClr val="accent2">
                  <a:lumMod val="75000"/>
                </a:schemeClr>
              </a:buClr>
              <a:buSzPct val="140000"/>
              <a:buFont typeface="Wingdings" panose="05000000000000000000" pitchFamily="2" charset="2"/>
              <a:buChar char="§"/>
            </a:pPr>
            <a:r>
              <a:rPr lang="vi" dirty="0">
                <a:latin typeface="Cambria" panose="02040503050406030204" pitchFamily="18" charset="0"/>
                <a:ea typeface="Cambria" panose="02040503050406030204" pitchFamily="18" charset="0"/>
              </a:rPr>
              <a:t>Gia hạn thời hạn của dự án</a:t>
            </a:r>
          </a:p>
        </p:txBody>
      </p:sp>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GIỚI THIỆU PHẠM VI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D04A550-A9AA-849B-79B8-4BA027C48453}"/>
              </a:ext>
            </a:extLst>
          </p:cNvPr>
          <p:cNvSpPr txBox="1"/>
          <p:nvPr/>
        </p:nvSpPr>
        <p:spPr>
          <a:xfrm>
            <a:off x="9431211" y="2553648"/>
            <a:ext cx="2133600" cy="365760"/>
          </a:xfrm>
          <a:prstGeom prst="rect">
            <a:avLst/>
          </a:prstGeom>
          <a:noFill/>
        </p:spPr>
        <p:txBody>
          <a:bodyPr wrap="square" lIns="0" tIns="0" rIns="0" bIns="0" rtlCol="0">
            <a:noAutofit/>
          </a:bodyPr>
          <a:lstStyle/>
          <a:p>
            <a:pPr indent="-274320" algn="ctr"/>
            <a:r>
              <a:rPr lang="vi" sz="2000" b="1" dirty="0">
                <a:solidFill>
                  <a:schemeClr val="bg2">
                    <a:lumMod val="50000"/>
                  </a:schemeClr>
                </a:solidFill>
                <a:latin typeface="Cambria" panose="02040503050406030204" pitchFamily="18" charset="0"/>
                <a:ea typeface="Cambria" panose="02040503050406030204" pitchFamily="18" charset="0"/>
              </a:rPr>
              <a:t>Thời gian</a:t>
            </a:r>
            <a:r>
              <a:rPr lang="vi"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0" name="TextBox 9">
            <a:extLst>
              <a:ext uri="{FF2B5EF4-FFF2-40B4-BE49-F238E27FC236}">
                <a16:creationId xmlns:a16="http://schemas.microsoft.com/office/drawing/2014/main" id="{C477F5A7-2AFE-9BF7-B3E4-D9CC2D52EAED}"/>
              </a:ext>
            </a:extLst>
          </p:cNvPr>
          <p:cNvSpPr txBox="1"/>
          <p:nvPr/>
        </p:nvSpPr>
        <p:spPr>
          <a:xfrm>
            <a:off x="6773368" y="5927933"/>
            <a:ext cx="2133600" cy="365760"/>
          </a:xfrm>
          <a:prstGeom prst="rect">
            <a:avLst/>
          </a:prstGeom>
          <a:noFill/>
        </p:spPr>
        <p:txBody>
          <a:bodyPr wrap="square" lIns="0" tIns="0" rIns="0" bIns="0" rtlCol="0">
            <a:noAutofit/>
          </a:bodyPr>
          <a:lstStyle/>
          <a:p>
            <a:pPr indent="-274320" algn="ctr"/>
            <a:r>
              <a:rPr lang="vi" sz="2000" b="1" dirty="0">
                <a:solidFill>
                  <a:schemeClr val="bg2">
                    <a:lumMod val="50000"/>
                  </a:schemeClr>
                </a:solidFill>
                <a:latin typeface="Cambria" panose="02040503050406030204" pitchFamily="18" charset="0"/>
                <a:ea typeface="Cambria" panose="02040503050406030204" pitchFamily="18" charset="0"/>
              </a:rPr>
              <a:t>Phạm vi</a:t>
            </a:r>
            <a:r>
              <a:rPr lang="vi" sz="1600" b="1" dirty="0">
                <a:solidFill>
                  <a:schemeClr val="bg2">
                    <a:lumMod val="50000"/>
                  </a:schemeClr>
                </a:solidFill>
                <a:latin typeface="Cambria" panose="02040503050406030204" pitchFamily="18" charset="0"/>
                <a:ea typeface="Cambria" panose="02040503050406030204" pitchFamily="18" charset="0"/>
              </a:rPr>
              <a:t> </a:t>
            </a:r>
          </a:p>
        </p:txBody>
      </p:sp>
      <p:sp>
        <p:nvSpPr>
          <p:cNvPr id="12" name="TextBox 11">
            <a:extLst>
              <a:ext uri="{FF2B5EF4-FFF2-40B4-BE49-F238E27FC236}">
                <a16:creationId xmlns:a16="http://schemas.microsoft.com/office/drawing/2014/main" id="{FC15A5AC-AC0A-D12B-90D2-D6A1FDF555AD}"/>
              </a:ext>
            </a:extLst>
          </p:cNvPr>
          <p:cNvSpPr txBox="1"/>
          <p:nvPr/>
        </p:nvSpPr>
        <p:spPr>
          <a:xfrm>
            <a:off x="10498011" y="5974694"/>
            <a:ext cx="2133600" cy="365760"/>
          </a:xfrm>
          <a:prstGeom prst="rect">
            <a:avLst/>
          </a:prstGeom>
          <a:noFill/>
        </p:spPr>
        <p:txBody>
          <a:bodyPr wrap="square" lIns="0" tIns="0" rIns="0" bIns="0" rtlCol="0">
            <a:noAutofit/>
          </a:bodyPr>
          <a:lstStyle/>
          <a:p>
            <a:pPr indent="-274320" algn="ctr"/>
            <a:r>
              <a:rPr lang="en-US" sz="2000" b="1" dirty="0">
                <a:solidFill>
                  <a:schemeClr val="bg2">
                    <a:lumMod val="50000"/>
                  </a:schemeClr>
                </a:solidFill>
                <a:latin typeface="Cambria" panose="02040503050406030204" pitchFamily="18" charset="0"/>
                <a:ea typeface="Cambria" panose="02040503050406030204" pitchFamily="18" charset="0"/>
              </a:rPr>
              <a:t>Chi </a:t>
            </a:r>
            <a:r>
              <a:rPr lang="en-US" sz="2000" b="1" dirty="0" err="1">
                <a:solidFill>
                  <a:schemeClr val="bg2">
                    <a:lumMod val="50000"/>
                  </a:schemeClr>
                </a:solidFill>
                <a:latin typeface="Cambria" panose="02040503050406030204" pitchFamily="18" charset="0"/>
                <a:ea typeface="Cambria" panose="02040503050406030204" pitchFamily="18" charset="0"/>
              </a:rPr>
              <a:t>phí</a:t>
            </a:r>
            <a:endParaRPr lang="vi" sz="1600" b="1" dirty="0">
              <a:solidFill>
                <a:schemeClr val="bg2">
                  <a:lumMod val="50000"/>
                </a:schemeClr>
              </a:solidFill>
              <a:latin typeface="Cambria" panose="02040503050406030204" pitchFamily="18" charset="0"/>
              <a:ea typeface="Cambria" panose="02040503050406030204" pitchFamily="18" charset="0"/>
            </a:endParaRPr>
          </a:p>
        </p:txBody>
      </p:sp>
      <p:sp>
        <p:nvSpPr>
          <p:cNvPr id="14" name="TextBox 13">
            <a:extLst>
              <a:ext uri="{FF2B5EF4-FFF2-40B4-BE49-F238E27FC236}">
                <a16:creationId xmlns:a16="http://schemas.microsoft.com/office/drawing/2014/main" id="{9671ABF7-962E-981C-D13A-FF7055B6ECF6}"/>
              </a:ext>
            </a:extLst>
          </p:cNvPr>
          <p:cNvSpPr txBox="1"/>
          <p:nvPr/>
        </p:nvSpPr>
        <p:spPr>
          <a:xfrm>
            <a:off x="339355" y="840453"/>
            <a:ext cx="6578600" cy="369332"/>
          </a:xfrm>
          <a:prstGeom prst="rect">
            <a:avLst/>
          </a:prstGeom>
          <a:noFill/>
        </p:spPr>
        <p:txBody>
          <a:bodyPr wrap="square">
            <a:spAutoFit/>
          </a:bodyPr>
          <a:lstStyle/>
          <a:p>
            <a:pPr algn="just"/>
            <a:r>
              <a:rPr lang="vi" b="1" dirty="0">
                <a:latin typeface="Cambria" panose="02040503050406030204" pitchFamily="18" charset="0"/>
                <a:ea typeface="Cambria" panose="02040503050406030204" pitchFamily="18" charset="0"/>
              </a:rPr>
              <a:t>Tại sao quản lý phạm vi?</a:t>
            </a:r>
          </a:p>
        </p:txBody>
      </p:sp>
      <p:sp>
        <p:nvSpPr>
          <p:cNvPr id="16" name="TextBox 15">
            <a:extLst>
              <a:ext uri="{FF2B5EF4-FFF2-40B4-BE49-F238E27FC236}">
                <a16:creationId xmlns:a16="http://schemas.microsoft.com/office/drawing/2014/main" id="{04B52A99-8BEE-5E4E-23BF-E08021F47199}"/>
              </a:ext>
            </a:extLst>
          </p:cNvPr>
          <p:cNvSpPr txBox="1"/>
          <p:nvPr/>
        </p:nvSpPr>
        <p:spPr>
          <a:xfrm>
            <a:off x="339354" y="1209785"/>
            <a:ext cx="10004796" cy="646331"/>
          </a:xfrm>
          <a:prstGeom prst="rect">
            <a:avLst/>
          </a:prstGeom>
          <a:noFill/>
        </p:spPr>
        <p:txBody>
          <a:bodyPr wrap="square">
            <a:spAutoFit/>
          </a:bodyPr>
          <a:lstStyle/>
          <a:p>
            <a:pPr eaLnBrk="1" hangingPunct="1">
              <a:defRPr/>
            </a:pPr>
            <a:r>
              <a:rPr lang="vi" dirty="0">
                <a:latin typeface="Cambria" panose="02040503050406030204" pitchFamily="18" charset="0"/>
                <a:ea typeface="Cambria" panose="02040503050406030204" pitchFamily="18" charset="0"/>
              </a:rPr>
              <a:t>Không thể quản lý lịch trình và ngân sách nếu phạm vi nằm ngoài tầm kiểm soát </a:t>
            </a:r>
            <a:endParaRPr lang="en-US" dirty="0">
              <a:latin typeface="Cambria" panose="02040503050406030204" pitchFamily="18" charset="0"/>
              <a:ea typeface="Cambria" panose="02040503050406030204" pitchFamily="18" charset="0"/>
            </a:endParaRPr>
          </a:p>
          <a:p>
            <a:pPr eaLnBrk="1" hangingPunct="1">
              <a:defRPr/>
            </a:pPr>
            <a:r>
              <a:rPr lang="vi" dirty="0">
                <a:latin typeface="Cambria" panose="02040503050406030204" pitchFamily="18" charset="0"/>
                <a:ea typeface="Cambria" panose="02040503050406030204" pitchFamily="18" charset="0"/>
              </a:rPr>
              <a:t>Tài liệu phạm vi được sử dụng để quản lý kỳ vọng</a:t>
            </a:r>
          </a:p>
        </p:txBody>
      </p:sp>
    </p:spTree>
    <p:extLst>
      <p:ext uri="{BB962C8B-B14F-4D97-AF65-F5344CB8AC3E}">
        <p14:creationId xmlns:p14="http://schemas.microsoft.com/office/powerpoint/2010/main" val="3161410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Diagram of a building with different types of buildings&#10;&#10;Description automatically generated">
            <a:extLst>
              <a:ext uri="{FF2B5EF4-FFF2-40B4-BE49-F238E27FC236}">
                <a16:creationId xmlns:a16="http://schemas.microsoft.com/office/drawing/2014/main" id="{E62372A1-2CD4-F6B9-CB73-7AD657958C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5891" y="1731300"/>
            <a:ext cx="7374316" cy="4610497"/>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GIỚI THIỆU PHẠM VI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2862322"/>
          </a:xfrm>
          <a:prstGeom prst="rect">
            <a:avLst/>
          </a:prstGeom>
          <a:noFill/>
        </p:spPr>
        <p:txBody>
          <a:bodyPr wrap="square">
            <a:spAutoFit/>
          </a:bodyPr>
          <a:lstStyle/>
          <a:p>
            <a:pPr algn="just"/>
            <a:r>
              <a:rPr lang="en-US" b="1" dirty="0">
                <a:latin typeface="Cambria" panose="02040503050406030204" pitchFamily="18" charset="0"/>
                <a:ea typeface="Cambria" panose="02040503050406030204" pitchFamily="18" charset="0"/>
              </a:rPr>
              <a:t>Conceptual Development</a:t>
            </a:r>
          </a:p>
          <a:p>
            <a:pPr>
              <a:lnSpc>
                <a:spcPct val="100000"/>
              </a:lnSpc>
              <a:spcBef>
                <a:spcPct val="0"/>
              </a:spcBef>
              <a:defRPr/>
            </a:pPr>
            <a:r>
              <a:rPr lang="vi" altLang="id-ID" dirty="0">
                <a:latin typeface="Cambria" panose="02040503050406030204" pitchFamily="18" charset="0"/>
                <a:ea typeface="Cambria" panose="02040503050406030204" pitchFamily="18" charset="0"/>
              </a:rPr>
              <a:t>Quá trình giải quyết các mục tiêu của dự án bằng cách tìm ra cách tốt nhất để đáp ứng </a:t>
            </a:r>
            <a:r>
              <a:rPr lang="en-US" altLang="id-ID" dirty="0">
                <a:latin typeface="Cambria" panose="02040503050406030204" pitchFamily="18" charset="0"/>
                <a:ea typeface="Cambria" panose="02040503050406030204" pitchFamily="18" charset="0"/>
              </a:rPr>
              <a:t> </a:t>
            </a:r>
            <a:endParaRPr lang="vi" altLang="id-ID" dirty="0">
              <a:latin typeface="Cambria" panose="02040503050406030204" pitchFamily="18" charset="0"/>
              <a:ea typeface="Cambria" panose="02040503050406030204" pitchFamily="18" charset="0"/>
            </a:endParaRPr>
          </a:p>
          <a:p>
            <a:pPr marL="0" lvl="1" algn="just">
              <a:lnSpc>
                <a:spcPct val="100000"/>
              </a:lnSpc>
              <a:spcBef>
                <a:spcPct val="0"/>
              </a:spcBef>
              <a:buClr>
                <a:schemeClr val="accent2">
                  <a:lumMod val="75000"/>
                </a:schemeClr>
              </a:buClr>
            </a:pPr>
            <a:r>
              <a:rPr lang="vi" altLang="id-ID" dirty="0">
                <a:latin typeface="Cambria" panose="02040503050406030204" pitchFamily="18" charset="0"/>
                <a:ea typeface="Cambria" panose="02040503050406030204" pitchFamily="18" charset="0"/>
              </a:rPr>
              <a:t>Các bước chính:</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err="1">
                <a:latin typeface="Cambria" panose="02040503050406030204" pitchFamily="18" charset="0"/>
                <a:ea typeface="Cambria" panose="02040503050406030204" pitchFamily="18" charset="0"/>
              </a:rPr>
              <a:t>Phát</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biểu</a:t>
            </a:r>
            <a:r>
              <a:rPr lang="en-US" altLang="id-ID" dirty="0">
                <a:latin typeface="Cambria" panose="02040503050406030204" pitchFamily="18" charset="0"/>
                <a:ea typeface="Cambria" panose="02040503050406030204" pitchFamily="18" charset="0"/>
              </a:rPr>
              <a:t> v</a:t>
            </a:r>
            <a:r>
              <a:rPr lang="vi" altLang="id-ID" dirty="0">
                <a:latin typeface="Cambria" panose="02040503050406030204" pitchFamily="18" charset="0"/>
                <a:ea typeface="Cambria" panose="02040503050406030204" pitchFamily="18" charset="0"/>
              </a:rPr>
              <a:t>ấn đề </a:t>
            </a:r>
            <a:r>
              <a:rPr lang="en-US" altLang="id-ID" dirty="0">
                <a:latin typeface="Cambria" panose="02040503050406030204" pitchFamily="18" charset="0"/>
                <a:ea typeface="Cambria" panose="02040503050406030204" pitchFamily="18" charset="0"/>
              </a:rPr>
              <a:t>&amp;</a:t>
            </a:r>
            <a:r>
              <a:rPr lang="vi" altLang="id-ID" dirty="0">
                <a:latin typeface="Cambria" panose="02040503050406030204" pitchFamily="18" charset="0"/>
                <a:ea typeface="Cambria" panose="02040503050406030204" pitchFamily="18" charset="0"/>
              </a:rPr>
              <a:t> nhu cầu </a:t>
            </a:r>
            <a:endParaRPr lang="en-US" altLang="id-ID" dirty="0">
              <a:latin typeface="Cambria" panose="02040503050406030204" pitchFamily="18" charset="0"/>
              <a:ea typeface="Cambria" panose="02040503050406030204" pitchFamily="18" charset="0"/>
            </a:endParaRP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Thu thập yêu cầu</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Thu thập thông tin</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Các h</a:t>
            </a:r>
            <a:r>
              <a:rPr lang="vi" altLang="id-ID" dirty="0">
                <a:latin typeface="Cambria" panose="02040503050406030204" pitchFamily="18" charset="0"/>
                <a:ea typeface="Cambria" panose="02040503050406030204" pitchFamily="18" charset="0"/>
              </a:rPr>
              <a:t>ạn chế</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Phân tích</a:t>
            </a:r>
            <a:r>
              <a:rPr lang="en-US" altLang="id-ID" dirty="0">
                <a:latin typeface="Cambria" panose="02040503050406030204" pitchFamily="18" charset="0"/>
                <a:ea typeface="Cambria" panose="02040503050406030204" pitchFamily="18" charset="0"/>
              </a:rPr>
              <a:t> các </a:t>
            </a:r>
            <a:r>
              <a:rPr lang="en-US" altLang="id-ID" dirty="0" err="1">
                <a:latin typeface="Cambria" panose="02040503050406030204" pitchFamily="18" charset="0"/>
                <a:ea typeface="Cambria" panose="02040503050406030204" pitchFamily="18" charset="0"/>
              </a:rPr>
              <a:t>giải</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pháp</a:t>
            </a:r>
            <a:r>
              <a:rPr lang="vi" altLang="id-ID" dirty="0">
                <a:latin typeface="Cambria" panose="02040503050406030204" pitchFamily="18" charset="0"/>
                <a:ea typeface="Cambria" panose="02040503050406030204" pitchFamily="18" charset="0"/>
              </a:rPr>
              <a:t> thay thế</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Mục tiêu của dự án</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err="1">
                <a:latin typeface="Cambria" panose="02040503050406030204" pitchFamily="18" charset="0"/>
                <a:ea typeface="Cambria" panose="02040503050406030204" pitchFamily="18" charset="0"/>
              </a:rPr>
              <a:t>Tình</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huống</a:t>
            </a:r>
            <a:r>
              <a:rPr lang="en-US" altLang="id-ID" dirty="0">
                <a:latin typeface="Cambria" panose="02040503050406030204" pitchFamily="18" charset="0"/>
                <a:ea typeface="Cambria" panose="02040503050406030204" pitchFamily="18" charset="0"/>
              </a:rPr>
              <a:t> </a:t>
            </a:r>
            <a:r>
              <a:rPr lang="vi" altLang="id-ID" dirty="0">
                <a:latin typeface="Cambria" panose="02040503050406030204" pitchFamily="18" charset="0"/>
                <a:ea typeface="Cambria" panose="02040503050406030204" pitchFamily="18" charset="0"/>
              </a:rPr>
              <a:t>kinh doanh</a:t>
            </a:r>
            <a:r>
              <a:rPr lang="en-US" altLang="id-ID" dirty="0">
                <a:latin typeface="Cambria" panose="02040503050406030204" pitchFamily="18" charset="0"/>
                <a:ea typeface="Cambria" panose="02040503050406030204" pitchFamily="18" charset="0"/>
              </a:rPr>
              <a:t> (Business case)</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6090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2372A1-2CD4-F6B9-CB73-7AD657958C7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42509" y="2247503"/>
            <a:ext cx="7301080" cy="4610497"/>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GIỚI THIỆU PHẠM VI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2308324"/>
          </a:xfrm>
          <a:prstGeom prst="rect">
            <a:avLst/>
          </a:prstGeom>
          <a:noFill/>
        </p:spPr>
        <p:txBody>
          <a:bodyPr wrap="square">
            <a:spAutoFit/>
          </a:bodyPr>
          <a:lstStyle/>
          <a:p>
            <a:pPr algn="just"/>
            <a:r>
              <a:rPr lang="en-US" b="1" dirty="0" err="1">
                <a:latin typeface="Cambria" panose="02040503050406030204" pitchFamily="18" charset="0"/>
                <a:ea typeface="Cambria" panose="02040503050406030204" pitchFamily="18" charset="0"/>
              </a:rPr>
              <a:t>Tuyên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bố</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về</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thành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phần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công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việc</a:t>
            </a:r>
            <a:r>
              <a:rPr lang="en-US" b="1" dirty="0">
                <a:latin typeface="Cambria" panose="02040503050406030204" pitchFamily="18" charset="0"/>
                <a:ea typeface="Cambria" panose="02040503050406030204" pitchFamily="18" charset="0"/>
              </a:rPr>
              <a:t> </a:t>
            </a:r>
            <a:r>
              <a:rPr lang="vi" b="1" dirty="0">
                <a:latin typeface="Cambria" panose="02040503050406030204" pitchFamily="18" charset="0"/>
                <a:ea typeface="Cambria" panose="02040503050406030204" pitchFamily="18" charset="0"/>
              </a:rPr>
              <a:t>(SOW)</a:t>
            </a:r>
          </a:p>
          <a:p>
            <a:pPr indent="-533400" algn="just">
              <a:buNone/>
            </a:pPr>
            <a:r>
              <a:rPr lang="vi" altLang="id-ID" dirty="0">
                <a:latin typeface="Cambria" panose="02040503050406030204" pitchFamily="18" charset="0"/>
                <a:ea typeface="Cambria" panose="02040503050406030204" pitchFamily="18" charset="0"/>
              </a:rPr>
              <a:t>SOW là bản mô tả chi tiết về công việc cần thực hiện cho một dự án.</a:t>
            </a:r>
          </a:p>
          <a:p>
            <a:pPr indent="-533400" algn="just">
              <a:buNone/>
            </a:pPr>
            <a:r>
              <a:rPr lang="vi" altLang="id-ID" dirty="0">
                <a:latin typeface="Cambria" panose="02040503050406030204" pitchFamily="18" charset="0"/>
                <a:ea typeface="Cambria" panose="02040503050406030204" pitchFamily="18" charset="0"/>
              </a:rPr>
              <a:t>SOW hiệu quả bao gồm:</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Giới thiệu và bối cảnh (dự án &amp; yêu cầu)</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Mô tả kỹ thuật của dự án</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Vai trò và trách nhiệm</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Dòng thời gian và các mốc quan trọng</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endParaRPr lang="en-US" altLang="id-ID"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15741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GIỚI THIỆU PHẠM VI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2862322"/>
          </a:xfrm>
          <a:prstGeom prst="rect">
            <a:avLst/>
          </a:prstGeom>
          <a:noFill/>
        </p:spPr>
        <p:txBody>
          <a:bodyPr wrap="square">
            <a:spAutoFit/>
          </a:bodyPr>
          <a:lstStyle/>
          <a:p>
            <a:pPr algn="just"/>
            <a:r>
              <a:rPr lang="en-US" b="1" dirty="0" err="1">
                <a:latin typeface="Cambria" panose="02040503050406030204" pitchFamily="18" charset="0"/>
                <a:ea typeface="Cambria" panose="02040503050406030204" pitchFamily="18" charset="0"/>
              </a:rPr>
              <a:t>Tuyên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bố</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về</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thành</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phần</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công</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việc</a:t>
            </a:r>
            <a:r>
              <a:rPr lang="en-US" b="1" dirty="0">
                <a:latin typeface="Cambria" panose="02040503050406030204" pitchFamily="18" charset="0"/>
                <a:ea typeface="Cambria" panose="02040503050406030204" pitchFamily="18" charset="0"/>
              </a:rPr>
              <a:t> </a:t>
            </a:r>
            <a:r>
              <a:rPr lang="vi" b="1" dirty="0">
                <a:latin typeface="Cambria" panose="02040503050406030204" pitchFamily="18" charset="0"/>
                <a:ea typeface="Cambria" panose="02040503050406030204" pitchFamily="18" charset="0"/>
              </a:rPr>
              <a:t>(SOW)</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err="1">
                <a:latin typeface="Cambria" panose="02040503050406030204" pitchFamily="18" charset="0"/>
                <a:ea typeface="Cambria" panose="02040503050406030204" pitchFamily="18" charset="0"/>
              </a:rPr>
              <a:t>Nền</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tảng</a:t>
            </a:r>
            <a:r>
              <a:rPr lang="en-US" altLang="id-ID" dirty="0">
                <a:latin typeface="Cambria" panose="02040503050406030204" pitchFamily="18" charset="0"/>
                <a:ea typeface="Cambria" panose="02040503050406030204" pitchFamily="18" charset="0"/>
              </a:rPr>
              <a:t> </a:t>
            </a:r>
            <a:endParaRPr lang="vi" altLang="id-ID"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Mục tiêu</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Phạm vi</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Nhiệm vụ hoặc yêu cầu</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Tiêu chí lựa chọn</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Giao</a:t>
            </a:r>
            <a:r>
              <a:rPr lang="vi" altLang="id-ID" dirty="0">
                <a:latin typeface="Cambria" panose="02040503050406030204" pitchFamily="18" charset="0"/>
                <a:ea typeface="Cambria" panose="02040503050406030204" pitchFamily="18" charset="0"/>
              </a:rPr>
              <a:t> phẩm</a:t>
            </a:r>
            <a:r>
              <a:rPr lang="en-US" altLang="id-ID" dirty="0">
                <a:latin typeface="Cambria" panose="02040503050406030204" pitchFamily="18" charset="0"/>
                <a:ea typeface="Cambria" panose="02040503050406030204" pitchFamily="18" charset="0"/>
              </a:rPr>
              <a:t> (Deliverables)</a:t>
            </a:r>
            <a:r>
              <a:rPr lang="vi" altLang="id-ID" dirty="0">
                <a:latin typeface="Cambria" panose="02040503050406030204" pitchFamily="18" charset="0"/>
                <a:ea typeface="Cambria" panose="02040503050406030204" pitchFamily="18" charset="0"/>
              </a:rPr>
              <a:t> hoặc Lịch trình </a:t>
            </a:r>
            <a:r>
              <a:rPr lang="en-US" altLang="id-ID" dirty="0" err="1">
                <a:latin typeface="Cambria" panose="02040503050406030204" pitchFamily="18" charset="0"/>
                <a:ea typeface="Cambria" panose="02040503050406030204" pitchFamily="18" charset="0"/>
              </a:rPr>
              <a:t>sản</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xuất</a:t>
            </a:r>
            <a:r>
              <a:rPr lang="en-US" altLang="id-ID" dirty="0">
                <a:latin typeface="Cambria" panose="02040503050406030204" pitchFamily="18" charset="0"/>
                <a:ea typeface="Cambria" panose="02040503050406030204" pitchFamily="18" charset="0"/>
              </a:rPr>
              <a:t> (Delivery Schedule)</a:t>
            </a:r>
            <a:endParaRPr lang="vi" altLang="id-ID"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Bảo </a:t>
            </a:r>
            <a:r>
              <a:rPr lang="en-US" altLang="id-ID" dirty="0" err="1">
                <a:latin typeface="Cambria" panose="02040503050406030204" pitchFamily="18" charset="0"/>
                <a:ea typeface="Cambria" panose="02040503050406030204" pitchFamily="18" charset="0"/>
              </a:rPr>
              <a:t>mật</a:t>
            </a:r>
            <a:endParaRPr lang="vi" altLang="id-ID"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Thời gian thực hiện</a:t>
            </a:r>
          </a:p>
          <a:p>
            <a:pPr marL="742950" lvl="1" indent="-285750" algn="just">
              <a:lnSpc>
                <a:spcPct val="100000"/>
              </a:lnSpc>
              <a:spcBef>
                <a:spcPct val="0"/>
              </a:spcBef>
              <a:buClr>
                <a:schemeClr val="accent2">
                  <a:lumMod val="75000"/>
                </a:schemeClr>
              </a:buClr>
              <a:buSzPct val="140000"/>
              <a:buFont typeface="Wingdings" panose="05000000000000000000" pitchFamily="2" charset="2"/>
              <a:buChar char="§"/>
            </a:pPr>
            <a:endParaRPr lang="en-US" altLang="id-ID"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2503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GIỚI THIỆU PHẠM VI DỰ ÁN</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4" y="746588"/>
            <a:ext cx="11574037" cy="3416320"/>
          </a:xfrm>
          <a:prstGeom prst="rect">
            <a:avLst/>
          </a:prstGeom>
          <a:noFill/>
        </p:spPr>
        <p:txBody>
          <a:bodyPr wrap="square">
            <a:spAutoFit/>
          </a:bodyPr>
          <a:lstStyle/>
          <a:p>
            <a:pPr algn="just"/>
            <a:r>
              <a:rPr lang="vi" b="1" dirty="0">
                <a:latin typeface="Cambria" panose="02040503050406030204" pitchFamily="18" charset="0"/>
                <a:ea typeface="Cambria" panose="02040503050406030204" pitchFamily="18" charset="0"/>
              </a:rPr>
              <a:t>Hiến chương dự án</a:t>
            </a:r>
            <a:r>
              <a:rPr lang="en-US" b="1" dirty="0">
                <a:latin typeface="Cambria" panose="02040503050406030204" pitchFamily="18" charset="0"/>
                <a:ea typeface="Cambria" panose="02040503050406030204" pitchFamily="18" charset="0"/>
              </a:rPr>
              <a:t> (Project Charter)</a:t>
            </a:r>
            <a:endParaRPr lang="vi" b="1" dirty="0">
              <a:latin typeface="Cambria" panose="02040503050406030204" pitchFamily="18" charset="0"/>
              <a:ea typeface="Cambria" panose="02040503050406030204" pitchFamily="18" charset="0"/>
            </a:endParaRPr>
          </a:p>
          <a:p>
            <a:pPr indent="-533400" algn="just"/>
            <a:r>
              <a:rPr lang="vi" altLang="en-US" dirty="0">
                <a:solidFill>
                  <a:srgbClr val="0070C0"/>
                </a:solidFill>
                <a:latin typeface="Cambria" panose="02040503050406030204" pitchFamily="18" charset="0"/>
                <a:ea typeface="Cambria" panose="02040503050406030204" pitchFamily="18" charset="0"/>
              </a:rPr>
              <a:t>Một tài liệu cho phép người quản lý dự án khởi xướng và </a:t>
            </a:r>
            <a:r>
              <a:rPr lang="en-US" altLang="en-US" dirty="0" err="1">
                <a:solidFill>
                  <a:srgbClr val="0070C0"/>
                </a:solidFill>
                <a:latin typeface="Cambria" panose="02040503050406030204" pitchFamily="18" charset="0"/>
                <a:ea typeface="Cambria" panose="02040503050406030204" pitchFamily="18" charset="0"/>
              </a:rPr>
              <a:t>thực</a:t>
            </a:r>
            <a:r>
              <a:rPr lang="en-US" altLang="en-US" dirty="0">
                <a:solidFill>
                  <a:srgbClr val="0070C0"/>
                </a:solidFill>
                <a:latin typeface="Cambria" panose="02040503050406030204" pitchFamily="18" charset="0"/>
                <a:ea typeface="Cambria" panose="02040503050406030204" pitchFamily="18" charset="0"/>
              </a:rPr>
              <a:t> </a:t>
            </a:r>
            <a:r>
              <a:rPr lang="en-US" altLang="en-US" dirty="0" err="1">
                <a:solidFill>
                  <a:srgbClr val="0070C0"/>
                </a:solidFill>
                <a:latin typeface="Cambria" panose="02040503050406030204" pitchFamily="18" charset="0"/>
                <a:ea typeface="Cambria" panose="02040503050406030204" pitchFamily="18" charset="0"/>
              </a:rPr>
              <a:t>hiện</a:t>
            </a:r>
            <a:r>
              <a:rPr lang="en-US" altLang="en-US" dirty="0">
                <a:solidFill>
                  <a:srgbClr val="0070C0"/>
                </a:solidFill>
                <a:latin typeface="Cambria" panose="02040503050406030204" pitchFamily="18" charset="0"/>
                <a:ea typeface="Cambria" panose="02040503050406030204" pitchFamily="18" charset="0"/>
              </a:rPr>
              <a:t> </a:t>
            </a:r>
            <a:r>
              <a:rPr lang="vi" altLang="en-US" dirty="0">
                <a:solidFill>
                  <a:srgbClr val="0070C0"/>
                </a:solidFill>
                <a:latin typeface="Cambria" panose="02040503050406030204" pitchFamily="18" charset="0"/>
                <a:ea typeface="Cambria" panose="02040503050406030204" pitchFamily="18" charset="0"/>
              </a:rPr>
              <a:t>dự án.</a:t>
            </a:r>
          </a:p>
          <a:p>
            <a:pPr indent="-533400" algn="just"/>
            <a:endParaRPr lang="en-US" altLang="id-ID" dirty="0">
              <a:latin typeface="Cambria" panose="02040503050406030204" pitchFamily="18" charset="0"/>
              <a:ea typeface="Cambria" panose="02040503050406030204" pitchFamily="18" charset="0"/>
            </a:endParaRPr>
          </a:p>
          <a:p>
            <a:pPr indent="-533400" algn="just"/>
            <a:r>
              <a:rPr lang="vi" altLang="id-ID" dirty="0">
                <a:latin typeface="Cambria" panose="02040503050406030204" pitchFamily="18" charset="0"/>
                <a:ea typeface="Cambria" panose="02040503050406030204" pitchFamily="18" charset="0"/>
              </a:rPr>
              <a:t>Một văn bản do người khởi xướng hoặc nhà tài trợ dự án ban hành chính thức phê chuẩn sự tồn tại của dự án và cho phép người quản lý dự án bắt đầu áp dụng các nguồn lực của tổ chức vào các hoạt động của dự án. Điều lệ dự án được tạo ra sau khi các nhà tài trợ dự án đã xác minh rằng có:</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một </a:t>
            </a:r>
            <a:r>
              <a:rPr lang="en-US" altLang="id-ID" dirty="0" err="1">
                <a:latin typeface="Cambria" panose="02040503050406030204" pitchFamily="18" charset="0"/>
                <a:ea typeface="Cambria" panose="02040503050406030204" pitchFamily="18" charset="0"/>
              </a:rPr>
              <a:t>tình</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huống</a:t>
            </a:r>
            <a:r>
              <a:rPr lang="en-US" altLang="id-ID" dirty="0">
                <a:latin typeface="Cambria" panose="02040503050406030204" pitchFamily="18" charset="0"/>
                <a:ea typeface="Cambria" panose="02040503050406030204" pitchFamily="18" charset="0"/>
              </a:rPr>
              <a:t> </a:t>
            </a:r>
            <a:r>
              <a:rPr lang="vi" altLang="id-ID" dirty="0">
                <a:latin typeface="Cambria" panose="02040503050406030204" pitchFamily="18" charset="0"/>
                <a:ea typeface="Cambria" panose="02040503050406030204" pitchFamily="18" charset="0"/>
              </a:rPr>
              <a:t>kinh doanh cho dự án</a:t>
            </a:r>
            <a:r>
              <a:rPr lang="en-US" altLang="id-ID" dirty="0">
                <a:latin typeface="Cambria" panose="02040503050406030204" pitchFamily="18" charset="0"/>
                <a:ea typeface="Cambria" panose="02040503050406030204" pitchFamily="18" charset="0"/>
              </a:rPr>
              <a:t> (a business case for the project)</a:t>
            </a:r>
            <a:endParaRPr lang="vi" altLang="id-ID"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các yếu tố của dự án được </a:t>
            </a:r>
            <a:r>
              <a:rPr lang="en-US" altLang="id-ID" dirty="0" err="1">
                <a:latin typeface="Cambria" panose="02040503050406030204" pitchFamily="18" charset="0"/>
                <a:ea typeface="Cambria" panose="02040503050406030204" pitchFamily="18" charset="0"/>
              </a:rPr>
              <a:t>nắm</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rõ</a:t>
            </a:r>
            <a:r>
              <a:rPr lang="en-US" altLang="id-ID" dirty="0">
                <a:latin typeface="Cambria" panose="02040503050406030204" pitchFamily="18" charset="0"/>
                <a:ea typeface="Cambria" panose="02040503050406030204" pitchFamily="18" charset="0"/>
              </a:rPr>
              <a:t> (elements of project are understood)</a:t>
            </a:r>
            <a:endParaRPr lang="vi" altLang="id-ID"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thông tin cụ thể của công ty cho dự án đã được áp dụng</a:t>
            </a:r>
            <a:r>
              <a:rPr lang="en-US" altLang="id-ID" dirty="0">
                <a:latin typeface="Cambria" panose="02040503050406030204" pitchFamily="18" charset="0"/>
                <a:ea typeface="Cambria" panose="02040503050406030204" pitchFamily="18" charset="0"/>
              </a:rPr>
              <a:t> (company-specific information for the project has been applied)</a:t>
            </a:r>
          </a:p>
          <a:p>
            <a:pPr lvl="1" algn="just">
              <a:spcBef>
                <a:spcPct val="0"/>
              </a:spcBef>
              <a:buClr>
                <a:schemeClr val="accent2">
                  <a:lumMod val="75000"/>
                </a:schemeClr>
              </a:buClr>
              <a:buSzPct val="140000"/>
            </a:pPr>
            <a:endParaRPr lang="en-US" altLang="id-ID" dirty="0">
              <a:latin typeface="Cambria" panose="02040503050406030204" pitchFamily="18" charset="0"/>
              <a:ea typeface="Cambria" panose="02040503050406030204" pitchFamily="18" charset="0"/>
            </a:endParaRPr>
          </a:p>
          <a:p>
            <a:pPr indent="-533400" algn="just"/>
            <a:r>
              <a:rPr lang="vi" altLang="id-ID" dirty="0">
                <a:latin typeface="Cambria" panose="02040503050406030204" pitchFamily="18" charset="0"/>
                <a:ea typeface="Cambria" panose="02040503050406030204" pitchFamily="18" charset="0"/>
              </a:rPr>
              <a:t>Thể hiện sự chấp thuận chính thức của công ty đối với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41655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GIỚI THIỆU PHẠM VI DỰ ÁN</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D3A94FE-7791-D61D-8BDA-7AD3519A9F20}"/>
              </a:ext>
            </a:extLst>
          </p:cNvPr>
          <p:cNvSpPr txBox="1"/>
          <p:nvPr/>
        </p:nvSpPr>
        <p:spPr>
          <a:xfrm>
            <a:off x="342138" y="1104692"/>
            <a:ext cx="11535612" cy="5278368"/>
          </a:xfrm>
          <a:prstGeom prst="rect">
            <a:avLst/>
          </a:prstGeom>
          <a:noFill/>
        </p:spPr>
        <p:txBody>
          <a:bodyPr wrap="square">
            <a:spAutoFit/>
          </a:bodyPr>
          <a:lstStyle/>
          <a:p>
            <a:pPr indent="-533400" algn="just"/>
            <a:r>
              <a:rPr lang="vi" altLang="en-US" sz="1600" dirty="0">
                <a:latin typeface="Cambria" panose="02040503050406030204" pitchFamily="18" charset="0"/>
                <a:ea typeface="Cambria" panose="02040503050406030204" pitchFamily="18" charset="0"/>
              </a:rPr>
              <a:t>Tuyên bố phạm vi dự án ghi lại toàn bộ phạm vi, bao gồm phạm vi dự án và sản phẩm</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Phạm vi dự án bao gồm phạm vi sản phẩm cộng với công việc cần thiết để tạo ra sản phẩm: bất kỳ hoạt động nào liên quan đến dự án, chẳng hạn như cung cấp tài liệu và đào tạo</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Phạm vi sản phẩm bao gồm các yêu cầu chức năng và phi chức năng cho sản phẩm dự án cuối cùng</a:t>
            </a:r>
          </a:p>
          <a:p>
            <a:pPr indent="-533400" algn="just">
              <a:spcBef>
                <a:spcPts val="600"/>
              </a:spcBef>
            </a:pPr>
            <a:r>
              <a:rPr lang="vi" altLang="en-US" sz="1600" dirty="0">
                <a:latin typeface="Cambria" panose="02040503050406030204" pitchFamily="18" charset="0"/>
                <a:ea typeface="Cambria" panose="02040503050406030204" pitchFamily="18" charset="0"/>
              </a:rPr>
              <a:t>Tuyên bố phạm vi dự án cung cấp sự hiểu biết chung về phạm vi dự án giữa các bên liên quan của dự án</a:t>
            </a:r>
          </a:p>
          <a:p>
            <a:pPr indent="-533400" algn="just">
              <a:spcBef>
                <a:spcPts val="600"/>
              </a:spcBef>
            </a:pPr>
            <a:r>
              <a:rPr lang="vi" altLang="en-US" sz="1600" dirty="0">
                <a:latin typeface="Cambria" panose="02040503050406030204" pitchFamily="18" charset="0"/>
                <a:ea typeface="Cambria" panose="02040503050406030204" pitchFamily="18" charset="0"/>
              </a:rPr>
              <a:t>Tuyên bố phạm vi dự án có thể chứa các loại trừ phạm vi rõ ràng có thể giúp quản lý kỳ vọng của bên liên quan</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Điều này có thể ngăn chặn dự án đi chệch khỏi tầm nhìn ban đầu trong tất cả các phương pháp luận của dự án: tuần tự, lặp lại/gia tăng và thích ứng/linh hoạt</a:t>
            </a:r>
          </a:p>
          <a:p>
            <a:pPr indent="-533400" algn="just">
              <a:spcBef>
                <a:spcPts val="600"/>
              </a:spcBef>
            </a:pPr>
            <a:r>
              <a:rPr lang="vi" altLang="en-US" sz="1600" dirty="0">
                <a:latin typeface="Cambria" panose="02040503050406030204" pitchFamily="18" charset="0"/>
                <a:ea typeface="Cambria" panose="02040503050406030204" pitchFamily="18" charset="0"/>
              </a:rPr>
              <a:t>Nội dung tuyên bố phạm vi dự án bao gồm:</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b="1" dirty="0">
                <a:latin typeface="Cambria" panose="02040503050406030204" pitchFamily="18" charset="0"/>
                <a:ea typeface="Cambria" panose="02040503050406030204" pitchFamily="18" charset="0"/>
              </a:rPr>
              <a:t>Mô tả phạm vi sản phẩm. </a:t>
            </a:r>
            <a:r>
              <a:rPr lang="vi" altLang="en-US" sz="1600" dirty="0">
                <a:latin typeface="Cambria" panose="02040503050406030204" pitchFamily="18" charset="0"/>
                <a:ea typeface="Cambria" panose="02040503050406030204" pitchFamily="18" charset="0"/>
              </a:rPr>
              <a:t>Từng bước xây dựng các đặc điểm của sản phẩm được mô tả trong điều lệ dự án và các yêu cầu</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b="1" dirty="0">
                <a:latin typeface="Cambria" panose="02040503050406030204" pitchFamily="18" charset="0"/>
                <a:ea typeface="Cambria" panose="02040503050406030204" pitchFamily="18" charset="0"/>
              </a:rPr>
              <a:t>Tiêu chí chấp nhận sản phẩm. </a:t>
            </a:r>
            <a:r>
              <a:rPr lang="vi" altLang="en-US" sz="1600" dirty="0">
                <a:latin typeface="Cambria" panose="02040503050406030204" pitchFamily="18" charset="0"/>
                <a:ea typeface="Cambria" panose="02040503050406030204" pitchFamily="18" charset="0"/>
              </a:rPr>
              <a:t>Điều kiện cần thiết để chấp nhận sản phẩm giao</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b="1" dirty="0">
                <a:latin typeface="Cambria" panose="02040503050406030204" pitchFamily="18" charset="0"/>
                <a:ea typeface="Cambria" panose="02040503050406030204" pitchFamily="18" charset="0"/>
              </a:rPr>
              <a:t>Các sản phẩm dự án. </a:t>
            </a:r>
            <a:r>
              <a:rPr lang="vi" altLang="en-US" sz="1600" dirty="0">
                <a:latin typeface="Cambria" panose="02040503050406030204" pitchFamily="18" charset="0"/>
                <a:ea typeface="Cambria" panose="02040503050406030204" pitchFamily="18" charset="0"/>
              </a:rPr>
              <a:t>Các sản phẩm bao gồm cả sản phẩm đầu ra và sản phẩm đầu ra của dự án, chẳng hạn như báo cáo dự án và tài liệu</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b="1" dirty="0">
                <a:latin typeface="Cambria" panose="02040503050406030204" pitchFamily="18" charset="0"/>
                <a:ea typeface="Cambria" panose="02040503050406030204" pitchFamily="18" charset="0"/>
              </a:rPr>
              <a:t>Loại trừ dự án. </a:t>
            </a:r>
            <a:r>
              <a:rPr lang="vi" altLang="en-US" sz="1600" dirty="0">
                <a:latin typeface="Cambria" panose="02040503050406030204" pitchFamily="18" charset="0"/>
                <a:ea typeface="Cambria" panose="02040503050406030204" pitchFamily="18" charset="0"/>
              </a:rPr>
              <a:t>Xác định những gì bị loại trừ khỏi dự án</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b="1" dirty="0">
                <a:latin typeface="Cambria" panose="02040503050406030204" pitchFamily="18" charset="0"/>
                <a:ea typeface="Cambria" panose="02040503050406030204" pitchFamily="18" charset="0"/>
              </a:rPr>
              <a:t>Ràng buộc của dự án. </a:t>
            </a:r>
            <a:r>
              <a:rPr lang="vi" altLang="en-US" sz="1600" dirty="0">
                <a:latin typeface="Cambria" panose="02040503050406030204" pitchFamily="18" charset="0"/>
                <a:ea typeface="Cambria" panose="02040503050406030204" pitchFamily="18" charset="0"/>
              </a:rPr>
              <a:t>Liệt kê và mô tả mọi thứ hạn chế </a:t>
            </a:r>
            <a:r>
              <a:rPr lang="vi" altLang="ja-JP" sz="1600" dirty="0">
                <a:latin typeface="Cambria" panose="02040503050406030204" pitchFamily="18" charset="0"/>
                <a:ea typeface="Cambria" panose="02040503050406030204" pitchFamily="18" charset="0"/>
              </a:rPr>
              <a:t>các lựa chọn của nhóm dự án, chẳng hạn như ngân sách, lịch trình áp đặt, mốc quan trọng, v.v.</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en-US" sz="1600" b="1" dirty="0">
                <a:latin typeface="Cambria" panose="02040503050406030204" pitchFamily="18" charset="0"/>
                <a:ea typeface="Cambria" panose="02040503050406030204" pitchFamily="18" charset="0"/>
              </a:rPr>
              <a:t>Giả định của dự án. </a:t>
            </a:r>
            <a:r>
              <a:rPr lang="vi" altLang="en-US" sz="1600" dirty="0">
                <a:latin typeface="Cambria" panose="02040503050406030204" pitchFamily="18" charset="0"/>
                <a:ea typeface="Cambria" panose="02040503050406030204" pitchFamily="18" charset="0"/>
              </a:rPr>
              <a:t>Liệt kê và mô tả bất kỳ điều gì được cho là đúng liên quan đến phạm vi và tác động nếu chúng được chứng minh là sai</a:t>
            </a:r>
          </a:p>
          <a:p>
            <a:pPr lvl="1" algn="just">
              <a:spcBef>
                <a:spcPct val="0"/>
              </a:spcBef>
              <a:buClr>
                <a:schemeClr val="accent2">
                  <a:lumMod val="75000"/>
                </a:schemeClr>
              </a:buClr>
              <a:buSzPct val="140000"/>
            </a:pPr>
            <a:endParaRPr lang="en-US" altLang="en-US" dirty="0">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58DA340A-1F2A-9857-73C5-6043D0596416}"/>
              </a:ext>
            </a:extLst>
          </p:cNvPr>
          <p:cNvSpPr txBox="1"/>
          <p:nvPr/>
        </p:nvSpPr>
        <p:spPr>
          <a:xfrm>
            <a:off x="339355" y="782944"/>
            <a:ext cx="6096000" cy="338554"/>
          </a:xfrm>
          <a:prstGeom prst="rect">
            <a:avLst/>
          </a:prstGeom>
          <a:noFill/>
        </p:spPr>
        <p:txBody>
          <a:bodyPr wrap="square">
            <a:spAutoFit/>
          </a:bodyPr>
          <a:lstStyle/>
          <a:p>
            <a:r>
              <a:rPr lang="vi" altLang="en-US" sz="1600" b="1" dirty="0">
                <a:latin typeface="Cambria" panose="02040503050406030204" pitchFamily="18" charset="0"/>
                <a:ea typeface="Cambria" panose="02040503050406030204" pitchFamily="18" charset="0"/>
              </a:rPr>
              <a:t>Tuyên bố phạm vi dự án</a:t>
            </a:r>
            <a:endParaRPr lang="en-US" sz="1600"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85986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GIỚI THIỆU PHẠM VI DỰ ÁN</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46588"/>
            <a:ext cx="5472165" cy="2308324"/>
          </a:xfrm>
          <a:prstGeom prst="rect">
            <a:avLst/>
          </a:prstGeom>
          <a:noFill/>
        </p:spPr>
        <p:txBody>
          <a:bodyPr wrap="square">
            <a:spAutoFit/>
          </a:bodyPr>
          <a:lstStyle/>
          <a:p>
            <a:pPr algn="just"/>
            <a:r>
              <a:rPr lang="vi" b="1" dirty="0">
                <a:latin typeface="Cambria" panose="02040503050406030204" pitchFamily="18" charset="0"/>
                <a:ea typeface="Cambria" panose="02040503050406030204" pitchFamily="18" charset="0"/>
              </a:rPr>
              <a:t>Tuyên bố phạm vi</a:t>
            </a:r>
          </a:p>
          <a:p>
            <a:pPr algn="just"/>
            <a:r>
              <a:rPr lang="vi" altLang="id-ID" dirty="0">
                <a:latin typeface="Cambria" panose="02040503050406030204" pitchFamily="18" charset="0"/>
                <a:ea typeface="Cambria" panose="02040503050406030204" pitchFamily="18" charset="0"/>
              </a:rPr>
              <a:t>Thiết lập tiêu chí mục tiêu của dự án bao gồm:</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Chi </a:t>
            </a:r>
            <a:r>
              <a:rPr lang="en-US" altLang="id-ID" dirty="0" err="1">
                <a:latin typeface="Cambria" panose="02040503050406030204" pitchFamily="18" charset="0"/>
                <a:ea typeface="Cambria" panose="02040503050406030204" pitchFamily="18" charset="0"/>
              </a:rPr>
              <a:t>phí</a:t>
            </a:r>
            <a:endParaRPr lang="vi" altLang="id-ID" dirty="0">
              <a:latin typeface="Cambria" panose="02040503050406030204" pitchFamily="18" charset="0"/>
              <a:ea typeface="Cambria" panose="02040503050406030204" pitchFamily="18" charset="0"/>
            </a:endParaRP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Lịch trình</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Hiệu suất</a:t>
            </a:r>
          </a:p>
          <a:p>
            <a:pPr marL="742950" lvl="1" indent="-285750" algn="just">
              <a:spcBef>
                <a:spcPct val="0"/>
              </a:spcBef>
              <a:buClr>
                <a:schemeClr val="accent2">
                  <a:lumMod val="75000"/>
                </a:schemeClr>
              </a:buClr>
              <a:buSzPct val="140000"/>
              <a:buFont typeface="Wingdings" panose="05000000000000000000" pitchFamily="2" charset="2"/>
              <a:buChar char="§"/>
            </a:pPr>
            <a:r>
              <a:rPr lang="vi" altLang="id-ID" dirty="0">
                <a:latin typeface="Cambria" panose="02040503050406030204" pitchFamily="18" charset="0"/>
                <a:ea typeface="Cambria" panose="02040503050406030204" pitchFamily="18" charset="0"/>
              </a:rPr>
              <a:t>Sản phẩm giao</a:t>
            </a:r>
          </a:p>
          <a:p>
            <a:pPr marL="742950" lvl="1" indent="-285750" algn="just">
              <a:spcBef>
                <a:spcPct val="0"/>
              </a:spcBef>
              <a:buClr>
                <a:schemeClr val="accent2">
                  <a:lumMod val="75000"/>
                </a:schemeClr>
              </a:buClr>
              <a:buSzPct val="140000"/>
              <a:buFont typeface="Wingdings" panose="05000000000000000000" pitchFamily="2" charset="2"/>
              <a:buChar char="§"/>
            </a:pPr>
            <a:r>
              <a:rPr lang="en-US" altLang="id-ID" dirty="0">
                <a:latin typeface="Cambria" panose="02040503050406030204" pitchFamily="18" charset="0"/>
                <a:ea typeface="Cambria" panose="02040503050406030204" pitchFamily="18" charset="0"/>
              </a:rPr>
              <a:t>Các </a:t>
            </a:r>
            <a:r>
              <a:rPr lang="en-US" altLang="id-ID" dirty="0" err="1">
                <a:latin typeface="Cambria" panose="02040503050406030204" pitchFamily="18" charset="0"/>
                <a:ea typeface="Cambria" panose="02040503050406030204" pitchFamily="18" charset="0"/>
              </a:rPr>
              <a:t>đầu</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mối</a:t>
            </a:r>
            <a:r>
              <a:rPr lang="en-US" altLang="id-ID" dirty="0">
                <a:latin typeface="Cambria" panose="02040503050406030204" pitchFamily="18" charset="0"/>
                <a:ea typeface="Cambria" panose="02040503050406030204" pitchFamily="18" charset="0"/>
              </a:rPr>
              <a:t> </a:t>
            </a:r>
            <a:r>
              <a:rPr lang="en-US" altLang="id-ID" dirty="0" err="1">
                <a:latin typeface="Cambria" panose="02040503050406030204" pitchFamily="18" charset="0"/>
                <a:ea typeface="Cambria" panose="02040503050406030204" pitchFamily="18" charset="0"/>
              </a:rPr>
              <a:t>xe</a:t>
            </a:r>
            <a:r>
              <a:rPr lang="vi" altLang="id-ID" dirty="0">
                <a:latin typeface="Cambria" panose="02040503050406030204" pitchFamily="18" charset="0"/>
                <a:ea typeface="Cambria" panose="02040503050406030204" pitchFamily="18" charset="0"/>
              </a:rPr>
              <a:t>m xét và phê duyệt</a:t>
            </a:r>
            <a:r>
              <a:rPr lang="en-US" altLang="id-ID" dirty="0">
                <a:latin typeface="Cambria" panose="02040503050406030204" pitchFamily="18" charset="0"/>
                <a:ea typeface="Cambria" panose="02040503050406030204" pitchFamily="18" charset="0"/>
              </a:rPr>
              <a:t> </a:t>
            </a:r>
          </a:p>
          <a:p>
            <a:pPr lvl="1" algn="just">
              <a:spcBef>
                <a:spcPct val="0"/>
              </a:spcBef>
              <a:buClr>
                <a:schemeClr val="accent2">
                  <a:lumMod val="75000"/>
                </a:schemeClr>
              </a:buClr>
              <a:buSzPct val="140000"/>
            </a:pPr>
            <a:endParaRPr lang="en-US" altLang="id-ID"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6031CFB0-A0F4-3218-2E1A-23A4FD96324D}"/>
              </a:ext>
            </a:extLst>
          </p:cNvPr>
          <p:cNvPicPr>
            <a:picLocks noChangeAspect="1"/>
          </p:cNvPicPr>
          <p:nvPr/>
        </p:nvPicPr>
        <p:blipFill>
          <a:blip r:embed="rId2"/>
          <a:stretch>
            <a:fillRect/>
          </a:stretch>
        </p:blipFill>
        <p:spPr>
          <a:xfrm>
            <a:off x="5994400" y="748893"/>
            <a:ext cx="5883350" cy="5562915"/>
          </a:xfrm>
          <a:prstGeom prst="rect">
            <a:avLst/>
          </a:prstGeom>
        </p:spPr>
      </p:pic>
    </p:spTree>
    <p:extLst>
      <p:ext uri="{BB962C8B-B14F-4D97-AF65-F5344CB8AC3E}">
        <p14:creationId xmlns:p14="http://schemas.microsoft.com/office/powerpoint/2010/main" val="2060021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2. QUY TRÌNH QUẢN LÝ PHẠM VI DỰ ÁN</a:t>
            </a:r>
          </a:p>
        </p:txBody>
      </p:sp>
      <p:graphicFrame>
        <p:nvGraphicFramePr>
          <p:cNvPr id="2" name="Table 1">
            <a:extLst>
              <a:ext uri="{FF2B5EF4-FFF2-40B4-BE49-F238E27FC236}">
                <a16:creationId xmlns:a16="http://schemas.microsoft.com/office/drawing/2014/main" id="{658B4786-3171-97E0-D011-8013383E4BF0}"/>
              </a:ext>
            </a:extLst>
          </p:cNvPr>
          <p:cNvGraphicFramePr>
            <a:graphicFrameLocks noGrp="1"/>
          </p:cNvGraphicFramePr>
          <p:nvPr>
            <p:extLst>
              <p:ext uri="{D42A27DB-BD31-4B8C-83A1-F6EECF244321}">
                <p14:modId xmlns:p14="http://schemas.microsoft.com/office/powerpoint/2010/main" val="4040197604"/>
              </p:ext>
            </p:extLst>
          </p:nvPr>
        </p:nvGraphicFramePr>
        <p:xfrm>
          <a:off x="418312" y="970280"/>
          <a:ext cx="7492216" cy="4541520"/>
        </p:xfrm>
        <a:graphic>
          <a:graphicData uri="http://schemas.openxmlformats.org/drawingml/2006/table">
            <a:tbl>
              <a:tblPr firstRow="1" bandRow="1">
                <a:tableStyleId>{3B4B98B0-60AC-42C2-AFA5-B58CD77FA1E5}</a:tableStyleId>
              </a:tblPr>
              <a:tblGrid>
                <a:gridCol w="1554988">
                  <a:extLst>
                    <a:ext uri="{9D8B030D-6E8A-4147-A177-3AD203B41FA5}">
                      <a16:colId xmlns:a16="http://schemas.microsoft.com/office/drawing/2014/main" val="20000"/>
                    </a:ext>
                  </a:extLst>
                </a:gridCol>
                <a:gridCol w="2429300">
                  <a:extLst>
                    <a:ext uri="{9D8B030D-6E8A-4147-A177-3AD203B41FA5}">
                      <a16:colId xmlns:a16="http://schemas.microsoft.com/office/drawing/2014/main" val="20001"/>
                    </a:ext>
                  </a:extLst>
                </a:gridCol>
                <a:gridCol w="3507928">
                  <a:extLst>
                    <a:ext uri="{9D8B030D-6E8A-4147-A177-3AD203B41FA5}">
                      <a16:colId xmlns:a16="http://schemas.microsoft.com/office/drawing/2014/main" val="20002"/>
                    </a:ext>
                  </a:extLst>
                </a:gridCol>
              </a:tblGrid>
              <a:tr h="370840">
                <a:tc>
                  <a:txBody>
                    <a:bodyPr/>
                    <a:lstStyle/>
                    <a:p>
                      <a:pPr algn="l"/>
                      <a:r>
                        <a:rPr lang="vi" sz="1600" dirty="0">
                          <a:latin typeface="Cambria" panose="02040503050406030204" pitchFamily="18" charset="0"/>
                          <a:ea typeface="Cambria" panose="02040503050406030204" pitchFamily="18" charset="0"/>
                        </a:rPr>
                        <a:t>Nhóm quy trình</a:t>
                      </a:r>
                    </a:p>
                  </a:txBody>
                  <a:tcPr>
                    <a:lnL>
                      <a:noFill/>
                    </a:lnL>
                    <a:lnR>
                      <a:noFill/>
                    </a:lnR>
                    <a:lnT w="12700" cmpd="sng">
                      <a:noFill/>
                    </a:lnT>
                    <a:lnB w="1905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vi" sz="1600" i="1" dirty="0">
                          <a:latin typeface="Cambria" panose="02040503050406030204" pitchFamily="18" charset="0"/>
                          <a:ea typeface="Cambria" panose="02040503050406030204" pitchFamily="18" charset="0"/>
                        </a:rPr>
                        <a:t>Quy trình quản lý</a:t>
                      </a:r>
                    </a:p>
                  </a:txBody>
                  <a:tcPr>
                    <a:lnL>
                      <a:noFill/>
                    </a:lnL>
                    <a:lnR>
                      <a:noFill/>
                    </a:lnR>
                    <a:lnT w="12700" cmpd="sng">
                      <a:noFill/>
                    </a:lnT>
                    <a:lnB w="1905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vi" sz="1600" dirty="0">
                          <a:latin typeface="Cambria" panose="02040503050406030204" pitchFamily="18" charset="0"/>
                          <a:ea typeface="Cambria" panose="02040503050406030204" pitchFamily="18" charset="0"/>
                        </a:rPr>
                        <a:t>Đầu ra chính</a:t>
                      </a:r>
                    </a:p>
                  </a:txBody>
                  <a:tcPr>
                    <a:lnL>
                      <a:noFill/>
                    </a:lnL>
                    <a:lnR>
                      <a:noFill/>
                    </a:lnR>
                    <a:lnT w="12700" cmpd="sng">
                      <a:noFill/>
                    </a:lnT>
                    <a:lnB w="1905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4470">
                <a:tc rowSpan="4">
                  <a:txBody>
                    <a:bodyPr/>
                    <a:lstStyle/>
                    <a:p>
                      <a:pPr algn="l"/>
                      <a:r>
                        <a:rPr lang="vi" sz="1600" b="0" dirty="0">
                          <a:latin typeface="Cambria" panose="02040503050406030204" pitchFamily="18" charset="0"/>
                          <a:ea typeface="Cambria" panose="02040503050406030204" pitchFamily="18" charset="0"/>
                        </a:rPr>
                        <a:t>Kế hoạch</a:t>
                      </a:r>
                    </a:p>
                  </a:txBody>
                  <a:tcPr anchor="ctr">
                    <a:lnT w="19050" cap="flat" cmpd="sng" algn="ctr">
                      <a:solidFill>
                        <a:schemeClr val="accent2">
                          <a:lumMod val="75000"/>
                        </a:schemeClr>
                      </a:solidFill>
                      <a:prstDash val="solid"/>
                      <a:round/>
                      <a:headEnd type="none" w="med" len="med"/>
                      <a:tailEnd type="none" w="med" len="med"/>
                    </a:lnT>
                    <a:lnB w="19050" cap="flat" cmpd="sng" algn="ctr">
                      <a:solidFill>
                        <a:schemeClr val="accent2">
                          <a:lumMod val="75000"/>
                        </a:schemeClr>
                      </a:solidFill>
                      <a:prstDash val="sysDash"/>
                      <a:round/>
                      <a:headEnd type="none" w="med" len="med"/>
                      <a:tailEnd type="none" w="med" len="med"/>
                    </a:lnB>
                    <a:solidFill>
                      <a:schemeClr val="bg1">
                        <a:alpha val="2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 sz="1600" i="1" dirty="0">
                          <a:latin typeface="Cambria" panose="02040503050406030204" pitchFamily="18" charset="0"/>
                          <a:ea typeface="Cambria" panose="02040503050406030204" pitchFamily="18" charset="0"/>
                        </a:rPr>
                        <a:t>P1: Quản lý phạm vi kế hoạch</a:t>
                      </a:r>
                    </a:p>
                  </a:txBody>
                  <a:tcPr anchor="ctr">
                    <a:lnT w="1905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Scope Management</a:t>
                      </a:r>
                      <a:r>
                        <a:rPr lang="en-US" sz="1600" baseline="0" dirty="0">
                          <a:latin typeface="Cambria" panose="02040503050406030204" pitchFamily="18" charset="0"/>
                          <a:ea typeface="Cambria" panose="02040503050406030204" pitchFamily="18" charset="0"/>
                        </a:rPr>
                        <a:t> Plan</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baseline="0" dirty="0">
                          <a:latin typeface="Cambria" panose="02040503050406030204" pitchFamily="18" charset="0"/>
                          <a:ea typeface="Cambria" panose="02040503050406030204" pitchFamily="18" charset="0"/>
                        </a:rPr>
                        <a:t>Requirement </a:t>
                      </a:r>
                      <a:r>
                        <a:rPr lang="en-US" sz="1600" dirty="0">
                          <a:latin typeface="Cambria" panose="02040503050406030204" pitchFamily="18" charset="0"/>
                          <a:ea typeface="Cambria" panose="02040503050406030204" pitchFamily="18" charset="0"/>
                        </a:rPr>
                        <a:t>Management</a:t>
                      </a:r>
                      <a:r>
                        <a:rPr lang="en-US" sz="1600" baseline="0" dirty="0">
                          <a:latin typeface="Cambria" panose="02040503050406030204" pitchFamily="18" charset="0"/>
                          <a:ea typeface="Cambria" panose="02040503050406030204" pitchFamily="18" charset="0"/>
                        </a:rPr>
                        <a:t> Plan</a:t>
                      </a:r>
                      <a:endParaRPr lang="en-US" sz="1600" dirty="0">
                        <a:latin typeface="Cambria" panose="02040503050406030204" pitchFamily="18" charset="0"/>
                        <a:ea typeface="Cambria" panose="02040503050406030204" pitchFamily="18" charset="0"/>
                      </a:endParaRPr>
                    </a:p>
                  </a:txBody>
                  <a:tcPr anchor="ctr">
                    <a:lnT w="1905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extLst>
                  <a:ext uri="{0D108BD9-81ED-4DB2-BD59-A6C34878D82A}">
                    <a16:rowId xmlns:a16="http://schemas.microsoft.com/office/drawing/2014/main" val="10001"/>
                  </a:ext>
                </a:extLst>
              </a:tr>
              <a:tr h="435610">
                <a:tc vMerge="1">
                  <a:txBody>
                    <a:bodyPr/>
                    <a:lstStyle/>
                    <a:p>
                      <a:endParaRPr lang="en-US"/>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 sz="1600" i="1" dirty="0">
                          <a:latin typeface="Cambria" panose="02040503050406030204" pitchFamily="18" charset="0"/>
                          <a:ea typeface="Cambria" panose="02040503050406030204" pitchFamily="18" charset="0"/>
                        </a:rPr>
                        <a:t>P2: Thu thập yêu cầu</a:t>
                      </a: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Req.</a:t>
                      </a:r>
                      <a:r>
                        <a:rPr lang="en-US" sz="1600" baseline="0" dirty="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Documentation</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Req</a:t>
                      </a:r>
                      <a:r>
                        <a:rPr lang="en-US" sz="1600" baseline="0" dirty="0">
                          <a:latin typeface="Cambria" panose="02040503050406030204" pitchFamily="18" charset="0"/>
                          <a:ea typeface="Cambria" panose="02040503050406030204" pitchFamily="18" charset="0"/>
                        </a:rPr>
                        <a:t>. Traceability Matrix</a:t>
                      </a:r>
                      <a:endParaRPr lang="en-US" sz="1600"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2"/>
                  </a:ext>
                </a:extLst>
              </a:tr>
              <a:tr h="231140">
                <a:tc vMerge="1">
                  <a:txBody>
                    <a:bodyPr/>
                    <a:lstStyle/>
                    <a:p>
                      <a:endParaRPr lang="en-US"/>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 sz="1600" i="1" dirty="0">
                          <a:latin typeface="Cambria" panose="02040503050406030204" pitchFamily="18" charset="0"/>
                          <a:ea typeface="Cambria" panose="02040503050406030204" pitchFamily="18" charset="0"/>
                        </a:rPr>
                        <a:t>P3: Xác định </a:t>
                      </a:r>
                      <a:r>
                        <a:rPr lang="vi" sz="1600" i="1" baseline="0" dirty="0">
                          <a:latin typeface="Cambria" panose="02040503050406030204" pitchFamily="18" charset="0"/>
                          <a:ea typeface="Cambria" panose="02040503050406030204" pitchFamily="18" charset="0"/>
                        </a:rPr>
                        <a:t>phạm vi</a:t>
                      </a:r>
                      <a:endParaRPr lang="en-US" sz="1600" i="1"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Project Scope</a:t>
                      </a:r>
                      <a:r>
                        <a:rPr lang="en-US" sz="1600" baseline="0" dirty="0">
                          <a:latin typeface="Cambria" panose="02040503050406030204" pitchFamily="18" charset="0"/>
                          <a:ea typeface="Cambria" panose="02040503050406030204" pitchFamily="18" charset="0"/>
                        </a:rPr>
                        <a:t> Statement </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baseline="0" dirty="0">
                          <a:latin typeface="Cambria" panose="02040503050406030204" pitchFamily="18" charset="0"/>
                          <a:ea typeface="Cambria" panose="02040503050406030204" pitchFamily="18" charset="0"/>
                        </a:rPr>
                        <a:t>Project Docs Update</a:t>
                      </a:r>
                      <a:endParaRPr lang="en-US" sz="1600"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2700" cap="flat" cmpd="sng" algn="ctr">
                      <a:solidFill>
                        <a:schemeClr val="accent2">
                          <a:lumMod val="75000"/>
                        </a:schemeClr>
                      </a:solidFill>
                      <a:prstDash val="sysDash"/>
                      <a:round/>
                      <a:headEnd type="none" w="med" len="med"/>
                      <a:tailEnd type="none" w="med" len="med"/>
                    </a:lnB>
                    <a:solidFill>
                      <a:schemeClr val="bg1">
                        <a:alpha val="20000"/>
                      </a:schemeClr>
                    </a:solidFill>
                  </a:tcPr>
                </a:tc>
                <a:extLst>
                  <a:ext uri="{0D108BD9-81ED-4DB2-BD59-A6C34878D82A}">
                    <a16:rowId xmlns:a16="http://schemas.microsoft.com/office/drawing/2014/main" val="10003"/>
                  </a:ext>
                </a:extLst>
              </a:tr>
              <a:tr h="204470">
                <a:tc vMerge="1">
                  <a:txBody>
                    <a:bodyPr/>
                    <a:lstStyle/>
                    <a:p>
                      <a:endParaRPr lang="en-US"/>
                    </a:p>
                  </a:txBody>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vi" sz="1600" i="1" dirty="0">
                          <a:latin typeface="Cambria" panose="02040503050406030204" pitchFamily="18" charset="0"/>
                          <a:ea typeface="Cambria" panose="02040503050406030204" pitchFamily="18" charset="0"/>
                        </a:rPr>
                        <a:t>P4: Tạo WBS</a:t>
                      </a:r>
                    </a:p>
                  </a:txBody>
                  <a:tcPr anchor="ctr">
                    <a:lnT w="12700" cap="flat" cmpd="sng" algn="ctr">
                      <a:solidFill>
                        <a:schemeClr val="accent2">
                          <a:lumMod val="75000"/>
                        </a:schemeClr>
                      </a:solidFill>
                      <a:prstDash val="sysDash"/>
                      <a:round/>
                      <a:headEnd type="none" w="med" len="med"/>
                      <a:tailEnd type="none" w="med" len="med"/>
                    </a:lnT>
                    <a:lnB w="19050" cap="flat" cmpd="sng" algn="ctr">
                      <a:solidFill>
                        <a:schemeClr val="accent2">
                          <a:lumMod val="75000"/>
                        </a:schemeClr>
                      </a:solidFill>
                      <a:prstDash val="sysDash"/>
                      <a:round/>
                      <a:headEnd type="none" w="med" len="med"/>
                      <a:tailEnd type="none" w="med" len="med"/>
                    </a:lnB>
                    <a:solidFill>
                      <a:schemeClr val="bg1"/>
                    </a:solidFill>
                  </a:tcPr>
                </a:tc>
                <a:tc>
                  <a: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Scope Baseline</a:t>
                      </a:r>
                    </a:p>
                    <a:p>
                      <a:pPr marL="0" marR="0" lvl="1" indent="0" algn="l" defTabSz="914400" rtl="0" eaLnBrk="1" fontAlgn="auto" latinLnBrk="0" hangingPunct="1">
                        <a:lnSpc>
                          <a:spcPct val="100000"/>
                        </a:lnSpc>
                        <a:spcBef>
                          <a:spcPts val="0"/>
                        </a:spcBef>
                        <a:spcAft>
                          <a:spcPts val="0"/>
                        </a:spcAft>
                        <a:buClrTx/>
                        <a:buSzTx/>
                        <a:buFontTx/>
                        <a:buNone/>
                        <a:tabLst/>
                        <a:defRPr/>
                      </a:pPr>
                      <a:r>
                        <a:rPr lang="en-US" sz="1600" dirty="0">
                          <a:latin typeface="Cambria" panose="02040503050406030204" pitchFamily="18" charset="0"/>
                          <a:ea typeface="Cambria" panose="02040503050406030204" pitchFamily="18" charset="0"/>
                        </a:rPr>
                        <a:t>Project Docs</a:t>
                      </a:r>
                      <a:r>
                        <a:rPr lang="en-US" sz="1600" baseline="0" dirty="0">
                          <a:latin typeface="Cambria" panose="02040503050406030204" pitchFamily="18" charset="0"/>
                          <a:ea typeface="Cambria" panose="02040503050406030204" pitchFamily="18" charset="0"/>
                        </a:rPr>
                        <a:t> Update</a:t>
                      </a:r>
                      <a:endParaRPr lang="en-US" sz="1600" dirty="0">
                        <a:latin typeface="Cambria" panose="02040503050406030204" pitchFamily="18" charset="0"/>
                        <a:ea typeface="Cambria" panose="02040503050406030204" pitchFamily="18" charset="0"/>
                      </a:endParaRPr>
                    </a:p>
                  </a:txBody>
                  <a:tcPr anchor="ctr">
                    <a:lnT w="12700" cap="flat" cmpd="sng" algn="ctr">
                      <a:solidFill>
                        <a:schemeClr val="accent2">
                          <a:lumMod val="75000"/>
                        </a:schemeClr>
                      </a:solidFill>
                      <a:prstDash val="sysDash"/>
                      <a:round/>
                      <a:headEnd type="none" w="med" len="med"/>
                      <a:tailEnd type="none" w="med" len="med"/>
                    </a:lnT>
                    <a:lnB w="19050" cap="flat" cmpd="sng" algn="ctr">
                      <a:solidFill>
                        <a:schemeClr val="accent2">
                          <a:lumMod val="75000"/>
                        </a:schemeClr>
                      </a:solidFill>
                      <a:prstDash val="sysDash"/>
                      <a:round/>
                      <a:headEnd type="none" w="med" len="med"/>
                      <a:tailEnd type="none" w="med" len="med"/>
                    </a:lnB>
                    <a:solidFill>
                      <a:schemeClr val="bg1"/>
                    </a:solidFill>
                  </a:tcPr>
                </a:tc>
                <a:extLst>
                  <a:ext uri="{0D108BD9-81ED-4DB2-BD59-A6C34878D82A}">
                    <a16:rowId xmlns:a16="http://schemas.microsoft.com/office/drawing/2014/main" val="10004"/>
                  </a:ext>
                </a:extLst>
              </a:tr>
              <a:tr h="546100">
                <a:tc rowSpan="2">
                  <a:txBody>
                    <a:bodyPr/>
                    <a:lstStyle/>
                    <a:p>
                      <a:pPr algn="l"/>
                      <a:r>
                        <a:rPr lang="vi" sz="1600" b="0" dirty="0">
                          <a:latin typeface="Cambria" panose="02040503050406030204" pitchFamily="18" charset="0"/>
                          <a:ea typeface="Cambria" panose="02040503050406030204" pitchFamily="18" charset="0"/>
                        </a:rPr>
                        <a:t>Giám sát &amp; Kiểm soát</a:t>
                      </a:r>
                    </a:p>
                  </a:txBody>
                  <a:tcPr anchor="ctr">
                    <a:lnL>
                      <a:noFill/>
                    </a:lnL>
                    <a:lnR>
                      <a:noFill/>
                    </a:lnR>
                    <a:lnT w="19050" cap="flat" cmpd="sng" algn="ctr">
                      <a:solidFill>
                        <a:schemeClr val="accent2">
                          <a:lumMod val="75000"/>
                        </a:schemeClr>
                      </a:solidFill>
                      <a:prstDash val="sysDash"/>
                      <a:round/>
                      <a:headEnd type="none" w="med" len="med"/>
                      <a:tailEnd type="none" w="med" len="med"/>
                    </a:lnT>
                    <a:lnB w="12700" cmpd="sng">
                      <a:noFill/>
                    </a:lnB>
                    <a:lnTlToBr w="12700" cmpd="sng">
                      <a:noFill/>
                      <a:prstDash val="solid"/>
                    </a:lnTlToBr>
                    <a:lnBlToTr w="12700" cmpd="sng">
                      <a:noFill/>
                      <a:prstDash val="solid"/>
                    </a:lnBlToTr>
                    <a:solidFill>
                      <a:schemeClr val="bg1">
                        <a:alpha val="20000"/>
                      </a:schemeClr>
                    </a:solidFill>
                  </a:tcPr>
                </a:tc>
                <a:tc>
                  <a:txBody>
                    <a:bodyPr/>
                    <a:lstStyle/>
                    <a:p>
                      <a:r>
                        <a:rPr lang="vi" sz="1600" i="1" dirty="0">
                          <a:latin typeface="Cambria" panose="02040503050406030204" pitchFamily="18" charset="0"/>
                          <a:ea typeface="Cambria" panose="02040503050406030204" pitchFamily="18" charset="0"/>
                        </a:rPr>
                        <a:t>MC1: Xác </a:t>
                      </a:r>
                      <a:r>
                        <a:rPr lang="en-US" sz="1600" i="1" dirty="0" err="1">
                          <a:latin typeface="Cambria" panose="02040503050406030204" pitchFamily="18" charset="0"/>
                          <a:ea typeface="Cambria" panose="02040503050406030204" pitchFamily="18" charset="0"/>
                        </a:rPr>
                        <a:t>nhận</a:t>
                      </a:r>
                      <a:r>
                        <a:rPr lang="vi" sz="1600" i="1" dirty="0">
                          <a:latin typeface="Cambria" panose="02040503050406030204" pitchFamily="18" charset="0"/>
                          <a:ea typeface="Cambria" panose="02040503050406030204" pitchFamily="18" charset="0"/>
                        </a:rPr>
                        <a:t> </a:t>
                      </a:r>
                      <a:r>
                        <a:rPr lang="vi" sz="1600" i="1" baseline="0" dirty="0">
                          <a:latin typeface="Cambria" panose="02040503050406030204" pitchFamily="18" charset="0"/>
                          <a:ea typeface="Cambria" panose="02040503050406030204" pitchFamily="18" charset="0"/>
                        </a:rPr>
                        <a:t>phạm vi</a:t>
                      </a:r>
                      <a:endParaRPr lang="en-US" sz="1600" i="1" dirty="0">
                        <a:latin typeface="Cambria" panose="02040503050406030204" pitchFamily="18" charset="0"/>
                        <a:ea typeface="Cambria" panose="02040503050406030204" pitchFamily="18" charset="0"/>
                      </a:endParaRPr>
                    </a:p>
                  </a:txBody>
                  <a:tcPr anchor="ctr">
                    <a:lnL>
                      <a:noFill/>
                    </a:lnL>
                    <a:lnT w="19050" cap="flat" cmpd="sng" algn="ctr">
                      <a:solidFill>
                        <a:schemeClr val="accent2">
                          <a:lumMod val="75000"/>
                        </a:schemeClr>
                      </a:solidFill>
                      <a:prstDash val="sysDash"/>
                      <a:round/>
                      <a:headEnd type="none" w="med" len="med"/>
                      <a:tailEnd type="none" w="med" len="med"/>
                    </a:lnT>
                    <a:lnB w="12700" cap="flat" cmpd="sng" algn="ctr">
                      <a:noFill/>
                      <a:prstDash val="sysDash"/>
                      <a:round/>
                      <a:headEnd type="none" w="med" len="med"/>
                      <a:tailEnd type="none" w="med" len="med"/>
                    </a:lnB>
                    <a:solidFill>
                      <a:schemeClr val="bg1">
                        <a:alpha val="20000"/>
                      </a:schemeClr>
                    </a:solidFill>
                  </a:tcPr>
                </a:tc>
                <a:tc>
                  <a:txBody>
                    <a:bodyPr/>
                    <a:lstStyle/>
                    <a:p>
                      <a:r>
                        <a:rPr lang="en-US" sz="1600" dirty="0">
                          <a:latin typeface="Cambria" panose="02040503050406030204" pitchFamily="18" charset="0"/>
                          <a:ea typeface="Cambria" panose="02040503050406030204" pitchFamily="18" charset="0"/>
                        </a:rPr>
                        <a:t>Accept</a:t>
                      </a:r>
                      <a:r>
                        <a:rPr lang="en-US" sz="1600" baseline="0" dirty="0">
                          <a:latin typeface="Cambria" panose="02040503050406030204" pitchFamily="18" charset="0"/>
                          <a:ea typeface="Cambria" panose="02040503050406030204" pitchFamily="18" charset="0"/>
                        </a:rPr>
                        <a:t> Deliverables</a:t>
                      </a:r>
                    </a:p>
                    <a:p>
                      <a:r>
                        <a:rPr lang="en-US" sz="1600" baseline="0" dirty="0">
                          <a:latin typeface="Cambria" panose="02040503050406030204" pitchFamily="18" charset="0"/>
                          <a:ea typeface="Cambria" panose="02040503050406030204" pitchFamily="18" charset="0"/>
                        </a:rPr>
                        <a:t>Change Requests</a:t>
                      </a:r>
                    </a:p>
                    <a:p>
                      <a:r>
                        <a:rPr lang="en-US" sz="1600" baseline="0" dirty="0">
                          <a:latin typeface="Cambria" panose="02040503050406030204" pitchFamily="18" charset="0"/>
                          <a:ea typeface="Cambria" panose="02040503050406030204" pitchFamily="18" charset="0"/>
                        </a:rPr>
                        <a:t>Work Performance Info</a:t>
                      </a:r>
                      <a:endParaRPr lang="en-US" sz="1600" dirty="0">
                        <a:latin typeface="Cambria" panose="02040503050406030204" pitchFamily="18" charset="0"/>
                        <a:ea typeface="Cambria" panose="02040503050406030204" pitchFamily="18" charset="0"/>
                      </a:endParaRPr>
                    </a:p>
                  </a:txBody>
                  <a:tcPr anchor="ctr">
                    <a:lnT w="19050" cap="flat" cmpd="sng" algn="ctr">
                      <a:solidFill>
                        <a:schemeClr val="accent2">
                          <a:lumMod val="75000"/>
                        </a:schemeClr>
                      </a:solidFill>
                      <a:prstDash val="sysDash"/>
                      <a:round/>
                      <a:headEnd type="none" w="med" len="med"/>
                      <a:tailEnd type="none" w="med" len="med"/>
                    </a:lnT>
                    <a:lnB w="12700" cap="flat" cmpd="sng" algn="ctr">
                      <a:noFill/>
                      <a:prstDash val="sysDash"/>
                      <a:round/>
                      <a:headEnd type="none" w="med" len="med"/>
                      <a:tailEnd type="none" w="med" len="med"/>
                    </a:lnB>
                    <a:solidFill>
                      <a:schemeClr val="bg1">
                        <a:alpha val="20000"/>
                      </a:schemeClr>
                    </a:solidFill>
                  </a:tcPr>
                </a:tc>
                <a:extLst>
                  <a:ext uri="{0D108BD9-81ED-4DB2-BD59-A6C34878D82A}">
                    <a16:rowId xmlns:a16="http://schemas.microsoft.com/office/drawing/2014/main" val="10005"/>
                  </a:ext>
                </a:extLst>
              </a:tr>
              <a:tr h="546100">
                <a:tc vMerge="1">
                  <a:txBody>
                    <a:bodyPr/>
                    <a:lstStyle/>
                    <a:p>
                      <a:endParaRPr lang="en-US"/>
                    </a:p>
                  </a:txBody>
                  <a:tcPr/>
                </a:tc>
                <a:tc>
                  <a:txBody>
                    <a:bodyPr/>
                    <a:lstStyle/>
                    <a:p>
                      <a:r>
                        <a:rPr lang="vi" sz="1600" i="1" dirty="0">
                          <a:latin typeface="Cambria" panose="02040503050406030204" pitchFamily="18" charset="0"/>
                          <a:ea typeface="Cambria" panose="02040503050406030204" pitchFamily="18" charset="0"/>
                        </a:rPr>
                        <a:t>MC2: Phạm vi </a:t>
                      </a:r>
                      <a:r>
                        <a:rPr lang="en-US" sz="1600" i="1" dirty="0" err="1">
                          <a:latin typeface="Cambria" panose="02040503050406030204" pitchFamily="18" charset="0"/>
                          <a:ea typeface="Cambria" panose="02040503050406030204" pitchFamily="18" charset="0"/>
                        </a:rPr>
                        <a:t>kiểm</a:t>
                      </a:r>
                      <a:r>
                        <a:rPr lang="en-US" sz="1600" i="1" dirty="0">
                          <a:latin typeface="Cambria" panose="02040503050406030204" pitchFamily="18" charset="0"/>
                          <a:ea typeface="Cambria" panose="02040503050406030204" pitchFamily="18" charset="0"/>
                        </a:rPr>
                        <a:t> </a:t>
                      </a:r>
                      <a:r>
                        <a:rPr lang="en-US" sz="1600" i="1" dirty="0" err="1">
                          <a:latin typeface="Cambria" panose="02040503050406030204" pitchFamily="18" charset="0"/>
                          <a:ea typeface="Cambria" panose="02040503050406030204" pitchFamily="18" charset="0"/>
                        </a:rPr>
                        <a:t>soát</a:t>
                      </a:r>
                      <a:endParaRPr lang="vi" sz="1600" i="1" dirty="0">
                        <a:latin typeface="Cambria" panose="02040503050406030204" pitchFamily="18" charset="0"/>
                        <a:ea typeface="Cambria" panose="02040503050406030204" pitchFamily="18" charset="0"/>
                      </a:endParaRPr>
                    </a:p>
                  </a:txBody>
                  <a:tcPr anchor="ctr">
                    <a:lnL>
                      <a:noFill/>
                    </a:lnL>
                    <a:lnR>
                      <a:noFill/>
                    </a:lnR>
                    <a:lnT w="12700" cap="flat" cmpd="sng" algn="ctr">
                      <a:noFill/>
                      <a:prstDash val="sysDash"/>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US" sz="1600" dirty="0">
                          <a:latin typeface="Cambria" panose="02040503050406030204" pitchFamily="18" charset="0"/>
                          <a:ea typeface="Cambria" panose="02040503050406030204" pitchFamily="18" charset="0"/>
                        </a:rPr>
                        <a:t>Change Requests</a:t>
                      </a:r>
                    </a:p>
                    <a:p>
                      <a:r>
                        <a:rPr lang="en-US" sz="1600" dirty="0">
                          <a:latin typeface="Cambria" panose="02040503050406030204" pitchFamily="18" charset="0"/>
                          <a:ea typeface="Cambria" panose="02040503050406030204" pitchFamily="18" charset="0"/>
                        </a:rPr>
                        <a:t>Project Management</a:t>
                      </a:r>
                      <a:r>
                        <a:rPr lang="en-US" sz="1600" baseline="0" dirty="0">
                          <a:latin typeface="Cambria" panose="02040503050406030204" pitchFamily="18" charset="0"/>
                          <a:ea typeface="Cambria" panose="02040503050406030204" pitchFamily="18" charset="0"/>
                        </a:rPr>
                        <a:t> Plan Updates</a:t>
                      </a:r>
                    </a:p>
                    <a:p>
                      <a:r>
                        <a:rPr lang="en-US" sz="1600" baseline="0" dirty="0">
                          <a:latin typeface="Cambria" panose="02040503050406030204" pitchFamily="18" charset="0"/>
                          <a:ea typeface="Cambria" panose="02040503050406030204" pitchFamily="18" charset="0"/>
                        </a:rPr>
                        <a:t>Org, Process Asset Updates</a:t>
                      </a:r>
                      <a:endParaRPr lang="en-US" sz="1600" dirty="0">
                        <a:latin typeface="Cambria" panose="02040503050406030204" pitchFamily="18" charset="0"/>
                        <a:ea typeface="Cambria" panose="02040503050406030204" pitchFamily="18" charset="0"/>
                      </a:endParaRPr>
                    </a:p>
                  </a:txBody>
                  <a:tcPr anchor="ctr">
                    <a:lnL>
                      <a:noFill/>
                    </a:lnL>
                    <a:lnR>
                      <a:noFill/>
                    </a:lnR>
                    <a:lnT w="12700" cap="flat" cmpd="sng" algn="ctr">
                      <a:noFill/>
                      <a:prstDash val="sysDash"/>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
        <p:nvSpPr>
          <p:cNvPr id="6" name="TextBox 5">
            <a:extLst>
              <a:ext uri="{FF2B5EF4-FFF2-40B4-BE49-F238E27FC236}">
                <a16:creationId xmlns:a16="http://schemas.microsoft.com/office/drawing/2014/main" id="{4910FCD2-2C7A-1430-2C08-2B71C734CCA0}"/>
              </a:ext>
            </a:extLst>
          </p:cNvPr>
          <p:cNvSpPr txBox="1"/>
          <p:nvPr/>
        </p:nvSpPr>
        <p:spPr>
          <a:xfrm>
            <a:off x="8107679" y="322621"/>
            <a:ext cx="3887033" cy="923330"/>
          </a:xfrm>
          <a:prstGeom prst="rect">
            <a:avLst/>
          </a:prstGeom>
          <a:noFill/>
        </p:spPr>
        <p:txBody>
          <a:bodyPr wrap="square">
            <a:spAutoFit/>
          </a:bodyPr>
          <a:lstStyle/>
          <a:p>
            <a:pPr algn="r"/>
            <a:r>
              <a:rPr lang="en-US" altLang="en-US" i="1" dirty="0">
                <a:solidFill>
                  <a:schemeClr val="bg1"/>
                </a:solidFill>
                <a:latin typeface="Cambria" panose="02040503050406030204" pitchFamily="18" charset="0"/>
                <a:ea typeface="Cambria" panose="02040503050406030204" pitchFamily="18" charset="0"/>
              </a:rPr>
              <a:t>“project scope management defines and controls what </a:t>
            </a:r>
            <a:r>
              <a:rPr lang="en-US" altLang="en-US" b="1" i="1" u="sng" dirty="0">
                <a:solidFill>
                  <a:schemeClr val="bg1"/>
                </a:solidFill>
                <a:latin typeface="Cambria" panose="02040503050406030204" pitchFamily="18" charset="0"/>
                <a:ea typeface="Cambria" panose="02040503050406030204" pitchFamily="18" charset="0"/>
              </a:rPr>
              <a:t>is</a:t>
            </a:r>
            <a:r>
              <a:rPr lang="en-US" altLang="en-US" i="1" dirty="0">
                <a:solidFill>
                  <a:schemeClr val="bg1"/>
                </a:solidFill>
                <a:latin typeface="Cambria" panose="02040503050406030204" pitchFamily="18" charset="0"/>
                <a:ea typeface="Cambria" panose="02040503050406030204" pitchFamily="18" charset="0"/>
              </a:rPr>
              <a:t> and </a:t>
            </a:r>
            <a:r>
              <a:rPr lang="en-US" altLang="en-US" b="1" i="1" u="sng" dirty="0">
                <a:solidFill>
                  <a:schemeClr val="bg1"/>
                </a:solidFill>
                <a:latin typeface="Cambria" panose="02040503050406030204" pitchFamily="18" charset="0"/>
                <a:ea typeface="Cambria" panose="02040503050406030204" pitchFamily="18" charset="0"/>
              </a:rPr>
              <a:t>is not</a:t>
            </a:r>
            <a:r>
              <a:rPr lang="en-US" altLang="en-US" i="1" dirty="0">
                <a:solidFill>
                  <a:schemeClr val="bg1"/>
                </a:solidFill>
                <a:latin typeface="Cambria" panose="02040503050406030204" pitchFamily="18" charset="0"/>
                <a:ea typeface="Cambria" panose="02040503050406030204" pitchFamily="18" charset="0"/>
              </a:rPr>
              <a:t> part of the project work”</a:t>
            </a:r>
            <a:endParaRPr lang="en-US" i="1" dirty="0">
              <a:solidFill>
                <a:schemeClr val="bg1"/>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500660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2" y="384176"/>
            <a:ext cx="7607537" cy="78483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3. QUẢN LÝ PHẠM VI DỰ ÁN</a:t>
            </a:r>
            <a:r>
              <a:rPr lang="en-US" sz="2000" b="1" dirty="0">
                <a:solidFill>
                  <a:schemeClr val="accent2">
                    <a:lumMod val="75000"/>
                  </a:schemeClr>
                </a:solidFill>
                <a:latin typeface="Cambria" panose="02040503050406030204" pitchFamily="18" charset="0"/>
                <a:ea typeface="Cambria" panose="02040503050406030204" pitchFamily="18" charset="0"/>
              </a:rPr>
              <a:t> -</a:t>
            </a:r>
            <a:r>
              <a:rPr lang="vi" sz="2000" b="1" dirty="0">
                <a:solidFill>
                  <a:schemeClr val="accent2">
                    <a:lumMod val="75000"/>
                  </a:schemeClr>
                </a:solidFill>
                <a:latin typeface="Cambria" panose="02040503050406030204" pitchFamily="18" charset="0"/>
                <a:ea typeface="Cambria" panose="02040503050406030204" pitchFamily="18" charset="0"/>
              </a:rPr>
              <a:t> KHỞI </a:t>
            </a:r>
            <a:r>
              <a:rPr lang="en-US" sz="2000" b="1" dirty="0">
                <a:solidFill>
                  <a:schemeClr val="accent2">
                    <a:lumMod val="75000"/>
                  </a:schemeClr>
                </a:solidFill>
                <a:latin typeface="Cambria" panose="02040503050406030204" pitchFamily="18" charset="0"/>
                <a:ea typeface="Cambria" panose="02040503050406030204" pitchFamily="18" charset="0"/>
              </a:rPr>
              <a:t>TẠO</a:t>
            </a:r>
            <a:endParaRPr lang="vi" sz="2000" b="1" dirty="0">
              <a:solidFill>
                <a:schemeClr val="accent2">
                  <a:lumMod val="75000"/>
                </a:schemeClr>
              </a:solidFill>
              <a:latin typeface="Cambria" panose="02040503050406030204" pitchFamily="18" charset="0"/>
              <a:ea typeface="Cambria" panose="02040503050406030204" pitchFamily="18" charset="0"/>
            </a:endParaRPr>
          </a:p>
          <a:p>
            <a:pPr>
              <a:spcAft>
                <a:spcPts val="600"/>
              </a:spcAft>
            </a:pPr>
            <a:endParaRPr lang="vi"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D57F15C1-9CCF-F82B-3E59-9F171D08E5ED}"/>
              </a:ext>
            </a:extLst>
          </p:cNvPr>
          <p:cNvSpPr txBox="1"/>
          <p:nvPr/>
        </p:nvSpPr>
        <p:spPr>
          <a:xfrm>
            <a:off x="363867" y="784286"/>
            <a:ext cx="7453365" cy="3131627"/>
          </a:xfrm>
          <a:prstGeom prst="rect">
            <a:avLst/>
          </a:prstGeom>
          <a:noFill/>
        </p:spPr>
        <p:txBody>
          <a:bodyPr wrap="square">
            <a:spAutoFit/>
          </a:bodyPr>
          <a:lstStyle/>
          <a:p>
            <a:r>
              <a:rPr lang="vi" b="1" dirty="0">
                <a:solidFill>
                  <a:schemeClr val="tx1">
                    <a:lumMod val="50000"/>
                    <a:lumOff val="50000"/>
                  </a:schemeClr>
                </a:solidFill>
                <a:latin typeface="Cambria" panose="02040503050406030204" pitchFamily="18" charset="0"/>
                <a:ea typeface="Cambria" panose="02040503050406030204" pitchFamily="18" charset="0"/>
              </a:rPr>
              <a:t>GIAI ĐOẠN KHỞI ĐẦU</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Nhà tài trợ dự án đã được xác định</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Phạm vi và mục tiêu được xác định</a:t>
            </a:r>
          </a:p>
          <a:p>
            <a:pPr marL="1025525" lvl="1" indent="-285750" algn="just">
              <a:spcAft>
                <a:spcPts val="300"/>
              </a:spcAft>
              <a:buClr>
                <a:schemeClr val="accent2">
                  <a:lumMod val="75000"/>
                </a:schemeClr>
              </a:buClr>
              <a:buFont typeface="Courier New" panose="02070309020205020404" pitchFamily="49" charset="0"/>
              <a:buChar char="o"/>
            </a:pPr>
            <a:r>
              <a:rPr lang="vi" dirty="0">
                <a:solidFill>
                  <a:schemeClr val="tx1">
                    <a:lumMod val="65000"/>
                    <a:lumOff val="35000"/>
                  </a:schemeClr>
                </a:solidFill>
                <a:latin typeface="Cambria" panose="02040503050406030204" pitchFamily="18" charset="0"/>
                <a:ea typeface="Cambria" panose="02040503050406030204" pitchFamily="18" charset="0"/>
              </a:rPr>
              <a:t>Mối quan hệ với mục tiêu của tổ chức là chìa khóa</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Ngân sách đã được phê duyệt</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tuyên bố chung được đưa ra về rủi ro, cách tiếp cận, mốc thời gian</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Các bên liên quan được xác định</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Quản lý dự án được chỉ định</a:t>
            </a:r>
          </a:p>
          <a:p>
            <a:pPr marL="742950" lvl="1" indent="-285750">
              <a:spcAft>
                <a:spcPts val="300"/>
              </a:spcAf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Vào cuối giai đoạn, điều lệ dự án được phê duyệt là sự chấp thuận để tiến hành giai đoạn lập kế hoạch</a:t>
            </a:r>
          </a:p>
        </p:txBody>
      </p:sp>
      <p:pic>
        <p:nvPicPr>
          <p:cNvPr id="4" name="Picture 3">
            <a:extLst>
              <a:ext uri="{FF2B5EF4-FFF2-40B4-BE49-F238E27FC236}">
                <a16:creationId xmlns:a16="http://schemas.microsoft.com/office/drawing/2014/main" id="{48C097A0-BED1-6E64-E366-D4A3A3A9CA0F}"/>
              </a:ext>
            </a:extLst>
          </p:cNvPr>
          <p:cNvPicPr>
            <a:picLocks noChangeAspect="1"/>
          </p:cNvPicPr>
          <p:nvPr/>
        </p:nvPicPr>
        <p:blipFill>
          <a:blip r:embed="rId3"/>
          <a:stretch>
            <a:fillRect/>
          </a:stretch>
        </p:blipFill>
        <p:spPr>
          <a:xfrm>
            <a:off x="1285689" y="4531328"/>
            <a:ext cx="6622982" cy="2326672"/>
          </a:xfrm>
          <a:prstGeom prst="rect">
            <a:avLst/>
          </a:prstGeom>
        </p:spPr>
      </p:pic>
    </p:spTree>
    <p:extLst>
      <p:ext uri="{BB962C8B-B14F-4D97-AF65-F5344CB8AC3E}">
        <p14:creationId xmlns:p14="http://schemas.microsoft.com/office/powerpoint/2010/main" val="1405978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89AACF6-D983-8FA0-19C5-E4DE87FC99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7268" y="713878"/>
            <a:ext cx="8347445" cy="5694699"/>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961366"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PHẠM VI DỰ ÁN</a:t>
            </a:r>
            <a:r>
              <a:rPr lang="en-US" sz="2000" b="1" dirty="0">
                <a:solidFill>
                  <a:schemeClr val="bg2">
                    <a:lumMod val="50000"/>
                  </a:schemeClr>
                </a:solidFill>
                <a:latin typeface="Cambria" panose="02040503050406030204" pitchFamily="18" charset="0"/>
                <a:ea typeface="Cambria" panose="02040503050406030204" pitchFamily="18" charset="0"/>
              </a:rPr>
              <a:t> -</a:t>
            </a:r>
            <a:r>
              <a:rPr lang="vi" sz="2000" b="1" dirty="0">
                <a:solidFill>
                  <a:schemeClr val="bg2">
                    <a:lumMod val="50000"/>
                  </a:schemeClr>
                </a:solidFill>
                <a:latin typeface="Cambria" panose="02040503050406030204" pitchFamily="18" charset="0"/>
                <a:ea typeface="Cambria" panose="02040503050406030204" pitchFamily="18" charset="0"/>
              </a:rPr>
              <a:t> KHỞI </a:t>
            </a:r>
            <a:r>
              <a:rPr lang="en-US" sz="2000" b="1" dirty="0">
                <a:solidFill>
                  <a:schemeClr val="bg2">
                    <a:lumMod val="50000"/>
                  </a:schemeClr>
                </a:solidFill>
                <a:latin typeface="Cambria" panose="02040503050406030204" pitchFamily="18" charset="0"/>
                <a:ea typeface="Cambria" panose="02040503050406030204" pitchFamily="18" charset="0"/>
              </a:rPr>
              <a:t>TẠO</a:t>
            </a:r>
            <a:endParaRPr lang="vi" sz="2000" b="1" dirty="0">
              <a:solidFill>
                <a:schemeClr val="bg2">
                  <a:lumMod val="50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A19101AA-BC5E-D7D7-49E7-0271A281A18F}"/>
              </a:ext>
            </a:extLst>
          </p:cNvPr>
          <p:cNvSpPr txBox="1"/>
          <p:nvPr/>
        </p:nvSpPr>
        <p:spPr>
          <a:xfrm>
            <a:off x="-105913" y="724376"/>
            <a:ext cx="6096000" cy="1754326"/>
          </a:xfrm>
          <a:prstGeom prst="rect">
            <a:avLst/>
          </a:prstGeom>
          <a:noFill/>
        </p:spPr>
        <p:txBody>
          <a:bodyPr wrap="square">
            <a:spAutoFit/>
          </a:bodyPr>
          <a:lstStyle/>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Phạm vi lập kế hoạch</a:t>
            </a:r>
          </a:p>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Yêu cầu thu thập</a:t>
            </a:r>
          </a:p>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Xác định phạm vi</a:t>
            </a:r>
          </a:p>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Tạo WBS</a:t>
            </a:r>
          </a:p>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Xác </a:t>
            </a:r>
            <a:r>
              <a:rPr lang="en-US" dirty="0" err="1">
                <a:latin typeface="Cambria" panose="02040503050406030204" pitchFamily="18" charset="0"/>
                <a:ea typeface="Cambria" panose="02040503050406030204" pitchFamily="18" charset="0"/>
              </a:rPr>
              <a:t>nhận</a:t>
            </a:r>
            <a:r>
              <a:rPr lang="vi" dirty="0">
                <a:latin typeface="Cambria" panose="02040503050406030204" pitchFamily="18" charset="0"/>
                <a:ea typeface="Cambria" panose="02040503050406030204" pitchFamily="18" charset="0"/>
              </a:rPr>
              <a:t> phạm vi</a:t>
            </a:r>
          </a:p>
          <a:p>
            <a:pPr marL="742950" lvl="1" indent="-285750" algn="just">
              <a:buClr>
                <a:schemeClr val="accent2">
                  <a:lumMod val="75000"/>
                </a:schemeClr>
              </a:buClr>
              <a:buFont typeface="Wingdings" panose="05000000000000000000" pitchFamily="2" charset="2"/>
              <a:buChar char="§"/>
            </a:pPr>
            <a:r>
              <a:rPr lang="vi" dirty="0">
                <a:latin typeface="Cambria" panose="02040503050406030204" pitchFamily="18" charset="0"/>
                <a:ea typeface="Cambria" panose="02040503050406030204" pitchFamily="18" charset="0"/>
              </a:rPr>
              <a:t>Kiểm soát phạm vi</a:t>
            </a:r>
          </a:p>
        </p:txBody>
      </p:sp>
    </p:spTree>
    <p:extLst>
      <p:ext uri="{BB962C8B-B14F-4D97-AF65-F5344CB8AC3E}">
        <p14:creationId xmlns:p14="http://schemas.microsoft.com/office/powerpoint/2010/main" val="3746850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6" descr="Plan Scope Management DFD.jpg">
            <a:extLst>
              <a:ext uri="{FF2B5EF4-FFF2-40B4-BE49-F238E27FC236}">
                <a16:creationId xmlns:a16="http://schemas.microsoft.com/office/drawing/2014/main" id="{0DC74DE7-D3E9-4E1A-7B5B-EBECECF9EE6A}"/>
              </a:ext>
            </a:extLst>
          </p:cNvPr>
          <p:cNvPicPr>
            <a:picLocks noChangeAspect="1"/>
          </p:cNvPicPr>
          <p:nvPr/>
        </p:nvPicPr>
        <p:blipFill>
          <a:blip r:embed="rId2">
            <a:extLst>
              <a:ext uri="{28A0092B-C50C-407E-A947-70E740481C1C}">
                <a14:useLocalDpi xmlns:a14="http://schemas.microsoft.com/office/drawing/2010/main" val="0"/>
              </a:ext>
            </a:extLst>
          </a:blip>
          <a:srcRect l="-13025" r="-13025"/>
          <a:stretch>
            <a:fillRect/>
          </a:stretch>
        </p:blipFill>
        <p:spPr>
          <a:xfrm>
            <a:off x="3275738" y="243768"/>
            <a:ext cx="9665337" cy="6104423"/>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168885"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PHẠM VI DỰ ÁN</a:t>
            </a:r>
            <a:r>
              <a:rPr lang="en-US" sz="2000" b="1" dirty="0">
                <a:solidFill>
                  <a:schemeClr val="bg2">
                    <a:lumMod val="50000"/>
                  </a:schemeClr>
                </a:solidFill>
                <a:latin typeface="Cambria" panose="02040503050406030204" pitchFamily="18" charset="0"/>
                <a:ea typeface="Cambria" panose="02040503050406030204" pitchFamily="18" charset="0"/>
              </a:rPr>
              <a:t> -</a:t>
            </a:r>
            <a:r>
              <a:rPr lang="vi" sz="2000" b="1" dirty="0">
                <a:solidFill>
                  <a:schemeClr val="bg2">
                    <a:lumMod val="50000"/>
                  </a:schemeClr>
                </a:solidFill>
                <a:latin typeface="Cambria" panose="02040503050406030204" pitchFamily="18" charset="0"/>
                <a:ea typeface="Cambria" panose="02040503050406030204" pitchFamily="18" charset="0"/>
              </a:rPr>
              <a:t> KHỞI </a:t>
            </a:r>
            <a:r>
              <a:rPr lang="en-US" sz="2000" b="1" dirty="0">
                <a:solidFill>
                  <a:schemeClr val="bg2">
                    <a:lumMod val="50000"/>
                  </a:schemeClr>
                </a:solidFill>
                <a:latin typeface="Cambria" panose="02040503050406030204" pitchFamily="18" charset="0"/>
                <a:ea typeface="Cambria" panose="02040503050406030204" pitchFamily="18" charset="0"/>
              </a:rPr>
              <a:t>TẠO</a:t>
            </a:r>
            <a:endParaRPr lang="vi"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9B5D9B27-85AE-0ADD-CF05-CEF451FC57AD}"/>
              </a:ext>
            </a:extLst>
          </p:cNvPr>
          <p:cNvSpPr txBox="1"/>
          <p:nvPr/>
        </p:nvSpPr>
        <p:spPr>
          <a:xfrm>
            <a:off x="339355" y="787073"/>
            <a:ext cx="6471920" cy="369332"/>
          </a:xfrm>
          <a:prstGeom prst="rect">
            <a:avLst/>
          </a:prstGeom>
          <a:noFill/>
        </p:spPr>
        <p:txBody>
          <a:bodyPr wrap="square">
            <a:spAutoFit/>
          </a:bodyPr>
          <a:lstStyle/>
          <a:p>
            <a:pPr algn="just"/>
            <a:r>
              <a:rPr lang="vi" altLang="en-US" b="1" dirty="0">
                <a:latin typeface="Cambria" panose="02040503050406030204" pitchFamily="18" charset="0"/>
                <a:ea typeface="Cambria" panose="02040503050406030204" pitchFamily="18" charset="0"/>
              </a:rPr>
              <a:t>Quản lý phạm vi kế hoạch: Sơ đồ luồng dữ liệu</a:t>
            </a: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333187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656566"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PHẠM VI DỰ ÁN</a:t>
            </a:r>
            <a:r>
              <a:rPr lang="en-US" sz="2000" b="1" dirty="0">
                <a:solidFill>
                  <a:schemeClr val="bg2">
                    <a:lumMod val="50000"/>
                  </a:schemeClr>
                </a:solidFill>
                <a:latin typeface="Cambria" panose="02040503050406030204" pitchFamily="18" charset="0"/>
                <a:ea typeface="Cambria" panose="02040503050406030204" pitchFamily="18" charset="0"/>
              </a:rPr>
              <a:t> -</a:t>
            </a:r>
            <a:r>
              <a:rPr lang="vi" sz="2000" b="1" dirty="0">
                <a:solidFill>
                  <a:schemeClr val="bg2">
                    <a:lumMod val="50000"/>
                  </a:schemeClr>
                </a:solidFill>
                <a:latin typeface="Cambria" panose="02040503050406030204" pitchFamily="18" charset="0"/>
                <a:ea typeface="Cambria" panose="02040503050406030204" pitchFamily="18" charset="0"/>
              </a:rPr>
              <a:t> KHỞI </a:t>
            </a:r>
            <a:r>
              <a:rPr lang="en-US" sz="2000" b="1" dirty="0">
                <a:solidFill>
                  <a:schemeClr val="bg2">
                    <a:lumMod val="50000"/>
                  </a:schemeClr>
                </a:solidFill>
                <a:latin typeface="Cambria" panose="02040503050406030204" pitchFamily="18" charset="0"/>
                <a:ea typeface="Cambria" panose="02040503050406030204" pitchFamily="18" charset="0"/>
              </a:rPr>
              <a:t>TẠO</a:t>
            </a:r>
            <a:endParaRPr lang="vi"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69332"/>
          </a:xfrm>
          <a:prstGeom prst="rect">
            <a:avLst/>
          </a:prstGeom>
          <a:noFill/>
        </p:spPr>
        <p:txBody>
          <a:bodyPr wrap="square">
            <a:spAutoFit/>
          </a:bodyPr>
          <a:lstStyle/>
          <a:p>
            <a:pPr algn="just"/>
            <a:r>
              <a:rPr lang="en-US" altLang="en-US" b="1" dirty="0">
                <a:latin typeface="Cambria" panose="02040503050406030204" pitchFamily="18" charset="0"/>
                <a:ea typeface="Cambria" panose="02040503050406030204" pitchFamily="18" charset="0"/>
              </a:rPr>
              <a:t>Scope management plan </a:t>
            </a:r>
            <a:endParaRPr lang="en-US" b="1"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194AA64B-300C-ECED-8428-851979FFAA13}"/>
              </a:ext>
            </a:extLst>
          </p:cNvPr>
          <p:cNvSpPr txBox="1"/>
          <p:nvPr/>
        </p:nvSpPr>
        <p:spPr>
          <a:xfrm>
            <a:off x="339354" y="1173043"/>
            <a:ext cx="11273525" cy="3054682"/>
          </a:xfrm>
          <a:prstGeom prst="rect">
            <a:avLst/>
          </a:prstGeom>
          <a:noFill/>
        </p:spPr>
        <p:txBody>
          <a:bodyPr wrap="square">
            <a:spAutoFit/>
          </a:bodyPr>
          <a:lstStyle/>
          <a:p>
            <a:pPr algn="just"/>
            <a:r>
              <a:rPr lang="vi" altLang="en-US" dirty="0">
                <a:latin typeface="Cambria" panose="02040503050406030204" pitchFamily="18" charset="0"/>
                <a:ea typeface="Cambria" panose="02040503050406030204" pitchFamily="18" charset="0"/>
              </a:rPr>
              <a:t>Theo PMBOK 5: </a:t>
            </a:r>
            <a:r>
              <a:rPr lang="vi" altLang="en-US" dirty="0">
                <a:latin typeface="Cambria" panose="02040503050406030204" pitchFamily="18" charset="0"/>
              </a:rPr>
              <a:t>“ </a:t>
            </a:r>
            <a:r>
              <a:rPr lang="vi" altLang="ja-JP" dirty="0">
                <a:latin typeface="Cambria" panose="02040503050406030204" pitchFamily="18" charset="0"/>
                <a:ea typeface="Cambria" panose="02040503050406030204" pitchFamily="18" charset="0"/>
              </a:rPr>
              <a:t>Kế hoạch quản lý phạm vi có thể chính thức hoặc không chính thức, có khung chung hoặc rất chi tiết, dựa trên nhu cầu của dự án </a:t>
            </a:r>
            <a:r>
              <a:rPr lang="vi" altLang="en-US" dirty="0">
                <a:latin typeface="Cambria" panose="02040503050406030204" pitchFamily="18" charset="0"/>
              </a:rPr>
              <a:t>” .</a:t>
            </a:r>
            <a:r>
              <a:rPr lang="vi" altLang="ja-JP" dirty="0">
                <a:latin typeface="Cambria" panose="02040503050406030204" pitchFamily="18" charset="0"/>
                <a:ea typeface="Cambria" panose="02040503050406030204" pitchFamily="18" charset="0"/>
              </a:rPr>
              <a:t> </a:t>
            </a:r>
          </a:p>
          <a:p>
            <a:pPr lvl="1" algn="just">
              <a:spcAft>
                <a:spcPts val="300"/>
              </a:spcAft>
              <a:buClr>
                <a:schemeClr val="accent2">
                  <a:lumMod val="75000"/>
                </a:schemeClr>
              </a:buClr>
            </a:pPr>
            <a:endParaRPr lang="en-US" altLang="en-US" dirty="0">
              <a:solidFill>
                <a:schemeClr val="tx1">
                  <a:lumMod val="65000"/>
                  <a:lumOff val="35000"/>
                </a:schemeClr>
              </a:solidFill>
              <a:latin typeface="Cambria" panose="02040503050406030204" pitchFamily="18" charset="0"/>
              <a:ea typeface="Cambria" panose="02040503050406030204" pitchFamily="18" charset="0"/>
            </a:endParaRPr>
          </a:p>
          <a:p>
            <a:pPr algn="just"/>
            <a:r>
              <a:rPr lang="vi" altLang="en-US" dirty="0">
                <a:latin typeface="Cambria" panose="02040503050406030204" pitchFamily="18" charset="0"/>
                <a:ea typeface="Cambria" panose="02040503050406030204" pitchFamily="18" charset="0"/>
              </a:rPr>
              <a:t>Các thành phần của kế hoạch quản lý phạm vi bao gồm:</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Quy trình chuẩn bị báo cáo phạm vi dự án chi tiết</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Quy trình cho phép tạo WBS từ tuyên bố phạm vi dự án chi tiết</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Quy trình thiết lập cách WBS sẽ được duy trì và phê duyệt</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Quy trình chỉ rõ cách thức chấp nhận chính thức các sản phẩm dự án đã hoàn thành sẽ được thực hiện như thế nào</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Quy trình kiểm soát cách xử lý các yêu cầu thay đổi đối với tuyên bố phạm vi dự án chi tiết—quy trình này được liên kết trực tiếp với quy trình Thực hiện Kiểm soát Thay đổi Tích hợp</a:t>
            </a:r>
          </a:p>
        </p:txBody>
      </p:sp>
    </p:spTree>
    <p:extLst>
      <p:ext uri="{BB962C8B-B14F-4D97-AF65-F5344CB8AC3E}">
        <p14:creationId xmlns:p14="http://schemas.microsoft.com/office/powerpoint/2010/main" val="3765405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229845"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PHẠM VI DỰ ÁN</a:t>
            </a:r>
            <a:r>
              <a:rPr lang="en-US" sz="2000" b="1" dirty="0">
                <a:solidFill>
                  <a:schemeClr val="bg2">
                    <a:lumMod val="50000"/>
                  </a:schemeClr>
                </a:solidFill>
                <a:latin typeface="Cambria" panose="02040503050406030204" pitchFamily="18" charset="0"/>
                <a:ea typeface="Cambria" panose="02040503050406030204" pitchFamily="18" charset="0"/>
              </a:rPr>
              <a:t> -</a:t>
            </a:r>
            <a:r>
              <a:rPr lang="vi" sz="2000" b="1" dirty="0">
                <a:solidFill>
                  <a:schemeClr val="bg2">
                    <a:lumMod val="50000"/>
                  </a:schemeClr>
                </a:solidFill>
                <a:latin typeface="Cambria" panose="02040503050406030204" pitchFamily="18" charset="0"/>
                <a:ea typeface="Cambria" panose="02040503050406030204" pitchFamily="18" charset="0"/>
              </a:rPr>
              <a:t> KHỞI </a:t>
            </a:r>
            <a:r>
              <a:rPr lang="en-US" sz="2000" b="1" dirty="0">
                <a:solidFill>
                  <a:schemeClr val="bg2">
                    <a:lumMod val="50000"/>
                  </a:schemeClr>
                </a:solidFill>
                <a:latin typeface="Cambria" panose="02040503050406030204" pitchFamily="18" charset="0"/>
                <a:ea typeface="Cambria" panose="02040503050406030204" pitchFamily="18" charset="0"/>
              </a:rPr>
              <a:t>TẠO</a:t>
            </a:r>
            <a:endParaRPr lang="vi"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69332"/>
          </a:xfrm>
          <a:prstGeom prst="rect">
            <a:avLst/>
          </a:prstGeom>
          <a:noFill/>
        </p:spPr>
        <p:txBody>
          <a:bodyPr wrap="square">
            <a:spAutoFit/>
          </a:bodyPr>
          <a:lstStyle/>
          <a:p>
            <a:pPr algn="just"/>
            <a:r>
              <a:rPr lang="en-US" altLang="en-US" b="1" dirty="0">
                <a:latin typeface="Cambria" panose="02040503050406030204" pitchFamily="18" charset="0"/>
                <a:ea typeface="Cambria" panose="02040503050406030204" pitchFamily="18" charset="0"/>
              </a:rPr>
              <a:t>Requirements management plan</a:t>
            </a:r>
            <a:endParaRPr lang="en-US" b="1"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194AA64B-300C-ECED-8428-851979FFAA13}"/>
              </a:ext>
            </a:extLst>
          </p:cNvPr>
          <p:cNvSpPr txBox="1"/>
          <p:nvPr/>
        </p:nvSpPr>
        <p:spPr>
          <a:xfrm>
            <a:off x="339354" y="1173043"/>
            <a:ext cx="11273525" cy="3131627"/>
          </a:xfrm>
          <a:prstGeom prst="rect">
            <a:avLst/>
          </a:prstGeom>
          <a:noFill/>
        </p:spPr>
        <p:txBody>
          <a:bodyPr wrap="square">
            <a:spAutoFit/>
          </a:bodyPr>
          <a:lstStyle/>
          <a:p>
            <a:pPr algn="just"/>
            <a:r>
              <a:rPr lang="vi" altLang="en-US" dirty="0">
                <a:latin typeface="Cambria" panose="02040503050406030204" pitchFamily="18" charset="0"/>
                <a:ea typeface="Cambria" panose="02040503050406030204" pitchFamily="18" charset="0"/>
              </a:rPr>
              <a:t>Các thành phần của kế hoạch quản lý yêu cầu có thể bao gồm nhưng không giới hạn ở:</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Các hoạt động</a:t>
            </a:r>
            <a:r>
              <a:rPr lang="en-US" altLang="en-US" dirty="0">
                <a:solidFill>
                  <a:schemeClr val="tx1">
                    <a:lumMod val="65000"/>
                    <a:lumOff val="35000"/>
                  </a:schemeClr>
                </a:solidFill>
                <a:latin typeface="Cambria" panose="02040503050406030204" pitchFamily="18" charset="0"/>
                <a:ea typeface="Cambria" panose="02040503050406030204" pitchFamily="18" charset="0"/>
              </a:rPr>
              <a:t> </a:t>
            </a:r>
            <a:r>
              <a:rPr lang="en-US" altLang="en-US" dirty="0" err="1">
                <a:solidFill>
                  <a:schemeClr val="tx1">
                    <a:lumMod val="65000"/>
                    <a:lumOff val="35000"/>
                  </a:schemeClr>
                </a:solidFill>
                <a:latin typeface="Cambria" panose="02040503050406030204" pitchFamily="18" charset="0"/>
                <a:ea typeface="Cambria" panose="02040503050406030204" pitchFamily="18" charset="0"/>
              </a:rPr>
              <a:t>quản</a:t>
            </a:r>
            <a:r>
              <a:rPr lang="en-US" altLang="en-US" dirty="0">
                <a:solidFill>
                  <a:schemeClr val="tx1">
                    <a:lumMod val="65000"/>
                    <a:lumOff val="35000"/>
                  </a:schemeClr>
                </a:solidFill>
                <a:latin typeface="Cambria" panose="02040503050406030204" pitchFamily="18" charset="0"/>
                <a:ea typeface="Cambria" panose="02040503050406030204" pitchFamily="18" charset="0"/>
              </a:rPr>
              <a:t> </a:t>
            </a:r>
            <a:r>
              <a:rPr lang="en-US" altLang="en-US" dirty="0" err="1">
                <a:solidFill>
                  <a:schemeClr val="tx1">
                    <a:lumMod val="65000"/>
                    <a:lumOff val="35000"/>
                  </a:schemeClr>
                </a:solidFill>
                <a:latin typeface="Cambria" panose="02040503050406030204" pitchFamily="18" charset="0"/>
                <a:ea typeface="Cambria" panose="02040503050406030204" pitchFamily="18" charset="0"/>
              </a:rPr>
              <a:t>lý</a:t>
            </a:r>
            <a:r>
              <a:rPr lang="vi" altLang="en-US" dirty="0">
                <a:solidFill>
                  <a:schemeClr val="tx1">
                    <a:lumMod val="65000"/>
                    <a:lumOff val="35000"/>
                  </a:schemeClr>
                </a:solidFill>
                <a:latin typeface="Cambria" panose="02040503050406030204" pitchFamily="18" charset="0"/>
                <a:ea typeface="Cambria" panose="02040503050406030204" pitchFamily="18" charset="0"/>
              </a:rPr>
              <a:t> yêu cầu sẽ được lập kế hoạch, theo dõi và báo cáo như thế nào</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Các hoạt động quản lý cấu hình như:</a:t>
            </a:r>
          </a:p>
          <a:p>
            <a:pPr marL="1025525" lvl="1" indent="-285750" algn="just">
              <a:spcAft>
                <a:spcPts val="300"/>
              </a:spcAft>
              <a:buClr>
                <a:schemeClr val="accent2">
                  <a:lumMod val="75000"/>
                </a:schemeClr>
              </a:buClr>
              <a:buFont typeface="Courier New" panose="02070309020205020404" pitchFamily="49" charset="0"/>
              <a:buChar char="o"/>
            </a:pPr>
            <a:r>
              <a:rPr lang="vi" altLang="en-US" dirty="0">
                <a:solidFill>
                  <a:schemeClr val="tx1">
                    <a:lumMod val="65000"/>
                    <a:lumOff val="35000"/>
                  </a:schemeClr>
                </a:solidFill>
                <a:latin typeface="Cambria" panose="02040503050406030204" pitchFamily="18" charset="0"/>
                <a:ea typeface="Cambria" panose="02040503050406030204" pitchFamily="18" charset="0"/>
              </a:rPr>
              <a:t>Những thay đổi đối với sản phẩm sẽ được bắt đầu như thế nào</a:t>
            </a:r>
          </a:p>
          <a:p>
            <a:pPr marL="1025525" lvl="1" indent="-285750" algn="just">
              <a:spcAft>
                <a:spcPts val="300"/>
              </a:spcAft>
              <a:buClr>
                <a:schemeClr val="accent2">
                  <a:lumMod val="75000"/>
                </a:schemeClr>
              </a:buClr>
              <a:buFont typeface="Courier New" panose="02070309020205020404" pitchFamily="49" charset="0"/>
              <a:buChar char="o"/>
            </a:pPr>
            <a:r>
              <a:rPr lang="vi" altLang="en-US" dirty="0">
                <a:solidFill>
                  <a:schemeClr val="tx1">
                    <a:lumMod val="65000"/>
                    <a:lumOff val="35000"/>
                  </a:schemeClr>
                </a:solidFill>
                <a:latin typeface="Cambria" panose="02040503050406030204" pitchFamily="18" charset="0"/>
                <a:ea typeface="Cambria" panose="02040503050406030204" pitchFamily="18" charset="0"/>
              </a:rPr>
              <a:t>Tác động sẽ được phân tích như thế nào, chúng sẽ được theo dõi, giám sát và báo cáo như thế nào</a:t>
            </a:r>
          </a:p>
          <a:p>
            <a:pPr marL="1025525" lvl="1" indent="-285750" algn="just">
              <a:spcAft>
                <a:spcPts val="300"/>
              </a:spcAft>
              <a:buClr>
                <a:schemeClr val="accent2">
                  <a:lumMod val="75000"/>
                </a:schemeClr>
              </a:buClr>
              <a:buFont typeface="Courier New" panose="02070309020205020404" pitchFamily="49" charset="0"/>
              <a:buChar char="o"/>
            </a:pPr>
            <a:r>
              <a:rPr lang="vi" altLang="en-US" dirty="0">
                <a:solidFill>
                  <a:schemeClr val="tx1">
                    <a:lumMod val="65000"/>
                    <a:lumOff val="35000"/>
                  </a:schemeClr>
                </a:solidFill>
                <a:latin typeface="Cambria" panose="02040503050406030204" pitchFamily="18" charset="0"/>
                <a:ea typeface="Cambria" panose="02040503050406030204" pitchFamily="18" charset="0"/>
              </a:rPr>
              <a:t>Mức độ ủy quyền cần thiết để chấp thuận những thay đổi này</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Quy trình ưu tiên yêu cầu</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Các </a:t>
            </a:r>
            <a:r>
              <a:rPr lang="en-US" altLang="en-US" dirty="0">
                <a:solidFill>
                  <a:schemeClr val="tx1">
                    <a:lumMod val="65000"/>
                    <a:lumOff val="35000"/>
                  </a:schemeClr>
                </a:solidFill>
                <a:latin typeface="Cambria" panose="02040503050406030204" pitchFamily="18" charset="0"/>
                <a:ea typeface="Cambria" panose="02040503050406030204" pitchFamily="18" charset="0"/>
              </a:rPr>
              <a:t>metrics </a:t>
            </a:r>
            <a:r>
              <a:rPr lang="vi" altLang="en-US" dirty="0">
                <a:solidFill>
                  <a:schemeClr val="tx1">
                    <a:lumMod val="65000"/>
                    <a:lumOff val="35000"/>
                  </a:schemeClr>
                </a:solidFill>
                <a:latin typeface="Cambria" panose="02040503050406030204" pitchFamily="18" charset="0"/>
                <a:ea typeface="Cambria" panose="02040503050406030204" pitchFamily="18" charset="0"/>
              </a:rPr>
              <a:t>sản phẩm sẽ được sử dụng và lý do sử dụng chúng</a:t>
            </a:r>
          </a:p>
          <a:p>
            <a:pPr marL="742950" lvl="1" indent="-285750" algn="just">
              <a:spcAft>
                <a:spcPts val="300"/>
              </a:spcAft>
              <a:buClr>
                <a:schemeClr val="accent2">
                  <a:lumMod val="75000"/>
                </a:schemeClr>
              </a:buClr>
              <a:buFont typeface="Wingdings" panose="05000000000000000000" pitchFamily="2" charset="2"/>
              <a:buChar char="§"/>
            </a:pPr>
            <a:r>
              <a:rPr lang="vi" altLang="en-US" dirty="0">
                <a:solidFill>
                  <a:schemeClr val="tx1">
                    <a:lumMod val="65000"/>
                    <a:lumOff val="35000"/>
                  </a:schemeClr>
                </a:solidFill>
                <a:latin typeface="Cambria" panose="02040503050406030204" pitchFamily="18" charset="0"/>
                <a:ea typeface="Cambria" panose="02040503050406030204" pitchFamily="18" charset="0"/>
              </a:rPr>
              <a:t>Cấu trúc truy xuất nguồn gốc để phản ánh các thuộc tính yêu cầu nào sẽ được nắm bắt trên ma trận truy xuất nguồn gốc</a:t>
            </a:r>
          </a:p>
        </p:txBody>
      </p:sp>
    </p:spTree>
    <p:extLst>
      <p:ext uri="{BB962C8B-B14F-4D97-AF65-F5344CB8AC3E}">
        <p14:creationId xmlns:p14="http://schemas.microsoft.com/office/powerpoint/2010/main" val="41577743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473685"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PHẠM VI DỰ ÁN</a:t>
            </a:r>
            <a:r>
              <a:rPr lang="en-US" sz="2000" b="1" dirty="0">
                <a:solidFill>
                  <a:schemeClr val="bg2">
                    <a:lumMod val="50000"/>
                  </a:schemeClr>
                </a:solidFill>
                <a:latin typeface="Cambria" panose="02040503050406030204" pitchFamily="18" charset="0"/>
                <a:ea typeface="Cambria" panose="02040503050406030204" pitchFamily="18" charset="0"/>
              </a:rPr>
              <a:t> -</a:t>
            </a:r>
            <a:r>
              <a:rPr lang="vi" sz="2000" b="1" dirty="0">
                <a:solidFill>
                  <a:schemeClr val="bg2">
                    <a:lumMod val="50000"/>
                  </a:schemeClr>
                </a:solidFill>
                <a:latin typeface="Cambria" panose="02040503050406030204" pitchFamily="18" charset="0"/>
                <a:ea typeface="Cambria" panose="02040503050406030204" pitchFamily="18" charset="0"/>
              </a:rPr>
              <a:t> KHỞI </a:t>
            </a:r>
            <a:r>
              <a:rPr lang="en-US" sz="2000" b="1" dirty="0">
                <a:solidFill>
                  <a:schemeClr val="bg2">
                    <a:lumMod val="50000"/>
                  </a:schemeClr>
                </a:solidFill>
                <a:latin typeface="Cambria" panose="02040503050406030204" pitchFamily="18" charset="0"/>
                <a:ea typeface="Cambria" panose="02040503050406030204" pitchFamily="18" charset="0"/>
              </a:rPr>
              <a:t>TẠO</a:t>
            </a:r>
            <a:endParaRPr lang="vi"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38554"/>
          </a:xfrm>
          <a:prstGeom prst="rect">
            <a:avLst/>
          </a:prstGeom>
          <a:noFill/>
        </p:spPr>
        <p:txBody>
          <a:bodyPr wrap="square">
            <a:spAutoFit/>
          </a:bodyPr>
          <a:lstStyle/>
          <a:p>
            <a:pPr algn="just"/>
            <a:r>
              <a:rPr lang="vi" altLang="en-US" sz="1600" b="1" dirty="0">
                <a:latin typeface="Cambria" panose="02040503050406030204" pitchFamily="18" charset="0"/>
                <a:ea typeface="Cambria" panose="02040503050406030204" pitchFamily="18" charset="0"/>
              </a:rPr>
              <a:t>Thu thập yêu cầu</a:t>
            </a:r>
            <a:endParaRPr lang="en-US" sz="1600" b="1"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194AA64B-300C-ECED-8428-851979FFAA13}"/>
              </a:ext>
            </a:extLst>
          </p:cNvPr>
          <p:cNvSpPr txBox="1"/>
          <p:nvPr/>
        </p:nvSpPr>
        <p:spPr>
          <a:xfrm>
            <a:off x="339354" y="1173043"/>
            <a:ext cx="11273525" cy="5232202"/>
          </a:xfrm>
          <a:prstGeom prst="rect">
            <a:avLst/>
          </a:prstGeom>
          <a:noFill/>
        </p:spPr>
        <p:txBody>
          <a:bodyPr wrap="square">
            <a:spAutoFit/>
          </a:bodyPr>
          <a:lstStyle/>
          <a:p>
            <a:pPr algn="just"/>
            <a:r>
              <a:rPr lang="vi" altLang="en-US" sz="1600" dirty="0">
                <a:latin typeface="Cambria" panose="02040503050406030204" pitchFamily="18" charset="0"/>
                <a:ea typeface="Cambria" panose="02040503050406030204" pitchFamily="18" charset="0"/>
              </a:rPr>
              <a:t>Thu thập các yêu cầu ban đầu là bước đầu tiên quan trọng trong việc quản lý các yêu cầu trong suốt quá trình thực hiện dự án</a:t>
            </a:r>
          </a:p>
          <a:p>
            <a:pPr marL="742950" lvl="1" indent="-285750" algn="just">
              <a:spcAft>
                <a:spcPts val="300"/>
              </a:spcAft>
              <a:buClr>
                <a:schemeClr val="accent2">
                  <a:lumMod val="75000"/>
                </a:schemeClr>
              </a:buClr>
              <a:buFont typeface="Wingdings" panose="05000000000000000000" pitchFamily="2" charset="2"/>
              <a:buChar cha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Trong một dự án lặp đi lặp lại/gia tăng hoặc thích ứng/linh hoạt, việc thu thập yêu cầu tiếp tục trong suốt vòng đời của dự án</a:t>
            </a:r>
          </a:p>
          <a:p>
            <a:pPr marL="742950" lvl="1" indent="-285750" algn="just">
              <a:spcAft>
                <a:spcPts val="300"/>
              </a:spcAft>
              <a:buClr>
                <a:schemeClr val="accent2">
                  <a:lumMod val="75000"/>
                </a:schemeClr>
              </a:buClr>
              <a:buFont typeface="Wingdings" panose="05000000000000000000" pitchFamily="2" charset="2"/>
              <a:buChar char="§"/>
            </a:pPr>
            <a:endParaRPr lang="en-US" altLang="en-US" sz="1600" dirty="0">
              <a:solidFill>
                <a:schemeClr val="tx1">
                  <a:lumMod val="65000"/>
                  <a:lumOff val="35000"/>
                </a:schemeClr>
              </a:solidFill>
              <a:latin typeface="Cambria" panose="02040503050406030204" pitchFamily="18" charset="0"/>
              <a:ea typeface="Cambria" panose="02040503050406030204" pitchFamily="18" charset="0"/>
            </a:endParaRPr>
          </a:p>
          <a:p>
            <a:pPr marL="0" lvl="1" algn="just">
              <a:spcAft>
                <a:spcPts val="300"/>
              </a:spcAft>
              <a:buClr>
                <a:schemeClr val="accent2">
                  <a:lumMod val="75000"/>
                </a:schemeClr>
              </a:buClr>
            </a:pPr>
            <a:r>
              <a:rPr lang="vi" altLang="en-US" sz="1600" b="1" dirty="0">
                <a:latin typeface="Cambria" panose="02040503050406030204" pitchFamily="18" charset="0"/>
                <a:ea typeface="Cambria" panose="02040503050406030204" pitchFamily="18" charset="0"/>
              </a:rPr>
              <a:t>Các loại yêu cầu</a:t>
            </a:r>
          </a:p>
          <a:p>
            <a:pPr marL="742950" lvl="1" indent="-285750" algn="just">
              <a:spcAft>
                <a:spcPts val="300"/>
              </a:spcAft>
              <a:buClr>
                <a:schemeClr val="accent2">
                  <a:lumMod val="75000"/>
                </a:schemeClr>
              </a:buClr>
              <a:buFont typeface="Wingdings" panose="05000000000000000000" pitchFamily="2" charset="2"/>
              <a:buChar char="§"/>
            </a:pPr>
            <a:r>
              <a:rPr lang="vi" altLang="en-US" sz="1600" b="1" dirty="0">
                <a:solidFill>
                  <a:schemeClr val="tx1">
                    <a:lumMod val="65000"/>
                    <a:lumOff val="35000"/>
                  </a:schemeClr>
                </a:solidFill>
                <a:latin typeface="Cambria" panose="02040503050406030204" pitchFamily="18" charset="0"/>
                <a:ea typeface="Cambria" panose="02040503050406030204" pitchFamily="18" charset="0"/>
              </a:rPr>
              <a:t>Yêu cầu kinh doanh. </a:t>
            </a:r>
            <a:r>
              <a:rPr lang="vi" altLang="en-US" sz="1600" dirty="0">
                <a:solidFill>
                  <a:schemeClr val="tx1">
                    <a:lumMod val="65000"/>
                    <a:lumOff val="35000"/>
                  </a:schemeClr>
                </a:solidFill>
                <a:latin typeface="Cambria" panose="02040503050406030204" pitchFamily="18" charset="0"/>
                <a:ea typeface="Cambria" panose="02040503050406030204" pitchFamily="18" charset="0"/>
              </a:rPr>
              <a:t>Mô tả các nhu cầu cấp cao của toàn bộ tổ chức</a:t>
            </a:r>
          </a:p>
          <a:p>
            <a:pPr marL="1025525" lvl="1" indent="-285750" algn="just">
              <a:spcAft>
                <a:spcPts val="300"/>
              </a:spcAft>
              <a:buClr>
                <a:schemeClr val="accent2">
                  <a:lumMod val="75000"/>
                </a:schemeClr>
              </a:buClr>
              <a:buFont typeface="Courier New" panose="02070309020205020404" pitchFamily="49" charset="0"/>
              <a:buChar char="o"/>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Ví dụ: Tăng 25% lượng mua hàng thương mại điện tử</a:t>
            </a:r>
          </a:p>
          <a:p>
            <a:pPr marL="742950" lvl="1" indent="-285750" algn="just">
              <a:spcAft>
                <a:spcPts val="300"/>
              </a:spcAft>
              <a:buClr>
                <a:schemeClr val="accent2">
                  <a:lumMod val="75000"/>
                </a:schemeClr>
              </a:buClr>
              <a:buFont typeface="Wingdings" panose="05000000000000000000" pitchFamily="2" charset="2"/>
              <a:buChar char="§"/>
            </a:pPr>
            <a:r>
              <a:rPr lang="vi" altLang="en-US" sz="1600" b="1" dirty="0">
                <a:solidFill>
                  <a:schemeClr val="tx1">
                    <a:lumMod val="65000"/>
                    <a:lumOff val="35000"/>
                  </a:schemeClr>
                </a:solidFill>
                <a:latin typeface="Cambria" panose="02040503050406030204" pitchFamily="18" charset="0"/>
                <a:ea typeface="Cambria" panose="02040503050406030204" pitchFamily="18" charset="0"/>
              </a:rPr>
              <a:t>Yêu cầu của bên liên quan. </a:t>
            </a:r>
            <a:r>
              <a:rPr lang="vi" altLang="en-US" sz="1600" dirty="0">
                <a:solidFill>
                  <a:schemeClr val="tx1">
                    <a:lumMod val="65000"/>
                    <a:lumOff val="35000"/>
                  </a:schemeClr>
                </a:solidFill>
                <a:latin typeface="Cambria" panose="02040503050406030204" pitchFamily="18" charset="0"/>
                <a:ea typeface="Cambria" panose="02040503050406030204" pitchFamily="18" charset="0"/>
              </a:rPr>
              <a:t>Mô tả nhu cầu của một bên liên quan cụ thể, đặc biệt là đối với các bên liên quan bên ngoài</a:t>
            </a:r>
          </a:p>
          <a:p>
            <a:pPr marL="1025525" lvl="1" indent="-285750" algn="just">
              <a:spcAft>
                <a:spcPts val="300"/>
              </a:spcAft>
              <a:buClr>
                <a:schemeClr val="accent2">
                  <a:lumMod val="75000"/>
                </a:schemeClr>
              </a:buClr>
              <a:buFont typeface="Courier New" panose="02070309020205020404" pitchFamily="49" charset="0"/>
              <a:buChar char="o"/>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Ví dụ: Là chủ sở hữu, tôi muốn phát triển một ứng dụng thương mại điện tử</a:t>
            </a:r>
          </a:p>
          <a:p>
            <a:pPr marL="742950" lvl="1" indent="-285750" algn="just">
              <a:spcAft>
                <a:spcPts val="300"/>
              </a:spcAft>
              <a:buClr>
                <a:schemeClr val="accent2">
                  <a:lumMod val="75000"/>
                </a:schemeClr>
              </a:buClr>
              <a:buFont typeface="Wingdings" panose="05000000000000000000" pitchFamily="2" charset="2"/>
              <a:buChar char="§"/>
            </a:pPr>
            <a:r>
              <a:rPr lang="vi" altLang="en-US" sz="1600" b="1" dirty="0">
                <a:solidFill>
                  <a:schemeClr val="tx1">
                    <a:lumMod val="65000"/>
                    <a:lumOff val="35000"/>
                  </a:schemeClr>
                </a:solidFill>
                <a:latin typeface="Cambria" panose="02040503050406030204" pitchFamily="18" charset="0"/>
                <a:ea typeface="Cambria" panose="02040503050406030204" pitchFamily="18" charset="0"/>
              </a:rPr>
              <a:t>Yêu cầu chức năng. </a:t>
            </a:r>
            <a:r>
              <a:rPr lang="vi" altLang="en-US" sz="1600" dirty="0">
                <a:solidFill>
                  <a:schemeClr val="tx1">
                    <a:lumMod val="65000"/>
                    <a:lumOff val="35000"/>
                  </a:schemeClr>
                </a:solidFill>
                <a:latin typeface="Cambria" panose="02040503050406030204" pitchFamily="18" charset="0"/>
                <a:ea typeface="Cambria" panose="02040503050406030204" pitchFamily="18" charset="0"/>
              </a:rPr>
              <a:t>Mô tả hành vi của sản phẩm</a:t>
            </a:r>
          </a:p>
          <a:p>
            <a:pPr marL="1025525" lvl="1" indent="-285750" algn="just">
              <a:spcAft>
                <a:spcPts val="300"/>
              </a:spcAft>
              <a:buClr>
                <a:schemeClr val="accent2">
                  <a:lumMod val="75000"/>
                </a:schemeClr>
              </a:buClr>
              <a:buFont typeface="Courier New" panose="02070309020205020404" pitchFamily="49" charset="0"/>
              <a:buChar char="o"/>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Ví dụ: Là một khách hàng bán lẻ, tôi muốn có thể mua sắm theo thương hiệu hoặc danh mục sản phẩm trên ứng dụng thương mại điện tử</a:t>
            </a:r>
          </a:p>
          <a:p>
            <a:pPr marL="742950" lvl="1" indent="-285750" algn="just">
              <a:spcAft>
                <a:spcPts val="300"/>
              </a:spcAft>
              <a:buClr>
                <a:schemeClr val="accent2">
                  <a:lumMod val="75000"/>
                </a:schemeClr>
              </a:buClr>
              <a:buFont typeface="Wingdings" panose="05000000000000000000" pitchFamily="2" charset="2"/>
              <a:buChar char="§"/>
            </a:pPr>
            <a:r>
              <a:rPr lang="vi" altLang="en-US" sz="1600" b="1" dirty="0">
                <a:solidFill>
                  <a:schemeClr val="tx1">
                    <a:lumMod val="65000"/>
                    <a:lumOff val="35000"/>
                  </a:schemeClr>
                </a:solidFill>
                <a:latin typeface="Cambria" panose="02040503050406030204" pitchFamily="18" charset="0"/>
                <a:ea typeface="Cambria" panose="02040503050406030204" pitchFamily="18" charset="0"/>
              </a:rPr>
              <a:t>Yêu cầu không chức năng. </a:t>
            </a:r>
            <a:r>
              <a:rPr lang="vi" altLang="en-US" sz="1600" dirty="0">
                <a:solidFill>
                  <a:schemeClr val="tx1">
                    <a:lumMod val="65000"/>
                    <a:lumOff val="35000"/>
                  </a:schemeClr>
                </a:solidFill>
                <a:latin typeface="Cambria" panose="02040503050406030204" pitchFamily="18" charset="0"/>
                <a:ea typeface="Cambria" panose="02040503050406030204" pitchFamily="18" charset="0"/>
              </a:rPr>
              <a:t>Mô tả các phẩm chất hành vi cần thiết để sản phẩm có hiệu quả</a:t>
            </a:r>
          </a:p>
          <a:p>
            <a:pPr marL="1025525" lvl="1" indent="-285750" algn="just">
              <a:spcAft>
                <a:spcPts val="300"/>
              </a:spcAft>
              <a:buClr>
                <a:schemeClr val="accent2">
                  <a:lumMod val="75000"/>
                </a:schemeClr>
              </a:buClr>
              <a:buFont typeface="Courier New" panose="02070309020205020404" pitchFamily="49" charset="0"/>
              <a:buChar char="o"/>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Ví dụ: Là chủ sở hữu ứng dụng thương mại điện tử, tôi muốn ứng dụng thương mại điện tử có sẵn 99,99% thời gian trong khoảng thời gian 1 năm</a:t>
            </a:r>
          </a:p>
          <a:p>
            <a:pPr marL="742950" lvl="1" indent="-285750" algn="just">
              <a:spcAft>
                <a:spcPts val="300"/>
              </a:spcAft>
              <a:buClr>
                <a:schemeClr val="accent2">
                  <a:lumMod val="75000"/>
                </a:schemeClr>
              </a:buClr>
              <a:buFont typeface="Wingdings" panose="05000000000000000000" pitchFamily="2" charset="2"/>
              <a:buChar char="§"/>
            </a:pPr>
            <a:r>
              <a:rPr lang="vi" altLang="en-US" sz="1600" b="1" dirty="0">
                <a:solidFill>
                  <a:schemeClr val="tx1">
                    <a:lumMod val="65000"/>
                    <a:lumOff val="35000"/>
                  </a:schemeClr>
                </a:solidFill>
                <a:latin typeface="Cambria" panose="02040503050406030204" pitchFamily="18" charset="0"/>
                <a:ea typeface="Cambria" panose="02040503050406030204" pitchFamily="18" charset="0"/>
              </a:rPr>
              <a:t>Yêu cầu về chất lượng. </a:t>
            </a:r>
            <a:r>
              <a:rPr lang="vi" altLang="en-US" sz="1600" dirty="0">
                <a:solidFill>
                  <a:schemeClr val="tx1">
                    <a:lumMod val="65000"/>
                    <a:lumOff val="35000"/>
                  </a:schemeClr>
                </a:solidFill>
                <a:latin typeface="Cambria" panose="02040503050406030204" pitchFamily="18" charset="0"/>
                <a:ea typeface="Cambria" panose="02040503050406030204" pitchFamily="18" charset="0"/>
              </a:rPr>
              <a:t>Ghi lại điều kiện hoặc tiêu chí cần thiết để xác nhận việc hoàn thành thành công một dự án có thể chuyển giao</a:t>
            </a:r>
          </a:p>
          <a:p>
            <a:pPr marL="1025525" lvl="1" indent="-285750" algn="just">
              <a:spcAft>
                <a:spcPts val="300"/>
              </a:spcAft>
              <a:buClr>
                <a:schemeClr val="accent2">
                  <a:lumMod val="75000"/>
                </a:schemeClr>
              </a:buClr>
              <a:buFont typeface="Courier New" panose="02070309020205020404" pitchFamily="49" charset="0"/>
              <a:buChar char="o"/>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Ví dụ: Là chủ sở hữu ứng dụng thương mại điện tử, tôi muốn nhóm thử nghiệm khách hàng bán lẻ có thể tìm kiếm và tìm thấy sản phẩm theo yêu cầu thành công trong vòng 30 giây</a:t>
            </a:r>
            <a:endParaRPr lang="en-US" alt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4312461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6" descr="Collect Requirements I-O.jpg">
            <a:extLst>
              <a:ext uri="{FF2B5EF4-FFF2-40B4-BE49-F238E27FC236}">
                <a16:creationId xmlns:a16="http://schemas.microsoft.com/office/drawing/2014/main" id="{534A78AF-420F-01E7-328F-B80A652ED9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7368" b="-47368"/>
          <a:stretch>
            <a:fillRect/>
          </a:stretch>
        </p:blipFill>
        <p:spPr>
          <a:xfrm>
            <a:off x="339355" y="684707"/>
            <a:ext cx="11511518" cy="6487617"/>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4" y="244931"/>
            <a:ext cx="7341605"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QUẢN LÝ PHẠM VI DỰ ÁN</a:t>
            </a:r>
            <a:r>
              <a:rPr lang="en-US" sz="2000" b="1" dirty="0">
                <a:solidFill>
                  <a:schemeClr val="bg2">
                    <a:lumMod val="50000"/>
                  </a:schemeClr>
                </a:solidFill>
                <a:latin typeface="Cambria" panose="02040503050406030204" pitchFamily="18" charset="0"/>
                <a:ea typeface="Cambria" panose="02040503050406030204" pitchFamily="18" charset="0"/>
              </a:rPr>
              <a:t> -</a:t>
            </a:r>
            <a:r>
              <a:rPr lang="vi" sz="2000" b="1" dirty="0">
                <a:solidFill>
                  <a:schemeClr val="bg2">
                    <a:lumMod val="50000"/>
                  </a:schemeClr>
                </a:solidFill>
                <a:latin typeface="Cambria" panose="02040503050406030204" pitchFamily="18" charset="0"/>
                <a:ea typeface="Cambria" panose="02040503050406030204" pitchFamily="18" charset="0"/>
              </a:rPr>
              <a:t> KHỞI </a:t>
            </a:r>
            <a:r>
              <a:rPr lang="en-US" sz="2000" b="1" dirty="0">
                <a:solidFill>
                  <a:schemeClr val="bg2">
                    <a:lumMod val="50000"/>
                  </a:schemeClr>
                </a:solidFill>
                <a:latin typeface="Cambria" panose="02040503050406030204" pitchFamily="18" charset="0"/>
                <a:ea typeface="Cambria" panose="02040503050406030204" pitchFamily="18" charset="0"/>
              </a:rPr>
              <a:t>TẠO</a:t>
            </a:r>
            <a:endParaRPr lang="vi"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9135BD9-0F7A-08B4-C48A-DB6AF46D9A32}"/>
              </a:ext>
            </a:extLst>
          </p:cNvPr>
          <p:cNvSpPr txBox="1"/>
          <p:nvPr/>
        </p:nvSpPr>
        <p:spPr>
          <a:xfrm>
            <a:off x="341127" y="724376"/>
            <a:ext cx="6096000" cy="369332"/>
          </a:xfrm>
          <a:prstGeom prst="rect">
            <a:avLst/>
          </a:prstGeom>
          <a:noFill/>
        </p:spPr>
        <p:txBody>
          <a:bodyPr wrap="square">
            <a:spAutoFit/>
          </a:bodyPr>
          <a:lstStyle/>
          <a:p>
            <a:pPr algn="just"/>
            <a:r>
              <a:rPr lang="vi" altLang="en-US" b="1" dirty="0">
                <a:latin typeface="Cambria" panose="02040503050406030204" pitchFamily="18" charset="0"/>
                <a:ea typeface="Cambria" panose="02040503050406030204" pitchFamily="18" charset="0"/>
              </a:rPr>
              <a:t>Đầu vào, công cụ &amp; kỹ thuật, và đầu ra</a:t>
            </a:r>
            <a:endParaRPr lang="en-US" b="1"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243404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784830"/>
          </a:xfrm>
          <a:prstGeom prst="rect">
            <a:avLst/>
          </a:prstGeom>
          <a:noFill/>
        </p:spPr>
        <p:txBody>
          <a:bodyPr wrap="square">
            <a:spAutoFit/>
          </a:bodyPr>
          <a:lstStyle/>
          <a:p>
            <a:pPr>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4. CẤU TRÚC PHÂN CHIA CÔNG VIỆC (WBS)</a:t>
            </a:r>
          </a:p>
          <a:p>
            <a:pPr>
              <a:spcAft>
                <a:spcPts val="600"/>
              </a:spcAft>
            </a:pPr>
            <a:endParaRPr lang="en-US"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4324261"/>
          </a:xfrm>
          <a:prstGeom prst="rect">
            <a:avLst/>
          </a:prstGeom>
          <a:noFill/>
        </p:spPr>
        <p:txBody>
          <a:bodyPr wrap="square">
            <a:spAutoFit/>
          </a:bodyPr>
          <a:lstStyle/>
          <a:p>
            <a:pPr>
              <a:lnSpc>
                <a:spcPct val="100000"/>
              </a:lnSpc>
              <a:spcBef>
                <a:spcPts val="0"/>
              </a:spcBef>
              <a:spcAft>
                <a:spcPts val="600"/>
              </a:spcAft>
            </a:pPr>
            <a:r>
              <a:rPr lang="en-US" b="1" dirty="0">
                <a:solidFill>
                  <a:schemeClr val="bg1"/>
                </a:solidFill>
                <a:latin typeface="Cambria" panose="02040503050406030204" pitchFamily="18" charset="0"/>
                <a:ea typeface="Cambria" panose="02040503050406030204" pitchFamily="18" charset="0"/>
              </a:rPr>
              <a:t>Work Breakdown Structure (WBS)</a:t>
            </a:r>
          </a:p>
          <a:p>
            <a:pPr marL="0" indent="0" algn="r">
              <a:spcBef>
                <a:spcPct val="100000"/>
              </a:spcBef>
              <a:buNone/>
            </a:pPr>
            <a:r>
              <a:rPr lang="en-US" sz="1800" i="1" dirty="0">
                <a:solidFill>
                  <a:schemeClr val="bg1"/>
                </a:solidFill>
                <a:latin typeface="Cambria" panose="02040503050406030204" pitchFamily="18" charset="0"/>
                <a:ea typeface="Cambria" panose="02040503050406030204" pitchFamily="18" charset="0"/>
              </a:rPr>
              <a:t>“a deliverable-oriented hierarchical decomposition of the work to be executed by the project team to accomplish the project objectives and create the required deliverables. It organizes and defines the total scope of the project. Each descending level represents an increasingly detailed definition of the project work. The WBS is decomposed into work packages. The deliverable orientation of the hierarchy includes both internal and external deliverables.”.</a:t>
            </a:r>
            <a:endParaRPr lang="en-US" altLang="en-US" sz="1800" i="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8B093C7-8A33-C07F-5EC7-3838AF3517A2}"/>
              </a:ext>
            </a:extLst>
          </p:cNvPr>
          <p:cNvSpPr txBox="1"/>
          <p:nvPr/>
        </p:nvSpPr>
        <p:spPr>
          <a:xfrm>
            <a:off x="339355" y="912336"/>
            <a:ext cx="7490444" cy="3116238"/>
          </a:xfrm>
          <a:prstGeom prst="rect">
            <a:avLst/>
          </a:prstGeom>
          <a:noFill/>
        </p:spPr>
        <p:txBody>
          <a:bodyPr wrap="square">
            <a:spAutoFit/>
          </a:bodyPr>
          <a:lstStyle/>
          <a:p>
            <a:pPr algn="just"/>
            <a:r>
              <a:rPr lang="vi" dirty="0">
                <a:latin typeface="Cambria" panose="02040503050406030204" pitchFamily="18" charset="0"/>
                <a:ea typeface="Cambria" panose="02040503050406030204" pitchFamily="18" charset="0"/>
              </a:rPr>
              <a:t>Cấu trúc phân chia công việc (WBS) là một công cụ quản lý dự án cơ bản thể hiện sự phân chia theo thứ bậc của các dự án. Nó giúp chia nhỏ các hoạt động phức tạp thành các phần dễ quản lý hơn với mục đích quản lý, đánh giá và phân công chúng cho bất kỳ ai trong nhóm.</a:t>
            </a:r>
          </a:p>
          <a:p>
            <a:pPr algn="just"/>
            <a:endParaRPr lang="en-US" sz="1600" dirty="0">
              <a:latin typeface="Cambria" panose="02040503050406030204" pitchFamily="18" charset="0"/>
              <a:ea typeface="Cambria" panose="02040503050406030204" pitchFamily="18" charset="0"/>
            </a:endParaRPr>
          </a:p>
          <a:p>
            <a:pPr marL="742950" lvl="1" indent="-285750">
              <a:spcAft>
                <a:spcPts val="300"/>
              </a:spcAft>
              <a:buClr>
                <a:schemeClr val="accent2">
                  <a:lumMod val="75000"/>
                </a:schemeClr>
              </a:buClr>
              <a:buFont typeface="Wingdings" panose="05000000000000000000" pitchFamily="2" charset="2"/>
              <a:buChar char="§"/>
            </a:pPr>
            <a:r>
              <a:rPr lang="vi" sz="1600" b="1" dirty="0">
                <a:solidFill>
                  <a:schemeClr val="tx1">
                    <a:lumMod val="65000"/>
                    <a:lumOff val="35000"/>
                  </a:schemeClr>
                </a:solidFill>
                <a:latin typeface="Cambria" panose="02040503050406030204" pitchFamily="18" charset="0"/>
                <a:ea typeface="Cambria" panose="02040503050406030204" pitchFamily="18" charset="0"/>
              </a:rPr>
              <a:t>Cần phải làm gì</a:t>
            </a:r>
          </a:p>
          <a:p>
            <a:pPr marL="742950" lvl="1" indent="-285750">
              <a:spcAft>
                <a:spcPts val="300"/>
              </a:spcAft>
              <a:buClr>
                <a:schemeClr val="accent2">
                  <a:lumMod val="75000"/>
                </a:schemeClr>
              </a:buClr>
              <a:buFont typeface="Wingdings" panose="05000000000000000000" pitchFamily="2" charset="2"/>
              <a:buChar char="§"/>
            </a:pPr>
            <a:r>
              <a:rPr lang="vi" sz="1600" b="1" dirty="0">
                <a:solidFill>
                  <a:schemeClr val="tx1">
                    <a:lumMod val="65000"/>
                    <a:lumOff val="35000"/>
                  </a:schemeClr>
                </a:solidFill>
                <a:latin typeface="Cambria" panose="02040503050406030204" pitchFamily="18" charset="0"/>
                <a:ea typeface="Cambria" panose="02040503050406030204" pitchFamily="18" charset="0"/>
              </a:rPr>
              <a:t>Khi nào thì bắt đầu và kết thúc</a:t>
            </a:r>
          </a:p>
          <a:p>
            <a:pPr marL="742950" lvl="1" indent="-285750">
              <a:spcAft>
                <a:spcPts val="300"/>
              </a:spcAft>
              <a:buClr>
                <a:schemeClr val="accent2">
                  <a:lumMod val="75000"/>
                </a:schemeClr>
              </a:buClr>
              <a:buFont typeface="Wingdings" panose="05000000000000000000" pitchFamily="2" charset="2"/>
              <a:buChar char="§"/>
            </a:pPr>
            <a:r>
              <a:rPr lang="vi" sz="1600" b="1" dirty="0">
                <a:solidFill>
                  <a:schemeClr val="tx1">
                    <a:lumMod val="65000"/>
                    <a:lumOff val="35000"/>
                  </a:schemeClr>
                </a:solidFill>
                <a:latin typeface="Cambria" panose="02040503050406030204" pitchFamily="18" charset="0"/>
                <a:ea typeface="Cambria" panose="02040503050406030204" pitchFamily="18" charset="0"/>
              </a:rPr>
              <a:t>Ai sẽ làm điều này?</a:t>
            </a:r>
          </a:p>
          <a:p>
            <a:pPr marL="0" lvl="1">
              <a:spcAft>
                <a:spcPts val="300"/>
              </a:spcAft>
              <a:buClr>
                <a:schemeClr val="accent2">
                  <a:lumMod val="75000"/>
                </a:schemeClr>
              </a:buClr>
            </a:pPr>
            <a:endParaRPr lang="en-US" altLang="en-US" sz="1600" dirty="0">
              <a:latin typeface="Cambria" panose="02040503050406030204" pitchFamily="18" charset="0"/>
              <a:ea typeface="Cambria" panose="02040503050406030204" pitchFamily="18" charset="0"/>
            </a:endParaRPr>
          </a:p>
          <a:p>
            <a:pPr marL="0" lvl="1">
              <a:spcAft>
                <a:spcPts val="300"/>
              </a:spcAft>
              <a:buClr>
                <a:schemeClr val="accent2">
                  <a:lumMod val="75000"/>
                </a:schemeClr>
              </a:buClr>
            </a:pPr>
            <a:r>
              <a:rPr lang="vi" altLang="en-US" sz="1600" b="1" dirty="0">
                <a:solidFill>
                  <a:srgbClr val="0070C0"/>
                </a:solidFill>
                <a:latin typeface="Cambria" panose="02040503050406030204" pitchFamily="18" charset="0"/>
                <a:ea typeface="Cambria" panose="02040503050406030204" pitchFamily="18" charset="0"/>
              </a:rPr>
              <a:t>Việc xác định đúng các hoạt động là điều cần thiết cho “quản lý phạm vi dự án”</a:t>
            </a:r>
          </a:p>
          <a:p>
            <a:pPr algn="just"/>
            <a:endParaRPr lang="en-US" sz="1600" dirty="0">
              <a:latin typeface="Cambria" panose="02040503050406030204" pitchFamily="18" charset="0"/>
              <a:ea typeface="Cambria" panose="02040503050406030204" pitchFamily="18" charset="0"/>
            </a:endParaRPr>
          </a:p>
        </p:txBody>
      </p:sp>
      <p:pic>
        <p:nvPicPr>
          <p:cNvPr id="5" name="Picture 4">
            <a:extLst>
              <a:ext uri="{FF2B5EF4-FFF2-40B4-BE49-F238E27FC236}">
                <a16:creationId xmlns:a16="http://schemas.microsoft.com/office/drawing/2014/main" id="{BD2E00BB-E4E7-E219-CD57-3D5260C46F3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097757" y="4185920"/>
            <a:ext cx="2295616" cy="2389235"/>
          </a:xfrm>
          <a:prstGeom prst="rect">
            <a:avLst/>
          </a:prstGeom>
        </p:spPr>
      </p:pic>
    </p:spTree>
    <p:extLst>
      <p:ext uri="{BB962C8B-B14F-4D97-AF65-F5344CB8AC3E}">
        <p14:creationId xmlns:p14="http://schemas.microsoft.com/office/powerpoint/2010/main" val="2409534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2FA1C315-2E7A-9D44-B424-DB2A3BE2D042}"/>
              </a:ext>
            </a:extLst>
          </p:cNvPr>
          <p:cNvPicPr>
            <a:picLocks noChangeAspect="1"/>
          </p:cNvPicPr>
          <p:nvPr/>
        </p:nvPicPr>
        <p:blipFill>
          <a:blip r:embed="rId2"/>
          <a:stretch>
            <a:fillRect/>
          </a:stretch>
        </p:blipFill>
        <p:spPr>
          <a:xfrm>
            <a:off x="6327666" y="0"/>
            <a:ext cx="5864334" cy="5181599"/>
          </a:xfrm>
          <a:prstGeom prst="rect">
            <a:avLst/>
          </a:prstGeom>
        </p:spPr>
      </p:pic>
      <p:sp>
        <p:nvSpPr>
          <p:cNvPr id="16" name="TextBox 15">
            <a:extLst>
              <a:ext uri="{FF2B5EF4-FFF2-40B4-BE49-F238E27FC236}">
                <a16:creationId xmlns:a16="http://schemas.microsoft.com/office/drawing/2014/main" id="{A4DE627A-5B49-D392-DA58-F59B62ADBB3B}"/>
              </a:ext>
            </a:extLst>
          </p:cNvPr>
          <p:cNvSpPr txBox="1"/>
          <p:nvPr/>
        </p:nvSpPr>
        <p:spPr>
          <a:xfrm>
            <a:off x="341127" y="763208"/>
            <a:ext cx="5754873" cy="5247590"/>
          </a:xfrm>
          <a:prstGeom prst="rect">
            <a:avLst/>
          </a:prstGeom>
          <a:noFill/>
        </p:spPr>
        <p:txBody>
          <a:bodyPr wrap="square">
            <a:spAutoFit/>
          </a:bodyPr>
          <a:lstStyle/>
          <a:p>
            <a:pPr algn="just">
              <a:defRPr/>
            </a:pPr>
            <a:r>
              <a:rPr lang="vi" sz="1600" dirty="0">
                <a:latin typeface="Cambria" panose="02040503050406030204" pitchFamily="18" charset="0"/>
                <a:ea typeface="Cambria" panose="02040503050406030204" pitchFamily="18" charset="0"/>
              </a:rPr>
              <a:t>Một số thuật ngữ thường dùng trong quản lý dự án WBS bao gồm:</a:t>
            </a:r>
          </a:p>
          <a:p>
            <a:pPr algn="just">
              <a:spcAft>
                <a:spcPts val="300"/>
              </a:spcAft>
              <a:defRPr/>
            </a:pPr>
            <a:r>
              <a:rPr lang="vi" sz="1600" dirty="0">
                <a:solidFill>
                  <a:srgbClr val="0070C0"/>
                </a:solidFill>
                <a:latin typeface="Cambria" panose="02040503050406030204" pitchFamily="18" charset="0"/>
                <a:ea typeface="Cambria" panose="02040503050406030204" pitchFamily="18" charset="0"/>
              </a:rPr>
              <a:t>Tiêu chí chấp nhận: </a:t>
            </a:r>
            <a:r>
              <a:rPr lang="vi" sz="1600" dirty="0">
                <a:latin typeface="Cambria" panose="02040503050406030204" pitchFamily="18" charset="0"/>
                <a:ea typeface="Cambria" panose="02040503050406030204" pitchFamily="18" charset="0"/>
              </a:rPr>
              <a:t>Các tiêu chuẩn cần đáp ứng để đạt được yêu cầu của khách hàng hoặc các bên liên quan khác</a:t>
            </a:r>
          </a:p>
          <a:p>
            <a:pPr algn="just">
              <a:spcAft>
                <a:spcPts val="300"/>
              </a:spcAft>
              <a:defRPr/>
            </a:pPr>
            <a:r>
              <a:rPr lang="vi" sz="1600" dirty="0">
                <a:solidFill>
                  <a:srgbClr val="0070C0"/>
                </a:solidFill>
                <a:latin typeface="Cambria" panose="02040503050406030204" pitchFamily="18" charset="0"/>
                <a:ea typeface="Cambria" panose="02040503050406030204" pitchFamily="18" charset="0"/>
              </a:rPr>
              <a:t>Ngân sách: </a:t>
            </a:r>
            <a:r>
              <a:rPr lang="vi" sz="1600" dirty="0">
                <a:latin typeface="Cambria" panose="02040503050406030204" pitchFamily="18" charset="0"/>
                <a:ea typeface="Cambria" panose="02040503050406030204" pitchFamily="18" charset="0"/>
              </a:rPr>
              <a:t>Chi phí liên quan đến dự án, có thể được chia nhỏ theo các mục tiêu hoặc giai đoạn</a:t>
            </a:r>
          </a:p>
          <a:p>
            <a:pPr algn="just">
              <a:spcAft>
                <a:spcPts val="300"/>
              </a:spcAft>
              <a:defRPr/>
            </a:pPr>
            <a:r>
              <a:rPr lang="vi" sz="1600" dirty="0">
                <a:solidFill>
                  <a:srgbClr val="0070C0"/>
                </a:solidFill>
                <a:latin typeface="Cambria" panose="02040503050406030204" pitchFamily="18" charset="0"/>
                <a:ea typeface="Cambria" panose="02040503050406030204" pitchFamily="18" charset="0"/>
              </a:rPr>
              <a:t>Deliverables: </a:t>
            </a:r>
            <a:r>
              <a:rPr lang="vi" sz="1600" dirty="0">
                <a:latin typeface="Cambria" panose="02040503050406030204" pitchFamily="18" charset="0"/>
                <a:ea typeface="Cambria" panose="02040503050406030204" pitchFamily="18" charset="0"/>
              </a:rPr>
              <a:t>Sản phẩm, dịch vụ hoặc kết quả được tạo ra ở các giai đoạn khác nhau của dự án. Ví dụ, trong một dự án thiết kế trang web, một WBS dựa trên deliverables sẽ được cấu trúc xung quanh các deliverables như URL, bố cục và nội dung đã viết</a:t>
            </a:r>
          </a:p>
          <a:p>
            <a:pPr algn="just">
              <a:spcAft>
                <a:spcPts val="300"/>
              </a:spcAft>
              <a:defRPr/>
            </a:pPr>
            <a:r>
              <a:rPr lang="vi" sz="1600" dirty="0">
                <a:solidFill>
                  <a:srgbClr val="0070C0"/>
                </a:solidFill>
                <a:latin typeface="Cambria" panose="02040503050406030204" pitchFamily="18" charset="0"/>
                <a:ea typeface="Cambria" panose="02040503050406030204" pitchFamily="18" charset="0"/>
              </a:rPr>
              <a:t>Các mốc quan trọng: </a:t>
            </a:r>
            <a:r>
              <a:rPr lang="vi" sz="1600" dirty="0">
                <a:latin typeface="Cambria" panose="02040503050406030204" pitchFamily="18" charset="0"/>
                <a:ea typeface="Cambria" panose="02040503050406030204" pitchFamily="18" charset="0"/>
              </a:rPr>
              <a:t>Các giai đoạn quan trọng của dự án được xác định trong WBS</a:t>
            </a:r>
          </a:p>
          <a:p>
            <a:pPr algn="just">
              <a:spcAft>
                <a:spcPts val="300"/>
              </a:spcAft>
              <a:defRPr/>
            </a:pPr>
            <a:r>
              <a:rPr lang="vi" sz="1600" dirty="0">
                <a:solidFill>
                  <a:srgbClr val="0070C0"/>
                </a:solidFill>
                <a:latin typeface="Cambria" panose="02040503050406030204" pitchFamily="18" charset="0"/>
                <a:ea typeface="Cambria" panose="02040503050406030204" pitchFamily="18" charset="0"/>
              </a:rPr>
              <a:t>Các giai đoạn: </a:t>
            </a:r>
            <a:r>
              <a:rPr lang="vi" sz="1600" dirty="0">
                <a:latin typeface="Cambria" panose="02040503050406030204" pitchFamily="18" charset="0"/>
                <a:ea typeface="Cambria" panose="02040503050406030204" pitchFamily="18" charset="0"/>
              </a:rPr>
              <a:t>Các giai đoạn khác nhau của một dự án. Ví dụ, trong một dự án thiết kế trang web, một WBS theo giai đoạn sẽ được cấu trúc xung quanh những thứ như khám phá, thiết kế và ra mắt, thay vì các mục tiêu cụ thể</a:t>
            </a:r>
          </a:p>
          <a:p>
            <a:pPr algn="just">
              <a:spcAft>
                <a:spcPts val="300"/>
              </a:spcAft>
              <a:defRPr/>
            </a:pPr>
            <a:r>
              <a:rPr lang="vi" sz="1600" dirty="0">
                <a:solidFill>
                  <a:srgbClr val="0070C0"/>
                </a:solidFill>
                <a:latin typeface="Cambria" panose="02040503050406030204" pitchFamily="18" charset="0"/>
                <a:ea typeface="Cambria" panose="02040503050406030204" pitchFamily="18" charset="0"/>
              </a:rPr>
              <a:t>Gói công việc là: </a:t>
            </a:r>
            <a:r>
              <a:rPr lang="vi" sz="1600" dirty="0">
                <a:latin typeface="Cambria" panose="02040503050406030204" pitchFamily="18" charset="0"/>
                <a:ea typeface="Cambria" panose="02040503050406030204" pitchFamily="18" charset="0"/>
              </a:rPr>
              <a:t>“…công việc được xác định ở cấp độ thấp nhất của cấu trúc phân chia công việc mà chi phí và thời gian được ước tính và quản lý.”</a:t>
            </a:r>
            <a:endParaRPr lang="en-US" altLang="en-US" sz="1600" dirty="0">
              <a:latin typeface="Cambria" panose="02040503050406030204" pitchFamily="18" charset="0"/>
              <a:ea typeface="Cambria" panose="02040503050406030204" pitchFamily="18" charset="0"/>
            </a:endParaRPr>
          </a:p>
          <a:p>
            <a:pPr algn="just">
              <a:defRPr/>
            </a:pPr>
            <a:endParaRPr lang="en-US" sz="1600" b="1" dirty="0">
              <a:solidFill>
                <a:srgbClr val="0070C0"/>
              </a:solidFill>
              <a:latin typeface="Cambria" panose="02040503050406030204" pitchFamily="18" charset="0"/>
              <a:ea typeface="Cambria" panose="02040503050406030204" pitchFamily="18" charset="0"/>
            </a:endParaRPr>
          </a:p>
          <a:p>
            <a:pPr algn="just">
              <a:buFont typeface="Arial" panose="020B0604020202020204" pitchFamily="34" charset="0"/>
              <a:buChar char="•"/>
              <a:defRPr/>
            </a:pPr>
            <a:endParaRPr lang="en-US" sz="1600" b="1" dirty="0">
              <a:solidFill>
                <a:srgbClr val="0070C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73340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6619E1-1835-C799-5B2A-E66522403F9B}"/>
              </a:ext>
            </a:extLst>
          </p:cNvPr>
          <p:cNvSpPr txBox="1"/>
          <p:nvPr/>
        </p:nvSpPr>
        <p:spPr>
          <a:xfrm>
            <a:off x="339355" y="817268"/>
            <a:ext cx="6180063" cy="4208844"/>
          </a:xfrm>
          <a:prstGeom prst="rect">
            <a:avLst/>
          </a:prstGeom>
          <a:noFill/>
        </p:spPr>
        <p:txBody>
          <a:bodyPr wrap="square">
            <a:spAutoFit/>
          </a:bodyPr>
          <a:lstStyle/>
          <a:p>
            <a:pPr algn="just">
              <a:defRPr/>
            </a:pPr>
            <a:r>
              <a:rPr lang="vi" sz="1600" dirty="0">
                <a:latin typeface="Cambria" panose="02040503050406030204" pitchFamily="18" charset="0"/>
                <a:ea typeface="Cambria" panose="02040503050406030204" pitchFamily="18" charset="0"/>
              </a:rPr>
              <a:t>Chia nhỏ dự án lớn thành các đơn vị dễ quản lý</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Tổng dự án</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Các dự án phụ</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Các mốc quan trọng (hoàn thành một loạt các gói công việc quan trọng)</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Các hoạt động chính (nhiệm vụ tóm tắt)</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Gói công việc (nhiệm vụ, hoạt động, yếu tố công việc)</a:t>
            </a:r>
          </a:p>
          <a:p>
            <a:pPr marL="742950" lvl="1" indent="-285750">
              <a:spcAft>
                <a:spcPts val="300"/>
              </a:spcAft>
              <a:buClr>
                <a:schemeClr val="accent2">
                  <a:lumMod val="75000"/>
                </a:schemeClr>
              </a:buClr>
              <a:buFont typeface="Wingdings" panose="05000000000000000000" pitchFamily="2" charset="2"/>
              <a:buChar char="§"/>
              <a:defRPr/>
            </a:pPr>
            <a:endParaRPr lang="en-US" sz="1600" dirty="0">
              <a:latin typeface="Cambria" panose="02040503050406030204" pitchFamily="18" charset="0"/>
              <a:ea typeface="Cambria" panose="02040503050406030204" pitchFamily="18" charset="0"/>
            </a:endParaRPr>
          </a:p>
          <a:p>
            <a:pPr algn="just">
              <a:defRPr/>
            </a:pPr>
            <a:r>
              <a:rPr lang="vi" sz="1600" dirty="0">
                <a:latin typeface="Cambria" panose="02040503050406030204" pitchFamily="18" charset="0"/>
                <a:ea typeface="Cambria" panose="02040503050406030204" pitchFamily="18" charset="0"/>
              </a:rPr>
              <a:t>Giúp cho</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Xác định tất cả công việc cần phải làm</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Tổ chức công việc một cách hợp lý để có thể lên lịch</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Phân công công việc cho các thành viên trong nhóm</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Xác định các nguồn lực cần thiết</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Truyền đạt những gì cần phải làm</a:t>
            </a:r>
          </a:p>
          <a:p>
            <a:pPr marL="742950" lvl="1" indent="-285750">
              <a:spcAft>
                <a:spcPts val="300"/>
              </a:spcAft>
              <a:buClr>
                <a:schemeClr val="accent2">
                  <a:lumMod val="75000"/>
                </a:schemeClr>
              </a:buClr>
              <a:buFont typeface="Wingdings" panose="05000000000000000000" pitchFamily="2" charset="2"/>
              <a:buChar char="§"/>
              <a:defRPr/>
            </a:pPr>
            <a:r>
              <a:rPr lang="vi" sz="1600" dirty="0">
                <a:latin typeface="Cambria" panose="02040503050406030204" pitchFamily="18" charset="0"/>
                <a:ea typeface="Cambria" panose="02040503050406030204" pitchFamily="18" charset="0"/>
              </a:rPr>
              <a:t>Tổ chức công việc bằng cách sử dụng các mốc quan trọng</a:t>
            </a:r>
          </a:p>
        </p:txBody>
      </p:sp>
      <p:pic>
        <p:nvPicPr>
          <p:cNvPr id="10" name="Picture 9">
            <a:extLst>
              <a:ext uri="{FF2B5EF4-FFF2-40B4-BE49-F238E27FC236}">
                <a16:creationId xmlns:a16="http://schemas.microsoft.com/office/drawing/2014/main" id="{C67E4D98-8088-A97B-D85D-A919A4BA01D0}"/>
              </a:ext>
            </a:extLst>
          </p:cNvPr>
          <p:cNvPicPr>
            <a:picLocks noChangeAspect="1"/>
          </p:cNvPicPr>
          <p:nvPr/>
        </p:nvPicPr>
        <p:blipFill>
          <a:blip r:embed="rId2"/>
          <a:stretch>
            <a:fillRect/>
          </a:stretch>
        </p:blipFill>
        <p:spPr>
          <a:xfrm>
            <a:off x="6096000" y="763208"/>
            <a:ext cx="5864334" cy="5181599"/>
          </a:xfrm>
          <a:prstGeom prst="rect">
            <a:avLst/>
          </a:prstGeom>
        </p:spPr>
      </p:pic>
    </p:spTree>
    <p:extLst>
      <p:ext uri="{BB962C8B-B14F-4D97-AF65-F5344CB8AC3E}">
        <p14:creationId xmlns:p14="http://schemas.microsoft.com/office/powerpoint/2010/main" val="1268264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11655358" cy="3762568"/>
          </a:xfrm>
          <a:prstGeom prst="rect">
            <a:avLst/>
          </a:prstGeom>
          <a:noFill/>
        </p:spPr>
        <p:txBody>
          <a:bodyPr wrap="square">
            <a:spAutoFit/>
          </a:bodyPr>
          <a:lstStyle/>
          <a:p>
            <a:pPr algn="l"/>
            <a:r>
              <a:rPr lang="vi" sz="2000" b="1" dirty="0">
                <a:solidFill>
                  <a:schemeClr val="bg2">
                    <a:lumMod val="50000"/>
                  </a:schemeClr>
                </a:solidFill>
                <a:latin typeface="Cambria" panose="02040503050406030204" pitchFamily="18" charset="0"/>
                <a:ea typeface="Cambria" panose="02040503050406030204" pitchFamily="18" charset="0"/>
              </a:rPr>
              <a:t>Lợi ích của WBS</a:t>
            </a:r>
          </a:p>
          <a:p>
            <a:pPr algn="l"/>
            <a:r>
              <a:rPr lang="vi" sz="2000" b="1" dirty="0">
                <a:solidFill>
                  <a:schemeClr val="bg2">
                    <a:lumMod val="50000"/>
                  </a:schemeClr>
                </a:solidFill>
                <a:latin typeface="Cambria" panose="02040503050406030204" pitchFamily="18" charset="0"/>
                <a:ea typeface="Cambria" panose="02040503050406030204" pitchFamily="18" charset="0"/>
              </a:rPr>
              <a:t>Tại sao phải tạo cấu trúc phân chia công việc?</a:t>
            </a:r>
          </a:p>
          <a:p>
            <a:pPr algn="just"/>
            <a:r>
              <a:rPr lang="vi" sz="1600" dirty="0">
                <a:latin typeface="Cambria" panose="02040503050406030204" pitchFamily="18" charset="0"/>
                <a:ea typeface="Cambria" panose="02040503050406030204" pitchFamily="18" charset="0"/>
              </a:rPr>
              <a:t>Cấu trúc phân chia công việc (WBS) là một công cụ có thể được sử dụng cho các dự án, chương trình và thậm chí là các sáng kiến để hiểu công việc cần phải thực hiện để tạo ra thành công một hoặc nhiều sản phẩm. Mục đích của việc tạo WBS:</a:t>
            </a:r>
          </a:p>
          <a:p>
            <a:pPr marL="742950" lvl="1" indent="-285750">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Để xác định:</a:t>
            </a:r>
          </a:p>
          <a:p>
            <a:pPr marL="1025525" lvl="1" indent="-285750">
              <a:spcBef>
                <a:spcPct val="0"/>
              </a:spcBef>
              <a:buClr>
                <a:schemeClr val="accent2">
                  <a:lumMod val="75000"/>
                </a:schemeClr>
              </a:buClr>
              <a:buSzPct val="70000"/>
              <a:buFont typeface="Courier New" panose="02070309020205020404" pitchFamily="49" charset="0"/>
              <a:buChar char="o"/>
            </a:pPr>
            <a:r>
              <a:rPr lang="vi" altLang="en-US" sz="1600" dirty="0">
                <a:latin typeface="Cambria" panose="02040503050406030204" pitchFamily="18" charset="0"/>
                <a:ea typeface="Cambria" panose="02040503050406030204" pitchFamily="18" charset="0"/>
              </a:rPr>
              <a:t>Chiến lược giải pháp hoặc cách tiếp cận chung</a:t>
            </a:r>
          </a:p>
          <a:p>
            <a:pPr marL="1025525" lvl="1" indent="-285750">
              <a:spcBef>
                <a:spcPct val="0"/>
              </a:spcBef>
              <a:buClr>
                <a:schemeClr val="accent2">
                  <a:lumMod val="75000"/>
                </a:schemeClr>
              </a:buClr>
              <a:buSzPct val="70000"/>
              <a:buFont typeface="Courier New" panose="02070309020205020404" pitchFamily="49" charset="0"/>
              <a:buChar char="o"/>
            </a:pPr>
            <a:r>
              <a:rPr lang="vi" altLang="en-US" sz="1600" dirty="0">
                <a:latin typeface="Cambria" panose="02040503050406030204" pitchFamily="18" charset="0"/>
                <a:ea typeface="Cambria" panose="02040503050406030204" pitchFamily="18" charset="0"/>
              </a:rPr>
              <a:t>Chiến thuật thực hiện</a:t>
            </a:r>
          </a:p>
          <a:p>
            <a:pPr marL="742950" lvl="1" indent="-285750">
              <a:spcBef>
                <a:spcPts val="600"/>
              </a:spcBef>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Để hỗ trợ ước tính chính xác hơn về thời gian và chi phí của dự án so với mức có thể thực hiện ở cấp độ dự án</a:t>
            </a:r>
          </a:p>
          <a:p>
            <a:pPr marL="742950" lvl="1" indent="-285750">
              <a:spcBef>
                <a:spcPts val="600"/>
              </a:spcBef>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Để cung cấp cơ sở cho việc ước tính nguồn lực của dự án:</a:t>
            </a:r>
          </a:p>
          <a:p>
            <a:pPr marL="1025525" lvl="1" indent="-285750">
              <a:spcBef>
                <a:spcPct val="0"/>
              </a:spcBef>
              <a:buClr>
                <a:schemeClr val="accent2">
                  <a:lumMod val="75000"/>
                </a:schemeClr>
              </a:buClr>
              <a:buSzPct val="70000"/>
              <a:buFont typeface="Courier New" panose="02070309020205020404" pitchFamily="49" charset="0"/>
              <a:buChar char="o"/>
            </a:pPr>
            <a:r>
              <a:rPr lang="vi" altLang="en-US" sz="1600" dirty="0">
                <a:latin typeface="Cambria" panose="02040503050406030204" pitchFamily="18" charset="0"/>
                <a:ea typeface="Cambria" panose="02040503050406030204" pitchFamily="18" charset="0"/>
              </a:rPr>
              <a:t>Hỗ trợ của phòng ban hoặc nhà thầu phụ</a:t>
            </a:r>
          </a:p>
          <a:p>
            <a:pPr marL="1025525" lvl="1" indent="-285750">
              <a:spcBef>
                <a:spcPct val="0"/>
              </a:spcBef>
              <a:buClr>
                <a:schemeClr val="accent2">
                  <a:lumMod val="75000"/>
                </a:schemeClr>
              </a:buClr>
              <a:buSzPct val="70000"/>
              <a:buFont typeface="Courier New" panose="02070309020205020404" pitchFamily="49" charset="0"/>
              <a:buChar char="o"/>
            </a:pPr>
            <a:r>
              <a:rPr lang="vi" altLang="en-US" sz="1600" dirty="0">
                <a:latin typeface="Cambria" panose="02040503050406030204" pitchFamily="18" charset="0"/>
                <a:ea typeface="Cambria" panose="02040503050406030204" pitchFamily="18" charset="0"/>
              </a:rPr>
              <a:t>Nhà cung cấp và sản phẩm của họ</a:t>
            </a:r>
          </a:p>
          <a:p>
            <a:pPr marL="1025525" lvl="1" indent="-285750">
              <a:spcBef>
                <a:spcPct val="0"/>
              </a:spcBef>
              <a:buClr>
                <a:schemeClr val="accent2">
                  <a:lumMod val="75000"/>
                </a:schemeClr>
              </a:buClr>
              <a:buSzPct val="70000"/>
              <a:buFont typeface="Courier New" panose="02070309020205020404" pitchFamily="49" charset="0"/>
              <a:buChar char="o"/>
            </a:pPr>
            <a:r>
              <a:rPr lang="vi" altLang="en-US" sz="1600" dirty="0">
                <a:latin typeface="Cambria" panose="02040503050406030204" pitchFamily="18" charset="0"/>
                <a:ea typeface="Cambria" panose="02040503050406030204" pitchFamily="18" charset="0"/>
              </a:rPr>
              <a:t>Dịch vụ</a:t>
            </a:r>
          </a:p>
          <a:p>
            <a:pPr marL="1025525" lvl="1" indent="-285750">
              <a:spcBef>
                <a:spcPct val="0"/>
              </a:spcBef>
              <a:buClr>
                <a:schemeClr val="accent2">
                  <a:lumMod val="75000"/>
                </a:schemeClr>
              </a:buClr>
              <a:buSzPct val="70000"/>
              <a:buFont typeface="Courier New" panose="02070309020205020404" pitchFamily="49" charset="0"/>
              <a:buChar char="o"/>
            </a:pPr>
            <a:r>
              <a:rPr lang="vi" altLang="en-US" sz="1600" dirty="0">
                <a:latin typeface="Cambria" panose="02040503050406030204" pitchFamily="18" charset="0"/>
                <a:ea typeface="Cambria" panose="02040503050406030204" pitchFamily="18" charset="0"/>
              </a:rPr>
              <a:t>Bất kỳ nguồn tài nguyên nhận dạng nào khác</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C4459CC8-C6B7-51AF-1043-252E0C582DB5}"/>
              </a:ext>
            </a:extLst>
          </p:cNvPr>
          <p:cNvPicPr>
            <a:picLocks noChangeAspect="1"/>
          </p:cNvPicPr>
          <p:nvPr/>
        </p:nvPicPr>
        <p:blipFill>
          <a:blip r:embed="rId2"/>
          <a:stretch>
            <a:fillRect/>
          </a:stretch>
        </p:blipFill>
        <p:spPr>
          <a:xfrm>
            <a:off x="5610116" y="3496611"/>
            <a:ext cx="6384597" cy="2809583"/>
          </a:xfrm>
          <a:prstGeom prst="rect">
            <a:avLst/>
          </a:prstGeom>
        </p:spPr>
      </p:pic>
      <p:sp>
        <p:nvSpPr>
          <p:cNvPr id="8" name="Rectangle 7">
            <a:extLst>
              <a:ext uri="{FF2B5EF4-FFF2-40B4-BE49-F238E27FC236}">
                <a16:creationId xmlns:a16="http://schemas.microsoft.com/office/drawing/2014/main" id="{538801F7-C89A-1E06-452B-BF15BEFF8587}"/>
              </a:ext>
            </a:extLst>
          </p:cNvPr>
          <p:cNvSpPr/>
          <p:nvPr/>
        </p:nvSpPr>
        <p:spPr>
          <a:xfrm>
            <a:off x="5709920" y="3352800"/>
            <a:ext cx="6284793" cy="2953393"/>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50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sp>
        <p:nvSpPr>
          <p:cNvPr id="3" name="TextBox 2">
            <a:extLst>
              <a:ext uri="{FF2B5EF4-FFF2-40B4-BE49-F238E27FC236}">
                <a16:creationId xmlns:a16="http://schemas.microsoft.com/office/drawing/2014/main" id="{DFE714B9-5A5F-472B-6C92-566A3A41D434}"/>
              </a:ext>
            </a:extLst>
          </p:cNvPr>
          <p:cNvSpPr txBox="1"/>
          <p:nvPr/>
        </p:nvSpPr>
        <p:spPr>
          <a:xfrm>
            <a:off x="423417" y="726268"/>
            <a:ext cx="11454333" cy="1646605"/>
          </a:xfrm>
          <a:prstGeom prst="rect">
            <a:avLst/>
          </a:prstGeom>
          <a:solidFill>
            <a:schemeClr val="accent5">
              <a:lumMod val="20000"/>
              <a:lumOff val="80000"/>
            </a:schemeClr>
          </a:solidFill>
        </p:spPr>
        <p:txBody>
          <a:bodyPr wrap="square">
            <a:spAutoFit/>
          </a:bodyPr>
          <a:lstStyle/>
          <a:p>
            <a:pPr algn="l"/>
            <a:r>
              <a:rPr lang="en-US" altLang="en-US" sz="1600" b="1" dirty="0">
                <a:latin typeface="Cambria" panose="02040503050406030204" pitchFamily="18" charset="0"/>
                <a:ea typeface="Cambria" panose="02040503050406030204" pitchFamily="18" charset="0"/>
              </a:rPr>
              <a:t>Thought process tool</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WBS là một công cụ thiết kế và lập kế hoạch.</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Nó giúp người quản lý dự án và nhóm dự án hình dung chính xác cách thức công việc của dự án có thể được xác định và quản lý hiệu quả.</a:t>
            </a:r>
          </a:p>
          <a:p>
            <a:r>
              <a:rPr lang="en-US" altLang="en-US" sz="1600" b="1" dirty="0">
                <a:latin typeface="Cambria" panose="02040503050406030204" pitchFamily="18" charset="0"/>
                <a:ea typeface="Cambria" panose="02040503050406030204" pitchFamily="18" charset="0"/>
              </a:rPr>
              <a:t>Architectural design tool</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WBS là hình ảnh về công việc của dự án và cách các mục công việc liên quan đến nhau.</a:t>
            </a:r>
            <a:endParaRPr lang="en-US"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2828449"/>
            <a:ext cx="11454332" cy="3031599"/>
          </a:xfrm>
          <a:prstGeom prst="rect">
            <a:avLst/>
          </a:prstGeom>
          <a:noFill/>
        </p:spPr>
        <p:txBody>
          <a:bodyPr wrap="square">
            <a:spAutoFit/>
          </a:bodyPr>
          <a:lstStyle/>
          <a:p>
            <a:r>
              <a:rPr lang="vi" altLang="en-US" sz="1600" b="1" dirty="0">
                <a:latin typeface="Cambria" panose="02040503050406030204" pitchFamily="18" charset="0"/>
                <a:ea typeface="Cambria" panose="02040503050406030204" pitchFamily="18" charset="0"/>
              </a:rPr>
              <a:t>Công cụ lập kế hoạch</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Trong giai đoạn lập kế hoạch, WBS cung cấp cho nhóm dự án bản mô tả chi tiết về dự án dưới dạng tập hợp các hoạt động phải hoàn thành để dự án có thể được hoàn thành.</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Ở mức hoạt động thấp nhất của WBS, chúng ta sẽ ước tính nỗ lực, thời gian đã trôi qua và yêu cầu về nguồn lực; lập lịch trình về thời điểm hoàn thành công việc; ước tính ngày bàn giao và hoàn thành dự án.</a:t>
            </a:r>
          </a:p>
          <a:p>
            <a:r>
              <a:rPr lang="vi" altLang="en-US" sz="1600" b="1" dirty="0">
                <a:latin typeface="Cambria" panose="02040503050406030204" pitchFamily="18" charset="0"/>
                <a:ea typeface="Cambria" panose="02040503050406030204" pitchFamily="18" charset="0"/>
              </a:rPr>
              <a:t>Công cụ báo cáo trạng thái dự án.</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WBS được sử dụng như một cấu trúc để báo cáo trạng thái dự án.</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Các hoạt động của dự án được hợp nhất từ dưới lên khi các hoạt động cấp thấp hơn hoàn thành.</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Việc hoàn thành các hoạt động cấp thấp hơn khiến các hoạt động cấp cao hơn chỉ hoàn thành một phần.</a:t>
            </a:r>
          </a:p>
          <a:p>
            <a:pPr marL="742950"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Do đó, WBS xác định các sự kiện quan trọng có thể báo cáo cho ban quản lý cấp cao và khách hàng.</a:t>
            </a:r>
          </a:p>
          <a:p>
            <a:pPr marL="742950" lvl="1" indent="-285750">
              <a:spcAft>
                <a:spcPts val="300"/>
              </a:spcAft>
              <a:buClr>
                <a:schemeClr val="accent2">
                  <a:lumMod val="75000"/>
                </a:schemeClr>
              </a:buClr>
              <a:buFont typeface="Wingdings" panose="05000000000000000000" pitchFamily="2" charset="2"/>
              <a:buChar char="§"/>
              <a:defRPr/>
            </a:pPr>
            <a:endParaRPr lang="en-US" altLang="en-US"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547994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837089"/>
            <a:ext cx="11454333" cy="2500685"/>
          </a:xfrm>
          <a:prstGeom prst="rect">
            <a:avLst/>
          </a:prstGeom>
          <a:solidFill>
            <a:schemeClr val="accent5">
              <a:lumMod val="20000"/>
              <a:lumOff val="80000"/>
            </a:schemeClr>
          </a:solidFill>
        </p:spPr>
        <p:txBody>
          <a:bodyPr wrap="square">
            <a:spAutoFit/>
          </a:bodyPr>
          <a:lstStyle/>
          <a:p>
            <a:r>
              <a:rPr lang="vi" altLang="en-US" sz="1600" b="1" dirty="0">
                <a:latin typeface="Cambria" panose="02040503050406030204" pitchFamily="18" charset="0"/>
                <a:ea typeface="Cambria" panose="02040503050406030204" pitchFamily="18" charset="0"/>
              </a:rPr>
              <a:t>Sáu tiêu chí để kiểm tra tính hoàn thiện trong WBS</a:t>
            </a:r>
          </a:p>
          <a:p>
            <a:pPr algn="just"/>
            <a:r>
              <a:rPr lang="vi" altLang="en-US" sz="1600" dirty="0">
                <a:latin typeface="Cambria" panose="02040503050406030204" pitchFamily="18" charset="0"/>
                <a:ea typeface="Cambria" panose="02040503050406030204" pitchFamily="18" charset="0"/>
              </a:rPr>
              <a:t>WBS được phát triển như một phần của phiên họp lập kế hoạch chung. Nhưng làm sao bạn biết rằng bạn đã </a:t>
            </a:r>
            <a:r>
              <a:rPr lang="vi" altLang="ja-JP" sz="1600" dirty="0" err="1">
                <a:latin typeface="Cambria" panose="02040503050406030204" pitchFamily="18" charset="0"/>
                <a:ea typeface="Cambria" panose="02040503050406030204" pitchFamily="18" charset="0"/>
              </a:rPr>
              <a:t>làm </a:t>
            </a:r>
            <a:r>
              <a:rPr lang="vi" altLang="ja-JP" sz="1600" dirty="0">
                <a:latin typeface="Cambria" panose="02040503050406030204" pitchFamily="18" charset="0"/>
                <a:ea typeface="Cambria" panose="02040503050406030204" pitchFamily="18" charset="0"/>
              </a:rPr>
              <a:t>đúng? Mỗi hoạt động phải có sáu đặc điểm để được coi là hoàn chỉnh – tức là được phân tích hoàn toàn. Sáu đặc điểm là</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Trạng thái/hoàn thành có thể đo lường được</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Sự kiện bắt đầu/kết thúc được xác định rõ ràng</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Hoạt động có mục tiêu</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Thời gian/chi phí được ước tính dễ dàng</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Thời gian hoạt động nằm trong giới hạn cho phép</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Nhiệm vụ công việc là độc lập</a:t>
            </a:r>
          </a:p>
        </p:txBody>
      </p:sp>
      <p:sp>
        <p:nvSpPr>
          <p:cNvPr id="7" name="TextBox 6">
            <a:extLst>
              <a:ext uri="{FF2B5EF4-FFF2-40B4-BE49-F238E27FC236}">
                <a16:creationId xmlns:a16="http://schemas.microsoft.com/office/drawing/2014/main" id="{C5FFDB6A-0D74-6757-F973-E6523FE03474}"/>
              </a:ext>
            </a:extLst>
          </p:cNvPr>
          <p:cNvSpPr txBox="1"/>
          <p:nvPr/>
        </p:nvSpPr>
        <p:spPr>
          <a:xfrm>
            <a:off x="423417" y="3490154"/>
            <a:ext cx="11454332" cy="2631490"/>
          </a:xfrm>
          <a:prstGeom prst="rect">
            <a:avLst/>
          </a:prstGeom>
          <a:noFill/>
        </p:spPr>
        <p:txBody>
          <a:bodyPr wrap="square">
            <a:spAutoFit/>
          </a:bodyPr>
          <a:lstStyle/>
          <a:p>
            <a:r>
              <a:rPr lang="vi" altLang="en-US" sz="1600" b="1" dirty="0">
                <a:latin typeface="Cambria" panose="02040503050406030204" pitchFamily="18" charset="0"/>
                <a:ea typeface="Cambria" panose="02040503050406030204" pitchFamily="18" charset="0"/>
              </a:rPr>
              <a:t>Trạng thái có thể đo lường: </a:t>
            </a:r>
            <a:r>
              <a:rPr lang="vi" altLang="en-US" sz="1600" dirty="0">
                <a:latin typeface="Cambria" panose="02040503050406030204" pitchFamily="18" charset="0"/>
                <a:ea typeface="Cambria" panose="02040503050406030204" pitchFamily="18" charset="0"/>
              </a:rPr>
              <a:t>Người quản lý dự án có thể yêu cầu trạng thái của một hoạt động tại bất kỳ thời điểm nào trong dự án. Nếu hoạt động đã được xác định đúng, câu hỏi đó sẽ được trả lời dễ dàng.</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Ví dụ: </a:t>
            </a:r>
            <a:r>
              <a:rPr lang="vi" altLang="ja-JP" sz="1600" dirty="0">
                <a:latin typeface="Cambria" panose="02040503050406030204" pitchFamily="18" charset="0"/>
                <a:ea typeface="Cambria" panose="02040503050406030204" pitchFamily="18" charset="0"/>
              </a:rPr>
              <a:t>tài liệu của một hệ thống ước tính dài khoảng 300 trang và cần khoảng bốn tháng làm việc toàn thời gian để viết, đây là một báo cáo mà nhà phát triển có thể cung cấp liên quan đến trạng thái: </a:t>
            </a:r>
            <a:r>
              <a:rPr lang="vi" altLang="en-US" sz="1600" dirty="0">
                <a:latin typeface="Cambria" panose="02040503050406030204" pitchFamily="18" charset="0"/>
              </a:rPr>
              <a:t>" </a:t>
            </a:r>
            <a:r>
              <a:rPr lang="vi" altLang="ja-JP" sz="1600" dirty="0">
                <a:latin typeface="Cambria" panose="02040503050406030204" pitchFamily="18" charset="0"/>
                <a:ea typeface="Cambria" panose="02040503050406030204" pitchFamily="18" charset="0"/>
              </a:rPr>
              <a:t>Tôi đã viết 150 trang, vì vậy tôi đoán là mình đã hoàn thành 50</a:t>
            </a:r>
            <a:r>
              <a:rPr lang="en-US" altLang="ja-JP" sz="1600" dirty="0">
                <a:latin typeface="Cambria" panose="02040503050406030204" pitchFamily="18" charset="0"/>
                <a:ea typeface="Cambria" panose="02040503050406030204" pitchFamily="18" charset="0"/>
              </a:rPr>
              <a:t>%</a:t>
            </a:r>
            <a:r>
              <a:rPr lang="vi" altLang="en-US" sz="1600" dirty="0">
                <a:latin typeface="Cambria" panose="02040503050406030204" pitchFamily="18" charset="0"/>
              </a:rPr>
              <a:t>"</a:t>
            </a:r>
            <a:endParaRPr lang="en-US" altLang="ja-JP" sz="1600" dirty="0">
              <a:latin typeface="Cambria" panose="02040503050406030204" pitchFamily="18" charset="0"/>
            </a:endParaRP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a:p>
            <a:r>
              <a:rPr lang="vi" altLang="en-US" sz="1600" b="1" dirty="0">
                <a:latin typeface="Cambria" panose="02040503050406030204" pitchFamily="18" charset="0"/>
                <a:ea typeface="Cambria" panose="02040503050406030204" pitchFamily="18" charset="0"/>
              </a:rPr>
              <a:t>Có giới hạn</a:t>
            </a:r>
            <a:r>
              <a:rPr lang="en-US" altLang="en-US" sz="1600" b="1" dirty="0">
                <a:latin typeface="Cambria" panose="02040503050406030204" pitchFamily="18" charset="0"/>
                <a:ea typeface="Cambria" panose="02040503050406030204" pitchFamily="18" charset="0"/>
              </a:rPr>
              <a:t> (Bounded)</a:t>
            </a:r>
            <a:r>
              <a:rPr lang="vi" altLang="en-US" sz="1600" b="1" dirty="0">
                <a:latin typeface="Cambria" panose="02040503050406030204" pitchFamily="18" charset="0"/>
                <a:ea typeface="Cambria" panose="02040503050406030204" pitchFamily="18" charset="0"/>
              </a:rPr>
              <a:t>: </a:t>
            </a:r>
            <a:r>
              <a:rPr lang="vi" altLang="en-US" sz="1600" dirty="0">
                <a:latin typeface="Cambria" panose="02040503050406030204" pitchFamily="18" charset="0"/>
                <a:ea typeface="Cambria" panose="02040503050406030204" pitchFamily="18" charset="0"/>
              </a:rPr>
              <a:t>Mỗi hoạt động phải có sự kiện bắt đầu và kết thúc được xác định rõ ràng. Khi sự kiện bắt đầu đã xảy ra, công việc có thể bắt đầu trên hoạt động. Sản phẩm có thể bàn giao rất có thể là sự kiện kết thúc báo hiệu công việc đã kết thúc trên hoạt động.</a:t>
            </a: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21110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837089"/>
            <a:ext cx="11454333" cy="2500685"/>
          </a:xfrm>
          <a:prstGeom prst="rect">
            <a:avLst/>
          </a:prstGeom>
          <a:solidFill>
            <a:schemeClr val="accent5">
              <a:lumMod val="20000"/>
              <a:lumOff val="80000"/>
            </a:schemeClr>
          </a:solidFill>
        </p:spPr>
        <p:txBody>
          <a:bodyPr wrap="square">
            <a:spAutoFit/>
          </a:bodyPr>
          <a:lstStyle/>
          <a:p>
            <a:r>
              <a:rPr lang="vi" altLang="en-US" sz="1600" b="1" dirty="0">
                <a:latin typeface="Cambria" panose="02040503050406030204" pitchFamily="18" charset="0"/>
                <a:ea typeface="Cambria" panose="02040503050406030204" pitchFamily="18" charset="0"/>
              </a:rPr>
              <a:t>Sáu tiêu chí để kiểm tra tính hoàn thiện trong WBS</a:t>
            </a:r>
          </a:p>
          <a:p>
            <a:pPr algn="just"/>
            <a:r>
              <a:rPr lang="vi" altLang="en-US" sz="1600" dirty="0">
                <a:latin typeface="Cambria" panose="02040503050406030204" pitchFamily="18" charset="0"/>
                <a:ea typeface="Cambria" panose="02040503050406030204" pitchFamily="18" charset="0"/>
              </a:rPr>
              <a:t>WBS được phát triển như một phần của phiên họp lập kế hoạch chung. Nhưng làm sao bạn biết rằng bạn đã </a:t>
            </a:r>
            <a:r>
              <a:rPr lang="vi" altLang="ja-JP" sz="1600" dirty="0" err="1">
                <a:latin typeface="Cambria" panose="02040503050406030204" pitchFamily="18" charset="0"/>
                <a:ea typeface="Cambria" panose="02040503050406030204" pitchFamily="18" charset="0"/>
              </a:rPr>
              <a:t>làm </a:t>
            </a:r>
            <a:r>
              <a:rPr lang="vi" altLang="ja-JP" sz="1600" dirty="0">
                <a:latin typeface="Cambria" panose="02040503050406030204" pitchFamily="18" charset="0"/>
                <a:ea typeface="Cambria" panose="02040503050406030204" pitchFamily="18" charset="0"/>
              </a:rPr>
              <a:t>đúng? Mỗi hoạt động phải có sáu đặc điểm để được coi là hoàn chỉnh – tức là được phân tích hoàn toàn. Sáu đặc điểm là</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Trạng thái/hoàn thành có thể đo lường được</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Sự kiện bắt đầu/kết thúc được xác định rõ ràng</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Hoạt động có mục tiêu</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Thời gian/chi phí được ước tính dễ dàng</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Thời gian hoạt động nằm trong giới hạn cho phép</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Nhiệm vụ công việc là độc lập</a:t>
            </a:r>
          </a:p>
        </p:txBody>
      </p:sp>
      <p:sp>
        <p:nvSpPr>
          <p:cNvPr id="7" name="TextBox 6">
            <a:extLst>
              <a:ext uri="{FF2B5EF4-FFF2-40B4-BE49-F238E27FC236}">
                <a16:creationId xmlns:a16="http://schemas.microsoft.com/office/drawing/2014/main" id="{C5FFDB6A-0D74-6757-F973-E6523FE03474}"/>
              </a:ext>
            </a:extLst>
          </p:cNvPr>
          <p:cNvSpPr txBox="1"/>
          <p:nvPr/>
        </p:nvSpPr>
        <p:spPr>
          <a:xfrm>
            <a:off x="423417" y="3490154"/>
            <a:ext cx="11454332" cy="2500685"/>
          </a:xfrm>
          <a:prstGeom prst="rect">
            <a:avLst/>
          </a:prstGeom>
          <a:noFill/>
        </p:spPr>
        <p:txBody>
          <a:bodyPr wrap="square">
            <a:spAutoFit/>
          </a:bodyPr>
          <a:lstStyle/>
          <a:p>
            <a:r>
              <a:rPr lang="en-US" altLang="en-US" sz="1600" b="1" dirty="0">
                <a:latin typeface="Cambria" panose="02040503050406030204" pitchFamily="18" charset="0"/>
                <a:ea typeface="Cambria" panose="02040503050406030204" pitchFamily="18" charset="0"/>
              </a:rPr>
              <a:t>Deliverable</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Kết quả của việc hoàn thành công việc tạo nên hoạt động là tạo ra được sản phẩm.</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Sản phẩm bàn giao là dấu hiệu hữu hình cho thấy hoạt động đã hoàn thành.</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Đây có thể là </a:t>
            </a:r>
            <a:r>
              <a:rPr lang="vi" altLang="ja-JP" sz="1600" dirty="0">
                <a:latin typeface="Cambria" panose="02040503050406030204" pitchFamily="18" charset="0"/>
                <a:ea typeface="Cambria" panose="02040503050406030204" pitchFamily="18" charset="0"/>
              </a:rPr>
              <a:t>chữ ký phê duyệt của người quản lý, một sản phẩm hoặc tài liệu vật lý.</a:t>
            </a:r>
          </a:p>
          <a:p>
            <a:r>
              <a:rPr lang="vi" altLang="en-US" sz="1600" b="1" dirty="0">
                <a:latin typeface="Cambria" panose="02040503050406030204" pitchFamily="18" charset="0"/>
                <a:ea typeface="Cambria" panose="02040503050406030204" pitchFamily="18" charset="0"/>
              </a:rPr>
              <a:t>Ước tính chi phí/thời gian</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Mỗi hoạt động phải có thời gian và chi phí ước tính để hoàn thành.</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Có thể thực hiện điều này ở cấp độ phân tích thấp nhất trong WBS cho phép bạn tổng hợp lên các cấp độ cao hơn và tổng chi phí dự án cũng như ngày hoàn thành.</a:t>
            </a: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468777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EBCA05E2-826B-FAA8-F432-301C88977F73}"/>
              </a:ext>
            </a:extLst>
          </p:cNvPr>
          <p:cNvSpPr txBox="1"/>
          <p:nvPr/>
        </p:nvSpPr>
        <p:spPr>
          <a:xfrm>
            <a:off x="423417" y="837089"/>
            <a:ext cx="11454333" cy="2500685"/>
          </a:xfrm>
          <a:prstGeom prst="rect">
            <a:avLst/>
          </a:prstGeom>
          <a:solidFill>
            <a:schemeClr val="accent5">
              <a:lumMod val="20000"/>
              <a:lumOff val="80000"/>
            </a:schemeClr>
          </a:solidFill>
        </p:spPr>
        <p:txBody>
          <a:bodyPr wrap="square">
            <a:spAutoFit/>
          </a:bodyPr>
          <a:lstStyle/>
          <a:p>
            <a:r>
              <a:rPr lang="vi" altLang="en-US" sz="1600" b="1" dirty="0">
                <a:latin typeface="Cambria" panose="02040503050406030204" pitchFamily="18" charset="0"/>
                <a:ea typeface="Cambria" panose="02040503050406030204" pitchFamily="18" charset="0"/>
              </a:rPr>
              <a:t>Sáu tiêu chí để kiểm tra tính hoàn thiện trong WBS</a:t>
            </a:r>
          </a:p>
          <a:p>
            <a:pPr algn="just"/>
            <a:r>
              <a:rPr lang="vi" altLang="en-US" sz="1600" dirty="0">
                <a:latin typeface="Cambria" panose="02040503050406030204" pitchFamily="18" charset="0"/>
                <a:ea typeface="Cambria" panose="02040503050406030204" pitchFamily="18" charset="0"/>
              </a:rPr>
              <a:t>WBS được phát triển như một phần của phiên họp lập kế hoạch chung. Nhưng làm sao bạn biết rằng bạn đã </a:t>
            </a:r>
            <a:r>
              <a:rPr lang="vi" altLang="ja-JP" sz="1600" dirty="0" err="1">
                <a:latin typeface="Cambria" panose="02040503050406030204" pitchFamily="18" charset="0"/>
                <a:ea typeface="Cambria" panose="02040503050406030204" pitchFamily="18" charset="0"/>
              </a:rPr>
              <a:t>làm </a:t>
            </a:r>
            <a:r>
              <a:rPr lang="vi" altLang="ja-JP" sz="1600" dirty="0">
                <a:latin typeface="Cambria" panose="02040503050406030204" pitchFamily="18" charset="0"/>
                <a:ea typeface="Cambria" panose="02040503050406030204" pitchFamily="18" charset="0"/>
              </a:rPr>
              <a:t>đúng? Mỗi hoạt động phải có sáu đặc điểm để được coi là hoàn chỉnh – tức là được phân tích hoàn toàn. Sáu đặc điểm là</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Trạng thái/hoàn thành có thể đo lường được</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Sự kiện bắt đầu/kết thúc được xác định rõ ràng</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Hoạt động có mục tiêu</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Thời gian/chi phí được ước tính dễ dàng</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Thời gian hoạt động nằm trong giới hạn cho phép</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Nhiệm vụ công việc là độc lập</a:t>
            </a:r>
          </a:p>
        </p:txBody>
      </p:sp>
      <p:sp>
        <p:nvSpPr>
          <p:cNvPr id="7" name="TextBox 6">
            <a:extLst>
              <a:ext uri="{FF2B5EF4-FFF2-40B4-BE49-F238E27FC236}">
                <a16:creationId xmlns:a16="http://schemas.microsoft.com/office/drawing/2014/main" id="{C5FFDB6A-0D74-6757-F973-E6523FE03474}"/>
              </a:ext>
            </a:extLst>
          </p:cNvPr>
          <p:cNvSpPr txBox="1"/>
          <p:nvPr/>
        </p:nvSpPr>
        <p:spPr>
          <a:xfrm>
            <a:off x="423417" y="3490154"/>
            <a:ext cx="11454332" cy="1400383"/>
          </a:xfrm>
          <a:prstGeom prst="rect">
            <a:avLst/>
          </a:prstGeom>
          <a:noFill/>
        </p:spPr>
        <p:txBody>
          <a:bodyPr wrap="square">
            <a:spAutoFit/>
          </a:bodyPr>
          <a:lstStyle/>
          <a:p>
            <a:r>
              <a:rPr lang="vi" altLang="en-US" sz="1600" b="1" dirty="0">
                <a:latin typeface="Cambria" panose="02040503050406030204" pitchFamily="18" charset="0"/>
                <a:ea typeface="Cambria" panose="02040503050406030204" pitchFamily="18" charset="0"/>
              </a:rPr>
              <a:t>Hoạt động độc lập</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Điều quan trọng là mỗi hoạt động phải độc lập. Khi công việc đã bắt đầu trên hoạt động, nó có thể tiếp tục hợp lý mà không bị gián đoạn và không cần thêm thông tin hoặc đầu vào cho đến khi hoạt động hoàn tất.</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Mặc dù một hoạt động có thể được lên lịch vào những thời điểm khác nhau dựa trên sự sẵn có của nguồn lực.</a:t>
            </a:r>
          </a:p>
          <a:p>
            <a:pPr marL="346075" lvl="1" indent="-285750">
              <a:spcAft>
                <a:spcPts val="300"/>
              </a:spcAft>
              <a:buClr>
                <a:schemeClr val="accent2">
                  <a:lumMod val="75000"/>
                </a:schemeClr>
              </a:buClr>
              <a:buFont typeface="Wingdings" panose="05000000000000000000" pitchFamily="2" charset="2"/>
              <a:buChar char="§"/>
              <a:defRPr/>
            </a:pPr>
            <a:endParaRPr lang="en-US" altLang="ja-JP"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557561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Content Placeholder 6" descr="Create WBS DFD.jpg">
            <a:extLst>
              <a:ext uri="{FF2B5EF4-FFF2-40B4-BE49-F238E27FC236}">
                <a16:creationId xmlns:a16="http://schemas.microsoft.com/office/drawing/2014/main" id="{D859D9ED-7CF6-B465-EFE0-C604979A0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8974" r="-8974"/>
          <a:stretch>
            <a:fillRect/>
          </a:stretch>
        </p:blipFill>
        <p:spPr>
          <a:xfrm>
            <a:off x="294640" y="749522"/>
            <a:ext cx="12705080" cy="5486400"/>
          </a:xfrm>
          <a:prstGeom prst="rect">
            <a:avLst/>
          </a:prstGeom>
        </p:spPr>
      </p:pic>
    </p:spTree>
    <p:extLst>
      <p:ext uri="{BB962C8B-B14F-4D97-AF65-F5344CB8AC3E}">
        <p14:creationId xmlns:p14="http://schemas.microsoft.com/office/powerpoint/2010/main" val="30877096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2A6619E1-1835-C799-5B2A-E66522403F9B}"/>
              </a:ext>
            </a:extLst>
          </p:cNvPr>
          <p:cNvSpPr txBox="1"/>
          <p:nvPr/>
        </p:nvSpPr>
        <p:spPr>
          <a:xfrm>
            <a:off x="339355" y="817268"/>
            <a:ext cx="11655358" cy="5686172"/>
          </a:xfrm>
          <a:prstGeom prst="rect">
            <a:avLst/>
          </a:prstGeom>
          <a:noFill/>
        </p:spPr>
        <p:txBody>
          <a:bodyPr wrap="square">
            <a:spAutoFit/>
          </a:bodyPr>
          <a:lstStyle/>
          <a:p>
            <a:pPr>
              <a:defRPr/>
            </a:pPr>
            <a:r>
              <a:rPr lang="vi" altLang="en-US" b="1" dirty="0">
                <a:solidFill>
                  <a:schemeClr val="bg2">
                    <a:lumMod val="50000"/>
                  </a:schemeClr>
                </a:solidFill>
                <a:latin typeface="Cambria" panose="02040503050406030204" pitchFamily="18" charset="0"/>
                <a:ea typeface="Cambria" panose="02040503050406030204" pitchFamily="18" charset="0"/>
              </a:rPr>
              <a:t>Hoạt động phân </a:t>
            </a:r>
            <a:r>
              <a:rPr lang="en-US" altLang="en-US" b="1" dirty="0" err="1">
                <a:solidFill>
                  <a:schemeClr val="bg2">
                    <a:lumMod val="50000"/>
                  </a:schemeClr>
                </a:solidFill>
                <a:latin typeface="Cambria" panose="02040503050406030204" pitchFamily="18" charset="0"/>
                <a:ea typeface="Cambria" panose="02040503050406030204" pitchFamily="18" charset="0"/>
              </a:rPr>
              <a:t>rã</a:t>
            </a:r>
            <a:r>
              <a:rPr lang="en-US" altLang="en-US" b="1" dirty="0">
                <a:solidFill>
                  <a:schemeClr val="bg2">
                    <a:lumMod val="50000"/>
                  </a:schemeClr>
                </a:solidFill>
                <a:latin typeface="Cambria" panose="02040503050406030204" pitchFamily="18" charset="0"/>
                <a:ea typeface="Cambria" panose="02040503050406030204" pitchFamily="18" charset="0"/>
              </a:rPr>
              <a:t> (Decomposition activities)</a:t>
            </a:r>
            <a:endParaRPr lang="vi" altLang="en-US" b="1" dirty="0">
              <a:solidFill>
                <a:schemeClr val="bg2">
                  <a:lumMod val="50000"/>
                </a:schemeClr>
              </a:solidFill>
              <a:latin typeface="Cambria" panose="02040503050406030204" pitchFamily="18" charset="0"/>
              <a:ea typeface="Cambria" panose="02040503050406030204" pitchFamily="18" charset="0"/>
            </a:endParaRP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Xác định và phân tích các sản phẩm và công việc liên quan</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Tuyên bố phạm vi dự án cung cấp cơ sở cho lần lặp đầu tiên của việc xác định sản phẩm bàn giao</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Cấu trúc và tổ chức WBS theo hệ thống phân cấp cấp cao phù hợp</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Đối với các dự án CNTT sử dụng mô hình phát triển hệ thống lặp, hệ thống phân cấp giai đoạn/lặp lại/ngành phù hợp nhất với quy trình SDLC</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Lưu ý rằng một trong những nguyên tắc trong quy trình SDLC lặp đi lặp lại là </a:t>
            </a:r>
            <a:r>
              <a:rPr lang="vi" altLang="en-US" sz="1600" dirty="0">
                <a:solidFill>
                  <a:schemeClr val="tx1">
                    <a:lumMod val="65000"/>
                    <a:lumOff val="35000"/>
                  </a:schemeClr>
                </a:solidFill>
                <a:latin typeface="Cambria" panose="02040503050406030204" pitchFamily="18" charset="0"/>
              </a:rPr>
              <a:t>' </a:t>
            </a:r>
            <a:r>
              <a:rPr lang="vi" altLang="ja-JP" sz="1600" dirty="0">
                <a:solidFill>
                  <a:schemeClr val="tx1">
                    <a:lumMod val="65000"/>
                    <a:lumOff val="35000"/>
                  </a:schemeClr>
                </a:solidFill>
                <a:latin typeface="Cambria" panose="02040503050406030204" pitchFamily="18" charset="0"/>
                <a:ea typeface="Cambria" panose="02040503050406030204" pitchFamily="18" charset="0"/>
              </a:rPr>
              <a:t>Quản lý dự án </a:t>
            </a:r>
            <a:r>
              <a:rPr lang="vi" altLang="en-US" sz="1600" dirty="0">
                <a:solidFill>
                  <a:schemeClr val="tx1">
                    <a:lumMod val="65000"/>
                    <a:lumOff val="35000"/>
                  </a:schemeClr>
                </a:solidFill>
                <a:latin typeface="Cambria" panose="02040503050406030204" pitchFamily="18" charset="0"/>
              </a:rPr>
              <a:t>' </a:t>
            </a:r>
            <a:r>
              <a:rPr lang="vi" altLang="ja-JP" sz="1600" dirty="0">
                <a:solidFill>
                  <a:schemeClr val="tx1">
                    <a:lumMod val="65000"/>
                    <a:lumOff val="35000"/>
                  </a:schemeClr>
                </a:solidFill>
                <a:latin typeface="Cambria" panose="02040503050406030204" pitchFamily="18" charset="0"/>
                <a:ea typeface="Cambria" panose="02040503050406030204" pitchFamily="18" charset="0"/>
              </a:rPr>
              <a:t>– tại đây có thể nhập các quy trình quản lý dự án phù hợp</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Phân tích các cấp độ WBS cao hơn thành các thành phần chi tiết cấp độ thấp hơn</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Nếu phù hợp, các mục tiêu lớn hơn có thể được phân chia thành các mục tiêu nhỏ hơn, cho đến tận cấp độ gói công việc</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Phát triển và chỉ định mã nhận dạng cho các thành phần WBS</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Lưu ý rằng mỗi mục trong WBS đều có một mã định danh duy nhất (mã hoặc mã định danh tài khoản) và một mã WBS</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Mã định danh duy nhất không thay đổi nếu một thành phần được di chuyển trong cấu trúc WBS; tuy nhiên, mã WBS sẽ thay đổi</a:t>
            </a:r>
          </a:p>
          <a:p>
            <a:pPr marL="346075" lvl="1" indent="-285750">
              <a:spcAft>
                <a:spcPts val="300"/>
              </a:spcAft>
              <a:buClr>
                <a:schemeClr val="accent2">
                  <a:lumMod val="75000"/>
                </a:schemeClr>
              </a:buClr>
              <a:buFont typeface="Wingdings" panose="05000000000000000000" pitchFamily="2" charset="2"/>
              <a:buChar char="§"/>
              <a:defRPr/>
            </a:pPr>
            <a:r>
              <a:rPr lang="vi" altLang="en-US" sz="1600" dirty="0">
                <a:latin typeface="Cambria" panose="02040503050406030204" pitchFamily="18" charset="0"/>
                <a:ea typeface="Cambria" panose="02040503050406030204" pitchFamily="18" charset="0"/>
              </a:rPr>
              <a:t>Xác minh rằng lượng phân chia công việc là cần thiết và đủ</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Điều này có thể được dịch thành một khái niệm đơn giản: </a:t>
            </a:r>
            <a:r>
              <a:rPr lang="vi" altLang="ja-JP" sz="1600" dirty="0">
                <a:solidFill>
                  <a:schemeClr val="tx1">
                    <a:lumMod val="65000"/>
                    <a:lumOff val="35000"/>
                  </a:schemeClr>
                </a:solidFill>
                <a:latin typeface="Cambria" panose="02040503050406030204" pitchFamily="18" charset="0"/>
                <a:ea typeface="Cambria" panose="02040503050406030204" pitchFamily="18" charset="0"/>
              </a:rPr>
              <a:t>nguyên tắc </a:t>
            </a:r>
            <a:r>
              <a:rPr lang="vi" altLang="en-US" sz="1600" dirty="0">
                <a:solidFill>
                  <a:schemeClr val="tx1">
                    <a:lumMod val="65000"/>
                    <a:lumOff val="35000"/>
                  </a:schemeClr>
                </a:solidFill>
                <a:latin typeface="Cambria" panose="02040503050406030204" pitchFamily="18" charset="0"/>
              </a:rPr>
              <a:t>' </a:t>
            </a:r>
            <a:r>
              <a:rPr lang="vi" altLang="ja-JP" sz="1600" dirty="0">
                <a:solidFill>
                  <a:schemeClr val="tx1">
                    <a:lumMod val="65000"/>
                    <a:lumOff val="35000"/>
                  </a:schemeClr>
                </a:solidFill>
                <a:latin typeface="Cambria" panose="02040503050406030204" pitchFamily="18" charset="0"/>
                <a:ea typeface="Cambria" panose="02040503050406030204" pitchFamily="18" charset="0"/>
              </a:rPr>
              <a:t>vừa phải </a:t>
            </a:r>
            <a:r>
              <a:rPr lang="vi" altLang="en-US" sz="1600" dirty="0">
                <a:solidFill>
                  <a:schemeClr val="tx1">
                    <a:lumMod val="65000"/>
                    <a:lumOff val="35000"/>
                  </a:schemeClr>
                </a:solidFill>
                <a:latin typeface="Cambria" panose="02040503050406030204" pitchFamily="18" charset="0"/>
              </a:rPr>
              <a:t>'</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Nguyên tắc đúng đắn nêu rằng không cần phân tích thêm nữa - nó sẽ quá chi tiết - và bất kỳ phân tích ít hơn sẽ quá thô.</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Phân tích không đủ dẫn đến giảm khả năng lập kế hoạch, quản lý và kiểm soát công việc</a:t>
            </a:r>
          </a:p>
          <a:p>
            <a:pPr marL="630238" lvl="1" indent="-285750" algn="just">
              <a:spcAft>
                <a:spcPts val="300"/>
              </a:spcAft>
              <a:buClr>
                <a:schemeClr val="accent2">
                  <a:lumMod val="75000"/>
                </a:schemeClr>
              </a:buClr>
              <a:buFont typeface="Courier New" panose="02070309020205020404" pitchFamily="49" charset="0"/>
              <a:buChar char="o"/>
              <a:defRPr/>
            </a:pPr>
            <a:r>
              <a:rPr lang="vi" altLang="en-US" sz="1600" dirty="0">
                <a:solidFill>
                  <a:schemeClr val="tx1">
                    <a:lumMod val="65000"/>
                    <a:lumOff val="35000"/>
                  </a:schemeClr>
                </a:solidFill>
                <a:latin typeface="Cambria" panose="02040503050406030204" pitchFamily="18" charset="0"/>
                <a:ea typeface="Cambria" panose="02040503050406030204" pitchFamily="18" charset="0"/>
              </a:rPr>
              <a:t>Sự phân hủy quá mức dẫn đến lãng phí công sức và giảm hiệu quả</a:t>
            </a:r>
          </a:p>
          <a:p>
            <a:pPr>
              <a:defRPr/>
            </a:pPr>
            <a:endParaRPr lang="en-US" sz="2000" b="1" dirty="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27432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8328395" cy="3131627"/>
          </a:xfrm>
          <a:prstGeom prst="rect">
            <a:avLst/>
          </a:prstGeom>
          <a:noFill/>
        </p:spPr>
        <p:txBody>
          <a:bodyPr wrap="square">
            <a:spAutoFit/>
          </a:bodyPr>
          <a:lstStyle/>
          <a:p>
            <a:pPr algn="l"/>
            <a:r>
              <a:rPr lang="vi" sz="2000" b="1" dirty="0">
                <a:solidFill>
                  <a:schemeClr val="bg2">
                    <a:lumMod val="50000"/>
                  </a:schemeClr>
                </a:solidFill>
                <a:latin typeface="Cambria" panose="02040503050406030204" pitchFamily="18" charset="0"/>
                <a:ea typeface="Cambria" panose="02040503050406030204" pitchFamily="18" charset="0"/>
              </a:rPr>
              <a:t>Xác </a:t>
            </a:r>
            <a:r>
              <a:rPr lang="en-US" sz="2000" b="1" dirty="0" err="1">
                <a:solidFill>
                  <a:schemeClr val="bg2">
                    <a:lumMod val="50000"/>
                  </a:schemeClr>
                </a:solidFill>
                <a:latin typeface="Cambria" panose="02040503050406030204" pitchFamily="18" charset="0"/>
                <a:ea typeface="Cambria" panose="02040503050406030204" pitchFamily="18" charset="0"/>
              </a:rPr>
              <a:t>nhận</a:t>
            </a:r>
            <a:r>
              <a:rPr lang="vi" sz="2000" b="1" dirty="0">
                <a:solidFill>
                  <a:schemeClr val="bg2">
                    <a:lumMod val="50000"/>
                  </a:schemeClr>
                </a:solidFill>
                <a:latin typeface="Cambria" panose="02040503050406030204" pitchFamily="18" charset="0"/>
                <a:ea typeface="Cambria" panose="02040503050406030204" pitchFamily="18" charset="0"/>
              </a:rPr>
              <a:t> WBS</a:t>
            </a:r>
          </a:p>
          <a:p>
            <a:pPr marL="742950" lvl="1" indent="-285750">
              <a:spcAft>
                <a:spcPts val="300"/>
              </a:spcAft>
              <a:buClr>
                <a:schemeClr val="accent2">
                  <a:lumMod val="75000"/>
                </a:schemeClr>
              </a:buClr>
              <a:buFont typeface="Wingdings" panose="05000000000000000000" pitchFamily="2" charset="2"/>
              <a:buChar char="§"/>
            </a:pPr>
            <a:r>
              <a:rPr lang="vi" altLang="en-US" dirty="0">
                <a:latin typeface="Cambria" panose="02040503050406030204" pitchFamily="18" charset="0"/>
                <a:ea typeface="Cambria" panose="02040503050406030204" pitchFamily="18" charset="0"/>
              </a:rPr>
              <a:t>Tất cả các yếu tố chính đã được xác định ở cấp cao nhất chưa?</a:t>
            </a:r>
          </a:p>
          <a:p>
            <a:pPr marL="742950" lvl="1" indent="-285750">
              <a:spcAft>
                <a:spcPts val="300"/>
              </a:spcAft>
              <a:buClr>
                <a:schemeClr val="accent2">
                  <a:lumMod val="75000"/>
                </a:schemeClr>
              </a:buClr>
              <a:buFont typeface="Wingdings" panose="05000000000000000000" pitchFamily="2" charset="2"/>
              <a:buChar char="§"/>
            </a:pPr>
            <a:r>
              <a:rPr lang="vi" altLang="en-US" dirty="0">
                <a:latin typeface="Cambria" panose="02040503050406030204" pitchFamily="18" charset="0"/>
                <a:ea typeface="Cambria" panose="02040503050406030204" pitchFamily="18" charset="0"/>
              </a:rPr>
              <a:t>Phân tích thành các thành phần có thể đo lường được?</a:t>
            </a:r>
          </a:p>
          <a:p>
            <a:pPr marL="742950" lvl="1" indent="-285750">
              <a:spcAft>
                <a:spcPts val="300"/>
              </a:spcAft>
              <a:buClr>
                <a:schemeClr val="accent2">
                  <a:lumMod val="75000"/>
                </a:schemeClr>
              </a:buClr>
              <a:buFont typeface="Wingdings" panose="05000000000000000000" pitchFamily="2" charset="2"/>
              <a:buChar char="§"/>
            </a:pPr>
            <a:r>
              <a:rPr lang="vi" altLang="en-US" dirty="0">
                <a:latin typeface="Cambria" panose="02040503050406030204" pitchFamily="18" charset="0"/>
                <a:ea typeface="Cambria" panose="02040503050406030204" pitchFamily="18" charset="0"/>
              </a:rPr>
              <a:t>Có cần thiết phải có vật dụng ở cấp độ thấp hơn không? Bao gồm tất cả?</a:t>
            </a:r>
          </a:p>
          <a:p>
            <a:pPr marL="742950" lvl="1" indent="-285750">
              <a:spcAft>
                <a:spcPts val="300"/>
              </a:spcAft>
              <a:buClr>
                <a:schemeClr val="accent2">
                  <a:lumMod val="75000"/>
                </a:schemeClr>
              </a:buClr>
              <a:buFont typeface="Wingdings" panose="05000000000000000000" pitchFamily="2" charset="2"/>
              <a:buChar char="§"/>
            </a:pPr>
            <a:r>
              <a:rPr lang="vi" altLang="en-US" dirty="0">
                <a:latin typeface="Cambria" panose="02040503050406030204" pitchFamily="18" charset="0"/>
                <a:ea typeface="Cambria" panose="02040503050406030204" pitchFamily="18" charset="0"/>
              </a:rPr>
              <a:t>Các bên liên quan có đồng ý rằng WBS là thỏa đáng không?</a:t>
            </a:r>
          </a:p>
          <a:p>
            <a:pPr marL="742950" lvl="1" indent="-285750">
              <a:spcAft>
                <a:spcPts val="300"/>
              </a:spcAft>
              <a:buClr>
                <a:schemeClr val="accent2">
                  <a:lumMod val="75000"/>
                </a:schemeClr>
              </a:buClr>
              <a:buFont typeface="Wingdings" panose="05000000000000000000" pitchFamily="2" charset="2"/>
              <a:buChar char="§"/>
            </a:pPr>
            <a:r>
              <a:rPr lang="vi" altLang="en-US" dirty="0">
                <a:latin typeface="Cambria" panose="02040503050406030204" pitchFamily="18" charset="0"/>
                <a:ea typeface="Cambria" panose="02040503050406030204" pitchFamily="18" charset="0"/>
              </a:rPr>
              <a:t>Các yếu tố có thể được lên lịch, lập ngân sách và phân công cho một đơn vị chịu trách nhiệm không?</a:t>
            </a:r>
          </a:p>
          <a:p>
            <a:pPr marL="742950" lvl="1" indent="-285750">
              <a:spcAft>
                <a:spcPts val="300"/>
              </a:spcAft>
              <a:buClr>
                <a:schemeClr val="accent2">
                  <a:lumMod val="75000"/>
                </a:schemeClr>
              </a:buClr>
              <a:buFont typeface="Wingdings" panose="05000000000000000000" pitchFamily="2" charset="2"/>
              <a:buChar char="§"/>
            </a:pPr>
            <a:r>
              <a:rPr lang="vi" altLang="en-US" dirty="0">
                <a:latin typeface="Cambria" panose="02040503050406030204" pitchFamily="18" charset="0"/>
                <a:ea typeface="Cambria" panose="02040503050406030204" pitchFamily="18" charset="0"/>
              </a:rPr>
              <a:t>Quá nhiều hoặc quá ít khả năng hiển thị và kiểm soát?</a:t>
            </a:r>
          </a:p>
          <a:p>
            <a:pPr marL="742950" lvl="1" indent="-285750">
              <a:spcAft>
                <a:spcPts val="300"/>
              </a:spcAft>
              <a:buClr>
                <a:schemeClr val="accent2">
                  <a:lumMod val="75000"/>
                </a:schemeClr>
              </a:buClr>
              <a:buFont typeface="Wingdings" panose="05000000000000000000" pitchFamily="2" charset="2"/>
              <a:buChar char="§"/>
            </a:pPr>
            <a:r>
              <a:rPr lang="vi" altLang="en-US" dirty="0">
                <a:latin typeface="Cambria" panose="02040503050406030204" pitchFamily="18" charset="0"/>
                <a:ea typeface="Cambria" panose="02040503050406030204" pitchFamily="18" charset="0"/>
              </a:rPr>
              <a:t>Báo cáo tình hình có thể được tạo ở mọi cấp độ không?</a:t>
            </a:r>
          </a:p>
          <a:p>
            <a:pPr algn="l"/>
            <a:endParaRPr lang="en-US" altLang="en-US" sz="1600" dirty="0">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B59A661C-B574-BCEC-A01B-A24FE099D03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462312" y="2644696"/>
            <a:ext cx="3390333" cy="3528596"/>
          </a:xfrm>
          <a:prstGeom prst="rect">
            <a:avLst/>
          </a:prstGeom>
        </p:spPr>
      </p:pic>
    </p:spTree>
    <p:extLst>
      <p:ext uri="{BB962C8B-B14F-4D97-AF65-F5344CB8AC3E}">
        <p14:creationId xmlns:p14="http://schemas.microsoft.com/office/powerpoint/2010/main" val="34840893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20BE37-9FBB-E35F-BF6D-396AD9C4D28E}"/>
              </a:ext>
            </a:extLst>
          </p:cNvPr>
          <p:cNvPicPr>
            <a:picLocks noChangeAspect="1"/>
          </p:cNvPicPr>
          <p:nvPr/>
        </p:nvPicPr>
        <p:blipFill>
          <a:blip r:embed="rId2"/>
          <a:stretch>
            <a:fillRect/>
          </a:stretch>
        </p:blipFill>
        <p:spPr>
          <a:xfrm>
            <a:off x="359675" y="936974"/>
            <a:ext cx="7239792" cy="5322182"/>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11513290" cy="1015663"/>
          </a:xfrm>
          <a:prstGeom prst="rect">
            <a:avLst/>
          </a:prstGeom>
          <a:noFill/>
        </p:spPr>
        <p:txBody>
          <a:bodyPr wrap="square">
            <a:spAutoFit/>
          </a:bodyPr>
          <a:lstStyle/>
          <a:p>
            <a:r>
              <a:rPr lang="vi" sz="2000" b="1" dirty="0">
                <a:solidFill>
                  <a:schemeClr val="bg2">
                    <a:lumMod val="50000"/>
                  </a:schemeClr>
                </a:solidFill>
                <a:latin typeface="Cambria" panose="02040503050406030204" pitchFamily="18" charset="0"/>
                <a:ea typeface="Cambria" panose="02040503050406030204" pitchFamily="18" charset="0"/>
              </a:rPr>
              <a:t>Ví dụ WBS</a:t>
            </a: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6006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920BE37-9FBB-E35F-BF6D-396AD9C4D28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59675" y="1077571"/>
            <a:ext cx="7239792" cy="5040987"/>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6FEB9EB1-7974-59C7-C364-23C4EC51EB08}"/>
              </a:ext>
            </a:extLst>
          </p:cNvPr>
          <p:cNvSpPr txBox="1"/>
          <p:nvPr/>
        </p:nvSpPr>
        <p:spPr>
          <a:xfrm>
            <a:off x="339355" y="244931"/>
            <a:ext cx="6097772" cy="400110"/>
          </a:xfrm>
          <a:prstGeom prst="rect">
            <a:avLst/>
          </a:prstGeom>
          <a:noFill/>
        </p:spPr>
        <p:txBody>
          <a:bodyPr wrap="square">
            <a:spAutoFit/>
          </a:bodyPr>
          <a:lstStyle/>
          <a:p>
            <a:pPr>
              <a:spcAft>
                <a:spcPts val="600"/>
              </a:spcAft>
            </a:pPr>
            <a:r>
              <a:rPr lang="vi" sz="2000" b="1" dirty="0">
                <a:solidFill>
                  <a:schemeClr val="bg2">
                    <a:lumMod val="50000"/>
                  </a:schemeClr>
                </a:solidFill>
                <a:latin typeface="Cambria" panose="02040503050406030204" pitchFamily="18" charset="0"/>
                <a:ea typeface="Cambria" panose="02040503050406030204" pitchFamily="18" charset="0"/>
              </a:rPr>
              <a:t>CẤU TRÚC PHÂN CHIA CÔNG VIỆC (WBS)</a:t>
            </a: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1618905"/>
          </a:xfrm>
          <a:prstGeom prst="rect">
            <a:avLst/>
          </a:prstGeom>
          <a:noFill/>
        </p:spPr>
        <p:txBody>
          <a:bodyPr wrap="square">
            <a:spAutoFit/>
          </a:bodyPr>
          <a:lstStyle/>
          <a:p>
            <a:pPr eaLnBrk="1" hangingPunct="1">
              <a:spcBef>
                <a:spcPct val="20000"/>
              </a:spcBef>
            </a:pPr>
            <a:r>
              <a:rPr lang="vi" altLang="en-US" sz="2000" b="1" dirty="0">
                <a:solidFill>
                  <a:schemeClr val="bg1"/>
                </a:solidFill>
                <a:latin typeface="Cambria" panose="02040503050406030204" pitchFamily="18" charset="0"/>
                <a:ea typeface="Cambria" panose="02040503050406030204" pitchFamily="18" charset="0"/>
              </a:rPr>
              <a:t>Dự án</a:t>
            </a:r>
            <a:endParaRPr lang="en-US" altLang="en-US" sz="1800" b="1" dirty="0">
              <a:solidFill>
                <a:schemeClr val="bg1"/>
              </a:solidFill>
              <a:latin typeface="Cambria" panose="02040503050406030204" pitchFamily="18" charset="0"/>
              <a:ea typeface="Cambria" panose="02040503050406030204" pitchFamily="18" charset="0"/>
            </a:endParaRPr>
          </a:p>
          <a:p>
            <a:pPr lvl="1" algn="r" eaLnBrk="1" hangingPunct="1">
              <a:spcBef>
                <a:spcPct val="20000"/>
              </a:spcBef>
              <a:buClr>
                <a:srgbClr val="005789"/>
              </a:buClr>
            </a:pPr>
            <a:r>
              <a:rPr lang="vi" altLang="en-US" sz="1800" i="1" dirty="0">
                <a:solidFill>
                  <a:schemeClr val="bg1"/>
                </a:solidFill>
                <a:latin typeface="Cambria" panose="02040503050406030204" pitchFamily="18" charset="0"/>
                <a:ea typeface="Cambria" panose="02040503050406030204" pitchFamily="18" charset="0"/>
              </a:rPr>
              <a:t>“Một nỗ lực tạm thời được thực hiện để tạo ra một sản phẩm, dịch vụ hoặc kết quả độc đáo”</a:t>
            </a:r>
          </a:p>
          <a:p>
            <a:pPr lvl="3" algn="r" eaLnBrk="1" hangingPunct="1">
              <a:spcBef>
                <a:spcPct val="20000"/>
              </a:spcBef>
              <a:buClr>
                <a:srgbClr val="005789"/>
              </a:buClr>
            </a:pPr>
            <a:r>
              <a:rPr lang="vi" altLang="en-US" sz="1800" dirty="0">
                <a:solidFill>
                  <a:schemeClr val="bg1"/>
                </a:solidFill>
                <a:latin typeface="Cambria" panose="02040503050406030204" pitchFamily="18" charset="0"/>
                <a:ea typeface="Cambria" panose="02040503050406030204" pitchFamily="18" charset="0"/>
              </a:rPr>
              <a:t>— </a:t>
            </a:r>
            <a:r>
              <a:rPr lang="vi" altLang="en-US" sz="1800" i="1" dirty="0">
                <a:solidFill>
                  <a:schemeClr val="bg1"/>
                </a:solidFill>
                <a:latin typeface="Cambria" panose="02040503050406030204" pitchFamily="18" charset="0"/>
                <a:ea typeface="Cambria" panose="02040503050406030204" pitchFamily="18" charset="0"/>
              </a:rPr>
              <a:t>PMBOK®</a:t>
            </a:r>
            <a:r>
              <a:rPr lang="vi" altLang="en-US" sz="1800" i="1" baseline="30000" dirty="0"/>
              <a:t>​</a:t>
            </a:r>
            <a:endParaRPr lang="en-US" altLang="en-US" sz="1800" dirty="0"/>
          </a:p>
        </p:txBody>
      </p:sp>
      <p:sp>
        <p:nvSpPr>
          <p:cNvPr id="3" name="TextBox 2">
            <a:extLst>
              <a:ext uri="{FF2B5EF4-FFF2-40B4-BE49-F238E27FC236}">
                <a16:creationId xmlns:a16="http://schemas.microsoft.com/office/drawing/2014/main" id="{DFE714B9-5A5F-472B-6C92-566A3A41D434}"/>
              </a:ext>
            </a:extLst>
          </p:cNvPr>
          <p:cNvSpPr txBox="1"/>
          <p:nvPr/>
        </p:nvSpPr>
        <p:spPr>
          <a:xfrm>
            <a:off x="339355" y="726268"/>
            <a:ext cx="11513290" cy="1015663"/>
          </a:xfrm>
          <a:prstGeom prst="rect">
            <a:avLst/>
          </a:prstGeom>
          <a:noFill/>
        </p:spPr>
        <p:txBody>
          <a:bodyPr wrap="square">
            <a:spAutoFit/>
          </a:bodyPr>
          <a:lstStyle/>
          <a:p>
            <a:r>
              <a:rPr lang="vi" sz="2000" b="1" dirty="0">
                <a:solidFill>
                  <a:schemeClr val="bg2">
                    <a:lumMod val="50000"/>
                  </a:schemeClr>
                </a:solidFill>
                <a:latin typeface="Cambria" panose="02040503050406030204" pitchFamily="18" charset="0"/>
                <a:ea typeface="Cambria" panose="02040503050406030204" pitchFamily="18" charset="0"/>
              </a:rPr>
              <a:t>Ví dụ WBS (Gantt)</a:t>
            </a: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a:p>
            <a:pPr algn="l"/>
            <a:endParaRPr lang="en-US" sz="2000" b="1" dirty="0">
              <a:solidFill>
                <a:schemeClr val="bg2">
                  <a:lumMod val="50000"/>
                </a:schemeClr>
              </a:solidFill>
              <a:latin typeface="Cambria" panose="02040503050406030204" pitchFamily="18" charset="0"/>
              <a:ea typeface="Cambria" panose="02040503050406030204" pitchFamily="18" charset="0"/>
            </a:endParaRPr>
          </a:p>
        </p:txBody>
      </p:sp>
      <p:cxnSp>
        <p:nvCxnSpPr>
          <p:cNvPr id="4" name="Straight Connector 3">
            <a:extLst>
              <a:ext uri="{FF2B5EF4-FFF2-40B4-BE49-F238E27FC236}">
                <a16:creationId xmlns:a16="http://schemas.microsoft.com/office/drawing/2014/main" id="{94BD4E7C-0666-758E-19E6-5612C7D50072}"/>
              </a:ext>
            </a:extLst>
          </p:cNvPr>
          <p:cNvCxnSpPr>
            <a:cxnSpLocks/>
          </p:cNvCxnSpPr>
          <p:nvPr/>
        </p:nvCxnSpPr>
        <p:spPr>
          <a:xfrm>
            <a:off x="423418" y="684708"/>
            <a:ext cx="11429227" cy="0"/>
          </a:xfrm>
          <a:prstGeom prst="line">
            <a:avLst/>
          </a:prstGeom>
          <a:ln>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DB2290FE-00E8-047C-6B7A-FE60E47E378B}"/>
              </a:ext>
            </a:extLst>
          </p:cNvPr>
          <p:cNvCxnSpPr>
            <a:cxnSpLocks/>
          </p:cNvCxnSpPr>
          <p:nvPr/>
        </p:nvCxnSpPr>
        <p:spPr>
          <a:xfrm>
            <a:off x="9750056" y="6380072"/>
            <a:ext cx="2127694"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8147FD0-1CE5-9DDF-5BA9-7BCE393F507E}"/>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2">
                    <a:lumMod val="50000"/>
                  </a:schemeClr>
                </a:solidFill>
                <a:latin typeface="Cambria" panose="02040503050406030204" pitchFamily="18" charset="0"/>
                <a:ea typeface="Cambria" panose="02040503050406030204" pitchFamily="18" charset="0"/>
              </a:rPr>
              <a:t>CMC UNIVERSITY 2024</a:t>
            </a:r>
          </a:p>
        </p:txBody>
      </p:sp>
      <p:cxnSp>
        <p:nvCxnSpPr>
          <p:cNvPr id="11" name="Straight Connector 10">
            <a:extLst>
              <a:ext uri="{FF2B5EF4-FFF2-40B4-BE49-F238E27FC236}">
                <a16:creationId xmlns:a16="http://schemas.microsoft.com/office/drawing/2014/main" id="{149B330E-E7D9-FE37-809F-715CA1BD317A}"/>
              </a:ext>
            </a:extLst>
          </p:cNvPr>
          <p:cNvCxnSpPr>
            <a:cxnSpLocks/>
          </p:cNvCxnSpPr>
          <p:nvPr/>
        </p:nvCxnSpPr>
        <p:spPr>
          <a:xfrm>
            <a:off x="423430" y="6384152"/>
            <a:ext cx="914588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73263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97A793E2-EC8B-C948-0AFC-E1263B58F2E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027581" y="0"/>
            <a:ext cx="4164419" cy="6858000"/>
          </a:xfrm>
          <a:prstGeom prst="rect">
            <a:avLst/>
          </a:prstGeom>
        </p:spPr>
      </p:pic>
      <p:cxnSp>
        <p:nvCxnSpPr>
          <p:cNvPr id="22" name="Straight Connector 21">
            <a:extLst>
              <a:ext uri="{FF2B5EF4-FFF2-40B4-BE49-F238E27FC236}">
                <a16:creationId xmlns:a16="http://schemas.microsoft.com/office/drawing/2014/main" id="{B11C872D-B634-EEF8-EAA0-80AE740697E9}"/>
              </a:ext>
            </a:extLst>
          </p:cNvPr>
          <p:cNvCxnSpPr>
            <a:cxnSpLocks/>
          </p:cNvCxnSpPr>
          <p:nvPr/>
        </p:nvCxnSpPr>
        <p:spPr>
          <a:xfrm>
            <a:off x="8493049" y="6380072"/>
            <a:ext cx="3384701"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FBDA1764-ADB2-C5F2-67B9-CD336399D252}"/>
              </a:ext>
            </a:extLst>
          </p:cNvPr>
          <p:cNvSpPr txBox="1"/>
          <p:nvPr/>
        </p:nvSpPr>
        <p:spPr>
          <a:xfrm>
            <a:off x="10010900" y="6358818"/>
            <a:ext cx="1983813" cy="307777"/>
          </a:xfrm>
          <a:prstGeom prst="rect">
            <a:avLst/>
          </a:prstGeom>
          <a:noFill/>
        </p:spPr>
        <p:txBody>
          <a:bodyPr wrap="none" rtlCol="0">
            <a:spAutoFit/>
          </a:bodyPr>
          <a:lstStyle/>
          <a:p>
            <a:r>
              <a:rPr lang="en-US" sz="1400" dirty="0">
                <a:solidFill>
                  <a:schemeClr val="bg1"/>
                </a:solidFill>
                <a:latin typeface="Cambria" panose="02040503050406030204" pitchFamily="18" charset="0"/>
                <a:ea typeface="Cambria" panose="02040503050406030204" pitchFamily="18" charset="0"/>
              </a:rPr>
              <a:t>CMC UNIVERSITY 2024</a:t>
            </a:r>
          </a:p>
        </p:txBody>
      </p:sp>
      <p:sp>
        <p:nvSpPr>
          <p:cNvPr id="27" name="TextBox 26">
            <a:extLst>
              <a:ext uri="{FF2B5EF4-FFF2-40B4-BE49-F238E27FC236}">
                <a16:creationId xmlns:a16="http://schemas.microsoft.com/office/drawing/2014/main" id="{6FEB9EB1-7974-59C7-C364-23C4EC51EB08}"/>
              </a:ext>
            </a:extLst>
          </p:cNvPr>
          <p:cNvSpPr txBox="1"/>
          <p:nvPr/>
        </p:nvSpPr>
        <p:spPr>
          <a:xfrm>
            <a:off x="337583" y="384176"/>
            <a:ext cx="6097772" cy="400110"/>
          </a:xfrm>
          <a:prstGeom prst="rect">
            <a:avLst/>
          </a:prstGeom>
          <a:noFill/>
        </p:spPr>
        <p:txBody>
          <a:bodyPr wrap="square">
            <a:spAutoFit/>
          </a:bodyPr>
          <a:lstStyle/>
          <a:p>
            <a:pPr>
              <a:lnSpc>
                <a:spcPct val="100000"/>
              </a:lnSpc>
              <a:spcBef>
                <a:spcPts val="0"/>
              </a:spcBef>
              <a:spcAft>
                <a:spcPts val="600"/>
              </a:spcAft>
            </a:pPr>
            <a:r>
              <a:rPr lang="vi" sz="2000" b="1" dirty="0">
                <a:solidFill>
                  <a:schemeClr val="accent2">
                    <a:lumMod val="75000"/>
                  </a:schemeClr>
                </a:solidFill>
                <a:latin typeface="Cambria" panose="02040503050406030204" pitchFamily="18" charset="0"/>
                <a:ea typeface="Cambria" panose="02040503050406030204" pitchFamily="18" charset="0"/>
              </a:rPr>
              <a:t>5. KIỂM SOÁT &amp; QUẢN LÝ SỰ THAY ĐỔI </a:t>
            </a:r>
            <a:r>
              <a:rPr lang="en-US" sz="2000" b="1" dirty="0">
                <a:solidFill>
                  <a:schemeClr val="accent2">
                    <a:lumMod val="75000"/>
                  </a:schemeClr>
                </a:solidFill>
                <a:latin typeface="Cambria" panose="02040503050406030204" pitchFamily="18" charset="0"/>
                <a:ea typeface="Cambria" panose="02040503050406030204" pitchFamily="18" charset="0"/>
              </a:rPr>
              <a:t>PHẠM VI</a:t>
            </a:r>
            <a:endParaRPr lang="vi" sz="2000" b="1" dirty="0">
              <a:solidFill>
                <a:schemeClr val="accent2">
                  <a:lumMod val="75000"/>
                </a:schemeClr>
              </a:solidFill>
              <a:latin typeface="Cambria" panose="02040503050406030204" pitchFamily="18" charset="0"/>
              <a:ea typeface="Cambria" panose="02040503050406030204" pitchFamily="18" charset="0"/>
            </a:endParaRPr>
          </a:p>
        </p:txBody>
      </p:sp>
      <p:sp>
        <p:nvSpPr>
          <p:cNvPr id="33" name="TextBox 32">
            <a:extLst>
              <a:ext uri="{FF2B5EF4-FFF2-40B4-BE49-F238E27FC236}">
                <a16:creationId xmlns:a16="http://schemas.microsoft.com/office/drawing/2014/main" id="{73CFE3C4-6ADE-F83F-786D-658746ABBB84}"/>
              </a:ext>
            </a:extLst>
          </p:cNvPr>
          <p:cNvSpPr txBox="1"/>
          <p:nvPr/>
        </p:nvSpPr>
        <p:spPr>
          <a:xfrm>
            <a:off x="8108407" y="384176"/>
            <a:ext cx="3804985" cy="707886"/>
          </a:xfrm>
          <a:prstGeom prst="rect">
            <a:avLst/>
          </a:prstGeom>
          <a:noFill/>
        </p:spPr>
        <p:txBody>
          <a:bodyPr wrap="square">
            <a:spAutoFit/>
          </a:bodyPr>
          <a:lstStyle/>
          <a:p>
            <a:pPr>
              <a:spcAft>
                <a:spcPts val="600"/>
              </a:spcAft>
            </a:pPr>
            <a:r>
              <a:rPr lang="vi" altLang="en-US" sz="1700" b="1" dirty="0">
                <a:solidFill>
                  <a:schemeClr val="bg1"/>
                </a:solidFill>
                <a:latin typeface="Cambria" panose="02040503050406030204" pitchFamily="18" charset="0"/>
                <a:ea typeface="Cambria" panose="02040503050406030204" pitchFamily="18" charset="0"/>
              </a:rPr>
              <a:t>Phạm vi dự án Quản lý thay đổi</a:t>
            </a:r>
            <a:endParaRPr lang="fr-FR" altLang="en-US" sz="1700" b="1" dirty="0">
              <a:solidFill>
                <a:schemeClr val="bg1"/>
              </a:solidFill>
              <a:latin typeface="Cambria" panose="02040503050406030204" pitchFamily="18" charset="0"/>
              <a:ea typeface="Cambria" panose="02040503050406030204" pitchFamily="18" charset="0"/>
            </a:endParaRPr>
          </a:p>
          <a:p>
            <a:pPr>
              <a:lnSpc>
                <a:spcPct val="100000"/>
              </a:lnSpc>
              <a:spcBef>
                <a:spcPts val="0"/>
              </a:spcBef>
              <a:spcAft>
                <a:spcPts val="600"/>
              </a:spcAft>
            </a:pPr>
            <a:endParaRPr lang="en-US" b="1" dirty="0">
              <a:solidFill>
                <a:schemeClr val="bg1"/>
              </a:solidFill>
              <a:latin typeface="Cambria" panose="02040503050406030204" pitchFamily="18" charset="0"/>
              <a:ea typeface="Cambria" panose="02040503050406030204" pitchFamily="18" charset="0"/>
            </a:endParaRPr>
          </a:p>
        </p:txBody>
      </p:sp>
      <p:sp>
        <p:nvSpPr>
          <p:cNvPr id="3" name="TextBox 2">
            <a:extLst>
              <a:ext uri="{FF2B5EF4-FFF2-40B4-BE49-F238E27FC236}">
                <a16:creationId xmlns:a16="http://schemas.microsoft.com/office/drawing/2014/main" id="{58B093C7-8A33-C07F-5EC7-3838AF3517A2}"/>
              </a:ext>
            </a:extLst>
          </p:cNvPr>
          <p:cNvSpPr txBox="1"/>
          <p:nvPr/>
        </p:nvSpPr>
        <p:spPr>
          <a:xfrm>
            <a:off x="339355" y="784286"/>
            <a:ext cx="7490444" cy="3239348"/>
          </a:xfrm>
          <a:prstGeom prst="rect">
            <a:avLst/>
          </a:prstGeom>
          <a:noFill/>
        </p:spPr>
        <p:txBody>
          <a:bodyPr wrap="square">
            <a:spAutoFit/>
          </a:bodyPr>
          <a:lstStyle/>
          <a:p>
            <a:pPr marL="0" lvl="1">
              <a:spcAft>
                <a:spcPts val="300"/>
              </a:spcAft>
              <a:buClr>
                <a:schemeClr val="accent2">
                  <a:lumMod val="75000"/>
                </a:schemeClr>
              </a:buClr>
            </a:pPr>
            <a:r>
              <a:rPr lang="vi" altLang="en-US" sz="1600" b="1" dirty="0">
                <a:solidFill>
                  <a:schemeClr val="tx1">
                    <a:lumMod val="65000"/>
                    <a:lumOff val="35000"/>
                  </a:schemeClr>
                </a:solidFill>
                <a:latin typeface="Cambria" panose="02040503050406030204" pitchFamily="18" charset="0"/>
                <a:ea typeface="Cambria" panose="02040503050406030204" pitchFamily="18" charset="0"/>
              </a:rPr>
              <a:t>Phạm vi dự án Quản lý thay đổi</a:t>
            </a:r>
            <a:r>
              <a:rPr lang="en-US" altLang="en-US" sz="1600" b="1" dirty="0">
                <a:solidFill>
                  <a:schemeClr val="tx1">
                    <a:lumMod val="65000"/>
                    <a:lumOff val="35000"/>
                  </a:schemeClr>
                </a:solidFill>
                <a:latin typeface="Cambria" panose="02040503050406030204" pitchFamily="18" charset="0"/>
                <a:ea typeface="Cambria" panose="02040503050406030204" pitchFamily="18" charset="0"/>
              </a:rPr>
              <a:t> </a:t>
            </a:r>
            <a:r>
              <a:rPr lang="en-US" altLang="en-US" sz="1600" b="1" dirty="0" err="1">
                <a:solidFill>
                  <a:schemeClr val="tx1">
                    <a:lumMod val="65000"/>
                    <a:lumOff val="35000"/>
                  </a:schemeClr>
                </a:solidFill>
                <a:latin typeface="Cambria" panose="02040503050406030204" pitchFamily="18" charset="0"/>
                <a:ea typeface="Cambria" panose="02040503050406030204" pitchFamily="18" charset="0"/>
              </a:rPr>
              <a:t>phạm</a:t>
            </a:r>
            <a:r>
              <a:rPr lang="en-US" altLang="en-US" sz="1600" b="1" dirty="0">
                <a:solidFill>
                  <a:schemeClr val="tx1">
                    <a:lumMod val="65000"/>
                    <a:lumOff val="35000"/>
                  </a:schemeClr>
                </a:solidFill>
                <a:latin typeface="Cambria" panose="02040503050406030204" pitchFamily="18" charset="0"/>
                <a:ea typeface="Cambria" panose="02040503050406030204" pitchFamily="18" charset="0"/>
              </a:rPr>
              <a:t> vi</a:t>
            </a:r>
            <a:endParaRPr lang="vi" altLang="en-US" sz="1600" b="1" dirty="0">
              <a:solidFill>
                <a:schemeClr val="tx1">
                  <a:lumMod val="65000"/>
                  <a:lumOff val="35000"/>
                </a:schemeClr>
              </a:solidFill>
              <a:latin typeface="Cambria" panose="02040503050406030204" pitchFamily="18" charset="0"/>
              <a:ea typeface="Cambria" panose="02040503050406030204" pitchFamily="18" charset="0"/>
            </a:endParaRPr>
          </a:p>
          <a:p>
            <a:pPr algn="just"/>
            <a:r>
              <a:rPr lang="vi" altLang="en-US" sz="1600" dirty="0">
                <a:latin typeface="Cambria" panose="02040503050406030204" pitchFamily="18" charset="0"/>
                <a:ea typeface="Cambria" panose="02040503050406030204" pitchFamily="18" charset="0"/>
              </a:rPr>
              <a:t>Bất kỳ thay đổi nào đối với sản phẩm và/hoặc phạm vi dự án phải tuân theo một quy trình chính thức. Quy trình này phải kết thúc bằng sự chấp thuận chính thức về thay đổi của các bên liên quan khác nhau.</a:t>
            </a:r>
          </a:p>
          <a:p>
            <a:pPr algn="just"/>
            <a:endParaRPr lang="en-GB" altLang="en-US" sz="1600" dirty="0">
              <a:solidFill>
                <a:schemeClr val="tx1">
                  <a:lumMod val="65000"/>
                  <a:lumOff val="35000"/>
                </a:schemeClr>
              </a:solidFill>
              <a:latin typeface="Cambria" panose="02040503050406030204" pitchFamily="18" charset="0"/>
              <a:ea typeface="Cambria" panose="02040503050406030204" pitchFamily="18" charset="0"/>
            </a:endParaRPr>
          </a:p>
          <a:p>
            <a:pPr algn="just"/>
            <a:r>
              <a:rPr lang="vi" altLang="en-US" sz="1600" dirty="0" err="1">
                <a:latin typeface="Cambria" panose="02040503050406030204" pitchFamily="18" charset="0"/>
                <a:ea typeface="Cambria" panose="02040503050406030204" pitchFamily="18" charset="0"/>
              </a:rPr>
              <a:t>Yêu cầu </a:t>
            </a:r>
            <a:r>
              <a:rPr lang="vi" altLang="en-US" sz="1600" dirty="0">
                <a:latin typeface="Cambria" panose="02040503050406030204" pitchFamily="18" charset="0"/>
                <a:ea typeface="Cambria" panose="02040503050406030204" pitchFamily="18" charset="0"/>
              </a:rPr>
              <a:t>thay đổi </a:t>
            </a:r>
            <a:r>
              <a:rPr lang="vi" altLang="en-US" sz="1600" dirty="0" err="1">
                <a:latin typeface="Cambria" panose="02040503050406030204" pitchFamily="18" charset="0"/>
                <a:ea typeface="Cambria" panose="02040503050406030204" pitchFamily="18" charset="0"/>
              </a:rPr>
              <a:t>có thể</a:t>
            </a:r>
            <a:r>
              <a:rPr lang="vi" altLang="en-US" sz="1600" dirty="0">
                <a:latin typeface="Cambria" panose="02040503050406030204" pitchFamily="18" charset="0"/>
                <a:ea typeface="Cambria" panose="02040503050406030204" pitchFamily="18" charset="0"/>
              </a:rPr>
              <a:t> </a:t>
            </a:r>
            <a:r>
              <a:rPr lang="vi" altLang="en-US" sz="1600" dirty="0" err="1">
                <a:latin typeface="Cambria" panose="02040503050406030204" pitchFamily="18" charset="0"/>
                <a:ea typeface="Cambria" panose="02040503050406030204" pitchFamily="18" charset="0"/>
              </a:rPr>
              <a:t>là </a:t>
            </a:r>
            <a:r>
              <a:rPr lang="vi" altLang="en-US" sz="1600" dirty="0">
                <a:latin typeface="Cambria" panose="02040503050406030204" pitchFamily="18" charset="0"/>
                <a:ea typeface="Cambria" panose="02040503050406030204" pitchFamily="18" charset="0"/>
              </a:rPr>
              <a:t>kết </a:t>
            </a:r>
            <a:r>
              <a:rPr lang="vi" altLang="en-US" sz="1600" dirty="0" err="1">
                <a:latin typeface="Cambria" panose="02040503050406030204" pitchFamily="18" charset="0"/>
                <a:ea typeface="Cambria" panose="02040503050406030204" pitchFamily="18" charset="0"/>
              </a:rPr>
              <a:t>quả </a:t>
            </a:r>
            <a:r>
              <a:rPr lang="vi" altLang="en-US" sz="1600" dirty="0">
                <a:latin typeface="Cambria" panose="02040503050406030204" pitchFamily="18" charset="0"/>
                <a:ea typeface="Cambria" panose="02040503050406030204" pitchFamily="18" charset="0"/>
              </a:rPr>
              <a:t>của:</a:t>
            </a:r>
            <a:endParaRPr lang="en-GB" altLang="en-US" sz="1600" dirty="0">
              <a:latin typeface="Cambria" panose="02040503050406030204" pitchFamily="18" charset="0"/>
              <a:ea typeface="Cambria" panose="02040503050406030204" pitchFamily="18" charset="0"/>
            </a:endParaRPr>
          </a:p>
          <a:p>
            <a:pPr marL="742950" lvl="1" indent="-285750" algn="just">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Một sự kiện bên ngoài ( </a:t>
            </a:r>
            <a:r>
              <a:rPr lang="vi" altLang="en-US" sz="1600" dirty="0" err="1">
                <a:latin typeface="Cambria" panose="02040503050406030204" pitchFamily="18" charset="0"/>
                <a:ea typeface="Cambria" panose="02040503050406030204" pitchFamily="18" charset="0"/>
              </a:rPr>
              <a:t>ví dụ: </a:t>
            </a:r>
            <a:r>
              <a:rPr lang="vi" altLang="en-US" sz="1600" dirty="0">
                <a:latin typeface="Cambria" panose="02040503050406030204" pitchFamily="18" charset="0"/>
                <a:ea typeface="Cambria" panose="02040503050406030204" pitchFamily="18" charset="0"/>
              </a:rPr>
              <a:t>Thay đổi trong quy định của chính phủ)</a:t>
            </a:r>
          </a:p>
          <a:p>
            <a:pPr marL="742950" lvl="1" indent="-285750" algn="just">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Một lỗi hoặc thiếu sót trong việc xác định phạm vi của sản phẩm (thêm quy định về hệ thống lỗi).</a:t>
            </a:r>
          </a:p>
          <a:p>
            <a:pPr marL="742950" lvl="1" indent="-285750" algn="just">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Một lỗi trong việc xác định phạm vi của dự án (thiếu kiểm tra)</a:t>
            </a:r>
          </a:p>
          <a:p>
            <a:pPr marL="742950" lvl="1" indent="-285750" algn="just">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Một sự thay đổi có giá trị gia tăng (cơ hội tích cực)</a:t>
            </a:r>
          </a:p>
          <a:p>
            <a:pPr marL="742950" lvl="1" indent="-285750" algn="just">
              <a:spcAft>
                <a:spcPts val="300"/>
              </a:spcAft>
              <a:buClr>
                <a:schemeClr val="accent2">
                  <a:lumMod val="75000"/>
                </a:schemeClr>
              </a:buClr>
              <a:buFont typeface="Wingdings" panose="05000000000000000000" pitchFamily="2" charset="2"/>
              <a:buChar char="§"/>
            </a:pPr>
            <a:r>
              <a:rPr lang="vi" altLang="en-US" sz="1600" dirty="0">
                <a:latin typeface="Cambria" panose="02040503050406030204" pitchFamily="18" charset="0"/>
                <a:ea typeface="Cambria" panose="02040503050406030204" pitchFamily="18" charset="0"/>
              </a:rPr>
              <a:t>Một phản ứng đối với rủi ro đã xác định</a:t>
            </a:r>
            <a:endParaRPr lang="en-US" sz="1600" dirty="0">
              <a:latin typeface="Cambria" panose="02040503050406030204" pitchFamily="18" charset="0"/>
              <a:ea typeface="Cambria" panose="02040503050406030204" pitchFamily="18" charset="0"/>
            </a:endParaRPr>
          </a:p>
        </p:txBody>
      </p:sp>
      <p:graphicFrame>
        <p:nvGraphicFramePr>
          <p:cNvPr id="2" name="Chart 1">
            <a:extLst>
              <a:ext uri="{FF2B5EF4-FFF2-40B4-BE49-F238E27FC236}">
                <a16:creationId xmlns:a16="http://schemas.microsoft.com/office/drawing/2014/main" id="{7417E9C6-FCC8-530E-D491-C29B945F902C}"/>
              </a:ext>
            </a:extLst>
          </p:cNvPr>
          <p:cNvGraphicFramePr/>
          <p:nvPr>
            <p:extLst>
              <p:ext uri="{D42A27DB-BD31-4B8C-83A1-F6EECF244321}">
                <p14:modId xmlns:p14="http://schemas.microsoft.com/office/powerpoint/2010/main" val="2086979298"/>
              </p:ext>
            </p:extLst>
          </p:nvPr>
        </p:nvGraphicFramePr>
        <p:xfrm>
          <a:off x="3269094" y="4839242"/>
          <a:ext cx="2133600" cy="1884680"/>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Box 3">
            <a:extLst>
              <a:ext uri="{FF2B5EF4-FFF2-40B4-BE49-F238E27FC236}">
                <a16:creationId xmlns:a16="http://schemas.microsoft.com/office/drawing/2014/main" id="{5E8D767B-0362-D421-35D1-F3E247D0D008}"/>
              </a:ext>
            </a:extLst>
          </p:cNvPr>
          <p:cNvSpPr txBox="1"/>
          <p:nvPr/>
        </p:nvSpPr>
        <p:spPr>
          <a:xfrm>
            <a:off x="3072834" y="4361341"/>
            <a:ext cx="2526120" cy="365760"/>
          </a:xfrm>
          <a:prstGeom prst="rect">
            <a:avLst/>
          </a:prstGeom>
          <a:noFill/>
        </p:spPr>
        <p:txBody>
          <a:bodyPr wrap="square" lIns="0" tIns="0" rIns="0" bIns="0" rtlCol="0">
            <a:noAutofit/>
          </a:bodyPr>
          <a:lstStyle/>
          <a:p>
            <a:pPr indent="-274320" algn="ctr"/>
            <a:r>
              <a:rPr lang="vi" sz="1600" b="1" dirty="0">
                <a:solidFill>
                  <a:srgbClr val="0070C0"/>
                </a:solidFill>
                <a:latin typeface="Cambria" panose="02040503050406030204" pitchFamily="18" charset="0"/>
                <a:ea typeface="Cambria" panose="02040503050406030204" pitchFamily="18" charset="0"/>
              </a:rPr>
              <a:t>Thay đổi trong phạm vi</a:t>
            </a:r>
          </a:p>
          <a:p>
            <a:pPr indent="-274320" algn="ctr"/>
            <a:r>
              <a:rPr lang="vi" sz="1600" b="1" dirty="0">
                <a:solidFill>
                  <a:srgbClr val="0070C0"/>
                </a:solidFill>
                <a:latin typeface="Cambria" panose="02040503050406030204" pitchFamily="18" charset="0"/>
                <a:ea typeface="Cambria" panose="02040503050406030204" pitchFamily="18" charset="0"/>
              </a:rPr>
              <a:t>giữa dự án</a:t>
            </a:r>
          </a:p>
        </p:txBody>
      </p:sp>
      <p:sp>
        <p:nvSpPr>
          <p:cNvPr id="6" name="TextBox 5">
            <a:extLst>
              <a:ext uri="{FF2B5EF4-FFF2-40B4-BE49-F238E27FC236}">
                <a16:creationId xmlns:a16="http://schemas.microsoft.com/office/drawing/2014/main" id="{47FFCC9C-4E5B-94D5-462F-60F4C9D80852}"/>
              </a:ext>
            </a:extLst>
          </p:cNvPr>
          <p:cNvSpPr txBox="1"/>
          <p:nvPr/>
        </p:nvSpPr>
        <p:spPr>
          <a:xfrm>
            <a:off x="3948478" y="5527305"/>
            <a:ext cx="853440" cy="320040"/>
          </a:xfrm>
          <a:prstGeom prst="rect">
            <a:avLst/>
          </a:prstGeom>
          <a:noFill/>
        </p:spPr>
        <p:txBody>
          <a:bodyPr wrap="square" lIns="0" tIns="0" rIns="0" bIns="0" rtlCol="0">
            <a:noAutofit/>
          </a:bodyPr>
          <a:lstStyle/>
          <a:p>
            <a:pPr indent="-274320" algn="ctr">
              <a:spcAft>
                <a:spcPts val="900"/>
              </a:spcAft>
            </a:pPr>
            <a:r>
              <a:rPr lang="vi" sz="2400" b="1" i="1" dirty="0">
                <a:solidFill>
                  <a:schemeClr val="accent5"/>
                </a:solidFill>
                <a:latin typeface="Georgia" pitchFamily="18" charset="0"/>
              </a:rPr>
              <a:t>41%</a:t>
            </a:r>
          </a:p>
        </p:txBody>
      </p:sp>
      <p:graphicFrame>
        <p:nvGraphicFramePr>
          <p:cNvPr id="7" name="Chart 6">
            <a:extLst>
              <a:ext uri="{FF2B5EF4-FFF2-40B4-BE49-F238E27FC236}">
                <a16:creationId xmlns:a16="http://schemas.microsoft.com/office/drawing/2014/main" id="{4D61D0C7-391F-2A51-C4FD-11F86FB2D966}"/>
              </a:ext>
            </a:extLst>
          </p:cNvPr>
          <p:cNvGraphicFramePr/>
          <p:nvPr>
            <p:extLst>
              <p:ext uri="{D42A27DB-BD31-4B8C-83A1-F6EECF244321}">
                <p14:modId xmlns:p14="http://schemas.microsoft.com/office/powerpoint/2010/main" val="3635167341"/>
              </p:ext>
            </p:extLst>
          </p:nvPr>
        </p:nvGraphicFramePr>
        <p:xfrm>
          <a:off x="5818841" y="4839242"/>
          <a:ext cx="2133600" cy="18846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Box 7">
            <a:extLst>
              <a:ext uri="{FF2B5EF4-FFF2-40B4-BE49-F238E27FC236}">
                <a16:creationId xmlns:a16="http://schemas.microsoft.com/office/drawing/2014/main" id="{28FD6040-3CE5-A5AB-6481-9E4B446675D0}"/>
              </a:ext>
            </a:extLst>
          </p:cNvPr>
          <p:cNvSpPr txBox="1"/>
          <p:nvPr/>
        </p:nvSpPr>
        <p:spPr>
          <a:xfrm>
            <a:off x="5795090" y="4355228"/>
            <a:ext cx="2133600" cy="365760"/>
          </a:xfrm>
          <a:prstGeom prst="rect">
            <a:avLst/>
          </a:prstGeom>
          <a:noFill/>
        </p:spPr>
        <p:txBody>
          <a:bodyPr wrap="square" lIns="0" tIns="0" rIns="0" bIns="0" rtlCol="0">
            <a:noAutofit/>
          </a:bodyPr>
          <a:lstStyle/>
          <a:p>
            <a:pPr indent="-274320" algn="ctr"/>
            <a:r>
              <a:rPr lang="vi" sz="1600" b="1" dirty="0">
                <a:solidFill>
                  <a:srgbClr val="0070C0"/>
                </a:solidFill>
                <a:latin typeface="Cambria" panose="02040503050406030204" pitchFamily="18" charset="0"/>
                <a:ea typeface="Cambria" panose="02040503050406030204" pitchFamily="18" charset="0"/>
              </a:rPr>
              <a:t>Ước tính kém trong giai đoạn lập kế hoạch</a:t>
            </a:r>
          </a:p>
        </p:txBody>
      </p:sp>
      <p:sp>
        <p:nvSpPr>
          <p:cNvPr id="9" name="TextBox 8">
            <a:extLst>
              <a:ext uri="{FF2B5EF4-FFF2-40B4-BE49-F238E27FC236}">
                <a16:creationId xmlns:a16="http://schemas.microsoft.com/office/drawing/2014/main" id="{F399FA64-F074-8476-F711-B64E42ADCF5F}"/>
              </a:ext>
            </a:extLst>
          </p:cNvPr>
          <p:cNvSpPr txBox="1"/>
          <p:nvPr/>
        </p:nvSpPr>
        <p:spPr>
          <a:xfrm>
            <a:off x="6458921" y="5562435"/>
            <a:ext cx="853440" cy="320040"/>
          </a:xfrm>
          <a:prstGeom prst="rect">
            <a:avLst/>
          </a:prstGeom>
          <a:noFill/>
        </p:spPr>
        <p:txBody>
          <a:bodyPr wrap="square" lIns="0" tIns="0" rIns="0" bIns="0" rtlCol="0">
            <a:noAutofit/>
          </a:bodyPr>
          <a:lstStyle/>
          <a:p>
            <a:pPr indent="-274320" algn="ctr">
              <a:spcAft>
                <a:spcPts val="900"/>
              </a:spcAft>
            </a:pPr>
            <a:r>
              <a:rPr lang="vi" sz="2400" b="1" i="1" dirty="0">
                <a:solidFill>
                  <a:schemeClr val="accent5"/>
                </a:solidFill>
                <a:latin typeface="Georgia" pitchFamily="18" charset="0"/>
              </a:rPr>
              <a:t>39%</a:t>
            </a:r>
          </a:p>
        </p:txBody>
      </p:sp>
    </p:spTree>
    <p:extLst>
      <p:ext uri="{BB962C8B-B14F-4D97-AF65-F5344CB8AC3E}">
        <p14:creationId xmlns:p14="http://schemas.microsoft.com/office/powerpoint/2010/main" val="3224957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lue rectangle with white dots&#10;&#10;Description automatically generated">
            <a:extLst>
              <a:ext uri="{FF2B5EF4-FFF2-40B4-BE49-F238E27FC236}">
                <a16:creationId xmlns:a16="http://schemas.microsoft.com/office/drawing/2014/main" id="{ECE4913A-95CE-44D8-6E6B-D51DE0600C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5" name="Picture 4" descr="A blue sign with white text&#10;&#10;Description automatically generated">
            <a:extLst>
              <a:ext uri="{FF2B5EF4-FFF2-40B4-BE49-F238E27FC236}">
                <a16:creationId xmlns:a16="http://schemas.microsoft.com/office/drawing/2014/main" id="{B1B992CF-C5B0-3E18-5DBE-225492A94D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9552" y="208280"/>
            <a:ext cx="1613647" cy="777240"/>
          </a:xfrm>
          <a:prstGeom prst="rect">
            <a:avLst/>
          </a:prstGeom>
        </p:spPr>
      </p:pic>
      <p:pic>
        <p:nvPicPr>
          <p:cNvPr id="9" name="Picture 8" descr="A computer with a graph and a diagram&#10;&#10;Description automatically generated with medium confidence">
            <a:extLst>
              <a:ext uri="{FF2B5EF4-FFF2-40B4-BE49-F238E27FC236}">
                <a16:creationId xmlns:a16="http://schemas.microsoft.com/office/drawing/2014/main" id="{739FF32F-3E0B-257B-8470-E20496425F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1200" y="3060691"/>
            <a:ext cx="7548880" cy="3589029"/>
          </a:xfrm>
          <a:prstGeom prst="rect">
            <a:avLst/>
          </a:prstGeom>
        </p:spPr>
      </p:pic>
      <p:sp>
        <p:nvSpPr>
          <p:cNvPr id="10" name="Title 4">
            <a:extLst>
              <a:ext uri="{FF2B5EF4-FFF2-40B4-BE49-F238E27FC236}">
                <a16:creationId xmlns:a16="http://schemas.microsoft.com/office/drawing/2014/main" id="{EC1A2CC1-88C2-9699-19F0-B13832AF9EB1}"/>
              </a:ext>
            </a:extLst>
          </p:cNvPr>
          <p:cNvSpPr>
            <a:spLocks noGrp="1"/>
          </p:cNvSpPr>
          <p:nvPr>
            <p:ph type="ctrTitle"/>
          </p:nvPr>
        </p:nvSpPr>
        <p:spPr>
          <a:xfrm>
            <a:off x="357277" y="4437371"/>
            <a:ext cx="6998563" cy="1382487"/>
          </a:xfrm>
        </p:spPr>
        <p:txBody>
          <a:bodyPr>
            <a:normAutofit fontScale="90000"/>
          </a:bodyPr>
          <a:lstStyle/>
          <a:p>
            <a:pPr algn="l"/>
            <a:r>
              <a:rPr lang="en-US" sz="4000" dirty="0">
                <a:solidFill>
                  <a:schemeClr val="bg1"/>
                </a:solidFill>
                <a:latin typeface="Cambria" panose="02040503050406030204" pitchFamily="18" charset="0"/>
                <a:ea typeface="Cambria" panose="02040503050406030204" pitchFamily="18" charset="0"/>
              </a:rPr>
              <a:t>XIN </a:t>
            </a:r>
            <a:r>
              <a:rPr lang="vi" sz="4000" b="0" dirty="0">
                <a:solidFill>
                  <a:schemeClr val="bg1"/>
                </a:solidFill>
                <a:effectLst/>
                <a:latin typeface="Cambria" panose="02040503050406030204" pitchFamily="18" charset="0"/>
                <a:ea typeface="Cambria" panose="02040503050406030204" pitchFamily="18" charset="0"/>
              </a:rPr>
              <a:t>CẢM ƠN! </a:t>
            </a: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br>
              <a:rPr lang="en-US" sz="4000" b="0" dirty="0">
                <a:solidFill>
                  <a:schemeClr val="bg1"/>
                </a:solidFill>
                <a:effectLst/>
                <a:latin typeface="Cambria" panose="02040503050406030204" pitchFamily="18" charset="0"/>
                <a:ea typeface="Cambria" panose="02040503050406030204" pitchFamily="18" charset="0"/>
              </a:rPr>
            </a:br>
            <a:r>
              <a:rPr lang="vi" sz="2700" dirty="0">
                <a:solidFill>
                  <a:schemeClr val="accent1">
                    <a:lumMod val="40000"/>
                    <a:lumOff val="60000"/>
                  </a:schemeClr>
                </a:solidFill>
                <a:latin typeface="Cambria" panose="02040503050406030204" pitchFamily="18" charset="0"/>
                <a:ea typeface="Cambria" panose="02040503050406030204" pitchFamily="18" charset="0"/>
              </a:rPr>
              <a:t>Chương II: Quản lý phạm vi dự án CNTT </a:t>
            </a:r>
            <a:br>
              <a:rPr lang="en-US" sz="2700" dirty="0">
                <a:solidFill>
                  <a:schemeClr val="accent1">
                    <a:lumMod val="40000"/>
                    <a:lumOff val="60000"/>
                  </a:schemeClr>
                </a:solidFill>
                <a:latin typeface="Cambria" panose="02040503050406030204" pitchFamily="18" charset="0"/>
                <a:ea typeface="Cambria" panose="02040503050406030204" pitchFamily="18" charset="0"/>
              </a:rPr>
            </a:br>
            <a:r>
              <a:rPr lang="vi" sz="2000" dirty="0">
                <a:solidFill>
                  <a:schemeClr val="accent1">
                    <a:lumMod val="60000"/>
                    <a:lumOff val="40000"/>
                  </a:schemeClr>
                </a:solidFill>
                <a:latin typeface="Cambria" panose="02040503050406030204" pitchFamily="18" charset="0"/>
                <a:ea typeface="Cambria" panose="02040503050406030204" pitchFamily="18" charset="0"/>
              </a:rPr>
              <a:t>Giảng viên: </a:t>
            </a:r>
            <a:r>
              <a:rPr lang="en-US" sz="2000" dirty="0">
                <a:solidFill>
                  <a:schemeClr val="accent1">
                    <a:lumMod val="60000"/>
                    <a:lumOff val="40000"/>
                  </a:schemeClr>
                </a:solidFill>
                <a:latin typeface="Cambria" panose="02040503050406030204" pitchFamily="18" charset="0"/>
                <a:ea typeface="Cambria" panose="02040503050406030204" pitchFamily="18" charset="0"/>
              </a:rPr>
              <a:t> </a:t>
            </a:r>
            <a:endParaRPr lang="en-US" sz="4000" dirty="0">
              <a:solidFill>
                <a:schemeClr val="accent1">
                  <a:lumMod val="60000"/>
                  <a:lumOff val="40000"/>
                </a:schemeClr>
              </a:solidFill>
              <a:latin typeface="Cambria" panose="02040503050406030204" pitchFamily="18" charset="0"/>
              <a:ea typeface="Cambria" panose="02040503050406030204" pitchFamily="18" charset="0"/>
              <a:hlinkClick r:id="rId5">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573401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Custom 7">
      <a:dk1>
        <a:srgbClr val="FFFFFF"/>
      </a:dk1>
      <a:lt1>
        <a:srgbClr val="0070C0"/>
      </a:lt1>
      <a:dk2>
        <a:srgbClr val="FFFFFF"/>
      </a:dk2>
      <a:lt2>
        <a:srgbClr val="0070C0"/>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Body slide">
  <a:themeElements>
    <a:clrScheme name="pptx template 1">
      <a:dk1>
        <a:srgbClr val="0070C0"/>
      </a:dk1>
      <a:lt1>
        <a:sysClr val="window" lastClr="FFFFFF"/>
      </a:lt1>
      <a:dk2>
        <a:srgbClr val="0070C0"/>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e9c558a-331c-4b2a-9422-cc1872e64aa6">
      <Terms xmlns="http://schemas.microsoft.com/office/infopath/2007/PartnerControls"/>
    </lcf76f155ced4ddcb4097134ff3c332f>
    <TaxCatchAll xmlns="0daeb402-9d2e-4002-a65f-37a660ceb8f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307973FBAC0FD44AFF67A0CF8CAB7ED" ma:contentTypeVersion="15" ma:contentTypeDescription="Create a new document." ma:contentTypeScope="" ma:versionID="74905d119c205581eaedd23186ce405f">
  <xsd:schema xmlns:xsd="http://www.w3.org/2001/XMLSchema" xmlns:xs="http://www.w3.org/2001/XMLSchema" xmlns:p="http://schemas.microsoft.com/office/2006/metadata/properties" xmlns:ns2="6e9c558a-331c-4b2a-9422-cc1872e64aa6" xmlns:ns3="0daeb402-9d2e-4002-a65f-37a660ceb8fd" targetNamespace="http://schemas.microsoft.com/office/2006/metadata/properties" ma:root="true" ma:fieldsID="708587739f1abd74a42e448662f10547" ns2:_="" ns3:_="">
    <xsd:import namespace="6e9c558a-331c-4b2a-9422-cc1872e64aa6"/>
    <xsd:import namespace="0daeb402-9d2e-4002-a65f-37a660ceb8f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9c558a-331c-4b2a-9422-cc1872e64aa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8aa48d64-e0f2-481a-8596-878e2f0ebd5d"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0daeb402-9d2e-4002-a65f-37a660ceb8fd"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dc41332e-9ceb-47bb-9b4b-dcfc7eb8757e}" ma:internalName="TaxCatchAll" ma:showField="CatchAllData" ma:web="0daeb402-9d2e-4002-a65f-37a660ceb8f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017C432-6040-4F6F-8137-F5391E0029CC}">
  <ds:schemaRefs>
    <ds:schemaRef ds:uri="http://schemas.microsoft.com/office/2006/metadata/properties"/>
    <ds:schemaRef ds:uri="http://schemas.microsoft.com/office/infopath/2007/PartnerControls"/>
    <ds:schemaRef ds:uri="6e9c558a-331c-4b2a-9422-cc1872e64aa6"/>
    <ds:schemaRef ds:uri="0daeb402-9d2e-4002-a65f-37a660ceb8fd"/>
  </ds:schemaRefs>
</ds:datastoreItem>
</file>

<file path=customXml/itemProps2.xml><?xml version="1.0" encoding="utf-8"?>
<ds:datastoreItem xmlns:ds="http://schemas.openxmlformats.org/officeDocument/2006/customXml" ds:itemID="{72E2A64C-3050-4B68-B64F-B163BB4EAE0C}">
  <ds:schemaRefs>
    <ds:schemaRef ds:uri="http://schemas.microsoft.com/sharepoint/v3/contenttype/forms"/>
  </ds:schemaRefs>
</ds:datastoreItem>
</file>

<file path=customXml/itemProps3.xml><?xml version="1.0" encoding="utf-8"?>
<ds:datastoreItem xmlns:ds="http://schemas.openxmlformats.org/officeDocument/2006/customXml" ds:itemID="{B8F9A684-9855-4F4D-BF3E-D58B52F6E6F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e9c558a-331c-4b2a-9422-cc1872e64aa6"/>
    <ds:schemaRef ds:uri="0daeb402-9d2e-4002-a65f-37a660ceb8f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1592</TotalTime>
  <Words>5290</Words>
  <Application>Microsoft Office PowerPoint</Application>
  <PresentationFormat>Widescreen</PresentationFormat>
  <Paragraphs>398</Paragraphs>
  <Slides>35</Slides>
  <Notes>0</Notes>
  <HiddenSlides>0</HiddenSlides>
  <MMClips>0</MMClips>
  <ScaleCrop>false</ScaleCrop>
  <HeadingPairs>
    <vt:vector size="4" baseType="variant">
      <vt:variant>
        <vt:lpstr>Theme</vt:lpstr>
      </vt:variant>
      <vt:variant>
        <vt:i4>3</vt:i4>
      </vt:variant>
      <vt:variant>
        <vt:lpstr>Slide Titles</vt:lpstr>
      </vt:variant>
      <vt:variant>
        <vt:i4>35</vt:i4>
      </vt:variant>
    </vt:vector>
  </HeadingPairs>
  <TitlesOfParts>
    <vt:vector size="38" baseType="lpstr">
      <vt:lpstr>Office Theme</vt:lpstr>
      <vt:lpstr>Opening slide</vt:lpstr>
      <vt:lpstr>Body slide</vt:lpstr>
      <vt:lpstr>QUẢN LÝ DỰ ÁN  CÔNG NGHỆ THÔNG TIN      Chương II: Quản lý phạm vi dự án CNTT  Giảng viên: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XIN CẢM ƠN!     Chương II: Quản lý phạm vi dự án CNTT  Giảng viên: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TECHNOLOGY PROJECT MANAGEMENT  Chap I: Foundation of IT project management Lecturer: Dr. Thanh NGO</dc:title>
  <dc:creator>Thanh. Ngo Minh - CMC People Unit</dc:creator>
  <cp:lastModifiedBy>Thanh. Ngo Minh - CMC Corp Ban Nhan su &amp; PTNT</cp:lastModifiedBy>
  <cp:revision>144</cp:revision>
  <dcterms:created xsi:type="dcterms:W3CDTF">2024-02-01T10:29:10Z</dcterms:created>
  <dcterms:modified xsi:type="dcterms:W3CDTF">2026-09-22T06:54:23Z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0x010100B307973FBAC0FD44AFF67A0CF8CAB7ED</vt:lpwstr>
  </property>
</Properties>
</file>