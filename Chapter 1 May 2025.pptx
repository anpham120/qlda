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4" r:id="rId5"/>
    <p:sldMasterId id="2147483666" r:id="rId6"/>
  </p:sldMasterIdLst>
  <p:sldIdLst>
    <p:sldId id="256" r:id="rId7"/>
    <p:sldId id="279" r:id="rId8"/>
    <p:sldId id="257" r:id="rId9"/>
    <p:sldId id="280" r:id="rId10"/>
    <p:sldId id="281" r:id="rId11"/>
    <p:sldId id="305" r:id="rId12"/>
    <p:sldId id="282" r:id="rId13"/>
    <p:sldId id="283" r:id="rId14"/>
    <p:sldId id="304" r:id="rId15"/>
    <p:sldId id="300" r:id="rId16"/>
    <p:sldId id="299" r:id="rId17"/>
    <p:sldId id="302" r:id="rId18"/>
    <p:sldId id="296" r:id="rId19"/>
    <p:sldId id="301" r:id="rId20"/>
    <p:sldId id="295" r:id="rId21"/>
    <p:sldId id="297" r:id="rId22"/>
    <p:sldId id="303" r:id="rId23"/>
    <p:sldId id="293" r:id="rId24"/>
    <p:sldId id="285" r:id="rId25"/>
    <p:sldId id="286" r:id="rId26"/>
    <p:sldId id="288" r:id="rId27"/>
    <p:sldId id="287" r:id="rId28"/>
    <p:sldId id="290" r:id="rId29"/>
    <p:sldId id="289" r:id="rId30"/>
    <p:sldId id="291" r:id="rId31"/>
    <p:sldId id="292" r:id="rId32"/>
  </p:sldIdLst>
  <p:sldSz cx="12192000" cy="6858000"/>
  <p:notesSz cx="6858000" cy="9144000"/>
  <p:defaultTextStyle>
    <a:defPPr>
      <a:defRPr lang="v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0" d="100"/>
          <a:sy n="70" d="100"/>
        </p:scale>
        <p:origin x="1094" y="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theme" Target="theme/theme1.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3.8646038385826774E-2"/>
          <c:y val="0.1149258664538714"/>
          <c:w val="0.93635396161417328"/>
          <c:h val="0.72338233739035818"/>
        </c:manualLayout>
      </c:layout>
      <c:barChart>
        <c:barDir val="bar"/>
        <c:grouping val="clustered"/>
        <c:varyColors val="0"/>
        <c:ser>
          <c:idx val="0"/>
          <c:order val="0"/>
          <c:tx>
            <c:strRef>
              <c:f>Sheet1!$B$1</c:f>
              <c:strCache>
                <c:ptCount val="1"/>
                <c:pt idx="0">
                  <c:v>Weak project planning </c:v>
                </c:pt>
              </c:strCache>
            </c:strRef>
          </c:tx>
          <c:spPr>
            <a:solidFill>
              <a:schemeClr val="accent1">
                <a:tint val="54000"/>
              </a:schemeClr>
            </a:solidFill>
            <a:ln>
              <a:noFill/>
            </a:ln>
            <a:effectLst/>
          </c:spPr>
          <c:invertIfNegative val="0"/>
          <c:cat>
            <c:numRef>
              <c:f>Sheet1!$A$2:$A$5</c:f>
              <c:numCache>
                <c:formatCode>General</c:formatCode>
                <c:ptCount val="4"/>
              </c:numCache>
            </c:numRef>
          </c:cat>
          <c:val>
            <c:numRef>
              <c:f>Sheet1!$B$2:$B$5</c:f>
              <c:numCache>
                <c:formatCode>General</c:formatCode>
                <c:ptCount val="4"/>
                <c:pt idx="0">
                  <c:v>21</c:v>
                </c:pt>
              </c:numCache>
            </c:numRef>
          </c:val>
          <c:extLst>
            <c:ext xmlns:c16="http://schemas.microsoft.com/office/drawing/2014/chart" uri="{C3380CC4-5D6E-409C-BE32-E72D297353CC}">
              <c16:uniqueId val="{00000000-BACF-4A06-BBC3-2F3E7EEBFD99}"/>
            </c:ext>
          </c:extLst>
        </c:ser>
        <c:ser>
          <c:idx val="1"/>
          <c:order val="1"/>
          <c:tx>
            <c:strRef>
              <c:f>Sheet1!$C$1</c:f>
              <c:strCache>
                <c:ptCount val="1"/>
                <c:pt idx="0">
                  <c:v>Lack of change control management</c:v>
                </c:pt>
              </c:strCache>
            </c:strRef>
          </c:tx>
          <c:spPr>
            <a:solidFill>
              <a:schemeClr val="accent1">
                <a:tint val="77000"/>
              </a:schemeClr>
            </a:solidFill>
            <a:ln>
              <a:noFill/>
            </a:ln>
            <a:effectLst/>
          </c:spPr>
          <c:invertIfNegative val="0"/>
          <c:cat>
            <c:numRef>
              <c:f>Sheet1!$A$2:$A$5</c:f>
              <c:numCache>
                <c:formatCode>General</c:formatCode>
                <c:ptCount val="4"/>
              </c:numCache>
            </c:numRef>
          </c:cat>
          <c:val>
            <c:numRef>
              <c:f>Sheet1!$C$2:$C$5</c:f>
              <c:numCache>
                <c:formatCode>General</c:formatCode>
                <c:ptCount val="4"/>
                <c:pt idx="0">
                  <c:v>15</c:v>
                </c:pt>
              </c:numCache>
            </c:numRef>
          </c:val>
          <c:extLst>
            <c:ext xmlns:c16="http://schemas.microsoft.com/office/drawing/2014/chart" uri="{C3380CC4-5D6E-409C-BE32-E72D297353CC}">
              <c16:uniqueId val="{00000001-BACF-4A06-BBC3-2F3E7EEBFD99}"/>
            </c:ext>
          </c:extLst>
        </c:ser>
        <c:ser>
          <c:idx val="2"/>
          <c:order val="2"/>
          <c:tx>
            <c:strRef>
              <c:f>Sheet1!$D$1</c:f>
              <c:strCache>
                <c:ptCount val="1"/>
                <c:pt idx="0">
                  <c:v>Change in strategy</c:v>
                </c:pt>
              </c:strCache>
            </c:strRef>
          </c:tx>
          <c:spPr>
            <a:solidFill>
              <a:schemeClr val="accent1"/>
            </a:solidFill>
            <a:ln>
              <a:noFill/>
            </a:ln>
            <a:effectLst/>
          </c:spPr>
          <c:invertIfNegative val="0"/>
          <c:cat>
            <c:numRef>
              <c:f>Sheet1!$A$2:$A$5</c:f>
              <c:numCache>
                <c:formatCode>General</c:formatCode>
                <c:ptCount val="4"/>
              </c:numCache>
            </c:numRef>
          </c:cat>
          <c:val>
            <c:numRef>
              <c:f>Sheet1!$D$2:$D$5</c:f>
              <c:numCache>
                <c:formatCode>General</c:formatCode>
                <c:ptCount val="4"/>
                <c:pt idx="0">
                  <c:v>8</c:v>
                </c:pt>
              </c:numCache>
            </c:numRef>
          </c:val>
          <c:extLst>
            <c:ext xmlns:c16="http://schemas.microsoft.com/office/drawing/2014/chart" uri="{C3380CC4-5D6E-409C-BE32-E72D297353CC}">
              <c16:uniqueId val="{00000002-BACF-4A06-BBC3-2F3E7EEBFD99}"/>
            </c:ext>
          </c:extLst>
        </c:ser>
        <c:ser>
          <c:idx val="3"/>
          <c:order val="3"/>
          <c:tx>
            <c:strRef>
              <c:f>Sheet1!$E$1</c:f>
              <c:strCache>
                <c:ptCount val="1"/>
                <c:pt idx="0">
                  <c:v>Change in environment</c:v>
                </c:pt>
              </c:strCache>
            </c:strRef>
          </c:tx>
          <c:spPr>
            <a:solidFill>
              <a:schemeClr val="accent1">
                <a:shade val="76000"/>
              </a:schemeClr>
            </a:solidFill>
            <a:ln>
              <a:noFill/>
            </a:ln>
            <a:effectLst/>
          </c:spPr>
          <c:invertIfNegative val="0"/>
          <c:cat>
            <c:numRef>
              <c:f>Sheet1!$A$2:$A$5</c:f>
              <c:numCache>
                <c:formatCode>General</c:formatCode>
                <c:ptCount val="4"/>
              </c:numCache>
            </c:numRef>
          </c:cat>
          <c:val>
            <c:numRef>
              <c:f>Sheet1!$E$2:$E$5</c:f>
              <c:numCache>
                <c:formatCode>General</c:formatCode>
                <c:ptCount val="4"/>
                <c:pt idx="0">
                  <c:v>6</c:v>
                </c:pt>
              </c:numCache>
            </c:numRef>
          </c:val>
          <c:extLst>
            <c:ext xmlns:c16="http://schemas.microsoft.com/office/drawing/2014/chart" uri="{C3380CC4-5D6E-409C-BE32-E72D297353CC}">
              <c16:uniqueId val="{00000003-BACF-4A06-BBC3-2F3E7EEBFD99}"/>
            </c:ext>
          </c:extLst>
        </c:ser>
        <c:ser>
          <c:idx val="4"/>
          <c:order val="4"/>
          <c:tx>
            <c:strRef>
              <c:f>Sheet1!$F$1</c:f>
              <c:strCache>
                <c:ptCount val="1"/>
                <c:pt idx="0">
                  <c:v>Ineffective procurement/supplier</c:v>
                </c:pt>
              </c:strCache>
            </c:strRef>
          </c:tx>
          <c:spPr>
            <a:solidFill>
              <a:schemeClr val="accent1">
                <a:shade val="53000"/>
              </a:schemeClr>
            </a:solidFill>
            <a:ln>
              <a:noFill/>
            </a:ln>
            <a:effectLst/>
          </c:spPr>
          <c:invertIfNegative val="0"/>
          <c:cat>
            <c:numRef>
              <c:f>Sheet1!$A$2:$A$5</c:f>
              <c:numCache>
                <c:formatCode>General</c:formatCode>
                <c:ptCount val="4"/>
              </c:numCache>
            </c:numRef>
          </c:cat>
          <c:val>
            <c:numRef>
              <c:f>Sheet1!$F$2:$F$5</c:f>
              <c:numCache>
                <c:formatCode>General</c:formatCode>
                <c:ptCount val="4"/>
                <c:pt idx="0">
                  <c:v>6</c:v>
                </c:pt>
              </c:numCache>
            </c:numRef>
          </c:val>
          <c:extLst>
            <c:ext xmlns:c16="http://schemas.microsoft.com/office/drawing/2014/chart" uri="{C3380CC4-5D6E-409C-BE32-E72D297353CC}">
              <c16:uniqueId val="{00000004-BACF-4A06-BBC3-2F3E7EEBFD99}"/>
            </c:ext>
          </c:extLst>
        </c:ser>
        <c:dLbls>
          <c:showLegendKey val="0"/>
          <c:showVal val="0"/>
          <c:showCatName val="0"/>
          <c:showSerName val="0"/>
          <c:showPercent val="0"/>
          <c:showBubbleSize val="0"/>
        </c:dLbls>
        <c:gapWidth val="219"/>
        <c:axId val="361043664"/>
        <c:axId val="542218271"/>
      </c:barChart>
      <c:catAx>
        <c:axId val="361043664"/>
        <c:scaling>
          <c:orientation val="minMax"/>
        </c:scaling>
        <c:delete val="1"/>
        <c:axPos val="l"/>
        <c:numFmt formatCode="General" sourceLinked="1"/>
        <c:majorTickMark val="none"/>
        <c:minorTickMark val="none"/>
        <c:tickLblPos val="nextTo"/>
        <c:crossAx val="542218271"/>
        <c:crosses val="autoZero"/>
        <c:auto val="1"/>
        <c:lblAlgn val="ctr"/>
        <c:lblOffset val="100"/>
        <c:noMultiLvlLbl val="0"/>
      </c:catAx>
      <c:valAx>
        <c:axId val="54221827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Cambria" panose="02040503050406030204" pitchFamily="18" charset="0"/>
                <a:ea typeface="Cambria" panose="02040503050406030204" pitchFamily="18" charset="0"/>
                <a:cs typeface="+mn-cs"/>
              </a:defRPr>
            </a:pPr>
            <a:endParaRPr lang="en-US"/>
          </a:p>
        </c:txPr>
        <c:crossAx val="361043664"/>
        <c:crosses val="autoZero"/>
        <c:crossBetween val="between"/>
      </c:valAx>
      <c:spPr>
        <a:noFill/>
        <a:ln>
          <a:noFill/>
        </a:ln>
        <a:effectLst/>
      </c:spPr>
    </c:plotArea>
    <c:legend>
      <c:legendPos val="b"/>
      <c:layout>
        <c:manualLayout>
          <c:xMode val="edge"/>
          <c:yMode val="edge"/>
          <c:x val="0.46786978489927022"/>
          <c:y val="0.37155396062208301"/>
          <c:w val="0.51813096191128394"/>
          <c:h val="0.30226072386908537"/>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Cambria" panose="02040503050406030204" pitchFamily="18" charset="0"/>
              <a:ea typeface="Cambria" panose="02040503050406030204" pitchFamily="18" charset="0"/>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5"/>
              </a:solidFill>
            </c:spPr>
            <c:extLst>
              <c:ext xmlns:c16="http://schemas.microsoft.com/office/drawing/2014/chart" uri="{C3380CC4-5D6E-409C-BE32-E72D297353CC}">
                <c16:uniqueId val="{00000001-0835-4C7A-8F3A-5BD88C889885}"/>
              </c:ext>
            </c:extLst>
          </c:dPt>
          <c:dPt>
            <c:idx val="1"/>
            <c:bubble3D val="0"/>
            <c:spPr>
              <a:solidFill>
                <a:schemeClr val="bg2">
                  <a:lumMod val="85000"/>
                </a:schemeClr>
              </a:solidFill>
            </c:spPr>
            <c:extLst>
              <c:ext xmlns:c16="http://schemas.microsoft.com/office/drawing/2014/chart" uri="{C3380CC4-5D6E-409C-BE32-E72D297353CC}">
                <c16:uniqueId val="{00000003-0835-4C7A-8F3A-5BD88C889885}"/>
              </c:ext>
            </c:extLst>
          </c:dPt>
          <c:cat>
            <c:strRef>
              <c:f>Sheet1!$A$2:$A$3</c:f>
              <c:strCache>
                <c:ptCount val="2"/>
                <c:pt idx="0">
                  <c:v>PwC </c:v>
                </c:pt>
                <c:pt idx="1">
                  <c:v>Other</c:v>
                </c:pt>
              </c:strCache>
            </c:strRef>
          </c:cat>
          <c:val>
            <c:numRef>
              <c:f>Sheet1!$B$2:$B$3</c:f>
              <c:numCache>
                <c:formatCode>General</c:formatCode>
                <c:ptCount val="2"/>
                <c:pt idx="0">
                  <c:v>41</c:v>
                </c:pt>
                <c:pt idx="1">
                  <c:v>59</c:v>
                </c:pt>
              </c:numCache>
            </c:numRef>
          </c:val>
          <c:extLst>
            <c:ext xmlns:c16="http://schemas.microsoft.com/office/drawing/2014/chart" uri="{C3380CC4-5D6E-409C-BE32-E72D297353CC}">
              <c16:uniqueId val="{00000004-0835-4C7A-8F3A-5BD88C889885}"/>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5"/>
              </a:solidFill>
            </c:spPr>
            <c:extLst>
              <c:ext xmlns:c16="http://schemas.microsoft.com/office/drawing/2014/chart" uri="{C3380CC4-5D6E-409C-BE32-E72D297353CC}">
                <c16:uniqueId val="{00000001-A318-4932-B7EF-9DABF8A917F2}"/>
              </c:ext>
            </c:extLst>
          </c:dPt>
          <c:dPt>
            <c:idx val="1"/>
            <c:bubble3D val="0"/>
            <c:spPr>
              <a:solidFill>
                <a:schemeClr val="bg2">
                  <a:lumMod val="85000"/>
                </a:schemeClr>
              </a:solidFill>
            </c:spPr>
            <c:extLst>
              <c:ext xmlns:c16="http://schemas.microsoft.com/office/drawing/2014/chart" uri="{C3380CC4-5D6E-409C-BE32-E72D297353CC}">
                <c16:uniqueId val="{00000003-A318-4932-B7EF-9DABF8A917F2}"/>
              </c:ext>
            </c:extLst>
          </c:dPt>
          <c:cat>
            <c:strRef>
              <c:f>Sheet1!$A$2:$A$4</c:f>
              <c:strCache>
                <c:ptCount val="2"/>
                <c:pt idx="0">
                  <c:v>PwC </c:v>
                </c:pt>
                <c:pt idx="1">
                  <c:v>Other</c:v>
                </c:pt>
              </c:strCache>
            </c:strRef>
          </c:cat>
          <c:val>
            <c:numRef>
              <c:f>Sheet1!$B$2:$B$4</c:f>
              <c:numCache>
                <c:formatCode>General</c:formatCode>
                <c:ptCount val="3"/>
                <c:pt idx="0">
                  <c:v>38</c:v>
                </c:pt>
                <c:pt idx="1">
                  <c:v>62</c:v>
                </c:pt>
              </c:numCache>
            </c:numRef>
          </c:val>
          <c:extLst>
            <c:ext xmlns:c16="http://schemas.microsoft.com/office/drawing/2014/chart" uri="{C3380CC4-5D6E-409C-BE32-E72D297353CC}">
              <c16:uniqueId val="{00000004-A318-4932-B7EF-9DABF8A917F2}"/>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5"/>
              </a:solidFill>
            </c:spPr>
            <c:extLst>
              <c:ext xmlns:c16="http://schemas.microsoft.com/office/drawing/2014/chart" uri="{C3380CC4-5D6E-409C-BE32-E72D297353CC}">
                <c16:uniqueId val="{00000001-6C70-4FF4-B216-6C8534290709}"/>
              </c:ext>
            </c:extLst>
          </c:dPt>
          <c:dPt>
            <c:idx val="1"/>
            <c:bubble3D val="0"/>
            <c:spPr>
              <a:solidFill>
                <a:schemeClr val="bg2">
                  <a:lumMod val="85000"/>
                </a:schemeClr>
              </a:solidFill>
            </c:spPr>
            <c:extLst>
              <c:ext xmlns:c16="http://schemas.microsoft.com/office/drawing/2014/chart" uri="{C3380CC4-5D6E-409C-BE32-E72D297353CC}">
                <c16:uniqueId val="{00000003-6C70-4FF4-B216-6C8534290709}"/>
              </c:ext>
            </c:extLst>
          </c:dPt>
          <c:cat>
            <c:strRef>
              <c:f>Sheet1!$A$2:$A$3</c:f>
              <c:strCache>
                <c:ptCount val="2"/>
                <c:pt idx="0">
                  <c:v>PwC </c:v>
                </c:pt>
                <c:pt idx="1">
                  <c:v>Other</c:v>
                </c:pt>
              </c:strCache>
            </c:strRef>
          </c:cat>
          <c:val>
            <c:numRef>
              <c:f>Sheet1!$B$2:$B$3</c:f>
              <c:numCache>
                <c:formatCode>General</c:formatCode>
                <c:ptCount val="2"/>
                <c:pt idx="0">
                  <c:v>30</c:v>
                </c:pt>
                <c:pt idx="1">
                  <c:v>70</c:v>
                </c:pt>
              </c:numCache>
            </c:numRef>
          </c:val>
          <c:extLst>
            <c:ext xmlns:c16="http://schemas.microsoft.com/office/drawing/2014/chart" uri="{C3380CC4-5D6E-409C-BE32-E72D297353CC}">
              <c16:uniqueId val="{00000004-6C70-4FF4-B216-6C8534290709}"/>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withinLinearReversed" id="21">
  <a:schemeClr val="accent1"/>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C586A-3CA7-A6B6-6B3B-4583D57BE5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51776E-AB3C-97F0-AA67-BD2E18056A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57923A-7CEC-4869-8AF4-836E8C807E71}"/>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28E91799-8705-EA78-77FB-A8D1418A02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750114-BB6A-8616-2731-F1950849203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309654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253F8-D7EF-0AA8-3598-5AC952F1DC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31DE3F-5386-056B-1DEC-19911D2C22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205957-DD56-E507-21A2-8C0A5BE9F660}"/>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98EB9A55-8E66-EC08-7034-455A1E5E90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AF6D1F-72C9-BA38-AAB4-6FAC937E22B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577058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42EB5-995E-9071-E3A1-95E9D7E50C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ACF681-C1B8-C11A-F353-03F536F244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95EFDC-3504-A413-429F-299170D34B2F}"/>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2369A7B8-12DD-1BF3-FD41-6B30619495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0061D4-168A-8F5C-1AF2-EEEE97F41137}"/>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2677141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34875-A6FD-8948-4493-B9CE9F5BBE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319F30-A0D3-1FEA-6295-76618F64BC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2E2052-690E-6A4A-BF02-E46FD40059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FEBC34-12BA-F9D2-9978-AA8576AA8E1F}"/>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6" name="Footer Placeholder 5">
            <a:extLst>
              <a:ext uri="{FF2B5EF4-FFF2-40B4-BE49-F238E27FC236}">
                <a16:creationId xmlns:a16="http://schemas.microsoft.com/office/drawing/2014/main" id="{B7896469-2D3A-F487-7765-67182F6A04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9E2A04-E436-414E-4B0C-2404C44E969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527235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D2111-8CAE-1681-AEAC-2079D2AEC8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EEED81-28F4-4AD3-11E7-6FFF955226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93B50D-C434-C047-6A82-F515AB35F1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91BF45-750B-EE49-DA72-E92AF974D3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79E4D8-3EBB-E193-27A5-094D18445F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71CCED-E4D2-1960-BB38-F574A862185F}"/>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8" name="Footer Placeholder 7">
            <a:extLst>
              <a:ext uri="{FF2B5EF4-FFF2-40B4-BE49-F238E27FC236}">
                <a16:creationId xmlns:a16="http://schemas.microsoft.com/office/drawing/2014/main" id="{39E36CFE-AD2A-D7D2-B7AC-0E6731A1D4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59C0B5-F8AA-4571-AFA6-A6728C20434F}"/>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810648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E519E-BDB0-6C86-F8A0-76A5F77C27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638157-D72D-588F-3ADF-121F60C6DC9A}"/>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4" name="Footer Placeholder 3">
            <a:extLst>
              <a:ext uri="{FF2B5EF4-FFF2-40B4-BE49-F238E27FC236}">
                <a16:creationId xmlns:a16="http://schemas.microsoft.com/office/drawing/2014/main" id="{57717323-0A37-5519-2211-CB5A46A701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E187EF-3568-6D06-B0CC-CC03B437E3F6}"/>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047579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DA75DE-3AA6-3D68-4B0D-E41DC289D11E}"/>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3" name="Footer Placeholder 2">
            <a:extLst>
              <a:ext uri="{FF2B5EF4-FFF2-40B4-BE49-F238E27FC236}">
                <a16:creationId xmlns:a16="http://schemas.microsoft.com/office/drawing/2014/main" id="{9AC2F1D1-1AE5-9EFB-5C41-D0BA282D35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D39EC7-3610-4119-B990-AAC57BFAB70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520235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A1C0-DF73-59F9-7F79-1E20888F5B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80BE31-A6CE-0A68-9049-46835F6903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EBAC79-BA96-6289-CE87-A607DC7FE7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EEFF55-5B90-350B-AAD2-357346686E34}"/>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6" name="Footer Placeholder 5">
            <a:extLst>
              <a:ext uri="{FF2B5EF4-FFF2-40B4-BE49-F238E27FC236}">
                <a16:creationId xmlns:a16="http://schemas.microsoft.com/office/drawing/2014/main" id="{B2545FB3-ADD8-2ECF-805C-BE68FADBAC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833929-8CD9-1DA0-4C06-B6934F51B11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685784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E5A5F-7783-499E-9377-3210199834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CA243A-C284-88CE-16D1-09F73127C4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E3E7FA-2738-CC66-3A33-AF2665F889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D52B17-F93D-D397-FB9D-F548BD362AB1}"/>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6" name="Footer Placeholder 5">
            <a:extLst>
              <a:ext uri="{FF2B5EF4-FFF2-40B4-BE49-F238E27FC236}">
                <a16:creationId xmlns:a16="http://schemas.microsoft.com/office/drawing/2014/main" id="{8A648A4A-D02F-90AA-6306-2A3C8C61D5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1AF598-401C-397D-5CF5-3A9D5CA82750}"/>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772381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4A2BB-D4CC-5B9B-2348-E67CC05EB3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7E9190-84A6-F9EA-2390-7756FA27F3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E116-5473-7F3F-8433-5244C90E7BD8}"/>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2FC5FA76-460F-9D21-A59E-4B4E1DD5E1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20A51C-B070-BA37-CF7D-21A317D5AB3E}"/>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2832504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3743B3-1526-7C42-5D1E-F800423F8A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823CF1-92A9-379B-2137-1E6179E6A4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5BC939-1232-F1BE-40EE-926F7F3221E8}"/>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49314AEF-05BD-1B4A-FFF2-7F78AB0012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DB8F82-AEF6-1E0B-765F-D74DBC30156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806874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4574F-8BA0-4DD9-8A0D-88DF8E86708B}"/>
              </a:ext>
            </a:extLst>
          </p:cNvPr>
          <p:cNvSpPr>
            <a:spLocks noGrp="1"/>
          </p:cNvSpPr>
          <p:nvPr>
            <p:ph type="ctrTitle"/>
          </p:nvPr>
        </p:nvSpPr>
        <p:spPr>
          <a:xfrm>
            <a:off x="5193437" y="1600199"/>
            <a:ext cx="6998563" cy="2732103"/>
          </a:xfrm>
          <a:prstGeom prst="rect">
            <a:avLst/>
          </a:prstGeom>
        </p:spPr>
        <p:txBody>
          <a:bodyPr anchor="b"/>
          <a:lstStyle>
            <a:lvl1pPr algn="l">
              <a:defRPr sz="6000">
                <a:latin typeface="Cambria" panose="02040503050406030204" pitchFamily="18" charset="0"/>
                <a:ea typeface="Cambria" panose="020405030504060302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E082D7F5-BC12-43B2-9B38-EB14BFE04EE1}"/>
              </a:ext>
            </a:extLst>
          </p:cNvPr>
          <p:cNvSpPr>
            <a:spLocks noGrp="1"/>
          </p:cNvSpPr>
          <p:nvPr>
            <p:ph type="subTitle" idx="1"/>
          </p:nvPr>
        </p:nvSpPr>
        <p:spPr>
          <a:xfrm>
            <a:off x="5193437" y="4422159"/>
            <a:ext cx="6998564" cy="365125"/>
          </a:xfrm>
          <a:prstGeom prst="rect">
            <a:avLst/>
          </a:prstGeom>
        </p:spPr>
        <p:txBody>
          <a:bodyPr/>
          <a:lstStyle>
            <a:lvl1pPr marL="0" indent="0" algn="l">
              <a:buNone/>
              <a:defRPr sz="2400">
                <a:latin typeface="Cambria" panose="02040503050406030204" pitchFamily="18" charset="0"/>
                <a:ea typeface="Cambria" panose="020405030504060302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4914430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E181B04-7A0A-4201-BF8A-A7E924267571}"/>
              </a:ext>
            </a:extLst>
          </p:cNvPr>
          <p:cNvSpPr txBox="1">
            <a:spLocks/>
          </p:cNvSpPr>
          <p:nvPr userDrawn="1"/>
        </p:nvSpPr>
        <p:spPr>
          <a:xfrm>
            <a:off x="3311370" y="18257"/>
            <a:ext cx="8880629" cy="78961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dirty="0"/>
          </a:p>
        </p:txBody>
      </p:sp>
      <p:sp>
        <p:nvSpPr>
          <p:cNvPr id="6" name="Title Placeholder 1">
            <a:extLst>
              <a:ext uri="{FF2B5EF4-FFF2-40B4-BE49-F238E27FC236}">
                <a16:creationId xmlns:a16="http://schemas.microsoft.com/office/drawing/2014/main" id="{05D78967-21EF-4AA2-8BE4-2FCA6F8A7653}"/>
              </a:ext>
            </a:extLst>
          </p:cNvPr>
          <p:cNvSpPr>
            <a:spLocks noGrp="1"/>
          </p:cNvSpPr>
          <p:nvPr>
            <p:ph type="title"/>
          </p:nvPr>
        </p:nvSpPr>
        <p:spPr>
          <a:xfrm>
            <a:off x="628176" y="1"/>
            <a:ext cx="8187350" cy="571499"/>
          </a:xfrm>
          <a:prstGeom prst="rect">
            <a:avLst/>
          </a:prstGeom>
        </p:spPr>
        <p:txBody>
          <a:bodyPr vert="horz" lIns="91440" tIns="45720" rIns="91440" bIns="45720" rtlCol="0" anchor="ctr">
            <a:normAutofit/>
          </a:bodyPr>
          <a:lstStyle>
            <a:lvl1pPr>
              <a:defRPr>
                <a:latin typeface="Cambria" panose="02040503050406030204" pitchFamily="18" charset="0"/>
                <a:ea typeface="Cambria" panose="02040503050406030204" pitchFamily="18" charset="0"/>
              </a:defRPr>
            </a:lvl1pPr>
          </a:lstStyle>
          <a:p>
            <a:endParaRPr lang="en-US" dirty="0"/>
          </a:p>
        </p:txBody>
      </p:sp>
    </p:spTree>
    <p:extLst>
      <p:ext uri="{BB962C8B-B14F-4D97-AF65-F5344CB8AC3E}">
        <p14:creationId xmlns:p14="http://schemas.microsoft.com/office/powerpoint/2010/main" val="12591630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F51A7-6B22-4874-8FC5-ED388E5D187B}"/>
              </a:ext>
            </a:extLst>
          </p:cNvPr>
          <p:cNvSpPr>
            <a:spLocks noGrp="1"/>
          </p:cNvSpPr>
          <p:nvPr>
            <p:ph idx="1"/>
          </p:nvPr>
        </p:nvSpPr>
        <p:spPr>
          <a:xfrm>
            <a:off x="628176" y="1597981"/>
            <a:ext cx="10966059" cy="4578982"/>
          </a:xfrm>
        </p:spPr>
        <p:txBody>
          <a:bodyPr/>
          <a:lstStyle>
            <a:lvl1pPr>
              <a:defRPr>
                <a:latin typeface="Cambria" panose="02040503050406030204" pitchFamily="18" charset="0"/>
                <a:ea typeface="Cambria" panose="02040503050406030204" pitchFamily="18" charset="0"/>
              </a:defRPr>
            </a:lvl1pPr>
            <a:lvl2pPr>
              <a:defRPr>
                <a:latin typeface="Cambria" panose="02040503050406030204" pitchFamily="18" charset="0"/>
                <a:ea typeface="Cambria" panose="02040503050406030204" pitchFamily="18" charset="0"/>
              </a:defRPr>
            </a:lvl2pPr>
            <a:lvl3pPr>
              <a:defRPr>
                <a:latin typeface="Cambria" panose="02040503050406030204" pitchFamily="18" charset="0"/>
                <a:ea typeface="Cambria" panose="02040503050406030204" pitchFamily="18" charset="0"/>
              </a:defRPr>
            </a:lvl3pPr>
            <a:lvl4pPr>
              <a:defRPr>
                <a:latin typeface="Cambria" panose="02040503050406030204" pitchFamily="18" charset="0"/>
                <a:ea typeface="Cambria" panose="02040503050406030204" pitchFamily="18" charset="0"/>
              </a:defRPr>
            </a:lvl4pPr>
            <a:lvl5pPr>
              <a:defRPr>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Placeholder 1">
            <a:extLst>
              <a:ext uri="{FF2B5EF4-FFF2-40B4-BE49-F238E27FC236}">
                <a16:creationId xmlns:a16="http://schemas.microsoft.com/office/drawing/2014/main" id="{6E3DAE31-D39D-4D91-8F50-8D056054A62F}"/>
              </a:ext>
            </a:extLst>
          </p:cNvPr>
          <p:cNvSpPr>
            <a:spLocks noGrp="1"/>
          </p:cNvSpPr>
          <p:nvPr>
            <p:ph type="title"/>
          </p:nvPr>
        </p:nvSpPr>
        <p:spPr>
          <a:xfrm>
            <a:off x="628176" y="1"/>
            <a:ext cx="8231739" cy="561974"/>
          </a:xfrm>
          <a:prstGeom prst="rect">
            <a:avLst/>
          </a:prstGeom>
        </p:spPr>
        <p:txBody>
          <a:bodyPr vert="horz" lIns="91440" tIns="45720" rIns="91440" bIns="45720" rtlCol="0" anchor="ctr">
            <a:normAutofit/>
          </a:bodyPr>
          <a:lstStyle>
            <a:lvl1pPr>
              <a:defRPr>
                <a:latin typeface="Cambria" panose="02040503050406030204" pitchFamily="18" charset="0"/>
                <a:ea typeface="Cambria" panose="02040503050406030204" pitchFamily="18" charset="0"/>
              </a:defRPr>
            </a:lvl1pPr>
          </a:lstStyle>
          <a:p>
            <a:endParaRPr lang="en-US" dirty="0"/>
          </a:p>
        </p:txBody>
      </p:sp>
    </p:spTree>
    <p:extLst>
      <p:ext uri="{BB962C8B-B14F-4D97-AF65-F5344CB8AC3E}">
        <p14:creationId xmlns:p14="http://schemas.microsoft.com/office/powerpoint/2010/main" val="41656837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6E213-C056-49F2-8A77-C3C4C25F42D3}"/>
              </a:ext>
            </a:extLst>
          </p:cNvPr>
          <p:cNvSpPr>
            <a:spLocks noGrp="1"/>
          </p:cNvSpPr>
          <p:nvPr>
            <p:ph type="body" idx="1"/>
          </p:nvPr>
        </p:nvSpPr>
        <p:spPr>
          <a:xfrm>
            <a:off x="628176" y="1597981"/>
            <a:ext cx="10941322" cy="4580877"/>
          </a:xfrm>
        </p:spPr>
        <p:txBody>
          <a:bodyPr/>
          <a:lstStyle>
            <a:lvl1pPr marL="0" indent="0">
              <a:buNone/>
              <a:defRPr sz="2400">
                <a:solidFill>
                  <a:srgbClr val="0070C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Title Placeholder 1">
            <a:extLst>
              <a:ext uri="{FF2B5EF4-FFF2-40B4-BE49-F238E27FC236}">
                <a16:creationId xmlns:a16="http://schemas.microsoft.com/office/drawing/2014/main" id="{4381502F-F4F5-47E5-A036-3E8E88EBED0C}"/>
              </a:ext>
            </a:extLst>
          </p:cNvPr>
          <p:cNvSpPr>
            <a:spLocks noGrp="1"/>
          </p:cNvSpPr>
          <p:nvPr>
            <p:ph type="title"/>
          </p:nvPr>
        </p:nvSpPr>
        <p:spPr>
          <a:xfrm>
            <a:off x="628176" y="1"/>
            <a:ext cx="8231739" cy="561974"/>
          </a:xfrm>
          <a:prstGeom prst="rect">
            <a:avLst/>
          </a:prstGeom>
        </p:spPr>
        <p:txBody>
          <a:bodyPr vert="horz" lIns="91440" tIns="45720" rIns="91440" bIns="45720" rtlCol="0" anchor="ctr">
            <a:normAutofit/>
          </a:bodyPr>
          <a:lstStyle/>
          <a:p>
            <a:endParaRPr lang="en-US" dirty="0"/>
          </a:p>
        </p:txBody>
      </p:sp>
      <p:sp>
        <p:nvSpPr>
          <p:cNvPr id="5" name="TextBox 4"/>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20000"/>
                    <a:lumOff val="80000"/>
                  </a:schemeClr>
                </a:solidFill>
              </a:rPr>
              <a:t>For CMC University Student only</a:t>
            </a:r>
            <a:endParaRPr lang="en-AU" sz="2600" dirty="0">
              <a:solidFill>
                <a:schemeClr val="tx2">
                  <a:lumMod val="20000"/>
                  <a:lumOff val="80000"/>
                </a:schemeClr>
              </a:solidFill>
            </a:endParaRPr>
          </a:p>
        </p:txBody>
      </p:sp>
      <p:sp>
        <p:nvSpPr>
          <p:cNvPr id="6" name="TextBox 5"/>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20000"/>
                    <a:lumOff val="80000"/>
                  </a:schemeClr>
                </a:solidFill>
              </a:rPr>
              <a:t>For CMC University Student only</a:t>
            </a:r>
            <a:endParaRPr lang="en-AU" sz="2600" dirty="0">
              <a:solidFill>
                <a:schemeClr val="tx2">
                  <a:lumMod val="20000"/>
                  <a:lumOff val="80000"/>
                </a:schemeClr>
              </a:solidFill>
            </a:endParaRPr>
          </a:p>
        </p:txBody>
      </p:sp>
    </p:spTree>
    <p:extLst>
      <p:ext uri="{BB962C8B-B14F-4D97-AF65-F5344CB8AC3E}">
        <p14:creationId xmlns:p14="http://schemas.microsoft.com/office/powerpoint/2010/main" val="34111034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F5726-7887-4ED4-A172-AF9307881508}"/>
              </a:ext>
            </a:extLst>
          </p:cNvPr>
          <p:cNvSpPr>
            <a:spLocks noGrp="1"/>
          </p:cNvSpPr>
          <p:nvPr>
            <p:ph sz="half" idx="1"/>
          </p:nvPr>
        </p:nvSpPr>
        <p:spPr>
          <a:xfrm>
            <a:off x="612560" y="1606858"/>
            <a:ext cx="5483440" cy="45701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CA0F843-3E9A-4C49-A1AC-A3FA71EF7350}"/>
              </a:ext>
            </a:extLst>
          </p:cNvPr>
          <p:cNvSpPr>
            <a:spLocks noGrp="1"/>
          </p:cNvSpPr>
          <p:nvPr>
            <p:ph sz="half" idx="2"/>
          </p:nvPr>
        </p:nvSpPr>
        <p:spPr>
          <a:xfrm>
            <a:off x="6096001" y="1606858"/>
            <a:ext cx="5483440" cy="45701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1">
            <a:extLst>
              <a:ext uri="{FF2B5EF4-FFF2-40B4-BE49-F238E27FC236}">
                <a16:creationId xmlns:a16="http://schemas.microsoft.com/office/drawing/2014/main" id="{A06B0EA4-C8A7-4132-BFEF-0DDFF81DF1AE}"/>
              </a:ext>
            </a:extLst>
          </p:cNvPr>
          <p:cNvSpPr>
            <a:spLocks noGrp="1"/>
          </p:cNvSpPr>
          <p:nvPr>
            <p:ph type="title"/>
          </p:nvPr>
        </p:nvSpPr>
        <p:spPr>
          <a:xfrm>
            <a:off x="628176" y="1"/>
            <a:ext cx="8222861" cy="561974"/>
          </a:xfrm>
          <a:prstGeom prst="rect">
            <a:avLst/>
          </a:prstGeom>
        </p:spPr>
        <p:txBody>
          <a:bodyPr vert="horz" lIns="91440" tIns="45720" rIns="91440" bIns="45720" rtlCol="0" anchor="ctr">
            <a:normAutofit/>
          </a:bodyPr>
          <a:lstStyle/>
          <a:p>
            <a:endParaRPr lang="en-US" dirty="0"/>
          </a:p>
        </p:txBody>
      </p:sp>
      <p:sp>
        <p:nvSpPr>
          <p:cNvPr id="5" name="TextBox 4"/>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6" name="TextBox 5"/>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1567322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41CF06-6B06-4E7F-82EA-7C5047EA60A1}"/>
              </a:ext>
            </a:extLst>
          </p:cNvPr>
          <p:cNvSpPr>
            <a:spLocks noGrp="1"/>
          </p:cNvSpPr>
          <p:nvPr>
            <p:ph type="body" idx="1"/>
          </p:nvPr>
        </p:nvSpPr>
        <p:spPr>
          <a:xfrm>
            <a:off x="628175" y="1603275"/>
            <a:ext cx="546782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FD9E841-81B0-403F-B4A9-7ACB7AAF8E75}"/>
              </a:ext>
            </a:extLst>
          </p:cNvPr>
          <p:cNvSpPr>
            <a:spLocks noGrp="1"/>
          </p:cNvSpPr>
          <p:nvPr>
            <p:ph sz="half" idx="2"/>
          </p:nvPr>
        </p:nvSpPr>
        <p:spPr>
          <a:xfrm>
            <a:off x="628175" y="2512381"/>
            <a:ext cx="5462626" cy="367728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0BB9AEE-2F75-43DB-921D-43380FB8C592}"/>
              </a:ext>
            </a:extLst>
          </p:cNvPr>
          <p:cNvSpPr>
            <a:spLocks noGrp="1"/>
          </p:cNvSpPr>
          <p:nvPr>
            <p:ph type="body" sz="quarter" idx="3"/>
          </p:nvPr>
        </p:nvSpPr>
        <p:spPr>
          <a:xfrm>
            <a:off x="6090802" y="1603275"/>
            <a:ext cx="546782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F1E4C2-CBB6-4430-BE56-3BF9E9AA8B7D}"/>
              </a:ext>
            </a:extLst>
          </p:cNvPr>
          <p:cNvSpPr>
            <a:spLocks noGrp="1"/>
          </p:cNvSpPr>
          <p:nvPr>
            <p:ph sz="quarter" idx="4"/>
          </p:nvPr>
        </p:nvSpPr>
        <p:spPr>
          <a:xfrm>
            <a:off x="6090801" y="2512381"/>
            <a:ext cx="5467825" cy="367728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1">
            <a:extLst>
              <a:ext uri="{FF2B5EF4-FFF2-40B4-BE49-F238E27FC236}">
                <a16:creationId xmlns:a16="http://schemas.microsoft.com/office/drawing/2014/main" id="{A49F13EA-C024-48AE-90B5-68F588A6D2CF}"/>
              </a:ext>
            </a:extLst>
          </p:cNvPr>
          <p:cNvSpPr>
            <a:spLocks noGrp="1"/>
          </p:cNvSpPr>
          <p:nvPr>
            <p:ph type="title"/>
          </p:nvPr>
        </p:nvSpPr>
        <p:spPr>
          <a:xfrm>
            <a:off x="628176" y="1"/>
            <a:ext cx="8231739" cy="552449"/>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0127848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747FC4C-9430-4B68-AD2B-005799395D39}"/>
              </a:ext>
            </a:extLst>
          </p:cNvPr>
          <p:cNvSpPr>
            <a:spLocks noGrp="1"/>
          </p:cNvSpPr>
          <p:nvPr>
            <p:ph type="title"/>
          </p:nvPr>
        </p:nvSpPr>
        <p:spPr>
          <a:xfrm>
            <a:off x="628176" y="1"/>
            <a:ext cx="8205106" cy="542924"/>
          </a:xfrm>
          <a:prstGeom prst="rect">
            <a:avLst/>
          </a:prstGeom>
        </p:spPr>
        <p:txBody>
          <a:bodyPr vert="horz" lIns="91440" tIns="45720" rIns="91440" bIns="45720" rtlCol="0" anchor="ctr">
            <a:normAutofit/>
          </a:bodyPr>
          <a:lstStyle/>
          <a:p>
            <a:endParaRPr lang="en-US" dirty="0"/>
          </a:p>
        </p:txBody>
      </p:sp>
      <p:sp>
        <p:nvSpPr>
          <p:cNvPr id="4" name="TextBox 3"/>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5" name="TextBox 4"/>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32245505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B3D6C-BEF2-4E06-A9B0-9A309DB3444E}"/>
              </a:ext>
            </a:extLst>
          </p:cNvPr>
          <p:cNvSpPr>
            <a:spLocks noGrp="1"/>
          </p:cNvSpPr>
          <p:nvPr>
            <p:ph idx="1"/>
          </p:nvPr>
        </p:nvSpPr>
        <p:spPr>
          <a:xfrm>
            <a:off x="5051394" y="1606858"/>
            <a:ext cx="6507234" cy="456312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ECDB52-24E0-4CBA-AE63-33BD3EF657F8}"/>
              </a:ext>
            </a:extLst>
          </p:cNvPr>
          <p:cNvSpPr>
            <a:spLocks noGrp="1"/>
          </p:cNvSpPr>
          <p:nvPr>
            <p:ph type="body" sz="half" idx="2"/>
          </p:nvPr>
        </p:nvSpPr>
        <p:spPr>
          <a:xfrm>
            <a:off x="628176" y="1606859"/>
            <a:ext cx="4165766" cy="456312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Title Placeholder 1">
            <a:extLst>
              <a:ext uri="{FF2B5EF4-FFF2-40B4-BE49-F238E27FC236}">
                <a16:creationId xmlns:a16="http://schemas.microsoft.com/office/drawing/2014/main" id="{38BBB283-F300-4A19-B448-60B2206B6F55}"/>
              </a:ext>
            </a:extLst>
          </p:cNvPr>
          <p:cNvSpPr>
            <a:spLocks noGrp="1"/>
          </p:cNvSpPr>
          <p:nvPr>
            <p:ph type="title"/>
          </p:nvPr>
        </p:nvSpPr>
        <p:spPr>
          <a:xfrm>
            <a:off x="628176" y="1"/>
            <a:ext cx="8205106" cy="542924"/>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3174152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3D43A-8744-40D7-AFFD-6F0B4A4ECB2C}"/>
              </a:ext>
            </a:extLst>
          </p:cNvPr>
          <p:cNvSpPr>
            <a:spLocks noGrp="1"/>
          </p:cNvSpPr>
          <p:nvPr>
            <p:ph type="pic" idx="1"/>
          </p:nvPr>
        </p:nvSpPr>
        <p:spPr>
          <a:xfrm>
            <a:off x="5183188" y="1606858"/>
            <a:ext cx="6375440" cy="4554244"/>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ED85C3DD-CC1C-4A73-BCDA-09DF7D09C2C1}"/>
              </a:ext>
            </a:extLst>
          </p:cNvPr>
          <p:cNvSpPr>
            <a:spLocks noGrp="1"/>
          </p:cNvSpPr>
          <p:nvPr>
            <p:ph type="body" sz="half" idx="2"/>
          </p:nvPr>
        </p:nvSpPr>
        <p:spPr>
          <a:xfrm>
            <a:off x="628175" y="1606859"/>
            <a:ext cx="4245665" cy="4554244"/>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Title Placeholder 1">
            <a:extLst>
              <a:ext uri="{FF2B5EF4-FFF2-40B4-BE49-F238E27FC236}">
                <a16:creationId xmlns:a16="http://schemas.microsoft.com/office/drawing/2014/main" id="{64732130-B38F-4E21-8A3C-589F26725E53}"/>
              </a:ext>
            </a:extLst>
          </p:cNvPr>
          <p:cNvSpPr>
            <a:spLocks noGrp="1"/>
          </p:cNvSpPr>
          <p:nvPr>
            <p:ph type="title"/>
          </p:nvPr>
        </p:nvSpPr>
        <p:spPr>
          <a:xfrm>
            <a:off x="628176" y="1"/>
            <a:ext cx="8222861" cy="581024"/>
          </a:xfrm>
          <a:prstGeom prst="rect">
            <a:avLst/>
          </a:prstGeom>
        </p:spPr>
        <p:txBody>
          <a:bodyPr vert="horz" lIns="91440" tIns="45720" rIns="91440" bIns="45720" rtlCol="0" anchor="ctr">
            <a:normAutofit/>
          </a:bodyPr>
          <a:lstStyle/>
          <a:p>
            <a:endParaRPr lang="en-US" dirty="0"/>
          </a:p>
        </p:txBody>
      </p:sp>
      <p:sp>
        <p:nvSpPr>
          <p:cNvPr id="6" name="TextBox 5"/>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7" name="TextBox 6"/>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34722815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8B93FDE-0843-445A-8B34-9092D666FC3E}"/>
              </a:ext>
            </a:extLst>
          </p:cNvPr>
          <p:cNvSpPr>
            <a:spLocks noGrp="1"/>
          </p:cNvSpPr>
          <p:nvPr>
            <p:ph type="body" orient="vert" idx="1"/>
          </p:nvPr>
        </p:nvSpPr>
        <p:spPr>
          <a:xfrm>
            <a:off x="628176" y="1597981"/>
            <a:ext cx="10941322" cy="457898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Placeholder 1">
            <a:extLst>
              <a:ext uri="{FF2B5EF4-FFF2-40B4-BE49-F238E27FC236}">
                <a16:creationId xmlns:a16="http://schemas.microsoft.com/office/drawing/2014/main" id="{3086777C-386E-4DFE-9BE7-63682A461485}"/>
              </a:ext>
            </a:extLst>
          </p:cNvPr>
          <p:cNvSpPr>
            <a:spLocks noGrp="1"/>
          </p:cNvSpPr>
          <p:nvPr>
            <p:ph type="title"/>
          </p:nvPr>
        </p:nvSpPr>
        <p:spPr>
          <a:xfrm>
            <a:off x="628176" y="1"/>
            <a:ext cx="8213983" cy="571499"/>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3286651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781CC48-27A5-4590-A158-B24464D8BE2C}"/>
              </a:ext>
            </a:extLst>
          </p:cNvPr>
          <p:cNvSpPr>
            <a:spLocks noGrp="1"/>
          </p:cNvSpPr>
          <p:nvPr>
            <p:ph type="body" orient="vert" idx="1"/>
          </p:nvPr>
        </p:nvSpPr>
        <p:spPr>
          <a:xfrm>
            <a:off x="628175" y="1589103"/>
            <a:ext cx="10941322" cy="458786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Placeholder 1">
            <a:extLst>
              <a:ext uri="{FF2B5EF4-FFF2-40B4-BE49-F238E27FC236}">
                <a16:creationId xmlns:a16="http://schemas.microsoft.com/office/drawing/2014/main" id="{AABDBED6-01BA-4F2B-9569-ED8032753950}"/>
              </a:ext>
            </a:extLst>
          </p:cNvPr>
          <p:cNvSpPr>
            <a:spLocks noGrp="1"/>
          </p:cNvSpPr>
          <p:nvPr>
            <p:ph type="title"/>
          </p:nvPr>
        </p:nvSpPr>
        <p:spPr>
          <a:xfrm>
            <a:off x="628176" y="1"/>
            <a:ext cx="8205106" cy="561974"/>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329598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4.jp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3.jp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3.xml"/><Relationship Id="rId5" Type="http://schemas.openxmlformats.org/officeDocument/2006/relationships/slideLayout" Target="../slideLayouts/slideLayout17.xml"/><Relationship Id="rId15" Type="http://schemas.openxmlformats.org/officeDocument/2006/relationships/image" Target="../media/image6.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F796FF-222D-1E2E-7D23-7C2CDFE14F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41ED22-2335-D77A-68F2-5BD129B137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24A63B-33FC-3D66-67A2-4F63979F6D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F7709777-C88E-DEB1-2C91-66BDF4E702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DB51AD0-DD74-2C46-CF95-2202E3B9F4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103FC1-3A4E-448F-B845-A3E46F94BBE5}" type="slidenum">
              <a:rPr lang="en-US" smtClean="0"/>
              <a:t>‹#›</a:t>
            </a:fld>
            <a:endParaRPr lang="en-US"/>
          </a:p>
        </p:txBody>
      </p:sp>
    </p:spTree>
    <p:extLst>
      <p:ext uri="{BB962C8B-B14F-4D97-AF65-F5344CB8AC3E}">
        <p14:creationId xmlns:p14="http://schemas.microsoft.com/office/powerpoint/2010/main" val="4774984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236DA72-9373-413D-90C2-B12F84A4BF3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0" y="0"/>
            <a:ext cx="12192000" cy="6857999"/>
          </a:xfrm>
          <a:prstGeom prst="rect">
            <a:avLst/>
          </a:prstGeom>
        </p:spPr>
      </p:pic>
      <p:sp>
        <p:nvSpPr>
          <p:cNvPr id="13" name="Rectangle 12">
            <a:extLst>
              <a:ext uri="{FF2B5EF4-FFF2-40B4-BE49-F238E27FC236}">
                <a16:creationId xmlns:a16="http://schemas.microsoft.com/office/drawing/2014/main" id="{B700E21E-0BA2-4C89-8691-A6161B41AA11}"/>
              </a:ext>
            </a:extLst>
          </p:cNvPr>
          <p:cNvSpPr/>
          <p:nvPr userDrawn="1"/>
        </p:nvSpPr>
        <p:spPr>
          <a:xfrm>
            <a:off x="5184559" y="1600200"/>
            <a:ext cx="7007441" cy="3657600"/>
          </a:xfrm>
          <a:prstGeom prst="rect">
            <a:avLst/>
          </a:prstGeom>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Logo&#10;&#10;Description automatically generated">
            <a:extLst>
              <a:ext uri="{FF2B5EF4-FFF2-40B4-BE49-F238E27FC236}">
                <a16:creationId xmlns:a16="http://schemas.microsoft.com/office/drawing/2014/main" id="{437EFD07-DCAC-4344-A296-7B657609E7D2}"/>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28178" y="183674"/>
            <a:ext cx="2736460" cy="499085"/>
          </a:xfrm>
          <a:prstGeom prst="rect">
            <a:avLst/>
          </a:prstGeom>
        </p:spPr>
      </p:pic>
    </p:spTree>
    <p:extLst>
      <p:ext uri="{BB962C8B-B14F-4D97-AF65-F5344CB8AC3E}">
        <p14:creationId xmlns:p14="http://schemas.microsoft.com/office/powerpoint/2010/main" val="1165223161"/>
      </p:ext>
    </p:extLst>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EDE25AE-F103-49BC-9B89-0B1E7BCFB6DE}"/>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0"/>
            <a:ext cx="12192000" cy="572738"/>
          </a:xfrm>
          <a:prstGeom prst="rect">
            <a:avLst/>
          </a:prstGeom>
        </p:spPr>
      </p:pic>
      <p:sp>
        <p:nvSpPr>
          <p:cNvPr id="2" name="Title Placeholder 1">
            <a:extLst>
              <a:ext uri="{FF2B5EF4-FFF2-40B4-BE49-F238E27FC236}">
                <a16:creationId xmlns:a16="http://schemas.microsoft.com/office/drawing/2014/main" id="{2316BAF0-010B-4DE2-BDEA-F2879C620864}"/>
              </a:ext>
            </a:extLst>
          </p:cNvPr>
          <p:cNvSpPr>
            <a:spLocks noGrp="1"/>
          </p:cNvSpPr>
          <p:nvPr>
            <p:ph type="title"/>
          </p:nvPr>
        </p:nvSpPr>
        <p:spPr>
          <a:xfrm>
            <a:off x="628176" y="1"/>
            <a:ext cx="8213983" cy="572737"/>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73FBB290-2494-4607-B867-D433D7531872}"/>
              </a:ext>
            </a:extLst>
          </p:cNvPr>
          <p:cNvSpPr>
            <a:spLocks noGrp="1"/>
          </p:cNvSpPr>
          <p:nvPr>
            <p:ph type="body" idx="1"/>
          </p:nvPr>
        </p:nvSpPr>
        <p:spPr>
          <a:xfrm>
            <a:off x="628176" y="1313895"/>
            <a:ext cx="10941323" cy="486306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a:extLst>
              <a:ext uri="{FF2B5EF4-FFF2-40B4-BE49-F238E27FC236}">
                <a16:creationId xmlns:a16="http://schemas.microsoft.com/office/drawing/2014/main" id="{24CB6BFF-A477-48C9-AA27-0D5A005B4CC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407121"/>
            <a:ext cx="12192000" cy="450879"/>
          </a:xfrm>
          <a:prstGeom prst="rect">
            <a:avLst/>
          </a:prstGeom>
        </p:spPr>
      </p:pic>
      <p:pic>
        <p:nvPicPr>
          <p:cNvPr id="16" name="Picture 15" descr="Logo&#10;&#10;Description automatically generated">
            <a:extLst>
              <a:ext uri="{FF2B5EF4-FFF2-40B4-BE49-F238E27FC236}">
                <a16:creationId xmlns:a16="http://schemas.microsoft.com/office/drawing/2014/main" id="{5381A15E-FFCE-435E-9C14-6C629375BFF6}"/>
              </a:ext>
            </a:extLst>
          </p:cNvPr>
          <p:cNvPicPr>
            <a:picLocks noChangeAspect="1"/>
          </p:cNvPicPr>
          <p:nvPr userDrawn="1"/>
        </p:nvPicPr>
        <p:blipFill>
          <a:blip r:embed="rId14" cstate="hqprint">
            <a:extLst>
              <a:ext uri="{28A0092B-C50C-407E-A947-70E740481C1C}">
                <a14:useLocalDpi xmlns:a14="http://schemas.microsoft.com/office/drawing/2010/main" val="0"/>
              </a:ext>
            </a:extLst>
          </a:blip>
          <a:stretch>
            <a:fillRect/>
          </a:stretch>
        </p:blipFill>
        <p:spPr>
          <a:xfrm>
            <a:off x="9229725" y="73518"/>
            <a:ext cx="2334099" cy="425701"/>
          </a:xfrm>
          <a:prstGeom prst="rect">
            <a:avLst/>
          </a:prstGeom>
        </p:spPr>
      </p:pic>
      <p:pic>
        <p:nvPicPr>
          <p:cNvPr id="17" name="Picture 16" descr="Shape&#10;&#10;Description automatically generated with medium confidence">
            <a:extLst>
              <a:ext uri="{FF2B5EF4-FFF2-40B4-BE49-F238E27FC236}">
                <a16:creationId xmlns:a16="http://schemas.microsoft.com/office/drawing/2014/main" id="{290B9EB1-B956-4D5D-A294-4C2DE8820324}"/>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524479" y="6585209"/>
            <a:ext cx="3743535" cy="321429"/>
          </a:xfrm>
          <a:prstGeom prst="rect">
            <a:avLst/>
          </a:prstGeom>
        </p:spPr>
      </p:pic>
    </p:spTree>
    <p:extLst>
      <p:ext uri="{BB962C8B-B14F-4D97-AF65-F5344CB8AC3E}">
        <p14:creationId xmlns:p14="http://schemas.microsoft.com/office/powerpoint/2010/main" val="251509094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txStyles>
    <p:titleStyle>
      <a:lvl1pPr algn="l" defTabSz="914400" rtl="0" eaLnBrk="1" latinLnBrk="0" hangingPunct="1">
        <a:lnSpc>
          <a:spcPct val="90000"/>
        </a:lnSpc>
        <a:spcBef>
          <a:spcPct val="0"/>
        </a:spcBef>
        <a:buNone/>
        <a:defRPr sz="30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hyperlink" Target="https://zoetalentsolutions.com/course/information-technology-project-management-course/" TargetMode="Externa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chart" Target="../charts/chart1.xml"/><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hyperlink" Target="https://zoetalentsolutions.com/course/information-technology-project-management-course/" TargetMode="Externa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rectangle with white dots&#10;&#10;Description automatically generated">
            <a:extLst>
              <a:ext uri="{FF2B5EF4-FFF2-40B4-BE49-F238E27FC236}">
                <a16:creationId xmlns:a16="http://schemas.microsoft.com/office/drawing/2014/main" id="{ECE4913A-95CE-44D8-6E6B-D51DE0600C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descr="A blue sign with white text&#10;&#10;Description automatically generated">
            <a:extLst>
              <a:ext uri="{FF2B5EF4-FFF2-40B4-BE49-F238E27FC236}">
                <a16:creationId xmlns:a16="http://schemas.microsoft.com/office/drawing/2014/main" id="{B1B992CF-C5B0-3E18-5DBE-225492A94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9552" y="208280"/>
            <a:ext cx="1613647" cy="777240"/>
          </a:xfrm>
          <a:prstGeom prst="rect">
            <a:avLst/>
          </a:prstGeom>
        </p:spPr>
      </p:pic>
      <p:pic>
        <p:nvPicPr>
          <p:cNvPr id="9" name="Picture 8" descr="A computer with a graph and a diagram&#10;&#10;Description automatically generated with medium confidence">
            <a:extLst>
              <a:ext uri="{FF2B5EF4-FFF2-40B4-BE49-F238E27FC236}">
                <a16:creationId xmlns:a16="http://schemas.microsoft.com/office/drawing/2014/main" id="{739FF32F-3E0B-257B-8470-E20496425F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3060691"/>
            <a:ext cx="7548880" cy="3589029"/>
          </a:xfrm>
          <a:prstGeom prst="rect">
            <a:avLst/>
          </a:prstGeom>
        </p:spPr>
      </p:pic>
      <p:sp>
        <p:nvSpPr>
          <p:cNvPr id="10" name="Title 4">
            <a:extLst>
              <a:ext uri="{FF2B5EF4-FFF2-40B4-BE49-F238E27FC236}">
                <a16:creationId xmlns:a16="http://schemas.microsoft.com/office/drawing/2014/main" id="{EC1A2CC1-88C2-9699-19F0-B13832AF9EB1}"/>
              </a:ext>
            </a:extLst>
          </p:cNvPr>
          <p:cNvSpPr>
            <a:spLocks noGrp="1"/>
          </p:cNvSpPr>
          <p:nvPr>
            <p:ph type="ctrTitle"/>
          </p:nvPr>
        </p:nvSpPr>
        <p:spPr>
          <a:xfrm>
            <a:off x="452527" y="4680130"/>
            <a:ext cx="8758148" cy="1382487"/>
          </a:xfrm>
        </p:spPr>
        <p:txBody>
          <a:bodyPr>
            <a:normAutofit fontScale="90000"/>
          </a:bodyPr>
          <a:lstStyle/>
          <a:p>
            <a:pPr algn="l"/>
            <a:br>
              <a:rPr lang="en-US" sz="4000" b="0" dirty="0">
                <a:solidFill>
                  <a:schemeClr val="bg1"/>
                </a:solidFill>
                <a:effectLst/>
                <a:latin typeface="Cambria" panose="02040503050406030204" pitchFamily="18" charset="0"/>
                <a:ea typeface="Cambria" panose="02040503050406030204" pitchFamily="18" charset="0"/>
              </a:rPr>
            </a:br>
            <a:r>
              <a:rPr lang="vi" sz="4000" b="0" dirty="0">
                <a:solidFill>
                  <a:schemeClr val="bg1"/>
                </a:solidFill>
                <a:effectLst/>
                <a:latin typeface="Cambria" panose="02040503050406030204" pitchFamily="18" charset="0"/>
                <a:ea typeface="Cambria" panose="02040503050406030204" pitchFamily="18" charset="0"/>
              </a:rPr>
              <a:t>QUẢN LÝ DỰ ÁN </a:t>
            </a:r>
            <a:br>
              <a:rPr lang="en-US" sz="4000" b="0" dirty="0">
                <a:solidFill>
                  <a:schemeClr val="bg1"/>
                </a:solidFill>
                <a:effectLst/>
                <a:latin typeface="Cambria" panose="02040503050406030204" pitchFamily="18" charset="0"/>
                <a:ea typeface="Cambria" panose="02040503050406030204" pitchFamily="18" charset="0"/>
              </a:rPr>
            </a:br>
            <a:r>
              <a:rPr lang="vi" sz="4000" b="0" dirty="0">
                <a:solidFill>
                  <a:schemeClr val="bg1"/>
                </a:solidFill>
                <a:effectLst/>
                <a:latin typeface="Cambria" panose="02040503050406030204" pitchFamily="18" charset="0"/>
                <a:ea typeface="Cambria" panose="02040503050406030204" pitchFamily="18" charset="0"/>
              </a:rPr>
              <a:t>CÔNG NGHỆ</a:t>
            </a:r>
            <a:r>
              <a:rPr lang="en-US" sz="4000" b="0" dirty="0">
                <a:solidFill>
                  <a:schemeClr val="bg1"/>
                </a:solidFill>
                <a:effectLst/>
                <a:latin typeface="Cambria" panose="02040503050406030204" pitchFamily="18" charset="0"/>
                <a:ea typeface="Cambria" panose="02040503050406030204" pitchFamily="18" charset="0"/>
              </a:rPr>
              <a:t> THÔNG TIN </a:t>
            </a:r>
            <a:r>
              <a:rPr lang="vi" sz="4000" b="0" dirty="0">
                <a:solidFill>
                  <a:schemeClr val="bg1"/>
                </a:solidFill>
                <a:effectLst/>
                <a:latin typeface="Cambria" panose="02040503050406030204" pitchFamily="18" charset="0"/>
                <a:ea typeface="Cambria" panose="02040503050406030204" pitchFamily="18" charset="0"/>
              </a:rPr>
              <a:t> </a:t>
            </a: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r>
              <a:rPr lang="vi" sz="2700" dirty="0">
                <a:solidFill>
                  <a:schemeClr val="accent1">
                    <a:lumMod val="40000"/>
                    <a:lumOff val="60000"/>
                  </a:schemeClr>
                </a:solidFill>
                <a:latin typeface="Cambria" panose="02040503050406030204" pitchFamily="18" charset="0"/>
                <a:ea typeface="Cambria" panose="02040503050406030204" pitchFamily="18" charset="0"/>
              </a:rPr>
              <a:t>Chương I: </a:t>
            </a:r>
            <a:r>
              <a:rPr lang="en-US" sz="2700" dirty="0" err="1">
                <a:solidFill>
                  <a:schemeClr val="accent1">
                    <a:lumMod val="40000"/>
                    <a:lumOff val="60000"/>
                  </a:schemeClr>
                </a:solidFill>
                <a:latin typeface="Cambria" panose="02040503050406030204" pitchFamily="18" charset="0"/>
                <a:ea typeface="Cambria" panose="02040503050406030204" pitchFamily="18" charset="0"/>
              </a:rPr>
              <a:t>Nền</a:t>
            </a:r>
            <a:r>
              <a:rPr lang="en-US" sz="2700" dirty="0">
                <a:solidFill>
                  <a:schemeClr val="accent1">
                    <a:lumMod val="40000"/>
                    <a:lumOff val="60000"/>
                  </a:schemeClr>
                </a:solidFill>
                <a:latin typeface="Cambria" panose="02040503050406030204" pitchFamily="18" charset="0"/>
                <a:ea typeface="Cambria" panose="02040503050406030204" pitchFamily="18" charset="0"/>
              </a:rPr>
              <a:t> </a:t>
            </a:r>
            <a:r>
              <a:rPr lang="en-US" sz="2700" dirty="0" err="1">
                <a:solidFill>
                  <a:schemeClr val="accent1">
                    <a:lumMod val="40000"/>
                    <a:lumOff val="60000"/>
                  </a:schemeClr>
                </a:solidFill>
                <a:latin typeface="Cambria" panose="02040503050406030204" pitchFamily="18" charset="0"/>
                <a:ea typeface="Cambria" panose="02040503050406030204" pitchFamily="18" charset="0"/>
              </a:rPr>
              <a:t>tảng</a:t>
            </a:r>
            <a:r>
              <a:rPr lang="en-US" sz="2700" dirty="0">
                <a:solidFill>
                  <a:schemeClr val="accent1">
                    <a:lumMod val="40000"/>
                    <a:lumOff val="60000"/>
                  </a:schemeClr>
                </a:solidFill>
                <a:latin typeface="Cambria" panose="02040503050406030204" pitchFamily="18" charset="0"/>
                <a:ea typeface="Cambria" panose="02040503050406030204" pitchFamily="18" charset="0"/>
              </a:rPr>
              <a:t> Q</a:t>
            </a:r>
            <a:r>
              <a:rPr lang="vi" sz="2700" dirty="0">
                <a:solidFill>
                  <a:schemeClr val="accent1">
                    <a:lumMod val="40000"/>
                    <a:lumOff val="60000"/>
                  </a:schemeClr>
                </a:solidFill>
                <a:latin typeface="Cambria" panose="02040503050406030204" pitchFamily="18" charset="0"/>
                <a:ea typeface="Cambria" panose="02040503050406030204" pitchFamily="18" charset="0"/>
              </a:rPr>
              <a:t>uản lý dự án CNTT </a:t>
            </a:r>
            <a:br>
              <a:rPr lang="en-US" sz="2700" dirty="0">
                <a:solidFill>
                  <a:schemeClr val="bg1"/>
                </a:solidFill>
                <a:latin typeface="Cambria" panose="02040503050406030204" pitchFamily="18" charset="0"/>
                <a:ea typeface="Cambria" panose="02040503050406030204" pitchFamily="18" charset="0"/>
              </a:rPr>
            </a:br>
            <a:r>
              <a:rPr lang="vi" sz="2000" dirty="0">
                <a:solidFill>
                  <a:schemeClr val="accent1">
                    <a:lumMod val="60000"/>
                    <a:lumOff val="40000"/>
                  </a:schemeClr>
                </a:solidFill>
                <a:latin typeface="Cambria" panose="02040503050406030204" pitchFamily="18" charset="0"/>
                <a:ea typeface="Cambria" panose="02040503050406030204" pitchFamily="18" charset="0"/>
              </a:rPr>
              <a:t>Giảng viên: </a:t>
            </a:r>
            <a:r>
              <a:rPr lang="en-US" sz="2000" dirty="0">
                <a:solidFill>
                  <a:schemeClr val="accent1">
                    <a:lumMod val="60000"/>
                    <a:lumOff val="40000"/>
                  </a:schemeClr>
                </a:solidFill>
                <a:latin typeface="Cambria" panose="02040503050406030204" pitchFamily="18" charset="0"/>
                <a:ea typeface="Cambria" panose="02040503050406030204" pitchFamily="18" charset="0"/>
              </a:rPr>
              <a:t> </a:t>
            </a:r>
            <a:endParaRPr lang="en-US" sz="4000" dirty="0">
              <a:solidFill>
                <a:schemeClr val="accent1">
                  <a:lumMod val="60000"/>
                  <a:lumOff val="40000"/>
                </a:schemeClr>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684941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58055" y="975092"/>
            <a:ext cx="10788691" cy="20116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00000"/>
              </a:lnSpc>
              <a:spcBef>
                <a:spcPts val="0"/>
              </a:spcBef>
              <a:spcAft>
                <a:spcPts val="600"/>
              </a:spcAft>
              <a:buFont typeface="+mj-lt"/>
              <a:buAutoNum type="arabicPeriod"/>
            </a:pPr>
            <a:r>
              <a:rPr lang="en-US" sz="2000" b="1" dirty="0">
                <a:solidFill>
                  <a:schemeClr val="bg1"/>
                </a:solidFill>
                <a:latin typeface="Cambria" panose="02040503050406030204" pitchFamily="18" charset="0"/>
                <a:ea typeface="Cambria" panose="02040503050406030204" pitchFamily="18" charset="0"/>
              </a:rPr>
              <a:t>Đ</a:t>
            </a:r>
            <a:r>
              <a:rPr lang="vi" sz="2000" b="1" dirty="0">
                <a:solidFill>
                  <a:schemeClr val="bg1"/>
                </a:solidFill>
                <a:latin typeface="Cambria" panose="02040503050406030204" pitchFamily="18" charset="0"/>
                <a:ea typeface="Cambria" panose="02040503050406030204" pitchFamily="18" charset="0"/>
              </a:rPr>
              <a:t>ỊNH NGHĨA</a:t>
            </a:r>
          </a:p>
          <a:p>
            <a:pPr marL="514350" indent="-514350">
              <a:lnSpc>
                <a:spcPct val="100000"/>
              </a:lnSpc>
              <a:spcBef>
                <a:spcPts val="0"/>
              </a:spcBef>
              <a:spcAft>
                <a:spcPts val="600"/>
              </a:spcAft>
              <a:buFont typeface="+mj-lt"/>
              <a:buAutoNum type="arabicPeriod"/>
            </a:pPr>
            <a:r>
              <a:rPr lang="vi" sz="2000" b="1" dirty="0">
                <a:solidFill>
                  <a:schemeClr val="bg1"/>
                </a:solidFill>
                <a:latin typeface="Cambria" panose="02040503050406030204" pitchFamily="18" charset="0"/>
                <a:ea typeface="Cambria" panose="02040503050406030204" pitchFamily="18" charset="0"/>
              </a:rPr>
              <a:t>QUẢN LÝ DỰ ÁN LÀ GÌ?</a:t>
            </a:r>
          </a:p>
          <a:p>
            <a:pPr marL="514350" indent="-514350">
              <a:lnSpc>
                <a:spcPct val="100000"/>
              </a:lnSpc>
              <a:spcBef>
                <a:spcPts val="0"/>
              </a:spcBef>
              <a:spcAft>
                <a:spcPts val="600"/>
              </a:spcAft>
              <a:buFont typeface="+mj-lt"/>
              <a:buAutoNum type="arabicPeriod"/>
            </a:pPr>
            <a:r>
              <a:rPr lang="vi" sz="2000" b="1" dirty="0">
                <a:solidFill>
                  <a:schemeClr val="bg1"/>
                </a:solidFill>
                <a:latin typeface="Cambria" panose="02040503050406030204" pitchFamily="18" charset="0"/>
                <a:ea typeface="Cambria" panose="02040503050406030204" pitchFamily="18" charset="0"/>
              </a:rPr>
              <a:t>CÁC LĨNH VỰC CHÍNH CỦA QUẢN LÝ DỰ ÁN</a:t>
            </a:r>
          </a:p>
          <a:p>
            <a:pPr marL="514350" indent="-514350">
              <a:lnSpc>
                <a:spcPct val="100000"/>
              </a:lnSpc>
              <a:spcBef>
                <a:spcPts val="0"/>
              </a:spcBef>
              <a:spcAft>
                <a:spcPts val="600"/>
              </a:spcAft>
              <a:buFont typeface="+mj-lt"/>
              <a:buAutoNum type="arabicPeriod"/>
            </a:pPr>
            <a:r>
              <a:rPr lang="vi" sz="2000" b="1" dirty="0">
                <a:solidFill>
                  <a:schemeClr val="bg1"/>
                </a:solidFill>
                <a:latin typeface="Cambria" panose="02040503050406030204" pitchFamily="18" charset="0"/>
                <a:ea typeface="Cambria" panose="02040503050406030204" pitchFamily="18" charset="0"/>
              </a:rPr>
              <a:t>VÒNG ĐỜI CỦA DỰ ÁN</a:t>
            </a:r>
          </a:p>
        </p:txBody>
      </p:sp>
      <p:sp>
        <p:nvSpPr>
          <p:cNvPr id="5" name="Rectangle 4">
            <a:extLst>
              <a:ext uri="{FF2B5EF4-FFF2-40B4-BE49-F238E27FC236}">
                <a16:creationId xmlns:a16="http://schemas.microsoft.com/office/drawing/2014/main" id="{A95C758D-1344-FC52-DE08-DE5407E409D5}"/>
              </a:ext>
            </a:extLst>
          </p:cNvPr>
          <p:cNvSpPr/>
          <p:nvPr/>
        </p:nvSpPr>
        <p:spPr>
          <a:xfrm>
            <a:off x="458055" y="451872"/>
            <a:ext cx="2989995" cy="523220"/>
          </a:xfrm>
          <a:prstGeom prst="rect">
            <a:avLst/>
          </a:prstGeom>
        </p:spPr>
        <p:txBody>
          <a:bodyPr wrap="square">
            <a:spAutoFit/>
          </a:bodyPr>
          <a:lstStyle/>
          <a:p>
            <a:r>
              <a:rPr lang="vi" sz="2800" b="1" dirty="0">
                <a:solidFill>
                  <a:schemeClr val="accent5"/>
                </a:solidFill>
                <a:latin typeface="Cambria" panose="02040503050406030204" pitchFamily="18" charset="0"/>
                <a:ea typeface="Cambria" panose="02040503050406030204" pitchFamily="18" charset="0"/>
              </a:rPr>
              <a:t>NỘI DUNG</a:t>
            </a:r>
          </a:p>
        </p:txBody>
      </p:sp>
    </p:spTree>
    <p:extLst>
      <p:ext uri="{BB962C8B-B14F-4D97-AF65-F5344CB8AC3E}">
        <p14:creationId xmlns:p14="http://schemas.microsoft.com/office/powerpoint/2010/main" val="2758415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400110"/>
          </a:xfrm>
          <a:prstGeom prst="rect">
            <a:avLst/>
          </a:prstGeom>
          <a:noFill/>
        </p:spPr>
        <p:txBody>
          <a:bodyPr wrap="square">
            <a:spAutoFit/>
          </a:bodyPr>
          <a:lstStyle/>
          <a:p>
            <a:pPr>
              <a:spcAft>
                <a:spcPts val="600"/>
              </a:spcAft>
            </a:pPr>
            <a:r>
              <a:rPr lang="vi" sz="2000" b="1" dirty="0">
                <a:solidFill>
                  <a:schemeClr val="accent2">
                    <a:lumMod val="75000"/>
                  </a:schemeClr>
                </a:solidFill>
                <a:latin typeface="Cambria" panose="02040503050406030204" pitchFamily="18" charset="0"/>
                <a:ea typeface="Cambria" panose="02040503050406030204" pitchFamily="18" charset="0"/>
              </a:rPr>
              <a:t>1. DỰ ÁN LÀ GÌ?</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vi" altLang="en-US" sz="2000" b="1" dirty="0">
                <a:solidFill>
                  <a:schemeClr val="bg1"/>
                </a:solidFill>
                <a:latin typeface="Cambria" panose="02040503050406030204" pitchFamily="18" charset="0"/>
                <a:ea typeface="Cambria" panose="02040503050406030204" pitchFamily="18" charset="0"/>
              </a:rPr>
              <a:t>Dự án</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vi" altLang="en-US" sz="1800" dirty="0">
                <a:solidFill>
                  <a:schemeClr val="bg1"/>
                </a:solidFill>
                <a:latin typeface="Cambria" panose="02040503050406030204" pitchFamily="18" charset="0"/>
                <a:ea typeface="Cambria" panose="02040503050406030204" pitchFamily="18" charset="0"/>
              </a:rPr>
              <a:t> </a:t>
            </a:r>
            <a:r>
              <a:rPr lang="vi" altLang="en-US" sz="1400" dirty="0">
                <a:solidFill>
                  <a:schemeClr val="bg1"/>
                </a:solidFill>
                <a:latin typeface="Cambria" panose="02040503050406030204" pitchFamily="18" charset="0"/>
                <a:ea typeface="Cambria" panose="02040503050406030204" pitchFamily="18" charset="0"/>
              </a:rPr>
              <a:t>— </a:t>
            </a:r>
            <a:r>
              <a:rPr lang="vi" altLang="en-US" sz="1400" i="1" dirty="0">
                <a:solidFill>
                  <a:schemeClr val="bg1"/>
                </a:solidFill>
                <a:latin typeface="Cambria" panose="02040503050406030204" pitchFamily="18" charset="0"/>
                <a:ea typeface="Cambria" panose="02040503050406030204" pitchFamily="18" charset="0"/>
              </a:rPr>
              <a:t>PMBOK®</a:t>
            </a:r>
            <a:r>
              <a:rPr lang="vi" altLang="en-US" sz="14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5" y="929468"/>
            <a:ext cx="7490444" cy="1200329"/>
          </a:xfrm>
          <a:prstGeom prst="rect">
            <a:avLst/>
          </a:prstGeom>
          <a:noFill/>
        </p:spPr>
        <p:txBody>
          <a:bodyPr wrap="square">
            <a:spAutoFit/>
          </a:bodyPr>
          <a:lstStyle/>
          <a:p>
            <a:pPr algn="just"/>
            <a:r>
              <a:rPr lang="vi" dirty="0">
                <a:latin typeface="Cambria" panose="02040503050406030204" pitchFamily="18" charset="0"/>
                <a:ea typeface="Cambria" panose="02040503050406030204" pitchFamily="18" charset="0"/>
              </a:rPr>
              <a:t>Viện Quản lý Dự án (PMI) định nghĩa “dự án” là “một nỗ lực </a:t>
            </a: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thời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hạn</a:t>
            </a:r>
            <a:r>
              <a:rPr lang="en-US" dirty="0">
                <a:latin typeface="Cambria" panose="02040503050406030204" pitchFamily="18" charset="0"/>
                <a:ea typeface="Cambria" panose="02040503050406030204" pitchFamily="18" charset="0"/>
              </a:rPr>
              <a:t> </a:t>
            </a:r>
            <a:r>
              <a:rPr lang="en-US" i="1" dirty="0">
                <a:latin typeface="Cambria" panose="02040503050406030204" pitchFamily="18" charset="0"/>
                <a:ea typeface="Cambria" panose="02040503050406030204" pitchFamily="18" charset="0"/>
              </a:rPr>
              <a:t>(</a:t>
            </a:r>
            <a:r>
              <a:rPr lang="en-US" altLang="en-US" i="1" dirty="0">
                <a:latin typeface="Cambria" panose="02040503050406030204" pitchFamily="18" charset="0"/>
                <a:ea typeface="Cambria" panose="02040503050406030204" pitchFamily="18" charset="0"/>
              </a:rPr>
              <a:t>temporary endeavor) </a:t>
            </a:r>
            <a:r>
              <a:rPr lang="vi" dirty="0">
                <a:latin typeface="Cambria" panose="02040503050406030204" pitchFamily="18" charset="0"/>
                <a:ea typeface="Cambria" panose="02040503050406030204" pitchFamily="18" charset="0"/>
              </a:rPr>
              <a:t>được thực hiện để tạo ra một sản phẩm, dịch vụ hoặc kết quả </a:t>
            </a:r>
            <a:r>
              <a:rPr lang="en-US" dirty="0" err="1">
                <a:latin typeface="Cambria" panose="02040503050406030204" pitchFamily="18" charset="0"/>
                <a:ea typeface="Cambria" panose="02040503050406030204" pitchFamily="18" charset="0"/>
              </a:rPr>
              <a:t>cụ</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thể</a:t>
            </a:r>
            <a:r>
              <a:rPr lang="vi"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 </a:t>
            </a:r>
            <a:endParaRPr lang="vi" dirty="0">
              <a:highlight>
                <a:srgbClr val="FFFF00"/>
              </a:highlight>
              <a:latin typeface="Cambria" panose="02040503050406030204" pitchFamily="18" charset="0"/>
              <a:ea typeface="Cambria" panose="02040503050406030204" pitchFamily="18" charset="0"/>
            </a:endParaRPr>
          </a:p>
          <a:p>
            <a:pPr lvl="1">
              <a:buClr>
                <a:schemeClr val="accent2">
                  <a:lumMod val="75000"/>
                </a:schemeClr>
              </a:buClr>
            </a:pPr>
            <a:endParaRPr lang="en-US"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F1F9323D-D97C-6FD6-77AF-FB5B293E8796}"/>
              </a:ext>
            </a:extLst>
          </p:cNvPr>
          <p:cNvPicPr>
            <a:picLocks noChangeAspect="1"/>
          </p:cNvPicPr>
          <p:nvPr/>
        </p:nvPicPr>
        <p:blipFill>
          <a:blip r:embed="rId3"/>
          <a:stretch>
            <a:fillRect/>
          </a:stretch>
        </p:blipFill>
        <p:spPr>
          <a:xfrm>
            <a:off x="400172" y="2398066"/>
            <a:ext cx="6868484" cy="3982006"/>
          </a:xfrm>
          <a:prstGeom prst="rect">
            <a:avLst/>
          </a:prstGeom>
        </p:spPr>
      </p:pic>
    </p:spTree>
    <p:extLst>
      <p:ext uri="{BB962C8B-B14F-4D97-AF65-F5344CB8AC3E}">
        <p14:creationId xmlns:p14="http://schemas.microsoft.com/office/powerpoint/2010/main" val="2115531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DỰ ÁN LÀ GÌ?</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vi" altLang="en-US" sz="2000" b="1" dirty="0">
                <a:solidFill>
                  <a:schemeClr val="bg1"/>
                </a:solidFill>
                <a:latin typeface="Cambria" panose="02040503050406030204" pitchFamily="18" charset="0"/>
                <a:ea typeface="Cambria" panose="02040503050406030204" pitchFamily="18" charset="0"/>
              </a:rPr>
              <a:t>Dự án</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vi" altLang="en-US" sz="1800" i="1" dirty="0">
                <a:solidFill>
                  <a:schemeClr val="bg1"/>
                </a:solidFill>
                <a:latin typeface="Cambria" panose="02040503050406030204" pitchFamily="18" charset="0"/>
                <a:ea typeface="Cambria" panose="02040503050406030204" pitchFamily="18" charset="0"/>
              </a:rPr>
              <a:t>“Một nỗ lực tạm thời được thực hiện để tạo ra một sản phẩm, dịch vụ hoặc kết quả độc đáo”</a:t>
            </a:r>
          </a:p>
          <a:p>
            <a:pPr lvl="3" algn="r" eaLnBrk="1" hangingPunct="1">
              <a:spcBef>
                <a:spcPct val="20000"/>
              </a:spcBef>
              <a:buClr>
                <a:srgbClr val="005789"/>
              </a:buClr>
            </a:pPr>
            <a:r>
              <a:rPr lang="vi" altLang="en-US" sz="1800" dirty="0">
                <a:solidFill>
                  <a:schemeClr val="bg1"/>
                </a:solidFill>
                <a:latin typeface="Cambria" panose="02040503050406030204" pitchFamily="18" charset="0"/>
                <a:ea typeface="Cambria" panose="02040503050406030204" pitchFamily="18" charset="0"/>
              </a:rPr>
              <a:t>— </a:t>
            </a:r>
            <a:r>
              <a:rPr lang="vi" altLang="en-US" sz="1800" i="1" dirty="0">
                <a:solidFill>
                  <a:schemeClr val="bg1"/>
                </a:solidFill>
                <a:latin typeface="Cambria" panose="02040503050406030204" pitchFamily="18" charset="0"/>
                <a:ea typeface="Cambria" panose="02040503050406030204" pitchFamily="18" charset="0"/>
              </a:rPr>
              <a:t>PMBOK®</a:t>
            </a:r>
            <a:r>
              <a:rPr lang="vi"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929468"/>
            <a:ext cx="11574037" cy="4801314"/>
          </a:xfrm>
          <a:prstGeom prst="rect">
            <a:avLst/>
          </a:prstGeom>
          <a:noFill/>
        </p:spPr>
        <p:txBody>
          <a:bodyPr wrap="square">
            <a:spAutoFit/>
          </a:bodyPr>
          <a:lstStyle/>
          <a:p>
            <a:pPr algn="just"/>
            <a:r>
              <a:rPr lang="vi" b="1" dirty="0">
                <a:latin typeface="Cambria" panose="02040503050406030204" pitchFamily="18" charset="0"/>
                <a:ea typeface="Cambria" panose="02040503050406030204" pitchFamily="18" charset="0"/>
              </a:rPr>
              <a:t>Có một vài </a:t>
            </a:r>
            <a:r>
              <a:rPr lang="en-US" b="1" dirty="0" err="1">
                <a:latin typeface="Cambria" panose="02040503050406030204" pitchFamily="18" charset="0"/>
                <a:ea typeface="Cambria" panose="02040503050406030204" pitchFamily="18" charset="0"/>
              </a:rPr>
              <a:t>diểm</a:t>
            </a:r>
            <a:r>
              <a:rPr lang="vi" b="1" dirty="0">
                <a:latin typeface="Cambria" panose="02040503050406030204" pitchFamily="18" charset="0"/>
                <a:ea typeface="Cambria" panose="02040503050406030204" pitchFamily="18" charset="0"/>
              </a:rPr>
              <a:t> quan trọng cần lưu ý </a:t>
            </a:r>
            <a:r>
              <a:rPr lang="en-US" b="1" dirty="0">
                <a:latin typeface="Cambria" panose="02040503050406030204" pitchFamily="18" charset="0"/>
                <a:ea typeface="Cambria" panose="02040503050406030204" pitchFamily="18" charset="0"/>
              </a:rPr>
              <a:t> </a:t>
            </a:r>
            <a:endParaRPr lang="vi" b="1" dirty="0">
              <a:latin typeface="Cambria" panose="02040503050406030204" pitchFamily="18" charset="0"/>
              <a:ea typeface="Cambria" panose="02040503050406030204" pitchFamily="18" charset="0"/>
            </a:endParaRPr>
          </a:p>
          <a:p>
            <a:pPr marL="742950" lvl="1" indent="-285750" algn="jus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Từ “tạm thời” có nghĩa là các dự án phải có thời điểm bắt đầu và kết thúc được xác định. Điều này có nghĩa là mọi dự án phải bao gồm </a:t>
            </a:r>
            <a:r>
              <a:rPr lang="vi" b="1" dirty="0">
                <a:latin typeface="Cambria" panose="02040503050406030204" pitchFamily="18" charset="0"/>
                <a:ea typeface="Cambria" panose="02040503050406030204" pitchFamily="18" charset="0"/>
              </a:rPr>
              <a:t>mốc thời gian, phạm vi và nguồn lực</a:t>
            </a:r>
            <a:r>
              <a:rPr lang="en-US" b="1" dirty="0">
                <a:latin typeface="Cambria" panose="02040503050406030204" pitchFamily="18" charset="0"/>
                <a:ea typeface="Cambria" panose="02040503050406030204" pitchFamily="18" charset="0"/>
              </a:rPr>
              <a:t>.</a:t>
            </a:r>
          </a:p>
          <a:p>
            <a:pPr marL="742950" lvl="1" indent="-285750" algn="jus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Mục đích của một dự án phải là “tạo ra một sản phẩm, dịch vụ hoặc kết quả </a:t>
            </a:r>
            <a:r>
              <a:rPr lang="en-US" dirty="0" err="1">
                <a:latin typeface="Cambria" panose="02040503050406030204" pitchFamily="18" charset="0"/>
                <a:ea typeface="Cambria" panose="02040503050406030204" pitchFamily="18" charset="0"/>
              </a:rPr>
              <a:t>cụ</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thể</a:t>
            </a:r>
            <a:r>
              <a:rPr lang="vi" dirty="0">
                <a:latin typeface="Cambria" panose="02040503050406030204" pitchFamily="18" charset="0"/>
                <a:ea typeface="Cambria" panose="02040503050406030204" pitchFamily="18" charset="0"/>
              </a:rPr>
              <a:t>”. Điều này có nghĩa là một dự án sẽ được </a:t>
            </a:r>
            <a:r>
              <a:rPr lang="vi" b="1" dirty="0">
                <a:latin typeface="Cambria" panose="02040503050406030204" pitchFamily="18" charset="0"/>
                <a:ea typeface="Cambria" panose="02040503050406030204" pitchFamily="18" charset="0"/>
              </a:rPr>
              <a:t>bắt đầu để hoàn thành một mục tiêu cụ thể </a:t>
            </a:r>
            <a:r>
              <a:rPr lang="vi" dirty="0">
                <a:latin typeface="Cambria" panose="02040503050406030204" pitchFamily="18" charset="0"/>
                <a:ea typeface="Cambria" panose="02040503050406030204" pitchFamily="18" charset="0"/>
              </a:rPr>
              <a:t>thường nằm ngoài phạm vi hoạt động kinh doanh hàng ngày thông thường. Điều này có nghĩa là nhóm dự án có thể bao gồm những người không thường làm việc cùng nhau và yêu cầu các nguồn lực thường nằm ngoài phạm vi hoạt động hàng ngày.</a:t>
            </a:r>
          </a:p>
          <a:p>
            <a:pPr algn="just"/>
            <a:endParaRPr lang="en-US" dirty="0">
              <a:latin typeface="Cambria" panose="02040503050406030204" pitchFamily="18" charset="0"/>
              <a:ea typeface="Cambria" panose="02040503050406030204" pitchFamily="18" charset="0"/>
            </a:endParaRPr>
          </a:p>
          <a:p>
            <a:pPr algn="just"/>
            <a:r>
              <a:rPr lang="vi" dirty="0">
                <a:latin typeface="Cambria" panose="02040503050406030204" pitchFamily="18" charset="0"/>
                <a:ea typeface="Cambria" panose="02040503050406030204" pitchFamily="18" charset="0"/>
              </a:rPr>
              <a:t>Mỗi dự án phải có các thành phần sau</a:t>
            </a:r>
          </a:p>
          <a:p>
            <a:pPr marL="742950" lvl="1" indent="-285750">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Mục tiêu: Bạn đang cố gắng đạt được điều gì?</a:t>
            </a:r>
          </a:p>
          <a:p>
            <a:pPr marL="742950" lvl="1" indent="-285750">
              <a:buClr>
                <a:schemeClr val="accent2">
                  <a:lumMod val="75000"/>
                </a:schemeClr>
              </a:buClr>
              <a:buFont typeface="Wingdings" panose="05000000000000000000" pitchFamily="2" charset="2"/>
              <a:buChar char="§"/>
            </a:pPr>
            <a:r>
              <a:rPr lang="en-US" dirty="0">
                <a:latin typeface="Cambria" panose="02040503050406030204" pitchFamily="18" charset="0"/>
                <a:ea typeface="Cambria" panose="02040503050406030204" pitchFamily="18" charset="0"/>
              </a:rPr>
              <a:t>T</a:t>
            </a:r>
            <a:r>
              <a:rPr lang="vi" dirty="0">
                <a:latin typeface="Cambria" panose="02040503050406030204" pitchFamily="18" charset="0"/>
                <a:ea typeface="Cambria" panose="02040503050406030204" pitchFamily="18" charset="0"/>
              </a:rPr>
              <a:t>hời gian: Bạn đang cố gắng đạt được mục tiêu đó khi nào?</a:t>
            </a:r>
          </a:p>
          <a:p>
            <a:pPr marL="742950" lvl="1" indent="-285750">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Ngân sách: Cần bao nhiêu chi phí để đạt được mục tiêu?</a:t>
            </a:r>
          </a:p>
          <a:p>
            <a:pPr marL="742950" lvl="1" indent="-285750">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Các bên liên quan: </a:t>
            </a:r>
            <a:r>
              <a:rPr lang="en-US" dirty="0">
                <a:latin typeface="Cambria" panose="02040503050406030204" pitchFamily="18" charset="0"/>
                <a:ea typeface="Cambria" panose="02040503050406030204" pitchFamily="18" charset="0"/>
              </a:rPr>
              <a:t>N</a:t>
            </a:r>
            <a:r>
              <a:rPr lang="vi" dirty="0">
                <a:latin typeface="Cambria" panose="02040503050406030204" pitchFamily="18" charset="0"/>
                <a:ea typeface="Cambria" panose="02040503050406030204" pitchFamily="18" charset="0"/>
              </a:rPr>
              <a:t>hững bên có liên quan chính đến dự án này?</a:t>
            </a:r>
          </a:p>
          <a:p>
            <a:pPr marL="742950" lvl="1" indent="-285750">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Quản lý dự án: Ai sẽ đảm bảo mọi thứ cần hoàn thành đều được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hiện</a:t>
            </a:r>
            <a:r>
              <a:rPr lang="vi" dirty="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a:p>
            <a:pPr lvl="1">
              <a:buClr>
                <a:schemeClr val="accent2">
                  <a:lumMod val="75000"/>
                </a:schemeClr>
              </a:buClr>
            </a:pPr>
            <a:endParaRPr lang="vi" dirty="0">
              <a:latin typeface="Cambria" panose="02040503050406030204" pitchFamily="18" charset="0"/>
              <a:ea typeface="Cambria" panose="02040503050406030204" pitchFamily="18" charset="0"/>
            </a:endParaRPr>
          </a:p>
          <a:p>
            <a:pPr algn="just"/>
            <a:r>
              <a:rPr lang="vi" dirty="0">
                <a:latin typeface="Cambria" panose="02040503050406030204" pitchFamily="18" charset="0"/>
                <a:ea typeface="Cambria" panose="02040503050406030204" pitchFamily="18" charset="0"/>
              </a:rPr>
              <a:t>Một dự án không phải là thứ gì đó thường lệ. Hoạt động và bảo trì hàng ngày không được coi là dự án vì chúng không có điểm bắt đầu và kết thúc rõ ràng.</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1410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400110"/>
          </a:xfrm>
          <a:prstGeom prst="rect">
            <a:avLst/>
          </a:prstGeom>
          <a:noFill/>
        </p:spPr>
        <p:txBody>
          <a:bodyPr wrap="square">
            <a:spAutoFit/>
          </a:bodyPr>
          <a:lstStyle/>
          <a:p>
            <a:pPr>
              <a:spcAft>
                <a:spcPts val="600"/>
              </a:spcAft>
            </a:pPr>
            <a:r>
              <a:rPr lang="vi" sz="2000" b="1" dirty="0">
                <a:solidFill>
                  <a:schemeClr val="accent2">
                    <a:lumMod val="75000"/>
                  </a:schemeClr>
                </a:solidFill>
                <a:latin typeface="Cambria" panose="02040503050406030204" pitchFamily="18" charset="0"/>
                <a:ea typeface="Cambria" panose="02040503050406030204" pitchFamily="18" charset="0"/>
              </a:rPr>
              <a:t>2. QUẢN LÝ DỰ ÁN LÀ GÌ?</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2800767"/>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 management </a:t>
            </a:r>
            <a:endParaRPr lang="en-US" altLang="en-US" sz="1800" b="1" dirty="0">
              <a:solidFill>
                <a:schemeClr val="bg1"/>
              </a:solidFill>
              <a:latin typeface="Cambria" panose="02040503050406030204" pitchFamily="18" charset="0"/>
              <a:ea typeface="Cambria" panose="02040503050406030204" pitchFamily="18" charset="0"/>
            </a:endParaRPr>
          </a:p>
          <a:p>
            <a:pPr marL="0" indent="0" algn="r">
              <a:spcBef>
                <a:spcPct val="100000"/>
              </a:spcBef>
              <a:buNone/>
            </a:pPr>
            <a:r>
              <a:rPr lang="en-US" sz="2000" i="1" dirty="0">
                <a:solidFill>
                  <a:schemeClr val="bg1"/>
                </a:solidFill>
                <a:latin typeface="Cambria" panose="02040503050406030204" pitchFamily="18" charset="0"/>
                <a:ea typeface="Cambria" panose="02040503050406030204" pitchFamily="18" charset="0"/>
              </a:rPr>
              <a:t>“the application of knowledge, skills, tools and techniques to project activities to meet project requirements” </a:t>
            </a:r>
          </a:p>
          <a:p>
            <a:pPr marL="0" indent="0" algn="r">
              <a:spcBef>
                <a:spcPct val="100000"/>
              </a:spcBef>
              <a:buNone/>
            </a:pPr>
            <a:r>
              <a:rPr lang="en-US" altLang="en-US" sz="1400" dirty="0">
                <a:solidFill>
                  <a:schemeClr val="bg1"/>
                </a:solidFill>
                <a:latin typeface="Cambria" panose="02040503050406030204" pitchFamily="18" charset="0"/>
                <a:ea typeface="Cambria" panose="02040503050406030204" pitchFamily="18" charset="0"/>
              </a:rPr>
              <a:t>— </a:t>
            </a:r>
            <a:r>
              <a:rPr lang="en-US" sz="1400" dirty="0">
                <a:solidFill>
                  <a:schemeClr val="bg1"/>
                </a:solidFill>
                <a:latin typeface="Cambria" panose="02040503050406030204" pitchFamily="18" charset="0"/>
                <a:ea typeface="Cambria" panose="02040503050406030204" pitchFamily="18" charset="0"/>
              </a:rPr>
              <a:t>(PMBOK® Guide, Fourth Edition, 2012)</a:t>
            </a:r>
          </a:p>
          <a:p>
            <a:pPr lvl="3" algn="r" eaLnBrk="1" hangingPunct="1">
              <a:spcBef>
                <a:spcPct val="20000"/>
              </a:spcBef>
              <a:buClr>
                <a:srgbClr val="005789"/>
              </a:buClr>
            </a:pPr>
            <a:r>
              <a:rPr lang="en-US" altLang="en-US" sz="2000" b="1" dirty="0">
                <a:solidFill>
                  <a:schemeClr val="bg1"/>
                </a:solidFill>
                <a:latin typeface="Cambria" panose="02040503050406030204" pitchFamily="18" charset="0"/>
                <a:ea typeface="Cambria" panose="02040503050406030204" pitchFamily="18" charset="0"/>
              </a:rPr>
              <a:t>®</a:t>
            </a:r>
          </a:p>
        </p:txBody>
      </p:sp>
      <p:sp>
        <p:nvSpPr>
          <p:cNvPr id="3" name="TextBox 2">
            <a:extLst>
              <a:ext uri="{FF2B5EF4-FFF2-40B4-BE49-F238E27FC236}">
                <a16:creationId xmlns:a16="http://schemas.microsoft.com/office/drawing/2014/main" id="{DFE714B9-5A5F-472B-6C92-566A3A41D434}"/>
              </a:ext>
            </a:extLst>
          </p:cNvPr>
          <p:cNvSpPr txBox="1"/>
          <p:nvPr/>
        </p:nvSpPr>
        <p:spPr>
          <a:xfrm>
            <a:off x="339355" y="929468"/>
            <a:ext cx="7490444" cy="4401205"/>
          </a:xfrm>
          <a:prstGeom prst="rect">
            <a:avLst/>
          </a:prstGeom>
          <a:noFill/>
        </p:spPr>
        <p:txBody>
          <a:bodyPr wrap="square">
            <a:spAutoFit/>
          </a:bodyPr>
          <a:lstStyle/>
          <a:p>
            <a:pPr algn="just"/>
            <a:r>
              <a:rPr lang="vi" dirty="0">
                <a:latin typeface="Cambria" panose="02040503050406030204" pitchFamily="18" charset="0"/>
                <a:ea typeface="Cambria" panose="02040503050406030204" pitchFamily="18" charset="0"/>
              </a:rPr>
              <a:t>“Quản lý dự án là hoạt động áp dụng kiến thức, kỹ năng, công cụ và kỹ thuật để hoàn thành một dự án theo các yêu cầu cụ thể.”</a:t>
            </a:r>
          </a:p>
          <a:p>
            <a:pPr algn="just"/>
            <a:endParaRPr lang="en-US" dirty="0">
              <a:latin typeface="Cambria" panose="02040503050406030204" pitchFamily="18" charset="0"/>
              <a:ea typeface="Cambria" panose="02040503050406030204" pitchFamily="18" charset="0"/>
            </a:endParaRPr>
          </a:p>
          <a:p>
            <a:pPr algn="l"/>
            <a:r>
              <a:rPr lang="vi" b="1" dirty="0">
                <a:latin typeface="Cambria" panose="02040503050406030204" pitchFamily="18" charset="0"/>
                <a:ea typeface="Cambria" panose="02040503050406030204" pitchFamily="18" charset="0"/>
              </a:rPr>
              <a:t>Các giai đoạn quản lý dự án là gì?</a:t>
            </a:r>
          </a:p>
          <a:p>
            <a:pPr algn="l"/>
            <a:r>
              <a:rPr lang="vi" dirty="0">
                <a:latin typeface="Cambria" panose="02040503050406030204" pitchFamily="18" charset="0"/>
                <a:ea typeface="Cambria" panose="02040503050406030204" pitchFamily="18" charset="0"/>
              </a:rPr>
              <a:t>Năm nhóm quy trình quản lý dự án là:</a:t>
            </a:r>
          </a:p>
          <a:p>
            <a:pPr marL="742950" lvl="1" indent="-285750" algn="just">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Khởi tạo: Mục tiêu của giai đoạn này là xác định dự án.</a:t>
            </a:r>
          </a:p>
          <a:p>
            <a:pPr marL="742950" lvl="1" indent="-285750" algn="just">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Lập kế hoạch: Giai đoạn này bao gồm việc xây dựng lộ trình để mọi </a:t>
            </a:r>
            <a:r>
              <a:rPr lang="en-US" dirty="0" err="1">
                <a:latin typeface="Cambria" panose="02040503050406030204" pitchFamily="18" charset="0"/>
                <a:ea typeface="Cambria" panose="02040503050406030204" pitchFamily="18" charset="0"/>
              </a:rPr>
              <a:t>thành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vi" dirty="0">
                <a:latin typeface="Cambria" panose="02040503050406030204" pitchFamily="18" charset="0"/>
                <a:ea typeface="Cambria" panose="02040503050406030204" pitchFamily="18" charset="0"/>
              </a:rPr>
              <a:t> tuân theo.</a:t>
            </a:r>
          </a:p>
          <a:p>
            <a:pPr marL="742950" lvl="1" indent="-285750" algn="just">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Thực hiện và giám sát: Trong giai đoạn này, nhóm dự án được xây dựng và các sản phẩm được tạo ra. Các nhà quản lý dự án (PM) sẽ giám sát và đo lường hiệu suất của dự án để đảm bảo dự án đi đúng hướng.</a:t>
            </a:r>
          </a:p>
          <a:p>
            <a:pPr marL="742950" lvl="1" indent="-285750" algn="just">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Kết thúc: Dự án hoàn thành, tiến hành tổng kết và chuyển giao dự án cho nhóm khác để tiếp tục duy trì.</a:t>
            </a:r>
          </a:p>
          <a:p>
            <a:pPr algn="just"/>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50066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QUẢN LÝ DỰ ÁN LÀ GÌ?</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vi" altLang="en-US" sz="2000" b="1" dirty="0">
                <a:solidFill>
                  <a:schemeClr val="bg1"/>
                </a:solidFill>
                <a:latin typeface="Cambria" panose="02040503050406030204" pitchFamily="18" charset="0"/>
                <a:ea typeface="Cambria" panose="02040503050406030204" pitchFamily="18" charset="0"/>
              </a:rPr>
              <a:t>Dự án</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vi" altLang="en-US" sz="1800" i="1" dirty="0">
                <a:solidFill>
                  <a:schemeClr val="bg1"/>
                </a:solidFill>
                <a:latin typeface="Cambria" panose="02040503050406030204" pitchFamily="18" charset="0"/>
                <a:ea typeface="Cambria" panose="02040503050406030204" pitchFamily="18" charset="0"/>
              </a:rPr>
              <a:t>“Một nỗ lực tạm thời được thực hiện để tạo ra một sản phẩm, dịch vụ hoặc kết quả độc đáo”</a:t>
            </a:r>
          </a:p>
          <a:p>
            <a:pPr lvl="3" algn="r" eaLnBrk="1" hangingPunct="1">
              <a:spcBef>
                <a:spcPct val="20000"/>
              </a:spcBef>
              <a:buClr>
                <a:srgbClr val="005789"/>
              </a:buClr>
            </a:pPr>
            <a:r>
              <a:rPr lang="vi" altLang="en-US" sz="1800" dirty="0">
                <a:solidFill>
                  <a:schemeClr val="bg1"/>
                </a:solidFill>
                <a:latin typeface="Cambria" panose="02040503050406030204" pitchFamily="18" charset="0"/>
                <a:ea typeface="Cambria" panose="02040503050406030204" pitchFamily="18" charset="0"/>
              </a:rPr>
              <a:t>— </a:t>
            </a:r>
            <a:r>
              <a:rPr lang="vi" altLang="en-US" sz="1800" i="1" dirty="0">
                <a:solidFill>
                  <a:schemeClr val="bg1"/>
                </a:solidFill>
                <a:latin typeface="Cambria" panose="02040503050406030204" pitchFamily="18" charset="0"/>
                <a:ea typeface="Cambria" panose="02040503050406030204" pitchFamily="18" charset="0"/>
              </a:rPr>
              <a:t>PMBOK®</a:t>
            </a:r>
            <a:r>
              <a:rPr lang="vi"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5" y="929468"/>
            <a:ext cx="7490444" cy="3170099"/>
          </a:xfrm>
          <a:prstGeom prst="rect">
            <a:avLst/>
          </a:prstGeom>
          <a:noFill/>
        </p:spPr>
        <p:txBody>
          <a:bodyPr wrap="square">
            <a:spAutoFit/>
          </a:bodyPr>
          <a:lstStyle/>
          <a:p>
            <a:r>
              <a:rPr lang="vi" b="1" dirty="0">
                <a:latin typeface="Cambria" panose="02040503050406030204" pitchFamily="18" charset="0"/>
                <a:ea typeface="Cambria" panose="02040503050406030204" pitchFamily="18" charset="0"/>
              </a:rPr>
              <a:t>Ưu điểm của Quản lý dự án</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Kiểm soát tốt hơn các nguồn lực tài chính, vật chất và nhân lực</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Cải thiện quan hệ khách hàng</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Thời gian phát triển ngắn hơn</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Chi phí thấp hơn</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Chất lượng cao hơn và độ tin cậy được tăng lên</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Biên lợi nhuận cao hơn</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Năng suất được cải thiện</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Phối hợp nội bộ tốt hơn</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Tinh thần làm việc của người lao động cao hơn</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028275DE-7A85-2691-E487-56EB2B725DBC}"/>
              </a:ext>
            </a:extLst>
          </p:cNvPr>
          <p:cNvPicPr>
            <a:picLocks noChangeAspect="1"/>
          </p:cNvPicPr>
          <p:nvPr/>
        </p:nvPicPr>
        <p:blipFill>
          <a:blip r:embed="rId2"/>
          <a:stretch>
            <a:fillRect/>
          </a:stretch>
        </p:blipFill>
        <p:spPr>
          <a:xfrm>
            <a:off x="7831913" y="2483073"/>
            <a:ext cx="4020732" cy="3722505"/>
          </a:xfrm>
          <a:prstGeom prst="rect">
            <a:avLst/>
          </a:prstGeom>
        </p:spPr>
      </p:pic>
    </p:spTree>
    <p:extLst>
      <p:ext uri="{BB962C8B-B14F-4D97-AF65-F5344CB8AC3E}">
        <p14:creationId xmlns:p14="http://schemas.microsoft.com/office/powerpoint/2010/main" val="3746850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QUẢN LÝ DỰ ÁN LÀ GÌ?</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vi" altLang="en-US" sz="2000" b="1" dirty="0">
                <a:solidFill>
                  <a:schemeClr val="bg1"/>
                </a:solidFill>
                <a:latin typeface="Cambria" panose="02040503050406030204" pitchFamily="18" charset="0"/>
                <a:ea typeface="Cambria" panose="02040503050406030204" pitchFamily="18" charset="0"/>
              </a:rPr>
              <a:t>Dự án</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vi" altLang="en-US" sz="1800" i="1" dirty="0">
                <a:solidFill>
                  <a:schemeClr val="bg1"/>
                </a:solidFill>
                <a:latin typeface="Cambria" panose="02040503050406030204" pitchFamily="18" charset="0"/>
                <a:ea typeface="Cambria" panose="02040503050406030204" pitchFamily="18" charset="0"/>
              </a:rPr>
              <a:t>“Một nỗ lực tạm thời được thực hiện để tạo ra một sản phẩm, dịch vụ hoặc kết quả độc đáo”</a:t>
            </a:r>
          </a:p>
          <a:p>
            <a:pPr lvl="3" algn="r" eaLnBrk="1" hangingPunct="1">
              <a:spcBef>
                <a:spcPct val="20000"/>
              </a:spcBef>
              <a:buClr>
                <a:srgbClr val="005789"/>
              </a:buClr>
            </a:pPr>
            <a:r>
              <a:rPr lang="vi" altLang="en-US" sz="1800" dirty="0">
                <a:solidFill>
                  <a:schemeClr val="bg1"/>
                </a:solidFill>
                <a:latin typeface="Cambria" panose="02040503050406030204" pitchFamily="18" charset="0"/>
                <a:ea typeface="Cambria" panose="02040503050406030204" pitchFamily="18" charset="0"/>
              </a:rPr>
              <a:t>— </a:t>
            </a:r>
            <a:r>
              <a:rPr lang="vi" altLang="en-US" sz="1800" i="1" dirty="0">
                <a:solidFill>
                  <a:schemeClr val="bg1"/>
                </a:solidFill>
                <a:latin typeface="Cambria" panose="02040503050406030204" pitchFamily="18" charset="0"/>
                <a:ea typeface="Cambria" panose="02040503050406030204" pitchFamily="18" charset="0"/>
              </a:rPr>
              <a:t>PMBOK®</a:t>
            </a:r>
            <a:r>
              <a:rPr lang="vi"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929468"/>
            <a:ext cx="11538395" cy="4285789"/>
          </a:xfrm>
          <a:prstGeom prst="rect">
            <a:avLst/>
          </a:prstGeom>
          <a:noFill/>
        </p:spPr>
        <p:txBody>
          <a:bodyPr wrap="square">
            <a:spAutoFit/>
          </a:bodyPr>
          <a:lstStyle/>
          <a:p>
            <a:r>
              <a:rPr lang="en-US" sz="1700" b="1" dirty="0">
                <a:latin typeface="Cambria" panose="02040503050406030204" pitchFamily="18" charset="0"/>
                <a:ea typeface="Cambria" panose="02040503050406030204" pitchFamily="18" charset="0"/>
              </a:rPr>
              <a:t>M</a:t>
            </a:r>
            <a:r>
              <a:rPr lang="vi" sz="1700" b="1" dirty="0">
                <a:latin typeface="Cambria" panose="02040503050406030204" pitchFamily="18" charset="0"/>
                <a:ea typeface="Cambria" panose="02040503050406030204" pitchFamily="18" charset="0"/>
              </a:rPr>
              <a:t>ột số lợi ích </a:t>
            </a:r>
            <a:r>
              <a:rPr lang="en-US" sz="1700" b="1" dirty="0" err="1">
                <a:latin typeface="Cambria" panose="02040503050406030204" pitchFamily="18" charset="0"/>
                <a:ea typeface="Cambria" panose="02040503050406030204" pitchFamily="18" charset="0"/>
              </a:rPr>
              <a:t>của</a:t>
            </a:r>
            <a:r>
              <a:rPr lang="en-US" sz="1700" b="1" dirty="0">
                <a:latin typeface="Cambria" panose="02040503050406030204" pitchFamily="18" charset="0"/>
                <a:ea typeface="Cambria" panose="02040503050406030204" pitchFamily="18" charset="0"/>
              </a:rPr>
              <a:t> </a:t>
            </a:r>
            <a:r>
              <a:rPr lang="vi" sz="1700" b="1" dirty="0">
                <a:latin typeface="Cambria" panose="02040503050406030204" pitchFamily="18" charset="0"/>
                <a:ea typeface="Cambria" panose="02040503050406030204" pitchFamily="18" charset="0"/>
              </a:rPr>
              <a:t>việc sử dụng quản lý dự án:</a:t>
            </a:r>
          </a:p>
          <a:p>
            <a:pPr marL="742950" lvl="1" indent="-285750" algn="just">
              <a:spcAft>
                <a:spcPts val="300"/>
              </a:spcAft>
              <a:buClr>
                <a:schemeClr val="accent2">
                  <a:lumMod val="75000"/>
                </a:schemeClr>
              </a:buClr>
              <a:buFont typeface="Wingdings" panose="05000000000000000000" pitchFamily="2" charset="2"/>
              <a:buChar char="§"/>
            </a:pPr>
            <a:r>
              <a:rPr lang="vi" sz="1700" dirty="0">
                <a:latin typeface="Cambria" panose="02040503050406030204" pitchFamily="18" charset="0"/>
                <a:ea typeface="Cambria" panose="02040503050406030204" pitchFamily="18" charset="0"/>
              </a:rPr>
              <a:t>Các dự án là cần thiết cho sự phát triển của tổ chức và quản lý dự án là tập hợp các công cụ cho phép các dự án đạt được tiêu chí thành công.</a:t>
            </a:r>
          </a:p>
          <a:p>
            <a:pPr marL="742950" lvl="1" indent="-285750" algn="just">
              <a:spcAft>
                <a:spcPts val="300"/>
              </a:spcAft>
              <a:buClr>
                <a:schemeClr val="accent2">
                  <a:lumMod val="75000"/>
                </a:schemeClr>
              </a:buClr>
              <a:buFont typeface="Wingdings" panose="05000000000000000000" pitchFamily="2" charset="2"/>
              <a:buChar char="§"/>
            </a:pPr>
            <a:r>
              <a:rPr lang="vi" sz="1700" dirty="0">
                <a:latin typeface="Cambria" panose="02040503050406030204" pitchFamily="18" charset="0"/>
                <a:ea typeface="Cambria" panose="02040503050406030204" pitchFamily="18" charset="0"/>
              </a:rPr>
              <a:t>Quản lý dự án có thể cho phép một tổ chức sản xuất nhiều loại sản phẩm hơn với cùng một mức nguồn lực.</a:t>
            </a:r>
          </a:p>
          <a:p>
            <a:pPr marL="742950" lvl="1" indent="-285750" algn="just">
              <a:spcAft>
                <a:spcPts val="300"/>
              </a:spcAft>
              <a:buClr>
                <a:schemeClr val="accent2">
                  <a:lumMod val="75000"/>
                </a:schemeClr>
              </a:buClr>
              <a:buFont typeface="Wingdings" panose="05000000000000000000" pitchFamily="2" charset="2"/>
              <a:buChar char="§"/>
            </a:pPr>
            <a:r>
              <a:rPr lang="vi" sz="1700" dirty="0">
                <a:latin typeface="Cambria" panose="02040503050406030204" pitchFamily="18" charset="0"/>
                <a:ea typeface="Cambria" panose="02040503050406030204" pitchFamily="18" charset="0"/>
              </a:rPr>
              <a:t>Quản lý dự án nội bộ khuyến khích những người có chức năng nói chuyện với nhau và chia sẻ mục đích chung. Nó phá vỡ, ít nhất là ở một mức độ nào đó, ranh giới chức năng ngăn cách các đơn vị chức năng khác nhau với nhau.</a:t>
            </a:r>
          </a:p>
          <a:p>
            <a:pPr marL="742950" lvl="1" indent="-285750" algn="just">
              <a:spcAft>
                <a:spcPts val="300"/>
              </a:spcAft>
              <a:buClr>
                <a:schemeClr val="accent2">
                  <a:lumMod val="75000"/>
                </a:schemeClr>
              </a:buClr>
              <a:buFont typeface="Wingdings" panose="05000000000000000000" pitchFamily="2" charset="2"/>
              <a:buChar char="§"/>
            </a:pPr>
            <a:r>
              <a:rPr lang="vi" sz="1700" dirty="0">
                <a:latin typeface="Cambria" panose="02040503050406030204" pitchFamily="18" charset="0"/>
                <a:ea typeface="Cambria" panose="02040503050406030204" pitchFamily="18" charset="0"/>
              </a:rPr>
              <a:t>Quản lý dự án có thể khuyến khích một tổ chức phát triển sản phẩm mới nhanh hơn. Các sáng kiến, nghiên cứu và phát triển thường có thể được phát triển nhanh hơn khi có sự hiện diện của các nhóm dự án đa ngành.</a:t>
            </a:r>
          </a:p>
          <a:p>
            <a:pPr marL="742950" lvl="1" indent="-285750" algn="just">
              <a:spcAft>
                <a:spcPts val="300"/>
              </a:spcAft>
              <a:buClr>
                <a:schemeClr val="accent2">
                  <a:lumMod val="75000"/>
                </a:schemeClr>
              </a:buClr>
              <a:buFont typeface="Wingdings" panose="05000000000000000000" pitchFamily="2" charset="2"/>
              <a:buChar char="§"/>
            </a:pPr>
            <a:r>
              <a:rPr lang="vi" sz="1700" dirty="0">
                <a:latin typeface="Cambria" panose="02040503050406030204" pitchFamily="18" charset="0"/>
                <a:ea typeface="Cambria" panose="02040503050406030204" pitchFamily="18" charset="0"/>
              </a:rPr>
              <a:t>Người quản lý dự án xem xét toàn bộ vòng đời của dự án và tư vấn về mọi khía cạnh của vòng đời đó.</a:t>
            </a:r>
          </a:p>
          <a:p>
            <a:pPr marL="742950" lvl="1" indent="-285750" algn="just">
              <a:spcAft>
                <a:spcPts val="300"/>
              </a:spcAft>
              <a:buClr>
                <a:schemeClr val="accent2">
                  <a:lumMod val="75000"/>
                </a:schemeClr>
              </a:buClr>
              <a:buFont typeface="Wingdings" panose="05000000000000000000" pitchFamily="2" charset="2"/>
              <a:buChar char="§"/>
            </a:pPr>
            <a:r>
              <a:rPr lang="vi" sz="1700" dirty="0">
                <a:latin typeface="Cambria" panose="02040503050406030204" pitchFamily="18" charset="0"/>
                <a:ea typeface="Cambria" panose="02040503050406030204" pitchFamily="18" charset="0"/>
              </a:rPr>
              <a:t>Các nhóm dự án và nhóm chức năng thường cạnh tranh trên cơ sở thân thiện. Điều này có thể tốt cho tinh thần và động lực miễn là cuộc thi mang tính nhẹ nhàng.</a:t>
            </a:r>
          </a:p>
          <a:p>
            <a:pPr marL="742950" lvl="1" indent="-285750" algn="just">
              <a:spcAft>
                <a:spcPts val="300"/>
              </a:spcAft>
              <a:buClr>
                <a:schemeClr val="accent2">
                  <a:lumMod val="75000"/>
                </a:schemeClr>
              </a:buClr>
              <a:buFont typeface="Wingdings" panose="05000000000000000000" pitchFamily="2" charset="2"/>
              <a:buChar char="§"/>
            </a:pPr>
            <a:r>
              <a:rPr lang="vi" sz="1700" dirty="0">
                <a:latin typeface="Cambria" panose="02040503050406030204" pitchFamily="18" charset="0"/>
                <a:ea typeface="Cambria" panose="02040503050406030204" pitchFamily="18" charset="0"/>
              </a:rPr>
              <a:t>Quản lý dự án hỗ trợ quản lý thay đổi hiệu quả. Nó cho phép các tổ chức xử lý các dự án phức tạp và có độ dung sai thấp, nếu không sẽ quá rủi ro.</a:t>
            </a:r>
          </a:p>
          <a:p>
            <a:pPr marL="742950" lvl="1" indent="-285750" algn="just">
              <a:spcAft>
                <a:spcPts val="300"/>
              </a:spcAft>
              <a:buClr>
                <a:schemeClr val="accent2">
                  <a:lumMod val="75000"/>
                </a:schemeClr>
              </a:buClr>
              <a:buFont typeface="Wingdings" panose="05000000000000000000" pitchFamily="2" charset="2"/>
              <a:buChar char="§"/>
            </a:pPr>
            <a:r>
              <a:rPr lang="vi" sz="1700" dirty="0">
                <a:latin typeface="Cambria" panose="02040503050406030204" pitchFamily="18" charset="0"/>
                <a:ea typeface="Cambria" panose="02040503050406030204" pitchFamily="18" charset="0"/>
              </a:rPr>
              <a:t>Khả năng cân bằng nhiều tiêu chí thành công trong khi vẫn hướng dự án tới vùng mục tiêu có kết quả chấp nhận được mang lại cho người quản lý dự án sự linh hoạt to lớn trong việc tìm kiếm kết quả tốt nhất cho dự án.</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183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QUẢN LÝ DỰ ÁN LÀ GÌ?</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vi" altLang="en-US" sz="2000" b="1" dirty="0">
                <a:solidFill>
                  <a:schemeClr val="bg1"/>
                </a:solidFill>
                <a:latin typeface="Cambria" panose="02040503050406030204" pitchFamily="18" charset="0"/>
                <a:ea typeface="Cambria" panose="02040503050406030204" pitchFamily="18" charset="0"/>
              </a:rPr>
              <a:t>Dự án</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vi" altLang="en-US" sz="1800" i="1" dirty="0">
                <a:solidFill>
                  <a:schemeClr val="bg1"/>
                </a:solidFill>
                <a:latin typeface="Cambria" panose="02040503050406030204" pitchFamily="18" charset="0"/>
                <a:ea typeface="Cambria" panose="02040503050406030204" pitchFamily="18" charset="0"/>
              </a:rPr>
              <a:t>“Một nỗ lực tạm thời được thực hiện để tạo ra một sản phẩm, dịch vụ hoặc kết quả độc đáo”</a:t>
            </a:r>
          </a:p>
          <a:p>
            <a:pPr lvl="3" algn="r" eaLnBrk="1" hangingPunct="1">
              <a:spcBef>
                <a:spcPct val="20000"/>
              </a:spcBef>
              <a:buClr>
                <a:srgbClr val="005789"/>
              </a:buClr>
            </a:pPr>
            <a:r>
              <a:rPr lang="vi" altLang="en-US" sz="1800" dirty="0">
                <a:solidFill>
                  <a:schemeClr val="bg1"/>
                </a:solidFill>
                <a:latin typeface="Cambria" panose="02040503050406030204" pitchFamily="18" charset="0"/>
                <a:ea typeface="Cambria" panose="02040503050406030204" pitchFamily="18" charset="0"/>
              </a:rPr>
              <a:t>— </a:t>
            </a:r>
            <a:r>
              <a:rPr lang="vi" altLang="en-US" sz="1800" i="1" dirty="0">
                <a:solidFill>
                  <a:schemeClr val="bg1"/>
                </a:solidFill>
                <a:latin typeface="Cambria" panose="02040503050406030204" pitchFamily="18" charset="0"/>
                <a:ea typeface="Cambria" panose="02040503050406030204" pitchFamily="18" charset="0"/>
              </a:rPr>
              <a:t>PMBOK®</a:t>
            </a:r>
            <a:r>
              <a:rPr lang="vi"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929468"/>
            <a:ext cx="11574037" cy="4316566"/>
          </a:xfrm>
          <a:prstGeom prst="rect">
            <a:avLst/>
          </a:prstGeom>
          <a:noFill/>
        </p:spPr>
        <p:txBody>
          <a:bodyPr wrap="square">
            <a:spAutoFit/>
          </a:bodyPr>
          <a:lstStyle/>
          <a:p>
            <a:r>
              <a:rPr lang="vi" b="1" dirty="0">
                <a:latin typeface="Cambria" panose="02040503050406030204" pitchFamily="18" charset="0"/>
                <a:ea typeface="Cambria" panose="02040503050406030204" pitchFamily="18" charset="0"/>
              </a:rPr>
              <a:t>Trách nhiệm của Quản lý dự án</a:t>
            </a:r>
          </a:p>
          <a:p>
            <a:pPr algn="l"/>
            <a:r>
              <a:rPr lang="vi" dirty="0">
                <a:latin typeface="Cambria" panose="02040503050406030204" pitchFamily="18" charset="0"/>
                <a:ea typeface="Cambria" panose="02040503050406030204" pitchFamily="18" charset="0"/>
              </a:rPr>
              <a:t>Người quản lý dự án chịu trách nhiệm giám sát một dự án từ đầu đến cuối. Trách nhiệm của người quản lý dự án bao gồm:</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Lên kế hoạch cho dự án</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Tạo lịch trình và mốc thời gian</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Thực hiện từng giai đoạn</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Quản lý ngân sách</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Hoạt động như một cầu nối giữa tất cả các bên liên quan</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Xử lý sự cố và bảo trì</a:t>
            </a:r>
            <a:endParaRPr lang="en-US" dirty="0">
              <a:latin typeface="Cambria" panose="02040503050406030204" pitchFamily="18" charset="0"/>
              <a:ea typeface="Cambria" panose="02040503050406030204" pitchFamily="18" charset="0"/>
            </a:endParaRPr>
          </a:p>
          <a:p>
            <a:pPr lvl="1">
              <a:spcAft>
                <a:spcPts val="300"/>
              </a:spcAft>
              <a:buClr>
                <a:schemeClr val="accent2">
                  <a:lumMod val="75000"/>
                </a:schemeClr>
              </a:buClr>
            </a:pPr>
            <a:endParaRPr lang="vi" dirty="0">
              <a:latin typeface="Cambria" panose="02040503050406030204" pitchFamily="18" charset="0"/>
              <a:ea typeface="Cambria" panose="02040503050406030204" pitchFamily="18" charset="0"/>
            </a:endParaRPr>
          </a:p>
          <a:p>
            <a:pPr marL="0" lvl="1">
              <a:spcAft>
                <a:spcPts val="300"/>
              </a:spcAft>
              <a:buClr>
                <a:schemeClr val="accent2">
                  <a:lumMod val="75000"/>
                </a:schemeClr>
              </a:buClr>
            </a:pPr>
            <a:r>
              <a:rPr lang="vi" dirty="0">
                <a:latin typeface="Cambria" panose="02040503050406030204" pitchFamily="18" charset="0"/>
                <a:ea typeface="Cambria" panose="02040503050406030204" pitchFamily="18" charset="0"/>
              </a:rPr>
              <a:t>Người quản lý dự án phải có tính tổ chức cao, chú ý đến chi tiết và sở hữu kỹ năng giao tiếp </a:t>
            </a:r>
            <a:r>
              <a:rPr lang="en-US" dirty="0" err="1">
                <a:latin typeface="Cambria" panose="02040503050406030204" pitchFamily="18" charset="0"/>
                <a:ea typeface="Cambria" panose="02040503050406030204" pitchFamily="18" charset="0"/>
              </a:rPr>
              <a:t>rất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tốt</a:t>
            </a:r>
            <a:r>
              <a:rPr lang="en-US" dirty="0">
                <a:latin typeface="Cambria" panose="02040503050406030204" pitchFamily="18" charset="0"/>
                <a:ea typeface="Cambria" panose="02040503050406030204" pitchFamily="18" charset="0"/>
              </a:rPr>
              <a:t> – </a:t>
            </a:r>
            <a:r>
              <a:rPr lang="vi" dirty="0">
                <a:latin typeface="Cambria" panose="02040503050406030204" pitchFamily="18" charset="0"/>
                <a:ea typeface="Cambria" panose="02040503050406030204" pitchFamily="18" charset="0"/>
              </a:rPr>
              <a:t>có trách nhiệm lãnh đạo nhóm và giao tiếp rõ ràng, thường xuyên với tất cả các bên liên quan.</a:t>
            </a:r>
          </a:p>
          <a:p>
            <a:pPr marL="0" lvl="1">
              <a:spcAft>
                <a:spcPts val="300"/>
              </a:spcAft>
              <a:buClr>
                <a:schemeClr val="accent2">
                  <a:lumMod val="75000"/>
                </a:schemeClr>
              </a:buClr>
            </a:pPr>
            <a:endParaRPr lang="en-US" b="1" dirty="0">
              <a:solidFill>
                <a:schemeClr val="accent1"/>
              </a:solidFill>
              <a:latin typeface="Cambria" panose="02040503050406030204" pitchFamily="18" charset="0"/>
              <a:ea typeface="Cambria" panose="02040503050406030204" pitchFamily="18" charset="0"/>
            </a:endParaRPr>
          </a:p>
          <a:p>
            <a:pPr marL="0" lvl="1">
              <a:spcAft>
                <a:spcPts val="300"/>
              </a:spcAft>
              <a:buClr>
                <a:schemeClr val="accent2">
                  <a:lumMod val="75000"/>
                </a:schemeClr>
              </a:buClr>
            </a:pPr>
            <a:r>
              <a:rPr lang="en-US" b="1" dirty="0">
                <a:solidFill>
                  <a:schemeClr val="accent1"/>
                </a:solidFill>
                <a:latin typeface="Cambria" panose="02040503050406030204" pitchFamily="18" charset="0"/>
                <a:ea typeface="Cambria" panose="02040503050406030204" pitchFamily="18" charset="0"/>
              </a:rPr>
              <a:t>PM: n</a:t>
            </a:r>
            <a:r>
              <a:rPr lang="vi" b="1" dirty="0">
                <a:solidFill>
                  <a:schemeClr val="accent1"/>
                </a:solidFill>
                <a:latin typeface="Cambria" panose="02040503050406030204" pitchFamily="18" charset="0"/>
                <a:ea typeface="Cambria" panose="02040503050406030204" pitchFamily="18" charset="0"/>
              </a:rPr>
              <a:t>gười chịu trách nhiệm cuối cùng cho sự thành công của dự án</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1554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QUẢN LÝ DỰ ÁN LÀ GÌ?</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vi" altLang="en-US" sz="2000" b="1" dirty="0">
                <a:solidFill>
                  <a:schemeClr val="bg1"/>
                </a:solidFill>
                <a:latin typeface="Cambria" panose="02040503050406030204" pitchFamily="18" charset="0"/>
                <a:ea typeface="Cambria" panose="02040503050406030204" pitchFamily="18" charset="0"/>
              </a:rPr>
              <a:t>Dự án</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vi" altLang="en-US" sz="1800" i="1" dirty="0">
                <a:solidFill>
                  <a:schemeClr val="bg1"/>
                </a:solidFill>
                <a:latin typeface="Cambria" panose="02040503050406030204" pitchFamily="18" charset="0"/>
                <a:ea typeface="Cambria" panose="02040503050406030204" pitchFamily="18" charset="0"/>
              </a:rPr>
              <a:t>“Một nỗ lực tạm thời được thực hiện để tạo ra một sản phẩm, dịch vụ hoặc kết quả độc đáo”</a:t>
            </a:r>
          </a:p>
          <a:p>
            <a:pPr lvl="3" algn="r" eaLnBrk="1" hangingPunct="1">
              <a:spcBef>
                <a:spcPct val="20000"/>
              </a:spcBef>
              <a:buClr>
                <a:srgbClr val="005789"/>
              </a:buClr>
            </a:pPr>
            <a:r>
              <a:rPr lang="vi" altLang="en-US" sz="1800" dirty="0">
                <a:solidFill>
                  <a:schemeClr val="bg1"/>
                </a:solidFill>
                <a:latin typeface="Cambria" panose="02040503050406030204" pitchFamily="18" charset="0"/>
                <a:ea typeface="Cambria" panose="02040503050406030204" pitchFamily="18" charset="0"/>
              </a:rPr>
              <a:t>— </a:t>
            </a:r>
            <a:r>
              <a:rPr lang="vi" altLang="en-US" sz="1800" i="1" dirty="0">
                <a:solidFill>
                  <a:schemeClr val="bg1"/>
                </a:solidFill>
                <a:latin typeface="Cambria" panose="02040503050406030204" pitchFamily="18" charset="0"/>
                <a:ea typeface="Cambria" panose="02040503050406030204" pitchFamily="18" charset="0"/>
              </a:rPr>
              <a:t>PMBOK®</a:t>
            </a:r>
            <a:r>
              <a:rPr lang="vi" altLang="en-US" sz="1800" i="1" baseline="30000" dirty="0"/>
              <a:t>​</a:t>
            </a:r>
            <a:endParaRPr lang="en-US" altLang="en-US" sz="1800" dirty="0"/>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FFC3A8BE-2D6B-C846-0035-EAE38BA8320B}"/>
              </a:ext>
            </a:extLst>
          </p:cNvPr>
          <p:cNvPicPr>
            <a:picLocks noChangeAspect="1"/>
          </p:cNvPicPr>
          <p:nvPr/>
        </p:nvPicPr>
        <p:blipFill>
          <a:blip r:embed="rId2"/>
          <a:stretch>
            <a:fillRect/>
          </a:stretch>
        </p:blipFill>
        <p:spPr>
          <a:xfrm>
            <a:off x="390155" y="724376"/>
            <a:ext cx="5151515" cy="5130799"/>
          </a:xfrm>
          <a:prstGeom prst="rect">
            <a:avLst/>
          </a:prstGeom>
        </p:spPr>
      </p:pic>
      <p:sp>
        <p:nvSpPr>
          <p:cNvPr id="9" name="TextBox 8">
            <a:extLst>
              <a:ext uri="{FF2B5EF4-FFF2-40B4-BE49-F238E27FC236}">
                <a16:creationId xmlns:a16="http://schemas.microsoft.com/office/drawing/2014/main" id="{E2536B9F-9E56-ABED-0D2D-22F18B5BB10A}"/>
              </a:ext>
            </a:extLst>
          </p:cNvPr>
          <p:cNvSpPr txBox="1"/>
          <p:nvPr/>
        </p:nvSpPr>
        <p:spPr>
          <a:xfrm>
            <a:off x="5705845" y="704056"/>
            <a:ext cx="6096000" cy="5039841"/>
          </a:xfrm>
          <a:prstGeom prst="rect">
            <a:avLst/>
          </a:prstGeom>
          <a:noFill/>
        </p:spPr>
        <p:txBody>
          <a:bodyPr wrap="square">
            <a:spAutoFit/>
          </a:bodyPr>
          <a:lstStyle/>
          <a:p>
            <a:pPr marL="742950" lvl="1" indent="-285750" algn="just">
              <a:spcAft>
                <a:spcPts val="300"/>
              </a:spcAft>
              <a:buClr>
                <a:schemeClr val="accent2">
                  <a:lumMod val="75000"/>
                </a:schemeClr>
              </a:buClr>
              <a:buFont typeface="Wingdings" panose="05000000000000000000" pitchFamily="2" charset="2"/>
              <a:buChar char="§"/>
            </a:pPr>
            <a:r>
              <a:rPr lang="vi" sz="1600" dirty="0">
                <a:latin typeface="Cambria" panose="02040503050406030204" pitchFamily="18" charset="0"/>
                <a:ea typeface="Cambria" panose="02040503050406030204" pitchFamily="18" charset="0"/>
              </a:rPr>
              <a:t>Người quản lý dự án bên ngoài</a:t>
            </a:r>
            <a:r>
              <a:rPr lang="en-US" sz="1600" dirty="0">
                <a:latin typeface="Cambria" panose="02040503050406030204" pitchFamily="18" charset="0"/>
                <a:ea typeface="Cambria" panose="02040503050406030204" pitchFamily="18" charset="0"/>
              </a:rPr>
              <a:t> (external)</a:t>
            </a:r>
            <a:r>
              <a:rPr lang="vi" sz="1600" dirty="0">
                <a:latin typeface="Cambria" panose="02040503050406030204" pitchFamily="18" charset="0"/>
                <a:ea typeface="Cambria" panose="02040503050406030204" pitchFamily="18" charset="0"/>
              </a:rPr>
              <a:t> được thuê để làm </a:t>
            </a:r>
            <a:r>
              <a:rPr lang="en-US" sz="1600" dirty="0" err="1">
                <a:latin typeface="Cambria" panose="02040503050406030204" pitchFamily="18" charset="0"/>
                <a:ea typeface="Cambria" panose="02040503050406030204" pitchFamily="18" charset="0"/>
              </a:rPr>
              <a:t>đại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diện</a:t>
            </a:r>
            <a:r>
              <a:rPr lang="en-US" sz="1600" dirty="0">
                <a:latin typeface="Cambria" panose="02040503050406030204" pitchFamily="18" charset="0"/>
                <a:ea typeface="Cambria" panose="02040503050406030204" pitchFamily="18" charset="0"/>
              </a:rPr>
              <a:t> </a:t>
            </a:r>
            <a:r>
              <a:rPr lang="vi" sz="1600" dirty="0">
                <a:latin typeface="Cambria" panose="02040503050406030204" pitchFamily="18" charset="0"/>
                <a:ea typeface="Cambria" panose="02040503050406030204" pitchFamily="18" charset="0"/>
              </a:rPr>
              <a:t>thay mặt cho khách hàng.</a:t>
            </a:r>
          </a:p>
          <a:p>
            <a:pPr marL="742950" lvl="1" indent="-285750" algn="just">
              <a:spcAft>
                <a:spcPts val="300"/>
              </a:spcAft>
              <a:buClr>
                <a:schemeClr val="accent2">
                  <a:lumMod val="75000"/>
                </a:schemeClr>
              </a:buClr>
              <a:buFont typeface="Wingdings" panose="05000000000000000000" pitchFamily="2" charset="2"/>
              <a:buChar char="§"/>
            </a:pPr>
            <a:r>
              <a:rPr lang="vi" sz="1600" dirty="0">
                <a:latin typeface="Cambria" panose="02040503050406030204" pitchFamily="18" charset="0"/>
                <a:ea typeface="Cambria" panose="02040503050406030204" pitchFamily="18" charset="0"/>
              </a:rPr>
              <a:t>Hình thức thay thế này có thể có lợi khi khách hàng đang tìm kiếm một số kỹ năng chuyên môn nhất định mà công ty không có.</a:t>
            </a:r>
          </a:p>
          <a:p>
            <a:pPr marL="742950" lvl="1" indent="-285750" algn="just">
              <a:spcAft>
                <a:spcPts val="300"/>
              </a:spcAft>
              <a:buClr>
                <a:schemeClr val="accent2">
                  <a:lumMod val="75000"/>
                </a:schemeClr>
              </a:buClr>
              <a:buFont typeface="Wingdings" panose="05000000000000000000" pitchFamily="2" charset="2"/>
              <a:buChar char="§"/>
            </a:pPr>
            <a:r>
              <a:rPr lang="vi" sz="1600" dirty="0">
                <a:latin typeface="Cambria" panose="02040503050406030204" pitchFamily="18" charset="0"/>
                <a:ea typeface="Cambria" panose="02040503050406030204" pitchFamily="18" charset="0"/>
              </a:rPr>
              <a:t>Cách tiếp cận này cũng có thể được sử dụng để chuyển rủi ro ra bên ngoài tổ chức.</a:t>
            </a:r>
          </a:p>
          <a:p>
            <a:pPr marL="742950" lvl="1" indent="-285750" algn="just">
              <a:spcAft>
                <a:spcPts val="300"/>
              </a:spcAft>
              <a:buClr>
                <a:schemeClr val="accent2">
                  <a:lumMod val="75000"/>
                </a:schemeClr>
              </a:buClr>
              <a:buFont typeface="Wingdings" panose="05000000000000000000" pitchFamily="2" charset="2"/>
              <a:buChar char="§"/>
            </a:pPr>
            <a:r>
              <a:rPr lang="vi" sz="1600" dirty="0">
                <a:latin typeface="Cambria" panose="02040503050406030204" pitchFamily="18" charset="0"/>
                <a:ea typeface="Cambria" panose="02040503050406030204" pitchFamily="18" charset="0"/>
              </a:rPr>
              <a:t>Người quản lý dự án bên ngoài chịu trách nhiệm giao dịch với các bên liên quan khác như nhà cung cấp và các nhà tư vấn khác.</a:t>
            </a:r>
          </a:p>
          <a:p>
            <a:pPr marL="742950" lvl="1" indent="-285750" algn="just">
              <a:spcAft>
                <a:spcPts val="300"/>
              </a:spcAft>
              <a:buClr>
                <a:schemeClr val="accent2">
                  <a:lumMod val="75000"/>
                </a:schemeClr>
              </a:buClr>
              <a:buFont typeface="Wingdings" panose="05000000000000000000" pitchFamily="2" charset="2"/>
              <a:buChar char="§"/>
            </a:pPr>
            <a:r>
              <a:rPr lang="vi" sz="1600" dirty="0">
                <a:latin typeface="Cambria" panose="02040503050406030204" pitchFamily="18" charset="0"/>
                <a:ea typeface="Cambria" panose="02040503050406030204" pitchFamily="18" charset="0"/>
              </a:rPr>
              <a:t>Người quản lý dự án bên ngoài thường được giao nhiệm vụ thông qua một số hình thức hợp đồng dịch vụ chuyên nghiệp.</a:t>
            </a:r>
          </a:p>
          <a:p>
            <a:pPr marL="742950" lvl="1" indent="-285750" algn="just">
              <a:spcAft>
                <a:spcPts val="300"/>
              </a:spcAft>
              <a:buClr>
                <a:schemeClr val="accent2">
                  <a:lumMod val="75000"/>
                </a:schemeClr>
              </a:buClr>
              <a:buFont typeface="Wingdings" panose="05000000000000000000" pitchFamily="2" charset="2"/>
              <a:buChar char="§"/>
            </a:pPr>
            <a:r>
              <a:rPr lang="vi" sz="1600" dirty="0">
                <a:latin typeface="Cambria" panose="02040503050406030204" pitchFamily="18" charset="0"/>
                <a:ea typeface="Cambria" panose="02040503050406030204" pitchFamily="18" charset="0"/>
              </a:rPr>
              <a:t>Hợp đồng thường được yêu cầu với tất cả các thành viên nhóm bên ngoài vì họ đại diện cho các tổ chức khác nhau.</a:t>
            </a:r>
          </a:p>
          <a:p>
            <a:pPr marL="742950" lvl="1" indent="-285750" algn="just">
              <a:spcAft>
                <a:spcPts val="300"/>
              </a:spcAft>
              <a:buClr>
                <a:schemeClr val="accent2">
                  <a:lumMod val="75000"/>
                </a:schemeClr>
              </a:buClr>
              <a:buFont typeface="Wingdings" panose="05000000000000000000" pitchFamily="2" charset="2"/>
              <a:buChar char="§"/>
            </a:pPr>
            <a:r>
              <a:rPr lang="vi" sz="1600" dirty="0">
                <a:latin typeface="Cambria" panose="02040503050406030204" pitchFamily="18" charset="0"/>
                <a:ea typeface="Cambria" panose="02040503050406030204" pitchFamily="18" charset="0"/>
              </a:rPr>
              <a:t>Tất cả các hợp đồng trong hệ thống thường được ký kết giữa khách hàng và nhiều nhà tư vấn khác nhau.</a:t>
            </a:r>
          </a:p>
          <a:p>
            <a:pPr marL="742950" lvl="1" indent="-285750" algn="just">
              <a:spcAft>
                <a:spcPts val="300"/>
              </a:spcAft>
              <a:buClr>
                <a:schemeClr val="accent2">
                  <a:lumMod val="75000"/>
                </a:schemeClr>
              </a:buClr>
              <a:buFont typeface="Wingdings" panose="05000000000000000000" pitchFamily="2" charset="2"/>
              <a:buChar char="§"/>
            </a:pPr>
            <a:r>
              <a:rPr lang="vi" sz="1600" dirty="0">
                <a:latin typeface="Cambria" panose="02040503050406030204" pitchFamily="18" charset="0"/>
                <a:ea typeface="Cambria" panose="02040503050406030204" pitchFamily="18" charset="0"/>
              </a:rPr>
              <a:t>Quản lý dự án bên ngoài linh hoạt hơn quản lý dự án nội bộ vì có thể thuê tư vấn bên ngoài khi cần thiết.</a:t>
            </a:r>
          </a:p>
        </p:txBody>
      </p:sp>
    </p:spTree>
    <p:extLst>
      <p:ext uri="{BB962C8B-B14F-4D97-AF65-F5344CB8AC3E}">
        <p14:creationId xmlns:p14="http://schemas.microsoft.com/office/powerpoint/2010/main" val="629731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QUẢN LÝ DỰ ÁN LÀ GÌ?</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vi" altLang="en-US" sz="2000" b="1" dirty="0">
                <a:solidFill>
                  <a:schemeClr val="bg1"/>
                </a:solidFill>
                <a:latin typeface="Cambria" panose="02040503050406030204" pitchFamily="18" charset="0"/>
                <a:ea typeface="Cambria" panose="02040503050406030204" pitchFamily="18" charset="0"/>
              </a:rPr>
              <a:t>Dự án</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vi" altLang="en-US" sz="1800" i="1" dirty="0">
                <a:solidFill>
                  <a:schemeClr val="bg1"/>
                </a:solidFill>
                <a:latin typeface="Cambria" panose="02040503050406030204" pitchFamily="18" charset="0"/>
                <a:ea typeface="Cambria" panose="02040503050406030204" pitchFamily="18" charset="0"/>
              </a:rPr>
              <a:t>“Một nỗ lực tạm thời được thực hiện để tạo ra một sản phẩm, dịch vụ hoặc kết quả độc đáo”</a:t>
            </a:r>
          </a:p>
          <a:p>
            <a:pPr lvl="3" algn="r" eaLnBrk="1" hangingPunct="1">
              <a:spcBef>
                <a:spcPct val="20000"/>
              </a:spcBef>
              <a:buClr>
                <a:srgbClr val="005789"/>
              </a:buClr>
            </a:pPr>
            <a:r>
              <a:rPr lang="vi" altLang="en-US" sz="1800" dirty="0">
                <a:solidFill>
                  <a:schemeClr val="bg1"/>
                </a:solidFill>
                <a:latin typeface="Cambria" panose="02040503050406030204" pitchFamily="18" charset="0"/>
                <a:ea typeface="Cambria" panose="02040503050406030204" pitchFamily="18" charset="0"/>
              </a:rPr>
              <a:t>— </a:t>
            </a:r>
            <a:r>
              <a:rPr lang="vi" altLang="en-US" sz="1800" i="1" dirty="0">
                <a:solidFill>
                  <a:schemeClr val="bg1"/>
                </a:solidFill>
                <a:latin typeface="Cambria" panose="02040503050406030204" pitchFamily="18" charset="0"/>
                <a:ea typeface="Cambria" panose="02040503050406030204" pitchFamily="18" charset="0"/>
              </a:rPr>
              <a:t>PMBOK®</a:t>
            </a:r>
            <a:r>
              <a:rPr lang="vi"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929468"/>
            <a:ext cx="11574037" cy="5262979"/>
          </a:xfrm>
          <a:prstGeom prst="rect">
            <a:avLst/>
          </a:prstGeom>
          <a:noFill/>
        </p:spPr>
        <p:txBody>
          <a:bodyPr wrap="square">
            <a:spAutoFit/>
          </a:bodyPr>
          <a:lstStyle/>
          <a:p>
            <a:pPr algn="l"/>
            <a:r>
              <a:rPr lang="vi" b="1" dirty="0">
                <a:latin typeface="Cambria" panose="02040503050406030204" pitchFamily="18" charset="0"/>
                <a:ea typeface="Cambria" panose="02040503050406030204" pitchFamily="18" charset="0"/>
              </a:rPr>
              <a:t>Quản lý dự án làm gì?</a:t>
            </a:r>
          </a:p>
          <a:p>
            <a:pPr algn="just"/>
            <a:r>
              <a:rPr lang="vi" sz="1500" dirty="0">
                <a:latin typeface="Cambria" panose="02040503050406030204" pitchFamily="18" charset="0"/>
                <a:ea typeface="Cambria" panose="02040503050406030204" pitchFamily="18" charset="0"/>
              </a:rPr>
              <a:t>Người quản lý dự án chịu trách nhiệm lập kế hoạch, thực hiện, giám sát, kiểm soát và hoàn thành dự án, vì vậy họ phải hiểu rõ về vấn đề này. Sau đây là một số trách nhiệm chính:</a:t>
            </a:r>
          </a:p>
          <a:p>
            <a:pPr marL="742950" lvl="1" indent="-285750" algn="just">
              <a:spcAft>
                <a:spcPts val="300"/>
              </a:spcAft>
              <a:buClr>
                <a:schemeClr val="accent2">
                  <a:lumMod val="75000"/>
                </a:schemeClr>
              </a:buClr>
              <a:buFont typeface="Wingdings" panose="05000000000000000000" pitchFamily="2" charset="2"/>
              <a:buChar char="§"/>
            </a:pPr>
            <a:r>
              <a:rPr lang="vi" sz="1500" b="1" dirty="0">
                <a:latin typeface="Cambria" panose="02040503050406030204" pitchFamily="18" charset="0"/>
                <a:ea typeface="Cambria" panose="02040503050406030204" pitchFamily="18" charset="0"/>
              </a:rPr>
              <a:t>Xây dựng kế hoạch: </a:t>
            </a:r>
            <a:r>
              <a:rPr lang="vi" sz="1500" dirty="0">
                <a:latin typeface="Cambria" panose="02040503050406030204" pitchFamily="18" charset="0"/>
                <a:ea typeface="Cambria" panose="02040503050406030204" pitchFamily="18" charset="0"/>
              </a:rPr>
              <a:t>Người quản lý dự án chịu trách nhiệm vạch ra lộ trình thực tế nhất cho dự án. Kế hoạch phải bao gồm phạm vi dự án, mốc thời gian và ngân sách. Điều này cũng có thể bao gồm việc xác định các công cụ phù hợp cho công việc.</a:t>
            </a:r>
          </a:p>
          <a:p>
            <a:pPr marL="742950" lvl="1" indent="-285750" algn="just">
              <a:spcAft>
                <a:spcPts val="300"/>
              </a:spcAft>
              <a:buClr>
                <a:schemeClr val="accent2">
                  <a:lumMod val="75000"/>
                </a:schemeClr>
              </a:buClr>
              <a:buFont typeface="Wingdings" panose="05000000000000000000" pitchFamily="2" charset="2"/>
              <a:buChar char="§"/>
            </a:pPr>
            <a:r>
              <a:rPr lang="vi" sz="1500" b="1" dirty="0">
                <a:latin typeface="Cambria" panose="02040503050406030204" pitchFamily="18" charset="0"/>
                <a:ea typeface="Cambria" panose="02040503050406030204" pitchFamily="18" charset="0"/>
              </a:rPr>
              <a:t>Tập hợp nhóm: </a:t>
            </a:r>
            <a:r>
              <a:rPr lang="vi" sz="1500" dirty="0">
                <a:latin typeface="Cambria" panose="02040503050406030204" pitchFamily="18" charset="0"/>
                <a:ea typeface="Cambria" panose="02040503050406030204" pitchFamily="18" charset="0"/>
              </a:rPr>
              <a:t>Việc xác định nhóm phù hợp là rất quan trọng. Mỗi nhóm dự án sẽ khác nhau tùy thuộc vào phạm vi sáng kiến và các chức năng cần thiết để hoàn thành dự án. Việc tìm kiếm các chuyên gia và chuyên gia về chủ đề cho từng nhiệm vụ cần thiết là lý tưởng.</a:t>
            </a:r>
          </a:p>
          <a:p>
            <a:pPr marL="742950" lvl="1" indent="-285750" algn="just">
              <a:spcAft>
                <a:spcPts val="300"/>
              </a:spcAft>
              <a:buClr>
                <a:schemeClr val="accent2">
                  <a:lumMod val="75000"/>
                </a:schemeClr>
              </a:buClr>
              <a:buFont typeface="Wingdings" panose="05000000000000000000" pitchFamily="2" charset="2"/>
              <a:buChar char="§"/>
            </a:pPr>
            <a:r>
              <a:rPr lang="vi" sz="1500" b="1" dirty="0">
                <a:latin typeface="Cambria" panose="02040503050406030204" pitchFamily="18" charset="0"/>
                <a:ea typeface="Cambria" panose="02040503050406030204" pitchFamily="18" charset="0"/>
              </a:rPr>
              <a:t>Phân công nhiệm vụ: </a:t>
            </a:r>
            <a:r>
              <a:rPr lang="vi" sz="1500" dirty="0">
                <a:latin typeface="Cambria" panose="02040503050406030204" pitchFamily="18" charset="0"/>
                <a:ea typeface="Cambria" panose="02040503050406030204" pitchFamily="18" charset="0"/>
              </a:rPr>
              <a:t>Người quản lý dự án phải cung cấp cho nhóm của mình định nghĩa rõ ràng về các nhiệm vụ cụ thể và mốc thời gian cho từng phần của dự án. Mặc dù mỗi thành viên trong nhóm sẽ chịu trách nhiệm cho nhiệm vụ của riêng mình, nhiều nhiệm vụ sẽ yêu cầu sự hợp tác từ cả thành viên trong nhóm và bên ngoài.</a:t>
            </a:r>
          </a:p>
          <a:p>
            <a:pPr marL="742950" lvl="1" indent="-285750" algn="just">
              <a:spcAft>
                <a:spcPts val="300"/>
              </a:spcAft>
              <a:buClr>
                <a:schemeClr val="accent2">
                  <a:lumMod val="75000"/>
                </a:schemeClr>
              </a:buClr>
              <a:buFont typeface="Wingdings" panose="05000000000000000000" pitchFamily="2" charset="2"/>
              <a:buChar char="§"/>
            </a:pPr>
            <a:r>
              <a:rPr lang="vi" sz="1500" b="1" dirty="0">
                <a:latin typeface="Cambria" panose="02040503050406030204" pitchFamily="18" charset="0"/>
                <a:ea typeface="Cambria" panose="02040503050406030204" pitchFamily="18" charset="0"/>
              </a:rPr>
              <a:t>Dẫn dắt nhóm: </a:t>
            </a:r>
            <a:r>
              <a:rPr lang="vi" sz="1500" dirty="0">
                <a:latin typeface="Cambria" panose="02040503050406030204" pitchFamily="18" charset="0"/>
                <a:ea typeface="Cambria" panose="02040503050406030204" pitchFamily="18" charset="0"/>
              </a:rPr>
              <a:t>Bây giờ nhóm đã được tập hợp và nhiệm vụ của họ đã được giao, người quản lý dự án phải giữ cho máy móc hoạt động trơn tru, bao gồm cả những điều cơ bản và hơn thế nữa. Điều này sẽ bao gồm việc kiểm tra các cá nhân để cập nhật trạng thái, xác định và xóa bỏ các rào cản, đàm phán bất đồng, duy trì tinh thần đồng đội cao và cung cấp đào tạo và cố vấn.</a:t>
            </a:r>
          </a:p>
          <a:p>
            <a:pPr marL="742950" lvl="1" indent="-285750" algn="just">
              <a:spcAft>
                <a:spcPts val="300"/>
              </a:spcAft>
              <a:buClr>
                <a:schemeClr val="accent2">
                  <a:lumMod val="75000"/>
                </a:schemeClr>
              </a:buClr>
              <a:buFont typeface="Wingdings" panose="05000000000000000000" pitchFamily="2" charset="2"/>
              <a:buChar char="§"/>
            </a:pPr>
            <a:r>
              <a:rPr lang="vi" sz="1500" b="1" dirty="0">
                <a:latin typeface="Cambria" panose="02040503050406030204" pitchFamily="18" charset="0"/>
                <a:ea typeface="Cambria" panose="02040503050406030204" pitchFamily="18" charset="0"/>
              </a:rPr>
              <a:t>Quản lý ngân sách: </a:t>
            </a:r>
            <a:r>
              <a:rPr lang="vi" sz="1500" dirty="0">
                <a:latin typeface="Cambria" panose="02040503050406030204" pitchFamily="18" charset="0"/>
                <a:ea typeface="Cambria" panose="02040503050406030204" pitchFamily="18" charset="0"/>
              </a:rPr>
              <a:t>Hầu hết các dự án sẽ yêu cầu một số chi phí, nghĩa là hiểu cách lập ngân sách dự án và quản lý chi phí là rất quan trọng để thành công. Điều này sẽ bao gồm việc so sánh chi phí thực tế với ước tính và điều chỉnh kế hoạch dự án nếu cần.</a:t>
            </a:r>
          </a:p>
          <a:p>
            <a:pPr marL="742950" lvl="1" indent="-285750" algn="just">
              <a:spcAft>
                <a:spcPts val="300"/>
              </a:spcAft>
              <a:buClr>
                <a:schemeClr val="accent2">
                  <a:lumMod val="75000"/>
                </a:schemeClr>
              </a:buClr>
              <a:buFont typeface="Wingdings" panose="05000000000000000000" pitchFamily="2" charset="2"/>
              <a:buChar char="§"/>
            </a:pPr>
            <a:r>
              <a:rPr lang="vi" sz="1500" b="1" dirty="0">
                <a:latin typeface="Cambria" panose="02040503050406030204" pitchFamily="18" charset="0"/>
                <a:ea typeface="Cambria" panose="02040503050406030204" pitchFamily="18" charset="0"/>
              </a:rPr>
              <a:t>Quản lý mốc thời gian: </a:t>
            </a:r>
            <a:r>
              <a:rPr lang="vi" sz="1500" dirty="0">
                <a:latin typeface="Cambria" panose="02040503050406030204" pitchFamily="18" charset="0"/>
                <a:ea typeface="Cambria" panose="02040503050406030204" pitchFamily="18" charset="0"/>
              </a:rPr>
              <a:t>Cũng giống như ngân sách, người quản lý dự án có nhiệm vụ đảm bảo mọi thứ đúng tiến độ để nhóm có thể đáp ứng được thời hạn dự kiến để hoàn thành. Điều này đòi hỏi phải đặt ra thời hạn thực tế trong suốt vòng đời của dự án, liên tục trao đổi với nhóm để cập nhật trạng thái và duy trì lịch trình chi tiết.</a:t>
            </a:r>
          </a:p>
          <a:p>
            <a:pPr marL="742950" lvl="1" indent="-285750" algn="just">
              <a:spcAft>
                <a:spcPts val="300"/>
              </a:spcAft>
              <a:buClr>
                <a:schemeClr val="accent2">
                  <a:lumMod val="75000"/>
                </a:schemeClr>
              </a:buClr>
              <a:buFont typeface="Wingdings" panose="05000000000000000000" pitchFamily="2" charset="2"/>
              <a:buChar char="§"/>
            </a:pPr>
            <a:endParaRPr lang="en-US" dirty="0">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9843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QUẢN LÝ DỰ ÁN LÀ GÌ?</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vi" altLang="en-US" sz="2000" b="1" dirty="0">
                <a:solidFill>
                  <a:schemeClr val="bg1"/>
                </a:solidFill>
                <a:latin typeface="Cambria" panose="02040503050406030204" pitchFamily="18" charset="0"/>
                <a:ea typeface="Cambria" panose="02040503050406030204" pitchFamily="18" charset="0"/>
              </a:rPr>
              <a:t>Dự án</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vi" altLang="en-US" sz="1800" i="1" dirty="0">
                <a:solidFill>
                  <a:schemeClr val="bg1"/>
                </a:solidFill>
                <a:latin typeface="Cambria" panose="02040503050406030204" pitchFamily="18" charset="0"/>
                <a:ea typeface="Cambria" panose="02040503050406030204" pitchFamily="18" charset="0"/>
              </a:rPr>
              <a:t>“Một nỗ lực tạm thời được thực hiện để tạo ra một sản phẩm, dịch vụ hoặc kết quả độc đáo”</a:t>
            </a:r>
          </a:p>
          <a:p>
            <a:pPr lvl="3" algn="r" eaLnBrk="1" hangingPunct="1">
              <a:spcBef>
                <a:spcPct val="20000"/>
              </a:spcBef>
              <a:buClr>
                <a:srgbClr val="005789"/>
              </a:buClr>
            </a:pPr>
            <a:r>
              <a:rPr lang="vi" altLang="en-US" sz="1800" dirty="0">
                <a:solidFill>
                  <a:schemeClr val="bg1"/>
                </a:solidFill>
                <a:latin typeface="Cambria" panose="02040503050406030204" pitchFamily="18" charset="0"/>
                <a:ea typeface="Cambria" panose="02040503050406030204" pitchFamily="18" charset="0"/>
              </a:rPr>
              <a:t>— </a:t>
            </a:r>
            <a:r>
              <a:rPr lang="vi" altLang="en-US" sz="1800" i="1" dirty="0">
                <a:solidFill>
                  <a:schemeClr val="bg1"/>
                </a:solidFill>
                <a:latin typeface="Cambria" panose="02040503050406030204" pitchFamily="18" charset="0"/>
                <a:ea typeface="Cambria" panose="02040503050406030204" pitchFamily="18" charset="0"/>
              </a:rPr>
              <a:t>PMBOK®</a:t>
            </a:r>
            <a:r>
              <a:rPr lang="vi"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929468"/>
            <a:ext cx="11574037" cy="5119863"/>
          </a:xfrm>
          <a:prstGeom prst="rect">
            <a:avLst/>
          </a:prstGeom>
          <a:noFill/>
        </p:spPr>
        <p:txBody>
          <a:bodyPr wrap="square">
            <a:spAutoFit/>
          </a:bodyPr>
          <a:lstStyle/>
          <a:p>
            <a:r>
              <a:rPr lang="vi" b="1" dirty="0">
                <a:latin typeface="Cambria" panose="02040503050406030204" pitchFamily="18" charset="0"/>
                <a:ea typeface="Cambria" panose="02040503050406030204" pitchFamily="18" charset="0"/>
              </a:rPr>
              <a:t>Kỹ năng và năng lực quan trọng nhất đối với Quản lý dự án</a:t>
            </a:r>
            <a:r>
              <a:rPr lang="en-US" b="1" dirty="0">
                <a:latin typeface="Cambria" panose="02040503050406030204" pitchFamily="18" charset="0"/>
                <a:ea typeface="Cambria" panose="02040503050406030204" pitchFamily="18" charset="0"/>
              </a:rPr>
              <a:t> (PM)</a:t>
            </a:r>
            <a:endParaRPr lang="vi" b="1"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(PM) </a:t>
            </a:r>
            <a:r>
              <a:rPr lang="vi" dirty="0">
                <a:latin typeface="Cambria" panose="02040503050406030204" pitchFamily="18" charset="0"/>
                <a:ea typeface="Cambria" panose="02040503050406030204" pitchFamily="18" charset="0"/>
              </a:rPr>
              <a:t>Quản lý dự án không chỉ đảm bảo các dự án được hoàn thành đúng thời hạn và trong phạm vi ngân sách mà còn phải thu hút</a:t>
            </a:r>
            <a:r>
              <a:rPr lang="en-US" dirty="0">
                <a:latin typeface="Cambria" panose="02040503050406030204" pitchFamily="18" charset="0"/>
                <a:ea typeface="Cambria" panose="02040503050406030204" pitchFamily="18" charset="0"/>
              </a:rPr>
              <a:t>, </a:t>
            </a:r>
            <a:r>
              <a:rPr lang="vi" dirty="0">
                <a:latin typeface="Cambria" panose="02040503050406030204" pitchFamily="18" charset="0"/>
                <a:ea typeface="Cambria" panose="02040503050406030204" pitchFamily="18" charset="0"/>
              </a:rPr>
              <a:t>truyền cảm hứng và khuyến khích nhóm của mình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triển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khai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đúng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yêu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cầu</a:t>
            </a:r>
            <a:r>
              <a:rPr lang="vi" dirty="0">
                <a:latin typeface="Cambria" panose="02040503050406030204" pitchFamily="18" charset="0"/>
                <a:ea typeface="Cambria" panose="02040503050406030204" pitchFamily="18" charset="0"/>
              </a:rPr>
              <a:t> cũng như </a:t>
            </a:r>
            <a:r>
              <a:rPr lang="en-US" dirty="0" err="1">
                <a:latin typeface="Cambria" panose="02040503050406030204" pitchFamily="18" charset="0"/>
                <a:ea typeface="Cambria" panose="02040503050406030204" pitchFamily="18" charset="0"/>
              </a:rPr>
              <a:t>phải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quản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lý</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tốt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về</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phía</a:t>
            </a:r>
            <a:r>
              <a:rPr lang="vi" dirty="0">
                <a:latin typeface="Cambria" panose="02040503050406030204" pitchFamily="18" charset="0"/>
                <a:ea typeface="Cambria" panose="02040503050406030204" pitchFamily="18" charset="0"/>
              </a:rPr>
              <a:t>khách hàng.</a:t>
            </a:r>
          </a:p>
          <a:p>
            <a:pPr marL="742950" lvl="1" indent="-285750">
              <a:lnSpc>
                <a:spcPct val="90000"/>
              </a:lnSpc>
              <a:spcBef>
                <a:spcPct val="20000"/>
              </a:spcBef>
              <a:spcAft>
                <a:spcPts val="300"/>
              </a:spcAft>
              <a:buClr>
                <a:schemeClr val="accent2">
                  <a:lumMod val="75000"/>
                </a:schemeClr>
              </a:buClr>
              <a:buFont typeface="Wingdings" panose="05000000000000000000" pitchFamily="2" charset="2"/>
              <a:buChar char="§"/>
            </a:pPr>
            <a:r>
              <a:rPr lang="en-US" dirty="0" err="1">
                <a:latin typeface="Cambria" panose="02040503050406030204" pitchFamily="18" charset="0"/>
                <a:ea typeface="Cambria" panose="02040503050406030204" pitchFamily="18" charset="0"/>
              </a:rPr>
              <a:t>Kỹ</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năng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giao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tiếp</a:t>
            </a:r>
            <a:endParaRPr lang="vi" dirty="0">
              <a:latin typeface="Cambria" panose="02040503050406030204" pitchFamily="18" charset="0"/>
              <a:ea typeface="Cambria" panose="02040503050406030204" pitchFamily="18" charset="0"/>
            </a:endParaRPr>
          </a:p>
          <a:p>
            <a:pPr marL="742950" lvl="1" indent="-285750">
              <a:lnSpc>
                <a:spcPct val="90000"/>
              </a:lnSpc>
              <a:spcBef>
                <a:spcPct val="20000"/>
              </a:spcBef>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Khả năng lãnh đạo</a:t>
            </a:r>
          </a:p>
          <a:p>
            <a:pPr marL="742950" lvl="1" indent="-285750">
              <a:lnSpc>
                <a:spcPct val="90000"/>
              </a:lnSpc>
              <a:spcBef>
                <a:spcPct val="20000"/>
              </a:spcBef>
              <a:spcAft>
                <a:spcPts val="300"/>
              </a:spcAft>
              <a:buClr>
                <a:schemeClr val="accent2">
                  <a:lumMod val="75000"/>
                </a:schemeClr>
              </a:buClr>
              <a:buFont typeface="Wingdings" panose="05000000000000000000" pitchFamily="2" charset="2"/>
              <a:buChar char="§"/>
            </a:pPr>
            <a:r>
              <a:rPr lang="en-US" dirty="0" err="1">
                <a:latin typeface="Cambria" panose="02040503050406030204" pitchFamily="18" charset="0"/>
                <a:ea typeface="Cambria" panose="02040503050406030204" pitchFamily="18" charset="0"/>
              </a:rPr>
              <a:t>Kỹ</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năng</a:t>
            </a:r>
            <a:r>
              <a:rPr lang="en-US" dirty="0">
                <a:latin typeface="Cambria" panose="02040503050406030204" pitchFamily="18" charset="0"/>
                <a:ea typeface="Cambria" panose="02040503050406030204" pitchFamily="18" charset="0"/>
              </a:rPr>
              <a:t> n</a:t>
            </a:r>
            <a:r>
              <a:rPr lang="vi" dirty="0">
                <a:latin typeface="Cambria" panose="02040503050406030204" pitchFamily="18" charset="0"/>
                <a:ea typeface="Cambria" panose="02040503050406030204" pitchFamily="18" charset="0"/>
              </a:rPr>
              <a:t>ghe</a:t>
            </a:r>
          </a:p>
          <a:p>
            <a:pPr marL="742950" lvl="1" indent="-285750">
              <a:lnSpc>
                <a:spcPct val="90000"/>
              </a:lnSpc>
              <a:spcBef>
                <a:spcPct val="20000"/>
              </a:spcBef>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Chính trực, đạo đức, nhất quán</a:t>
            </a:r>
          </a:p>
          <a:p>
            <a:pPr marL="742950" lvl="1" indent="-285750">
              <a:lnSpc>
                <a:spcPct val="90000"/>
              </a:lnSpc>
              <a:spcBef>
                <a:spcPct val="20000"/>
              </a:spcBef>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Mạnh mẽ trong việc xây dựng lòng tin</a:t>
            </a:r>
          </a:p>
          <a:p>
            <a:pPr marL="742950" lvl="1" indent="-285750">
              <a:lnSpc>
                <a:spcPct val="90000"/>
              </a:lnSpc>
              <a:spcBef>
                <a:spcPct val="20000"/>
              </a:spcBef>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Mạnh về xây dựng đội nhóm</a:t>
            </a:r>
          </a:p>
          <a:p>
            <a:pPr marL="742950" lvl="1" indent="-285750">
              <a:lnSpc>
                <a:spcPct val="90000"/>
              </a:lnSpc>
              <a:spcBef>
                <a:spcPct val="20000"/>
              </a:spcBef>
              <a:spcAft>
                <a:spcPts val="300"/>
              </a:spcAft>
              <a:buClr>
                <a:schemeClr val="accent2">
                  <a:lumMod val="75000"/>
                </a:schemeClr>
              </a:buClr>
              <a:buFont typeface="Wingdings" panose="05000000000000000000" pitchFamily="2" charset="2"/>
              <a:buChar char="§"/>
            </a:pPr>
            <a:r>
              <a:rPr lang="en-US" dirty="0" err="1">
                <a:latin typeface="Cambria" panose="02040503050406030204" pitchFamily="18" charset="0"/>
                <a:ea typeface="Cambria" panose="02040503050406030204" pitchFamily="18" charset="0"/>
              </a:rPr>
              <a:t>Kỹ</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năng</a:t>
            </a:r>
            <a:r>
              <a:rPr lang="en-US" dirty="0">
                <a:latin typeface="Cambria" panose="02040503050406030204" pitchFamily="18" charset="0"/>
                <a:ea typeface="Cambria" panose="02040503050406030204" pitchFamily="18" charset="0"/>
              </a:rPr>
              <a:t> g</a:t>
            </a:r>
            <a:r>
              <a:rPr lang="vi" dirty="0">
                <a:latin typeface="Cambria" panose="02040503050406030204" pitchFamily="18" charset="0"/>
                <a:ea typeface="Cambria" panose="02040503050406030204" pitchFamily="18" charset="0"/>
              </a:rPr>
              <a:t>iải quyết xung đột, quản lý xung đột</a:t>
            </a:r>
          </a:p>
          <a:p>
            <a:pPr marL="742950" lvl="1" indent="-285750">
              <a:lnSpc>
                <a:spcPct val="90000"/>
              </a:lnSpc>
              <a:spcBef>
                <a:spcPct val="20000"/>
              </a:spcBef>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Tư duy phản biện, giải quyết vấn đề</a:t>
            </a:r>
          </a:p>
          <a:p>
            <a:pPr marL="742950" lvl="1" indent="-285750">
              <a:lnSpc>
                <a:spcPct val="90000"/>
              </a:lnSpc>
              <a:spcBef>
                <a:spcPct val="20000"/>
              </a:spcBef>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Hiểu, cân bằng các ưu tiên</a:t>
            </a:r>
          </a:p>
          <a:p>
            <a:pPr algn="just"/>
            <a:r>
              <a:rPr lang="vi" dirty="0">
                <a:latin typeface="Cambria" panose="02040503050406030204" pitchFamily="18" charset="0"/>
                <a:ea typeface="Cambria" panose="02040503050406030204" pitchFamily="18" charset="0"/>
              </a:rPr>
              <a:t>Người quản lý dự án cần có khả năng tư duy phản biện mạnh mẽ để giải quyết các vấn đề khi chúng phát sinh và kỹ năng giao tiếp </a:t>
            </a:r>
            <a:r>
              <a:rPr lang="en-US" dirty="0" err="1">
                <a:latin typeface="Cambria" panose="02040503050406030204" pitchFamily="18" charset="0"/>
                <a:ea typeface="Cambria" panose="02040503050406030204" pitchFamily="18" charset="0"/>
              </a:rPr>
              <a:t>tốt</a:t>
            </a:r>
            <a:r>
              <a:rPr lang="en-US" dirty="0">
                <a:latin typeface="Cambria" panose="02040503050406030204" pitchFamily="18" charset="0"/>
                <a:ea typeface="Cambria" panose="02040503050406030204" pitchFamily="18" charset="0"/>
              </a:rPr>
              <a:t> </a:t>
            </a:r>
            <a:r>
              <a:rPr lang="vi" dirty="0">
                <a:latin typeface="Cambria" panose="02040503050406030204" pitchFamily="18" charset="0"/>
                <a:ea typeface="Cambria" panose="02040503050406030204" pitchFamily="18" charset="0"/>
              </a:rPr>
              <a:t>để đảm bảo mọi </a:t>
            </a:r>
            <a:r>
              <a:rPr lang="en-US" dirty="0" err="1">
                <a:latin typeface="Cambria" panose="02040503050406030204" pitchFamily="18" charset="0"/>
                <a:ea typeface="Cambria" panose="02040503050406030204" pitchFamily="18" charset="0"/>
              </a:rPr>
              <a:t>thành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liên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quan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vi" dirty="0">
                <a:latin typeface="Cambria" panose="02040503050406030204" pitchFamily="18" charset="0"/>
                <a:ea typeface="Cambria" panose="02040503050406030204" pitchFamily="18" charset="0"/>
              </a:rPr>
              <a:t> đều được thông báo, có động lực và tham gia.</a:t>
            </a:r>
            <a:r>
              <a:rPr lang="en-US" dirty="0">
                <a:latin typeface="Cambria" panose="02040503050406030204" pitchFamily="18" charset="0"/>
                <a:ea typeface="Cambria" panose="02040503050406030204" pitchFamily="18" charset="0"/>
              </a:rPr>
              <a:t> N</a:t>
            </a:r>
            <a:r>
              <a:rPr lang="vi" dirty="0">
                <a:latin typeface="Cambria" panose="02040503050406030204" pitchFamily="18" charset="0"/>
                <a:ea typeface="Cambria" panose="02040503050406030204" pitchFamily="18" charset="0"/>
              </a:rPr>
              <a:t>gười quản lý dự án</a:t>
            </a:r>
            <a:r>
              <a:rPr lang="en-US" dirty="0">
                <a:latin typeface="Cambria" panose="02040503050406030204" pitchFamily="18" charset="0"/>
                <a:ea typeface="Cambria" panose="02040503050406030204" pitchFamily="18" charset="0"/>
              </a:rPr>
              <a:t> (PM)</a:t>
            </a:r>
            <a:r>
              <a:rPr lang="vi" dirty="0">
                <a:latin typeface="Cambria" panose="02040503050406030204" pitchFamily="18" charset="0"/>
                <a:ea typeface="Cambria" panose="02040503050406030204" pitchFamily="18" charset="0"/>
              </a:rPr>
              <a:t> được coi là </a:t>
            </a:r>
            <a:r>
              <a:rPr lang="en-US" dirty="0" err="1">
                <a:latin typeface="Cambria" panose="02040503050406030204" pitchFamily="18" charset="0"/>
                <a:ea typeface="Cambria" panose="02040503050406030204" pitchFamily="18" charset="0"/>
              </a:rPr>
              <a:t>rất</a:t>
            </a:r>
            <a:r>
              <a:rPr lang="en-US" dirty="0">
                <a:latin typeface="Cambria" panose="02040503050406030204" pitchFamily="18" charset="0"/>
                <a:ea typeface="Cambria" panose="02040503050406030204" pitchFamily="18" charset="0"/>
              </a:rPr>
              <a:t> </a:t>
            </a:r>
            <a:r>
              <a:rPr lang="vi" dirty="0">
                <a:latin typeface="Cambria" panose="02040503050406030204" pitchFamily="18" charset="0"/>
                <a:ea typeface="Cambria" panose="02040503050406030204" pitchFamily="18" charset="0"/>
              </a:rPr>
              <a:t>quan trọng đối với sự thành công của bất kỳ dự án nào.</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4943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2" y="384176"/>
            <a:ext cx="7028417" cy="400110"/>
          </a:xfrm>
          <a:prstGeom prst="rect">
            <a:avLst/>
          </a:prstGeom>
          <a:noFill/>
        </p:spPr>
        <p:txBody>
          <a:bodyPr wrap="square">
            <a:spAutoFit/>
          </a:bodyPr>
          <a:lstStyle/>
          <a:p>
            <a:pPr>
              <a:spcAft>
                <a:spcPts val="600"/>
              </a:spcAft>
            </a:pPr>
            <a:r>
              <a:rPr lang="vi" sz="2000" b="1" dirty="0">
                <a:solidFill>
                  <a:schemeClr val="accent2">
                    <a:lumMod val="75000"/>
                  </a:schemeClr>
                </a:solidFill>
                <a:latin typeface="Cambria" panose="02040503050406030204" pitchFamily="18" charset="0"/>
                <a:ea typeface="Cambria" panose="02040503050406030204" pitchFamily="18" charset="0"/>
              </a:rPr>
              <a:t>3. CÁC LĨNH VỰC CHÍNH CỦA QUẢN LÝ DỰ ÁN</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3170099"/>
          </a:xfrm>
          <a:prstGeom prst="rect">
            <a:avLst/>
          </a:prstGeom>
          <a:noFill/>
        </p:spPr>
        <p:txBody>
          <a:bodyPr wrap="square">
            <a:spAutoFit/>
          </a:bodyPr>
          <a:lstStyle/>
          <a:p>
            <a:pPr eaLnBrk="1" hangingPunct="1">
              <a:spcBef>
                <a:spcPct val="20000"/>
              </a:spcBef>
            </a:pPr>
            <a:r>
              <a:rPr lang="en-US" sz="2800" b="1" dirty="0">
                <a:solidFill>
                  <a:schemeClr val="bg1"/>
                </a:solidFill>
                <a:latin typeface="Cambria" panose="02040503050406030204" pitchFamily="18" charset="0"/>
                <a:ea typeface="Cambria" panose="02040503050406030204" pitchFamily="18" charset="0"/>
              </a:rPr>
              <a:t>Key functional areas</a:t>
            </a:r>
          </a:p>
          <a:p>
            <a:pPr eaLnBrk="1" hangingPunct="1">
              <a:spcBef>
                <a:spcPct val="20000"/>
              </a:spcBef>
            </a:pPr>
            <a:endParaRPr lang="en-US" sz="2000" i="1" dirty="0">
              <a:solidFill>
                <a:schemeClr val="bg1"/>
              </a:solidFill>
              <a:latin typeface="Cambria" panose="02040503050406030204" pitchFamily="18" charset="0"/>
              <a:ea typeface="Cambria" panose="02040503050406030204" pitchFamily="18" charset="0"/>
            </a:endParaRPr>
          </a:p>
          <a:p>
            <a:pPr algn="r"/>
            <a:r>
              <a:rPr lang="en-US" sz="2000" i="1" dirty="0">
                <a:solidFill>
                  <a:schemeClr val="bg1"/>
                </a:solidFill>
                <a:latin typeface="Cambria" panose="02040503050406030204" pitchFamily="18" charset="0"/>
                <a:ea typeface="Cambria" panose="02040503050406030204" pitchFamily="18" charset="0"/>
              </a:rPr>
              <a:t> A look at project management from the perspective of the individual processes involved. These processes can be organized into functional areas</a:t>
            </a:r>
          </a:p>
          <a:p>
            <a:pPr marL="285750" indent="-285750" algn="r">
              <a:buFont typeface="Wingdings" panose="05000000000000000000" pitchFamily="2" charset="2"/>
              <a:buChar char="§"/>
            </a:pPr>
            <a:endParaRPr lang="en-US" altLang="en-US" sz="1600" i="1" dirty="0">
              <a:solidFill>
                <a:schemeClr val="bg1"/>
              </a:solidFill>
              <a:latin typeface="Cambria" panose="02040503050406030204" pitchFamily="18" charset="0"/>
              <a:ea typeface="Cambria" panose="02040503050406030204" pitchFamily="18" charset="0"/>
            </a:endParaRPr>
          </a:p>
          <a:p>
            <a:pPr marL="285750" indent="-285750" algn="r">
              <a:spcBef>
                <a:spcPct val="100000"/>
              </a:spcBef>
              <a:buFont typeface="Wingdings" panose="05000000000000000000" pitchFamily="2" charset="2"/>
              <a:buChar char="§"/>
            </a:pPr>
            <a:endParaRPr lang="en-US" altLang="en-US" sz="1600" i="1" dirty="0">
              <a:solidFill>
                <a:schemeClr val="bg1"/>
              </a:solidFill>
              <a:latin typeface="Cambria" panose="02040503050406030204" pitchFamily="18" charset="0"/>
              <a:ea typeface="Cambria" panose="02040503050406030204" pitchFamily="18" charset="0"/>
            </a:endParaRPr>
          </a:p>
        </p:txBody>
      </p:sp>
      <p:pic>
        <p:nvPicPr>
          <p:cNvPr id="3" name="Picture 2" descr="A pie chart with text on it&#10;&#10;Description automatically generated">
            <a:extLst>
              <a:ext uri="{FF2B5EF4-FFF2-40B4-BE49-F238E27FC236}">
                <a16:creationId xmlns:a16="http://schemas.microsoft.com/office/drawing/2014/main" id="{F905D823-C054-DE80-1399-19DD49D134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056" y="2803300"/>
            <a:ext cx="5412564" cy="3767145"/>
          </a:xfrm>
          <a:prstGeom prst="rect">
            <a:avLst/>
          </a:prstGeom>
        </p:spPr>
      </p:pic>
      <p:sp>
        <p:nvSpPr>
          <p:cNvPr id="5" name="TextBox 4">
            <a:extLst>
              <a:ext uri="{FF2B5EF4-FFF2-40B4-BE49-F238E27FC236}">
                <a16:creationId xmlns:a16="http://schemas.microsoft.com/office/drawing/2014/main" id="{B8B59E5B-C16C-889E-9E02-2197AA778FB8}"/>
              </a:ext>
            </a:extLst>
          </p:cNvPr>
          <p:cNvSpPr txBox="1"/>
          <p:nvPr/>
        </p:nvSpPr>
        <p:spPr>
          <a:xfrm>
            <a:off x="337582" y="855074"/>
            <a:ext cx="7492217" cy="1477328"/>
          </a:xfrm>
          <a:prstGeom prst="rect">
            <a:avLst/>
          </a:prstGeom>
          <a:noFill/>
        </p:spPr>
        <p:txBody>
          <a:bodyPr wrap="square">
            <a:spAutoFit/>
          </a:bodyPr>
          <a:lstStyle/>
          <a:p>
            <a:pPr algn="just"/>
            <a:r>
              <a:rPr lang="vi" dirty="0">
                <a:latin typeface="Cambria" panose="02040503050406030204" pitchFamily="18" charset="0"/>
                <a:ea typeface="Cambria" panose="02040503050406030204" pitchFamily="18" charset="0"/>
              </a:rPr>
              <a:t>Các </a:t>
            </a:r>
            <a:r>
              <a:rPr lang="en-US" dirty="0" err="1">
                <a:latin typeface="Cambria" panose="02040503050406030204" pitchFamily="18" charset="0"/>
                <a:ea typeface="Cambria" panose="02040503050406030204" pitchFamily="18" charset="0"/>
              </a:rPr>
              <a:t>mảng</a:t>
            </a:r>
            <a:r>
              <a:rPr lang="vi" dirty="0">
                <a:latin typeface="Cambria" panose="02040503050406030204" pitchFamily="18" charset="0"/>
                <a:ea typeface="Cambria" panose="02040503050406030204" pitchFamily="18" charset="0"/>
              </a:rPr>
              <a:t> chức năng được hình thành tùy thuộc vào quy mô, cấu trúc, mức độ phức tạp, v.v.</a:t>
            </a:r>
            <a:r>
              <a:rPr lang="en-US" dirty="0">
                <a:latin typeface="Cambria" panose="02040503050406030204" pitchFamily="18" charset="0"/>
                <a:ea typeface="Cambria" panose="02040503050406030204" pitchFamily="18" charset="0"/>
              </a:rPr>
              <a:t> </a:t>
            </a:r>
            <a:r>
              <a:rPr lang="vi" dirty="0">
                <a:latin typeface="Cambria" panose="02040503050406030204" pitchFamily="18" charset="0"/>
                <a:ea typeface="Cambria" panose="02040503050406030204" pitchFamily="18" charset="0"/>
              </a:rPr>
              <a:t>của dự án</a:t>
            </a:r>
            <a:r>
              <a:rPr lang="en-US" dirty="0">
                <a:latin typeface="Cambria" panose="02040503050406030204" pitchFamily="18" charset="0"/>
                <a:ea typeface="Cambria" panose="02040503050406030204" pitchFamily="18" charset="0"/>
              </a:rPr>
              <a:t>.</a:t>
            </a:r>
            <a:r>
              <a:rPr lang="vi" dirty="0">
                <a:latin typeface="Cambria" panose="02040503050406030204" pitchFamily="18" charset="0"/>
                <a:ea typeface="Cambria" panose="02040503050406030204" pitchFamily="18" charset="0"/>
              </a:rPr>
              <a:t> Ở dạng chung nhất, chúng bao gồm: </a:t>
            </a:r>
            <a:r>
              <a:rPr lang="en-US" b="1" dirty="0" err="1">
                <a:solidFill>
                  <a:schemeClr val="accent1"/>
                </a:solidFill>
                <a:latin typeface="Cambria" panose="02040503050406030204" pitchFamily="18" charset="0"/>
                <a:ea typeface="Cambria" panose="02040503050406030204" pitchFamily="18" charset="0"/>
              </a:rPr>
              <a:t>quản</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lý</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phạm</a:t>
            </a:r>
            <a:r>
              <a:rPr lang="en-US" b="1" dirty="0">
                <a:solidFill>
                  <a:schemeClr val="accent1"/>
                </a:solidFill>
                <a:latin typeface="Cambria" panose="02040503050406030204" pitchFamily="18" charset="0"/>
                <a:ea typeface="Cambria" panose="02040503050406030204" pitchFamily="18" charset="0"/>
              </a:rPr>
              <a:t> vi, </a:t>
            </a:r>
            <a:r>
              <a:rPr lang="en-US" b="1" dirty="0" err="1">
                <a:solidFill>
                  <a:schemeClr val="accent1"/>
                </a:solidFill>
                <a:latin typeface="Cambria" panose="02040503050406030204" pitchFamily="18" charset="0"/>
                <a:ea typeface="Cambria" panose="02040503050406030204" pitchFamily="18" charset="0"/>
              </a:rPr>
              <a:t>quản</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lý</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thời</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gian</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quản</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lý</a:t>
            </a:r>
            <a:r>
              <a:rPr lang="en-US" b="1" dirty="0">
                <a:solidFill>
                  <a:schemeClr val="accent1"/>
                </a:solidFill>
                <a:latin typeface="Cambria" panose="02040503050406030204" pitchFamily="18" charset="0"/>
                <a:ea typeface="Cambria" panose="02040503050406030204" pitchFamily="18" charset="0"/>
              </a:rPr>
              <a:t> chi </a:t>
            </a:r>
            <a:r>
              <a:rPr lang="en-US" b="1" dirty="0" err="1">
                <a:solidFill>
                  <a:schemeClr val="accent1"/>
                </a:solidFill>
                <a:latin typeface="Cambria" panose="02040503050406030204" pitchFamily="18" charset="0"/>
                <a:ea typeface="Cambria" panose="02040503050406030204" pitchFamily="18" charset="0"/>
              </a:rPr>
              <a:t>phí</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quản</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lý</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chất</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lượng</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quản</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lý</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nguồn</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nhân</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lực</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quản</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lý</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rủi</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ro</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quản</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lý</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truyền</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thông</a:t>
            </a:r>
            <a:r>
              <a:rPr lang="en-US" b="1" dirty="0">
                <a:solidFill>
                  <a:schemeClr val="accent1"/>
                </a:solidFill>
                <a:latin typeface="Cambria" panose="02040503050406030204" pitchFamily="18" charset="0"/>
                <a:ea typeface="Cambria" panose="02040503050406030204" pitchFamily="18" charset="0"/>
              </a:rPr>
              <a:t> &amp; </a:t>
            </a:r>
            <a:r>
              <a:rPr lang="en-US" b="1" dirty="0" err="1">
                <a:solidFill>
                  <a:schemeClr val="accent1"/>
                </a:solidFill>
                <a:latin typeface="Cambria" panose="02040503050406030204" pitchFamily="18" charset="0"/>
                <a:ea typeface="Cambria" panose="02040503050406030204" pitchFamily="18" charset="0"/>
              </a:rPr>
              <a:t>quản</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lý</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tích</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hợp</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dự</a:t>
            </a:r>
            <a:r>
              <a:rPr lang="en-US" b="1" dirty="0">
                <a:solidFill>
                  <a:schemeClr val="accent1"/>
                </a:solidFill>
                <a:latin typeface="Cambria" panose="02040503050406030204" pitchFamily="18" charset="0"/>
                <a:ea typeface="Cambria" panose="02040503050406030204" pitchFamily="18" charset="0"/>
              </a:rPr>
              <a:t> </a:t>
            </a:r>
            <a:r>
              <a:rPr lang="en-US" b="1" dirty="0" err="1">
                <a:solidFill>
                  <a:schemeClr val="accent1"/>
                </a:solidFill>
                <a:latin typeface="Cambria" panose="02040503050406030204" pitchFamily="18" charset="0"/>
                <a:ea typeface="Cambria" panose="02040503050406030204" pitchFamily="18" charset="0"/>
              </a:rPr>
              <a:t>án</a:t>
            </a:r>
            <a:r>
              <a:rPr lang="en-US" b="1" dirty="0">
                <a:solidFill>
                  <a:schemeClr val="accent1"/>
                </a:solidFill>
                <a:latin typeface="Cambria" panose="02040503050406030204" pitchFamily="18" charset="0"/>
                <a:ea typeface="Cambria" panose="02040503050406030204" pitchFamily="18" charset="0"/>
              </a:rPr>
              <a:t>. </a:t>
            </a:r>
            <a:endParaRPr lang="vi"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96564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7582" y="384176"/>
            <a:ext cx="6989649" cy="78483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CÁC LĨNH VỰC CHỨC NĂNG CHÍNH CỦA QUẢN LÝ DỰ ÁN</a:t>
            </a:r>
          </a:p>
          <a:p>
            <a:pPr>
              <a:spcAft>
                <a:spcPts val="600"/>
              </a:spcAft>
            </a:pPr>
            <a:endParaRPr lang="en-US" sz="2000" b="1" dirty="0">
              <a:solidFill>
                <a:schemeClr val="accent2">
                  <a:lumMod val="75000"/>
                </a:schemeClr>
              </a:solidFill>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7F12244C-EFA7-353B-6AFF-9E20CB29F455}"/>
              </a:ext>
            </a:extLst>
          </p:cNvPr>
          <p:cNvSpPr txBox="1"/>
          <p:nvPr/>
        </p:nvSpPr>
        <p:spPr>
          <a:xfrm>
            <a:off x="337582" y="776591"/>
            <a:ext cx="11516836" cy="5201424"/>
          </a:xfrm>
          <a:prstGeom prst="rect">
            <a:avLst/>
          </a:prstGeom>
          <a:noFill/>
        </p:spPr>
        <p:txBody>
          <a:bodyPr wrap="square">
            <a:spAutoFit/>
          </a:bodyPr>
          <a:lstStyle/>
          <a:p>
            <a:pPr algn="just">
              <a:spcBef>
                <a:spcPts val="300"/>
              </a:spcBef>
            </a:pPr>
            <a:r>
              <a:rPr lang="vi" b="1" dirty="0">
                <a:latin typeface="Cambria" panose="02040503050406030204" pitchFamily="18" charset="0"/>
                <a:ea typeface="Cambria" panose="02040503050406030204" pitchFamily="18" charset="0"/>
              </a:rPr>
              <a:t>Quản lý phạm vi dự án </a:t>
            </a:r>
            <a:r>
              <a:rPr lang="vi" dirty="0">
                <a:latin typeface="Cambria" panose="02040503050406030204" pitchFamily="18" charset="0"/>
                <a:ea typeface="Cambria" panose="02040503050406030204" pitchFamily="18" charset="0"/>
              </a:rPr>
              <a:t>bao gồm các quy trình để đảm bảo tất cả các hoạt động cần thiết cho việc triển khai thành công dự án. Phạm vi</a:t>
            </a:r>
            <a:r>
              <a:rPr lang="en-US" dirty="0">
                <a:latin typeface="Cambria" panose="02040503050406030204" pitchFamily="18" charset="0"/>
                <a:ea typeface="Cambria" panose="02040503050406030204" pitchFamily="18" charset="0"/>
              </a:rPr>
              <a:t> </a:t>
            </a:r>
            <a:r>
              <a:rPr lang="vi" dirty="0">
                <a:latin typeface="Cambria" panose="02040503050406030204" pitchFamily="18" charset="0"/>
                <a:ea typeface="Cambria" panose="02040503050406030204" pitchFamily="18" charset="0"/>
              </a:rPr>
              <a:t>được xác định bởi các mục tiêu, kết quả và hoạt động của dự án. Trong suốt vòng đời dự án, tất cả các thành phần của phạm vi có thể trải qua những thay đổi (thiết kế của dự án có thể thay đổi).</a:t>
            </a:r>
          </a:p>
          <a:p>
            <a:pPr algn="just">
              <a:spcBef>
                <a:spcPts val="300"/>
              </a:spcBef>
            </a:pPr>
            <a:r>
              <a:rPr lang="vi" b="1" dirty="0">
                <a:latin typeface="Cambria" panose="02040503050406030204" pitchFamily="18" charset="0"/>
                <a:ea typeface="Cambria" panose="02040503050406030204" pitchFamily="18" charset="0"/>
              </a:rPr>
              <a:t>Quản lý thời gian (thời lượng) của dự án </a:t>
            </a:r>
            <a:r>
              <a:rPr lang="vi" dirty="0">
                <a:latin typeface="Cambria" panose="02040503050406030204" pitchFamily="18" charset="0"/>
                <a:ea typeface="Cambria" panose="02040503050406030204" pitchFamily="18" charset="0"/>
              </a:rPr>
              <a:t>là việc lập kế hoạch, kiểm soát, hiệu ứng khắc phục, phân tích thời hạn và dự trữ để thực hiện công việc theo quan điểm hoàn thành dự án đúng thời hạn. Quản lý thời gian bao gồm việc phân bổ thời gian của dự án thành các giai đoạn liên tiếp của quá trình thực hiện và giám sát việc tuân thủ các thời hạn đã thiết lập.</a:t>
            </a:r>
          </a:p>
          <a:p>
            <a:pPr algn="just">
              <a:spcBef>
                <a:spcPts val="300"/>
              </a:spcBef>
            </a:pPr>
            <a:r>
              <a:rPr lang="vi" dirty="0">
                <a:latin typeface="Cambria" panose="02040503050406030204" pitchFamily="18" charset="0"/>
                <a:ea typeface="Cambria" panose="02040503050406030204" pitchFamily="18" charset="0"/>
              </a:rPr>
              <a:t>Các nguyên tắc cơ bản của </a:t>
            </a:r>
            <a:r>
              <a:rPr lang="vi" b="1" dirty="0">
                <a:latin typeface="Cambria" panose="02040503050406030204" pitchFamily="18" charset="0"/>
                <a:ea typeface="Cambria" panose="02040503050406030204" pitchFamily="18" charset="0"/>
              </a:rPr>
              <a:t>quản lý chi phí dự án </a:t>
            </a:r>
            <a:r>
              <a:rPr lang="vi" dirty="0">
                <a:latin typeface="Cambria" panose="02040503050406030204" pitchFamily="18" charset="0"/>
                <a:ea typeface="Cambria" panose="02040503050406030204" pitchFamily="18" charset="0"/>
              </a:rPr>
              <a:t>đặt nền tảng cho việc thực hiện thành công dự án về mặt tuân thủ các hạn chế về sử dụng nguồn tài chính. Mục tiêu của hệ thống quản lý chi phí là phát triển các chính sách, thủ tục và phương pháp để cho phép lập kế hoạch chi phí và kiểm soát kịp thời. Quản lý chi phí bao gồm các hoạt động giám sát ngân sách dự án, lập kế hoạch nguồn lực, ước tính chi phí, ước tính chi phí, phân tích và điều chỉnh chi phí, và giám sát việc tuân thủ lịch trình tài trợ.</a:t>
            </a:r>
          </a:p>
          <a:p>
            <a:pPr algn="just">
              <a:spcBef>
                <a:spcPts val="300"/>
              </a:spcBef>
            </a:pPr>
            <a:r>
              <a:rPr lang="vi" b="1" dirty="0">
                <a:latin typeface="Cambria" panose="02040503050406030204" pitchFamily="18" charset="0"/>
                <a:ea typeface="Cambria" panose="02040503050406030204" pitchFamily="18" charset="0"/>
              </a:rPr>
              <a:t>Quản lý nhân sự dự án </a:t>
            </a:r>
            <a:r>
              <a:rPr lang="vi" dirty="0">
                <a:latin typeface="Cambria" panose="02040503050406030204" pitchFamily="18" charset="0"/>
                <a:ea typeface="Cambria" panose="02040503050406030204" pitchFamily="18" charset="0"/>
              </a:rPr>
              <a:t>là hoạt động nhằm cung cấp cho dự án nguồn nhân lực cần thiết. Khu vực chức năng này bao gồm lập kế hoạch tổ chức, tuyển dụng nhân sự dự án, xây dựng nhóm dự án và phát triển nhóm, cũng như các chức năng kiểm soát và thúc đẩy nguồn lao động. Mục tiêu chính của quản lý nhân sự dự án là sử dụng hiệu quả nhất nguồn nhân lực tham gia vào dự án để hoàn thành thành công.</a:t>
            </a:r>
          </a:p>
          <a:p>
            <a:pPr>
              <a:spcBef>
                <a:spcPts val="300"/>
              </a:spcBef>
            </a:pPr>
            <a:br>
              <a:rPr lang="en-US" sz="1600" dirty="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78965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7582" y="384176"/>
            <a:ext cx="6989649" cy="78483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CÁC LĨNH VỰC CHỨC NĂNG CHÍNH CỦA QUẢN LÝ DỰ ÁN</a:t>
            </a:r>
          </a:p>
          <a:p>
            <a:pPr>
              <a:spcAft>
                <a:spcPts val="600"/>
              </a:spcAft>
            </a:pPr>
            <a:endParaRPr lang="en-US" sz="2000" b="1" dirty="0">
              <a:solidFill>
                <a:schemeClr val="accent2">
                  <a:lumMod val="75000"/>
                </a:schemeClr>
              </a:solidFill>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7F12244C-EFA7-353B-6AFF-9E20CB29F455}"/>
              </a:ext>
            </a:extLst>
          </p:cNvPr>
          <p:cNvSpPr txBox="1"/>
          <p:nvPr/>
        </p:nvSpPr>
        <p:spPr>
          <a:xfrm>
            <a:off x="337582" y="776591"/>
            <a:ext cx="11516836" cy="5773888"/>
          </a:xfrm>
          <a:prstGeom prst="rect">
            <a:avLst/>
          </a:prstGeom>
          <a:noFill/>
        </p:spPr>
        <p:txBody>
          <a:bodyPr wrap="square">
            <a:spAutoFit/>
          </a:bodyPr>
          <a:lstStyle/>
          <a:p>
            <a:pPr algn="just"/>
            <a:r>
              <a:rPr lang="vi" sz="1600" b="1" dirty="0">
                <a:latin typeface="Cambria" panose="02040503050406030204" pitchFamily="18" charset="0"/>
                <a:ea typeface="Cambria" panose="02040503050406030204" pitchFamily="18" charset="0"/>
              </a:rPr>
              <a:t>Quản lý chất lượng dự án </a:t>
            </a:r>
            <a:r>
              <a:rPr lang="vi" sz="1600" dirty="0">
                <a:latin typeface="Cambria" panose="02040503050406030204" pitchFamily="18" charset="0"/>
                <a:ea typeface="Cambria" panose="02040503050406030204" pitchFamily="18" charset="0"/>
              </a:rPr>
              <a:t>bao gồm các quy trình quản lý cần thiết để đảm bảo chất lượng của chính dự án và kết quả của dự án. </a:t>
            </a:r>
            <a:r>
              <a:rPr lang="vi" sz="1600" i="1" dirty="0">
                <a:latin typeface="Cambria" panose="02040503050406030204" pitchFamily="18" charset="0"/>
                <a:ea typeface="Cambria" panose="02040503050406030204" pitchFamily="18" charset="0"/>
              </a:rPr>
              <a:t>Người ta thường phân biệt bốn khía cạnh chính của chất lượng:</a:t>
            </a:r>
          </a:p>
          <a:p>
            <a:pPr marL="742950" lvl="1" indent="-285750" algn="just">
              <a:lnSpc>
                <a:spcPct val="90000"/>
              </a:lnSpc>
              <a:spcBef>
                <a:spcPct val="20000"/>
              </a:spcBef>
              <a:spcAft>
                <a:spcPts val="300"/>
              </a:spcAft>
              <a:buClr>
                <a:schemeClr val="accent2">
                  <a:lumMod val="75000"/>
                </a:schemeClr>
              </a:buClr>
              <a:buFont typeface="Wingdings" panose="05000000000000000000" pitchFamily="2" charset="2"/>
              <a:buChar char="§"/>
            </a:pPr>
            <a:r>
              <a:rPr lang="vi" sz="1600" dirty="0">
                <a:latin typeface="Cambria" panose="02040503050406030204" pitchFamily="18" charset="0"/>
                <a:ea typeface="Cambria" panose="02040503050406030204" pitchFamily="18" charset="0"/>
              </a:rPr>
              <a:t>Chất lượng do sự tuân thủ của kết quả dự án với các yêu cầu của thị trường. Khía cạnh chất lượng này đạt được thông qua việc xác định và cập nhật hiệu quả các nhu cầu và mong đợi của người tiêu dùng.</a:t>
            </a:r>
          </a:p>
          <a:p>
            <a:pPr marL="742950" lvl="1" indent="-285750" algn="just">
              <a:lnSpc>
                <a:spcPct val="90000"/>
              </a:lnSpc>
              <a:spcBef>
                <a:spcPct val="20000"/>
              </a:spcBef>
              <a:spcAft>
                <a:spcPts val="300"/>
              </a:spcAft>
              <a:buClr>
                <a:schemeClr val="accent2">
                  <a:lumMod val="75000"/>
                </a:schemeClr>
              </a:buClr>
              <a:buFont typeface="Wingdings" panose="05000000000000000000" pitchFamily="2" charset="2"/>
              <a:buChar char="§"/>
            </a:pPr>
            <a:r>
              <a:rPr lang="vi" sz="1600" dirty="0">
                <a:latin typeface="Cambria" panose="02040503050406030204" pitchFamily="18" charset="0"/>
                <a:ea typeface="Cambria" panose="02040503050406030204" pitchFamily="18" charset="0"/>
              </a:rPr>
              <a:t>Chất lượng phát triển và lập kế hoạch dự án đạt được thông qua việc nghiên cứu kỹ lưỡng bản thân dự án và kết quả của dự án. Khía cạnh này được định nghĩa là sự tuân thủ của các giải pháp thiết kế với các nhu cầu và kỳ vọng đã xác định của người tiêu dùng, một mặt, và các công nghệ hiện có, mặt khác.</a:t>
            </a:r>
          </a:p>
          <a:p>
            <a:pPr marL="742950" lvl="1" indent="-285750" algn="just">
              <a:lnSpc>
                <a:spcPct val="90000"/>
              </a:lnSpc>
              <a:spcBef>
                <a:spcPct val="20000"/>
              </a:spcBef>
              <a:spcAft>
                <a:spcPts val="300"/>
              </a:spcAft>
              <a:buClr>
                <a:schemeClr val="accent2">
                  <a:lumMod val="75000"/>
                </a:schemeClr>
              </a:buClr>
              <a:buFont typeface="Wingdings" panose="05000000000000000000" pitchFamily="2" charset="2"/>
              <a:buChar char="§"/>
            </a:pPr>
            <a:r>
              <a:rPr lang="vi" sz="1600" dirty="0">
                <a:latin typeface="Cambria" panose="02040503050406030204" pitchFamily="18" charset="0"/>
                <a:ea typeface="Cambria" panose="02040503050406030204" pitchFamily="18" charset="0"/>
              </a:rPr>
              <a:t>Chất lượng công việc của dự án được đảm bảo bằng cách duy trì sự tuân thủ của kết quả dự án với kế hoạch và tài liệu dự án. Khía cạnh này được định nghĩa là sự tương ứng của các chỉ số chất lượng công việc với các giải pháp thiết kế đã chỉ định.</a:t>
            </a:r>
          </a:p>
          <a:p>
            <a:pPr marL="742950" lvl="1" indent="-285750" algn="just">
              <a:lnSpc>
                <a:spcPct val="90000"/>
              </a:lnSpc>
              <a:spcBef>
                <a:spcPct val="20000"/>
              </a:spcBef>
              <a:spcAft>
                <a:spcPts val="300"/>
              </a:spcAft>
              <a:buClr>
                <a:schemeClr val="accent2">
                  <a:lumMod val="75000"/>
                </a:schemeClr>
              </a:buClr>
              <a:buFont typeface="Wingdings" panose="05000000000000000000" pitchFamily="2" charset="2"/>
              <a:buChar char="§"/>
            </a:pPr>
            <a:r>
              <a:rPr lang="vi" sz="1600" dirty="0">
                <a:latin typeface="Cambria" panose="02040503050406030204" pitchFamily="18" charset="0"/>
                <a:ea typeface="Cambria" panose="02040503050406030204" pitchFamily="18" charset="0"/>
              </a:rPr>
              <a:t>Chất lượng cung cấp tài nguyên đạt được thông qua việc sử dụng các nguồn tài nguyên chất lượng cao (nguyên liệu thô, vật liệu, thành phần, thiết bị, công nghệ, v.v.) trong suốt chu kỳ dự án. Khía cạnh này được định nghĩa là sự tương ứng của các chỉ số chất lượng tài nguyên với các quyết định thiết kế nhất định.</a:t>
            </a:r>
          </a:p>
          <a:p>
            <a:pPr algn="just">
              <a:spcBef>
                <a:spcPts val="300"/>
              </a:spcBef>
            </a:pPr>
            <a:r>
              <a:rPr lang="vi" sz="1600" b="1" dirty="0">
                <a:latin typeface="Cambria" panose="02040503050406030204" pitchFamily="18" charset="0"/>
                <a:ea typeface="Cambria" panose="02040503050406030204" pitchFamily="18" charset="0"/>
              </a:rPr>
              <a:t>Quản lý rủi ro dự án </a:t>
            </a:r>
            <a:r>
              <a:rPr lang="vi" sz="1600" dirty="0">
                <a:latin typeface="Cambria" panose="02040503050406030204" pitchFamily="18" charset="0"/>
                <a:ea typeface="Cambria" panose="02040503050406030204" pitchFamily="18" charset="0"/>
              </a:rPr>
              <a:t>là hoạt động nhằm mục đích giảm thiểu tác động của các yếu tố môi trường cản trở việc đạt được mục tiêu của dự án. Đầu tiên, tất cả các rủi ro quan trọng nhất đối với dự án được xác định, sau đó các biện pháp được xây dựng để giảm thiểu các rủi ro đã xác định và do đó, tăng tính bền vững của toàn bộ dự án.</a:t>
            </a:r>
          </a:p>
          <a:p>
            <a:pPr algn="just">
              <a:spcBef>
                <a:spcPts val="300"/>
              </a:spcBef>
            </a:pPr>
            <a:r>
              <a:rPr lang="vi" sz="1600" b="1" dirty="0">
                <a:latin typeface="Cambria" panose="02040503050406030204" pitchFamily="18" charset="0"/>
                <a:ea typeface="Cambria" panose="02040503050406030204" pitchFamily="18" charset="0"/>
              </a:rPr>
              <a:t>Quản lý truyền thông dự án </a:t>
            </a:r>
            <a:r>
              <a:rPr lang="vi" sz="1600" dirty="0">
                <a:latin typeface="Cambria" panose="02040503050406030204" pitchFamily="18" charset="0"/>
                <a:ea typeface="Cambria" panose="02040503050406030204" pitchFamily="18" charset="0"/>
              </a:rPr>
              <a:t>là hoạt động nhằm đảm bảo thu thập, xử lý và cung cấp kịp thời các thông tin cần thiết để những người tham gia dự án thực hiện công việc hiệu quả.</a:t>
            </a:r>
          </a:p>
          <a:p>
            <a:pPr algn="just">
              <a:spcBef>
                <a:spcPts val="300"/>
              </a:spcBef>
            </a:pPr>
            <a:r>
              <a:rPr lang="vi" sz="1600" b="1" dirty="0">
                <a:latin typeface="Cambria" panose="02040503050406030204" pitchFamily="18" charset="0"/>
                <a:ea typeface="Cambria" panose="02040503050406030204" pitchFamily="18" charset="0"/>
              </a:rPr>
              <a:t>Quản lý </a:t>
            </a:r>
            <a:r>
              <a:rPr lang="en-US" sz="1600" b="1" dirty="0" err="1">
                <a:latin typeface="Cambria" panose="02040503050406030204" pitchFamily="18" charset="0"/>
                <a:ea typeface="Cambria" panose="02040503050406030204" pitchFamily="18" charset="0"/>
              </a:rPr>
              <a:t>tich</a:t>
            </a:r>
            <a:r>
              <a:rPr lang="en-US" sz="1600" b="1" dirty="0">
                <a:latin typeface="Cambria" panose="02040503050406030204" pitchFamily="18" charset="0"/>
                <a:ea typeface="Cambria" panose="02040503050406030204" pitchFamily="18" charset="0"/>
              </a:rPr>
              <a:t> </a:t>
            </a:r>
            <a:r>
              <a:rPr lang="en-US" sz="1600" b="1" dirty="0" err="1">
                <a:latin typeface="Cambria" panose="02040503050406030204" pitchFamily="18" charset="0"/>
                <a:ea typeface="Cambria" panose="02040503050406030204" pitchFamily="18" charset="0"/>
              </a:rPr>
              <a:t>hợp</a:t>
            </a:r>
            <a:r>
              <a:rPr lang="en-US" sz="1600" b="1" dirty="0">
                <a:latin typeface="Cambria" panose="02040503050406030204" pitchFamily="18" charset="0"/>
                <a:ea typeface="Cambria" panose="02040503050406030204" pitchFamily="18" charset="0"/>
              </a:rPr>
              <a:t> </a:t>
            </a:r>
            <a:r>
              <a:rPr lang="en-US" sz="1600" b="1" dirty="0" err="1">
                <a:latin typeface="Cambria" panose="02040503050406030204" pitchFamily="18" charset="0"/>
                <a:ea typeface="Cambria" panose="02040503050406030204" pitchFamily="18" charset="0"/>
              </a:rPr>
              <a:t>dự</a:t>
            </a:r>
            <a:r>
              <a:rPr lang="en-US" sz="1600" b="1" dirty="0">
                <a:latin typeface="Cambria" panose="02040503050406030204" pitchFamily="18" charset="0"/>
                <a:ea typeface="Cambria" panose="02040503050406030204" pitchFamily="18" charset="0"/>
              </a:rPr>
              <a:t> </a:t>
            </a:r>
            <a:r>
              <a:rPr lang="en-US" sz="1600" b="1" dirty="0" err="1">
                <a:latin typeface="Cambria" panose="02040503050406030204" pitchFamily="18" charset="0"/>
                <a:ea typeface="Cambria" panose="02040503050406030204" pitchFamily="18" charset="0"/>
              </a:rPr>
              <a:t>án</a:t>
            </a:r>
            <a:r>
              <a:rPr lang="en-US" sz="1600" b="1"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là</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hoạt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động</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điều phối tất cả các lãnh vực kiến thức trong suốt chu</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trình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của</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án</a:t>
            </a:r>
            <a:r>
              <a:rPr lang="en-US" sz="1600" dirty="0">
                <a:latin typeface="Cambria" panose="02040503050406030204" pitchFamily="18" charset="0"/>
                <a:ea typeface="Cambria" panose="02040503050406030204" pitchFamily="18" charset="0"/>
              </a:rPr>
              <a:t> (project life cycle).</a:t>
            </a:r>
          </a:p>
          <a:p>
            <a:pPr algn="just">
              <a:spcBef>
                <a:spcPts val="300"/>
              </a:spcBef>
            </a:pPr>
            <a:endParaRPr lang="vi" sz="1600" dirty="0">
              <a:highlight>
                <a:srgbClr val="FFFF00"/>
              </a:highlight>
              <a:latin typeface="Cambria" panose="02040503050406030204" pitchFamily="18" charset="0"/>
              <a:ea typeface="Cambria" panose="02040503050406030204" pitchFamily="18" charset="0"/>
            </a:endParaRPr>
          </a:p>
          <a:p>
            <a:pPr algn="just"/>
            <a:br>
              <a:rPr lang="en-US" sz="1600" dirty="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785594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400110"/>
          </a:xfrm>
          <a:prstGeom prst="rect">
            <a:avLst/>
          </a:prstGeom>
          <a:noFill/>
        </p:spPr>
        <p:txBody>
          <a:bodyPr wrap="square">
            <a:spAutoFit/>
          </a:bodyPr>
          <a:lstStyle/>
          <a:p>
            <a:pPr>
              <a:spcAft>
                <a:spcPts val="600"/>
              </a:spcAft>
            </a:pPr>
            <a:r>
              <a:rPr lang="vi" sz="2000" b="1" dirty="0">
                <a:solidFill>
                  <a:schemeClr val="accent2">
                    <a:lumMod val="75000"/>
                  </a:schemeClr>
                </a:solidFill>
                <a:latin typeface="Cambria" panose="02040503050406030204" pitchFamily="18" charset="0"/>
                <a:ea typeface="Cambria" panose="02040503050406030204" pitchFamily="18" charset="0"/>
              </a:rPr>
              <a:t>4. TẠI SAO DỰ ÁN THẤT BẠI?</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3108543"/>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 success criteria </a:t>
            </a:r>
            <a:endParaRPr lang="en-US" altLang="en-US" sz="1800" b="1" dirty="0">
              <a:solidFill>
                <a:schemeClr val="bg1"/>
              </a:solidFill>
              <a:latin typeface="Cambria" panose="02040503050406030204" pitchFamily="18" charset="0"/>
              <a:ea typeface="Cambria" panose="02040503050406030204" pitchFamily="18" charset="0"/>
            </a:endParaRPr>
          </a:p>
          <a:p>
            <a:pPr marL="285750" indent="-285750" algn="r">
              <a:buFont typeface="Wingdings" panose="05000000000000000000" pitchFamily="2" charset="2"/>
              <a:buChar char="§"/>
            </a:pPr>
            <a:endParaRPr lang="en-US" sz="1600" i="1" dirty="0">
              <a:solidFill>
                <a:schemeClr val="bg1"/>
              </a:solidFill>
              <a:latin typeface="Cambria" panose="02040503050406030204" pitchFamily="18" charset="0"/>
              <a:ea typeface="Cambria" panose="02040503050406030204" pitchFamily="18" charset="0"/>
            </a:endParaRPr>
          </a:p>
          <a:p>
            <a:pPr marL="285750" indent="-285750" algn="r">
              <a:buFont typeface="Wingdings" panose="05000000000000000000" pitchFamily="2" charset="2"/>
              <a:buChar char="§"/>
            </a:pPr>
            <a:r>
              <a:rPr lang="en-US" sz="1600" i="1" dirty="0">
                <a:solidFill>
                  <a:schemeClr val="bg1"/>
                </a:solidFill>
                <a:latin typeface="Cambria" panose="02040503050406030204" pitchFamily="18" charset="0"/>
                <a:ea typeface="Cambria" panose="02040503050406030204" pitchFamily="18" charset="0"/>
              </a:rPr>
              <a:t>On time </a:t>
            </a:r>
          </a:p>
          <a:p>
            <a:pPr marL="285750" indent="-285750" algn="r">
              <a:buFont typeface="Wingdings" panose="05000000000000000000" pitchFamily="2" charset="2"/>
              <a:buChar char="§"/>
            </a:pPr>
            <a:r>
              <a:rPr lang="en-US" altLang="en-US" sz="1600" i="1" dirty="0">
                <a:solidFill>
                  <a:schemeClr val="bg1"/>
                </a:solidFill>
                <a:latin typeface="Cambria" panose="02040503050406030204" pitchFamily="18" charset="0"/>
                <a:ea typeface="Cambria" panose="02040503050406030204" pitchFamily="18" charset="0"/>
              </a:rPr>
              <a:t>Within budget</a:t>
            </a:r>
          </a:p>
          <a:p>
            <a:pPr marL="285750" lvl="1" indent="-285750" algn="r">
              <a:buFont typeface="Wingdings" panose="05000000000000000000" pitchFamily="2" charset="2"/>
              <a:buChar char="§"/>
            </a:pPr>
            <a:r>
              <a:rPr lang="en-US" sz="1600" i="1" dirty="0">
                <a:solidFill>
                  <a:schemeClr val="bg1"/>
                </a:solidFill>
                <a:latin typeface="Cambria" panose="02040503050406030204" pitchFamily="18" charset="0"/>
                <a:ea typeface="Cambria" panose="02040503050406030204" pitchFamily="18" charset="0"/>
              </a:rPr>
              <a:t>The results of the project </a:t>
            </a:r>
          </a:p>
          <a:p>
            <a:pPr marL="0" lvl="1" algn="r"/>
            <a:r>
              <a:rPr lang="en-US" sz="1600" i="1" dirty="0">
                <a:solidFill>
                  <a:schemeClr val="bg1"/>
                </a:solidFill>
                <a:latin typeface="Cambria" panose="02040503050406030204" pitchFamily="18" charset="0"/>
                <a:ea typeface="Cambria" panose="02040503050406030204" pitchFamily="18" charset="0"/>
              </a:rPr>
              <a:t>met its main objective</a:t>
            </a:r>
          </a:p>
          <a:p>
            <a:pPr marL="285750" lvl="1" indent="-285750" algn="r">
              <a:buFont typeface="Wingdings" panose="05000000000000000000" pitchFamily="2" charset="2"/>
              <a:buChar char="§"/>
            </a:pPr>
            <a:r>
              <a:rPr lang="en-US" sz="1600" i="1" dirty="0">
                <a:solidFill>
                  <a:schemeClr val="bg1"/>
                </a:solidFill>
                <a:latin typeface="Cambria" panose="02040503050406030204" pitchFamily="18" charset="0"/>
                <a:ea typeface="Cambria" panose="02040503050406030204" pitchFamily="18" charset="0"/>
              </a:rPr>
              <a:t>Customer/Sponsor Satisfaction</a:t>
            </a:r>
          </a:p>
          <a:p>
            <a:pPr marL="0" lvl="1" algn="r"/>
            <a:endParaRPr lang="en-US" sz="1600" i="1" dirty="0">
              <a:solidFill>
                <a:schemeClr val="bg1"/>
              </a:solidFill>
              <a:latin typeface="Cambria" panose="02040503050406030204" pitchFamily="18" charset="0"/>
              <a:ea typeface="Cambria" panose="02040503050406030204" pitchFamily="18" charset="0"/>
            </a:endParaRPr>
          </a:p>
          <a:p>
            <a:pPr marL="285750" indent="-285750" algn="r">
              <a:buFont typeface="Wingdings" panose="05000000000000000000" pitchFamily="2" charset="2"/>
              <a:buChar char="§"/>
            </a:pPr>
            <a:endParaRPr lang="en-US" altLang="en-US" sz="1600" i="1" dirty="0">
              <a:solidFill>
                <a:schemeClr val="bg1"/>
              </a:solidFill>
              <a:latin typeface="Cambria" panose="02040503050406030204" pitchFamily="18" charset="0"/>
              <a:ea typeface="Cambria" panose="02040503050406030204" pitchFamily="18" charset="0"/>
            </a:endParaRPr>
          </a:p>
          <a:p>
            <a:pPr marL="285750" indent="-285750" algn="r">
              <a:buFont typeface="Wingdings" panose="05000000000000000000" pitchFamily="2" charset="2"/>
              <a:buChar char="§"/>
            </a:pPr>
            <a:endParaRPr lang="en-US" altLang="en-US" sz="1600" i="1" dirty="0">
              <a:solidFill>
                <a:schemeClr val="bg1"/>
              </a:solidFill>
              <a:latin typeface="Cambria" panose="02040503050406030204" pitchFamily="18" charset="0"/>
              <a:ea typeface="Cambria" panose="02040503050406030204" pitchFamily="18" charset="0"/>
            </a:endParaRPr>
          </a:p>
          <a:p>
            <a:pPr marL="285750" indent="-285750" algn="r">
              <a:spcBef>
                <a:spcPct val="100000"/>
              </a:spcBef>
              <a:buFont typeface="Wingdings" panose="05000000000000000000" pitchFamily="2" charset="2"/>
              <a:buChar char="§"/>
            </a:pPr>
            <a:endParaRPr lang="en-US" altLang="en-US" sz="1600" i="1" dirty="0">
              <a:solidFill>
                <a:schemeClr val="bg1"/>
              </a:solidFill>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A17E6303-EE18-94CF-E022-6196C879F0B9}"/>
              </a:ext>
            </a:extLst>
          </p:cNvPr>
          <p:cNvSpPr txBox="1"/>
          <p:nvPr/>
        </p:nvSpPr>
        <p:spPr>
          <a:xfrm>
            <a:off x="339355" y="830452"/>
            <a:ext cx="6096000" cy="369332"/>
          </a:xfrm>
          <a:prstGeom prst="rect">
            <a:avLst/>
          </a:prstGeom>
          <a:noFill/>
        </p:spPr>
        <p:txBody>
          <a:bodyPr wrap="square">
            <a:spAutoFit/>
          </a:bodyPr>
          <a:lstStyle/>
          <a:p>
            <a:r>
              <a:rPr lang="vi" b="1" dirty="0">
                <a:solidFill>
                  <a:schemeClr val="tx1">
                    <a:lumMod val="50000"/>
                    <a:lumOff val="50000"/>
                  </a:schemeClr>
                </a:solidFill>
                <a:latin typeface="Cambria" panose="02040503050406030204" pitchFamily="18" charset="0"/>
                <a:ea typeface="Cambria" panose="02040503050406030204" pitchFamily="18" charset="0"/>
              </a:rPr>
              <a:t>Ba ràng buộc của quản lý dự án</a:t>
            </a:r>
          </a:p>
        </p:txBody>
      </p:sp>
      <p:pic>
        <p:nvPicPr>
          <p:cNvPr id="17" name="Picture 16">
            <a:extLst>
              <a:ext uri="{FF2B5EF4-FFF2-40B4-BE49-F238E27FC236}">
                <a16:creationId xmlns:a16="http://schemas.microsoft.com/office/drawing/2014/main" id="{77E9DE21-4DA9-E379-120B-E408E2F365FB}"/>
              </a:ext>
            </a:extLst>
          </p:cNvPr>
          <p:cNvPicPr>
            <a:picLocks noChangeAspect="1"/>
          </p:cNvPicPr>
          <p:nvPr/>
        </p:nvPicPr>
        <p:blipFill>
          <a:blip r:embed="rId3"/>
          <a:stretch>
            <a:fillRect/>
          </a:stretch>
        </p:blipFill>
        <p:spPr>
          <a:xfrm>
            <a:off x="804422" y="1322894"/>
            <a:ext cx="6315956" cy="4934639"/>
          </a:xfrm>
          <a:prstGeom prst="rect">
            <a:avLst/>
          </a:prstGeom>
        </p:spPr>
      </p:pic>
      <p:sp>
        <p:nvSpPr>
          <p:cNvPr id="18" name="TextBox 17">
            <a:extLst>
              <a:ext uri="{FF2B5EF4-FFF2-40B4-BE49-F238E27FC236}">
                <a16:creationId xmlns:a16="http://schemas.microsoft.com/office/drawing/2014/main" id="{296B0216-DCD3-AA95-E4D0-0B19CEDF57F1}"/>
              </a:ext>
            </a:extLst>
          </p:cNvPr>
          <p:cNvSpPr txBox="1"/>
          <p:nvPr/>
        </p:nvSpPr>
        <p:spPr>
          <a:xfrm>
            <a:off x="3553548" y="1555512"/>
            <a:ext cx="2133600" cy="365760"/>
          </a:xfrm>
          <a:prstGeom prst="rect">
            <a:avLst/>
          </a:prstGeom>
          <a:noFill/>
        </p:spPr>
        <p:txBody>
          <a:bodyPr wrap="square" lIns="0" tIns="0" rIns="0" bIns="0" rtlCol="0">
            <a:noAutofit/>
          </a:bodyPr>
          <a:lstStyle/>
          <a:p>
            <a:pPr indent="-274320" algn="ctr"/>
            <a:r>
              <a:rPr lang="vi" sz="2000" b="1" dirty="0">
                <a:solidFill>
                  <a:schemeClr val="bg2">
                    <a:lumMod val="50000"/>
                  </a:schemeClr>
                </a:solidFill>
                <a:latin typeface="Cambria" panose="02040503050406030204" pitchFamily="18" charset="0"/>
                <a:ea typeface="Cambria" panose="02040503050406030204" pitchFamily="18" charset="0"/>
              </a:rPr>
              <a:t>Thời gian</a:t>
            </a:r>
            <a:r>
              <a:rPr lang="vi" sz="1600" b="1" dirty="0">
                <a:solidFill>
                  <a:schemeClr val="bg2">
                    <a:lumMod val="50000"/>
                  </a:schemeClr>
                </a:solidFill>
                <a:latin typeface="Cambria" panose="02040503050406030204" pitchFamily="18" charset="0"/>
                <a:ea typeface="Cambria" panose="02040503050406030204" pitchFamily="18" charset="0"/>
              </a:rPr>
              <a:t> </a:t>
            </a:r>
          </a:p>
        </p:txBody>
      </p:sp>
      <p:sp>
        <p:nvSpPr>
          <p:cNvPr id="19" name="TextBox 18">
            <a:extLst>
              <a:ext uri="{FF2B5EF4-FFF2-40B4-BE49-F238E27FC236}">
                <a16:creationId xmlns:a16="http://schemas.microsoft.com/office/drawing/2014/main" id="{0D6D54FD-68DE-73ED-491C-3EE7B4C662F1}"/>
              </a:ext>
            </a:extLst>
          </p:cNvPr>
          <p:cNvSpPr txBox="1"/>
          <p:nvPr/>
        </p:nvSpPr>
        <p:spPr>
          <a:xfrm>
            <a:off x="5893981" y="5661788"/>
            <a:ext cx="2133600" cy="365760"/>
          </a:xfrm>
          <a:prstGeom prst="rect">
            <a:avLst/>
          </a:prstGeom>
          <a:noFill/>
        </p:spPr>
        <p:txBody>
          <a:bodyPr wrap="square" lIns="0" tIns="0" rIns="0" bIns="0" rtlCol="0">
            <a:noAutofit/>
          </a:bodyPr>
          <a:lstStyle/>
          <a:p>
            <a:pPr indent="-274320" algn="ctr"/>
            <a:r>
              <a:rPr lang="en-US" sz="2000" b="1" dirty="0">
                <a:solidFill>
                  <a:schemeClr val="bg2">
                    <a:lumMod val="50000"/>
                  </a:schemeClr>
                </a:solidFill>
                <a:latin typeface="Cambria" panose="02040503050406030204" pitchFamily="18" charset="0"/>
                <a:ea typeface="Cambria" panose="02040503050406030204" pitchFamily="18" charset="0"/>
              </a:rPr>
              <a:t>Chi </a:t>
            </a:r>
            <a:r>
              <a:rPr lang="en-US" sz="2000" b="1" dirty="0" err="1">
                <a:solidFill>
                  <a:schemeClr val="bg2">
                    <a:lumMod val="50000"/>
                  </a:schemeClr>
                </a:solidFill>
                <a:latin typeface="Cambria" panose="02040503050406030204" pitchFamily="18" charset="0"/>
                <a:ea typeface="Cambria" panose="02040503050406030204" pitchFamily="18" charset="0"/>
              </a:rPr>
              <a:t>phí</a:t>
            </a:r>
            <a:endParaRPr lang="vi" sz="1600" b="1" dirty="0">
              <a:solidFill>
                <a:schemeClr val="bg2">
                  <a:lumMod val="50000"/>
                </a:schemeClr>
              </a:solidFill>
              <a:latin typeface="Cambria" panose="02040503050406030204" pitchFamily="18" charset="0"/>
              <a:ea typeface="Cambria" panose="02040503050406030204" pitchFamily="18" charset="0"/>
            </a:endParaRPr>
          </a:p>
        </p:txBody>
      </p:sp>
      <p:sp>
        <p:nvSpPr>
          <p:cNvPr id="20" name="TextBox 19">
            <a:extLst>
              <a:ext uri="{FF2B5EF4-FFF2-40B4-BE49-F238E27FC236}">
                <a16:creationId xmlns:a16="http://schemas.microsoft.com/office/drawing/2014/main" id="{2B26E29B-FEF1-68D2-827E-6FC3F6F93E31}"/>
              </a:ext>
            </a:extLst>
          </p:cNvPr>
          <p:cNvSpPr txBox="1"/>
          <p:nvPr/>
        </p:nvSpPr>
        <p:spPr>
          <a:xfrm>
            <a:off x="-262378" y="5661788"/>
            <a:ext cx="2133600" cy="365760"/>
          </a:xfrm>
          <a:prstGeom prst="rect">
            <a:avLst/>
          </a:prstGeom>
          <a:noFill/>
        </p:spPr>
        <p:txBody>
          <a:bodyPr wrap="square" lIns="0" tIns="0" rIns="0" bIns="0" rtlCol="0">
            <a:noAutofit/>
          </a:bodyPr>
          <a:lstStyle/>
          <a:p>
            <a:pPr indent="-274320" algn="ctr"/>
            <a:r>
              <a:rPr lang="vi" sz="2000" b="1" dirty="0">
                <a:solidFill>
                  <a:schemeClr val="bg2">
                    <a:lumMod val="50000"/>
                  </a:schemeClr>
                </a:solidFill>
                <a:latin typeface="Cambria" panose="02040503050406030204" pitchFamily="18" charset="0"/>
                <a:ea typeface="Cambria" panose="02040503050406030204" pitchFamily="18" charset="0"/>
              </a:rPr>
              <a:t>Phạm vi</a:t>
            </a:r>
            <a:r>
              <a:rPr lang="vi" sz="1600" b="1" dirty="0">
                <a:solidFill>
                  <a:schemeClr val="bg2">
                    <a:lumMod val="50000"/>
                  </a:schemeClr>
                </a:solidFill>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2678857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hart 10">
            <a:extLst>
              <a:ext uri="{FF2B5EF4-FFF2-40B4-BE49-F238E27FC236}">
                <a16:creationId xmlns:a16="http://schemas.microsoft.com/office/drawing/2014/main" id="{EADAA050-CD33-C7C5-1108-3EF3198B5F9A}"/>
              </a:ext>
            </a:extLst>
          </p:cNvPr>
          <p:cNvGraphicFramePr/>
          <p:nvPr/>
        </p:nvGraphicFramePr>
        <p:xfrm>
          <a:off x="351238" y="3009071"/>
          <a:ext cx="7257530" cy="3392409"/>
        </p:xfrm>
        <a:graphic>
          <a:graphicData uri="http://schemas.openxmlformats.org/drawingml/2006/chart">
            <c:chart xmlns:c="http://schemas.openxmlformats.org/drawingml/2006/chart" xmlns:r="http://schemas.openxmlformats.org/officeDocument/2006/relationships" r:id="rId2"/>
          </a:graphicData>
        </a:graphic>
      </p:graphicFrame>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8211583" y="363856"/>
            <a:ext cx="6097772" cy="400110"/>
          </a:xfrm>
          <a:prstGeom prst="rect">
            <a:avLst/>
          </a:prstGeom>
          <a:noFill/>
        </p:spPr>
        <p:txBody>
          <a:bodyPr wrap="square">
            <a:spAutoFit/>
          </a:bodyPr>
          <a:lstStyle/>
          <a:p>
            <a:pPr>
              <a:spcAft>
                <a:spcPts val="600"/>
              </a:spcAft>
            </a:pPr>
            <a:r>
              <a:rPr lang="vi" sz="2000" b="1" dirty="0">
                <a:solidFill>
                  <a:schemeClr val="bg1"/>
                </a:solidFill>
                <a:latin typeface="Cambria" panose="02040503050406030204" pitchFamily="18" charset="0"/>
                <a:ea typeface="Cambria" panose="02040503050406030204" pitchFamily="18" charset="0"/>
              </a:rPr>
              <a:t>TẠI SAO DỰ ÁN THẤT BẠI?</a:t>
            </a:r>
          </a:p>
        </p:txBody>
      </p:sp>
      <p:sp>
        <p:nvSpPr>
          <p:cNvPr id="65" name="TextBox 64">
            <a:extLst>
              <a:ext uri="{FF2B5EF4-FFF2-40B4-BE49-F238E27FC236}">
                <a16:creationId xmlns:a16="http://schemas.microsoft.com/office/drawing/2014/main" id="{6553DF31-1966-1ABC-0E98-E3A31205E929}"/>
              </a:ext>
            </a:extLst>
          </p:cNvPr>
          <p:cNvSpPr txBox="1"/>
          <p:nvPr/>
        </p:nvSpPr>
        <p:spPr>
          <a:xfrm>
            <a:off x="339355" y="6401480"/>
            <a:ext cx="6096000" cy="276999"/>
          </a:xfrm>
          <a:prstGeom prst="rect">
            <a:avLst/>
          </a:prstGeom>
          <a:noFill/>
        </p:spPr>
        <p:txBody>
          <a:bodyPr wrap="square">
            <a:spAutoFit/>
          </a:bodyPr>
          <a:lstStyle/>
          <a:p>
            <a:r>
              <a:rPr lang="vi" sz="1200" i="1" dirty="0">
                <a:solidFill>
                  <a:schemeClr val="bg1">
                    <a:lumMod val="65000"/>
                  </a:schemeClr>
                </a:solidFill>
                <a:latin typeface="Cambria" panose="02040503050406030204" pitchFamily="18" charset="0"/>
                <a:ea typeface="Cambria" panose="02040503050406030204" pitchFamily="18" charset="0"/>
              </a:rPr>
              <a:t>Nguồn: Khảo sát PPM của PwC năm 2014</a:t>
            </a:r>
          </a:p>
        </p:txBody>
      </p:sp>
      <p:cxnSp>
        <p:nvCxnSpPr>
          <p:cNvPr id="66" name="Straight Connector 65">
            <a:extLst>
              <a:ext uri="{FF2B5EF4-FFF2-40B4-BE49-F238E27FC236}">
                <a16:creationId xmlns:a16="http://schemas.microsoft.com/office/drawing/2014/main" id="{EA58075D-1758-7359-70ED-510D3C42E8F1}"/>
              </a:ext>
            </a:extLst>
          </p:cNvPr>
          <p:cNvCxnSpPr>
            <a:cxnSpLocks/>
          </p:cNvCxnSpPr>
          <p:nvPr/>
        </p:nvCxnSpPr>
        <p:spPr>
          <a:xfrm>
            <a:off x="423430" y="6384152"/>
            <a:ext cx="725753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2" name="Chart 1">
            <a:extLst>
              <a:ext uri="{FF2B5EF4-FFF2-40B4-BE49-F238E27FC236}">
                <a16:creationId xmlns:a16="http://schemas.microsoft.com/office/drawing/2014/main" id="{D614C593-A7C7-F169-6C3C-5BA0611FCBF4}"/>
              </a:ext>
            </a:extLst>
          </p:cNvPr>
          <p:cNvGraphicFramePr/>
          <p:nvPr>
            <p:extLst>
              <p:ext uri="{D42A27DB-BD31-4B8C-83A1-F6EECF244321}">
                <p14:modId xmlns:p14="http://schemas.microsoft.com/office/powerpoint/2010/main" val="1045349942"/>
              </p:ext>
            </p:extLst>
          </p:nvPr>
        </p:nvGraphicFramePr>
        <p:xfrm>
          <a:off x="351238" y="1070402"/>
          <a:ext cx="2133600" cy="1884680"/>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Box 2">
            <a:extLst>
              <a:ext uri="{FF2B5EF4-FFF2-40B4-BE49-F238E27FC236}">
                <a16:creationId xmlns:a16="http://schemas.microsoft.com/office/drawing/2014/main" id="{CDAD80DF-62F5-F7A9-7104-6B88DCD549FF}"/>
              </a:ext>
            </a:extLst>
          </p:cNvPr>
          <p:cNvSpPr txBox="1"/>
          <p:nvPr/>
        </p:nvSpPr>
        <p:spPr>
          <a:xfrm>
            <a:off x="339355" y="3018798"/>
            <a:ext cx="2305107" cy="365760"/>
          </a:xfrm>
          <a:prstGeom prst="rect">
            <a:avLst/>
          </a:prstGeom>
          <a:noFill/>
        </p:spPr>
        <p:txBody>
          <a:bodyPr wrap="square" lIns="0" tIns="0" rIns="0" bIns="0" rtlCol="0">
            <a:noAutofit/>
          </a:bodyPr>
          <a:lstStyle/>
          <a:p>
            <a:pPr indent="-274320" algn="ctr"/>
            <a:r>
              <a:rPr lang="vi" sz="1600" b="1" dirty="0">
                <a:solidFill>
                  <a:schemeClr val="bg2">
                    <a:lumMod val="50000"/>
                  </a:schemeClr>
                </a:solidFill>
                <a:latin typeface="Cambria" panose="02040503050406030204" pitchFamily="18" charset="0"/>
                <a:ea typeface="Cambria" panose="02040503050406030204" pitchFamily="18" charset="0"/>
              </a:rPr>
              <a:t>Thay đổi trong phạm vi</a:t>
            </a:r>
          </a:p>
          <a:p>
            <a:pPr indent="-274320" algn="ctr"/>
            <a:r>
              <a:rPr lang="vi" sz="1600" b="1" dirty="0">
                <a:solidFill>
                  <a:schemeClr val="bg2">
                    <a:lumMod val="50000"/>
                  </a:schemeClr>
                </a:solidFill>
                <a:latin typeface="Cambria" panose="02040503050406030204" pitchFamily="18" charset="0"/>
                <a:ea typeface="Cambria" panose="02040503050406030204" pitchFamily="18" charset="0"/>
              </a:rPr>
              <a:t>giữa dự án</a:t>
            </a:r>
          </a:p>
        </p:txBody>
      </p:sp>
      <p:sp>
        <p:nvSpPr>
          <p:cNvPr id="4" name="TextBox 3">
            <a:extLst>
              <a:ext uri="{FF2B5EF4-FFF2-40B4-BE49-F238E27FC236}">
                <a16:creationId xmlns:a16="http://schemas.microsoft.com/office/drawing/2014/main" id="{43BCA46D-0CE8-64B1-BAA2-A2DC29BA3752}"/>
              </a:ext>
            </a:extLst>
          </p:cNvPr>
          <p:cNvSpPr txBox="1"/>
          <p:nvPr/>
        </p:nvSpPr>
        <p:spPr>
          <a:xfrm>
            <a:off x="1030622" y="1758465"/>
            <a:ext cx="853440" cy="320040"/>
          </a:xfrm>
          <a:prstGeom prst="rect">
            <a:avLst/>
          </a:prstGeom>
          <a:noFill/>
        </p:spPr>
        <p:txBody>
          <a:bodyPr wrap="square" lIns="0" tIns="0" rIns="0" bIns="0" rtlCol="0">
            <a:noAutofit/>
          </a:bodyPr>
          <a:lstStyle/>
          <a:p>
            <a:pPr indent="-274320" algn="ctr">
              <a:spcAft>
                <a:spcPts val="900"/>
              </a:spcAft>
            </a:pPr>
            <a:r>
              <a:rPr lang="vi" sz="2400" b="1" i="1" dirty="0">
                <a:solidFill>
                  <a:schemeClr val="accent5"/>
                </a:solidFill>
                <a:latin typeface="Georgia" pitchFamily="18" charset="0"/>
              </a:rPr>
              <a:t>41%</a:t>
            </a:r>
          </a:p>
        </p:txBody>
      </p:sp>
      <p:graphicFrame>
        <p:nvGraphicFramePr>
          <p:cNvPr id="5" name="Chart 4">
            <a:extLst>
              <a:ext uri="{FF2B5EF4-FFF2-40B4-BE49-F238E27FC236}">
                <a16:creationId xmlns:a16="http://schemas.microsoft.com/office/drawing/2014/main" id="{55594209-9E1A-4ABA-602C-F14C1799A456}"/>
              </a:ext>
            </a:extLst>
          </p:cNvPr>
          <p:cNvGraphicFramePr/>
          <p:nvPr>
            <p:extLst>
              <p:ext uri="{D42A27DB-BD31-4B8C-83A1-F6EECF244321}">
                <p14:modId xmlns:p14="http://schemas.microsoft.com/office/powerpoint/2010/main" val="3109648988"/>
              </p:ext>
            </p:extLst>
          </p:nvPr>
        </p:nvGraphicFramePr>
        <p:xfrm>
          <a:off x="2621988" y="1070402"/>
          <a:ext cx="2133600" cy="1884680"/>
        </p:xfrm>
        <a:graphic>
          <a:graphicData uri="http://schemas.openxmlformats.org/drawingml/2006/chart">
            <c:chart xmlns:c="http://schemas.openxmlformats.org/drawingml/2006/chart" xmlns:r="http://schemas.openxmlformats.org/officeDocument/2006/relationships" r:id="rId5"/>
          </a:graphicData>
        </a:graphic>
      </p:graphicFrame>
      <p:sp>
        <p:nvSpPr>
          <p:cNvPr id="6" name="TextBox 5">
            <a:extLst>
              <a:ext uri="{FF2B5EF4-FFF2-40B4-BE49-F238E27FC236}">
                <a16:creationId xmlns:a16="http://schemas.microsoft.com/office/drawing/2014/main" id="{0A984D2B-B625-574F-0C58-9F0ABEC78469}"/>
              </a:ext>
            </a:extLst>
          </p:cNvPr>
          <p:cNvSpPr txBox="1"/>
          <p:nvPr/>
        </p:nvSpPr>
        <p:spPr>
          <a:xfrm>
            <a:off x="2664948" y="523679"/>
            <a:ext cx="2133600" cy="365760"/>
          </a:xfrm>
          <a:prstGeom prst="rect">
            <a:avLst/>
          </a:prstGeom>
          <a:noFill/>
        </p:spPr>
        <p:txBody>
          <a:bodyPr wrap="square" lIns="0" tIns="0" rIns="0" bIns="0" rtlCol="0">
            <a:noAutofit/>
          </a:bodyPr>
          <a:lstStyle/>
          <a:p>
            <a:pPr indent="-274320" algn="ctr"/>
            <a:r>
              <a:rPr lang="vi" sz="1600" b="1" dirty="0">
                <a:solidFill>
                  <a:schemeClr val="bg2">
                    <a:lumMod val="50000"/>
                  </a:schemeClr>
                </a:solidFill>
                <a:latin typeface="Cambria" panose="02040503050406030204" pitchFamily="18" charset="0"/>
                <a:ea typeface="Cambria" panose="02040503050406030204" pitchFamily="18" charset="0"/>
              </a:rPr>
              <a:t>Ước tính kém trong giai đoạn lập kế hoạch</a:t>
            </a:r>
          </a:p>
        </p:txBody>
      </p:sp>
      <p:sp>
        <p:nvSpPr>
          <p:cNvPr id="7" name="TextBox 6">
            <a:extLst>
              <a:ext uri="{FF2B5EF4-FFF2-40B4-BE49-F238E27FC236}">
                <a16:creationId xmlns:a16="http://schemas.microsoft.com/office/drawing/2014/main" id="{78674ABE-A1D4-4925-B54D-165859EF4224}"/>
              </a:ext>
            </a:extLst>
          </p:cNvPr>
          <p:cNvSpPr txBox="1"/>
          <p:nvPr/>
        </p:nvSpPr>
        <p:spPr>
          <a:xfrm>
            <a:off x="3305028" y="1770637"/>
            <a:ext cx="853440" cy="320040"/>
          </a:xfrm>
          <a:prstGeom prst="rect">
            <a:avLst/>
          </a:prstGeom>
          <a:noFill/>
        </p:spPr>
        <p:txBody>
          <a:bodyPr wrap="square" lIns="0" tIns="0" rIns="0" bIns="0" rtlCol="0">
            <a:noAutofit/>
          </a:bodyPr>
          <a:lstStyle/>
          <a:p>
            <a:pPr indent="-274320" algn="ctr">
              <a:spcAft>
                <a:spcPts val="900"/>
              </a:spcAft>
            </a:pPr>
            <a:r>
              <a:rPr lang="vi" sz="2400" b="1" i="1" dirty="0">
                <a:solidFill>
                  <a:schemeClr val="accent5"/>
                </a:solidFill>
                <a:latin typeface="Georgia" pitchFamily="18" charset="0"/>
              </a:rPr>
              <a:t>39%</a:t>
            </a:r>
          </a:p>
        </p:txBody>
      </p:sp>
      <p:graphicFrame>
        <p:nvGraphicFramePr>
          <p:cNvPr id="8" name="Chart 7">
            <a:extLst>
              <a:ext uri="{FF2B5EF4-FFF2-40B4-BE49-F238E27FC236}">
                <a16:creationId xmlns:a16="http://schemas.microsoft.com/office/drawing/2014/main" id="{15294269-0707-8558-FF4C-D708F8D81133}"/>
              </a:ext>
            </a:extLst>
          </p:cNvPr>
          <p:cNvGraphicFramePr/>
          <p:nvPr>
            <p:extLst>
              <p:ext uri="{D42A27DB-BD31-4B8C-83A1-F6EECF244321}">
                <p14:modId xmlns:p14="http://schemas.microsoft.com/office/powerpoint/2010/main" val="100207228"/>
              </p:ext>
            </p:extLst>
          </p:nvPr>
        </p:nvGraphicFramePr>
        <p:xfrm>
          <a:off x="4771837" y="1050086"/>
          <a:ext cx="2133600" cy="1884680"/>
        </p:xfrm>
        <a:graphic>
          <a:graphicData uri="http://schemas.openxmlformats.org/drawingml/2006/chart">
            <c:chart xmlns:c="http://schemas.openxmlformats.org/drawingml/2006/chart" xmlns:r="http://schemas.openxmlformats.org/officeDocument/2006/relationships" r:id="rId6"/>
          </a:graphicData>
        </a:graphic>
      </p:graphicFrame>
      <p:sp>
        <p:nvSpPr>
          <p:cNvPr id="9" name="TextBox 8">
            <a:extLst>
              <a:ext uri="{FF2B5EF4-FFF2-40B4-BE49-F238E27FC236}">
                <a16:creationId xmlns:a16="http://schemas.microsoft.com/office/drawing/2014/main" id="{2B6F1AC5-5C20-0F31-40A2-A6BF6C2326F4}"/>
              </a:ext>
            </a:extLst>
          </p:cNvPr>
          <p:cNvSpPr txBox="1"/>
          <p:nvPr/>
        </p:nvSpPr>
        <p:spPr>
          <a:xfrm>
            <a:off x="4668497" y="3021619"/>
            <a:ext cx="2407063" cy="365760"/>
          </a:xfrm>
          <a:prstGeom prst="rect">
            <a:avLst/>
          </a:prstGeom>
          <a:noFill/>
        </p:spPr>
        <p:txBody>
          <a:bodyPr wrap="square" lIns="0" tIns="0" rIns="0" bIns="0" rtlCol="0">
            <a:noAutofit/>
          </a:bodyPr>
          <a:lstStyle/>
          <a:p>
            <a:pPr indent="-274320" algn="ctr">
              <a:spcAft>
                <a:spcPts val="900"/>
              </a:spcAft>
            </a:pPr>
            <a:r>
              <a:rPr lang="vi" sz="1600" b="1" dirty="0">
                <a:solidFill>
                  <a:schemeClr val="bg2">
                    <a:lumMod val="50000"/>
                  </a:schemeClr>
                </a:solidFill>
                <a:latin typeface="Cambria" panose="02040503050406030204" pitchFamily="18" charset="0"/>
                <a:ea typeface="Cambria" panose="02040503050406030204" pitchFamily="18" charset="0"/>
              </a:rPr>
              <a:t>Tài nguyên không đủ</a:t>
            </a:r>
          </a:p>
        </p:txBody>
      </p:sp>
      <p:sp>
        <p:nvSpPr>
          <p:cNvPr id="10" name="TextBox 9">
            <a:extLst>
              <a:ext uri="{FF2B5EF4-FFF2-40B4-BE49-F238E27FC236}">
                <a16:creationId xmlns:a16="http://schemas.microsoft.com/office/drawing/2014/main" id="{5903C4B8-2E77-865F-B37E-BC30645A626F}"/>
              </a:ext>
            </a:extLst>
          </p:cNvPr>
          <p:cNvSpPr txBox="1"/>
          <p:nvPr/>
        </p:nvSpPr>
        <p:spPr>
          <a:xfrm>
            <a:off x="5445309" y="1758465"/>
            <a:ext cx="853440" cy="320040"/>
          </a:xfrm>
          <a:prstGeom prst="rect">
            <a:avLst/>
          </a:prstGeom>
          <a:noFill/>
        </p:spPr>
        <p:txBody>
          <a:bodyPr wrap="square" lIns="0" tIns="0" rIns="0" bIns="0" rtlCol="0">
            <a:noAutofit/>
          </a:bodyPr>
          <a:lstStyle/>
          <a:p>
            <a:pPr indent="-274320" algn="ctr">
              <a:spcAft>
                <a:spcPts val="900"/>
              </a:spcAft>
            </a:pPr>
            <a:r>
              <a:rPr lang="vi" sz="2400" b="1" i="1" dirty="0">
                <a:solidFill>
                  <a:schemeClr val="accent5"/>
                </a:solidFill>
                <a:latin typeface="Georgia" pitchFamily="18" charset="0"/>
              </a:rPr>
              <a:t>30%</a:t>
            </a:r>
          </a:p>
        </p:txBody>
      </p:sp>
      <p:sp>
        <p:nvSpPr>
          <p:cNvPr id="13" name="TextBox 12">
            <a:extLst>
              <a:ext uri="{FF2B5EF4-FFF2-40B4-BE49-F238E27FC236}">
                <a16:creationId xmlns:a16="http://schemas.microsoft.com/office/drawing/2014/main" id="{94D2D03B-4073-24EA-5F29-8FA0ECE01FA6}"/>
              </a:ext>
            </a:extLst>
          </p:cNvPr>
          <p:cNvSpPr txBox="1"/>
          <p:nvPr/>
        </p:nvSpPr>
        <p:spPr>
          <a:xfrm>
            <a:off x="6435355" y="5511559"/>
            <a:ext cx="6093994" cy="369332"/>
          </a:xfrm>
          <a:prstGeom prst="rect">
            <a:avLst/>
          </a:prstGeom>
          <a:noFill/>
        </p:spPr>
        <p:txBody>
          <a:bodyPr wrap="square">
            <a:spAutoFit/>
          </a:bodyPr>
          <a:lstStyle/>
          <a:p>
            <a:r>
              <a:rPr lang="vi" sz="1800" b="1" i="1" dirty="0">
                <a:solidFill>
                  <a:schemeClr val="accent5"/>
                </a:solidFill>
                <a:latin typeface="Georgia" pitchFamily="18" charset="0"/>
              </a:rPr>
              <a:t>%</a:t>
            </a:r>
            <a:endParaRPr lang="en-US" dirty="0"/>
          </a:p>
        </p:txBody>
      </p:sp>
    </p:spTree>
    <p:extLst>
      <p:ext uri="{BB962C8B-B14F-4D97-AF65-F5344CB8AC3E}">
        <p14:creationId xmlns:p14="http://schemas.microsoft.com/office/powerpoint/2010/main" val="3536371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8130303" y="277872"/>
            <a:ext cx="6097772" cy="400110"/>
          </a:xfrm>
          <a:prstGeom prst="rect">
            <a:avLst/>
          </a:prstGeom>
          <a:noFill/>
        </p:spPr>
        <p:txBody>
          <a:bodyPr wrap="square">
            <a:spAutoFit/>
          </a:bodyPr>
          <a:lstStyle/>
          <a:p>
            <a:pPr>
              <a:spcAft>
                <a:spcPts val="600"/>
              </a:spcAft>
            </a:pPr>
            <a:r>
              <a:rPr lang="vi" sz="2000" b="1" dirty="0">
                <a:solidFill>
                  <a:schemeClr val="bg1"/>
                </a:solidFill>
                <a:latin typeface="Cambria" panose="02040503050406030204" pitchFamily="18" charset="0"/>
                <a:ea typeface="Cambria" panose="02040503050406030204" pitchFamily="18" charset="0"/>
              </a:rPr>
              <a:t>TẠI SAO DỰ ÁN THẤT BẠI?</a:t>
            </a:r>
          </a:p>
        </p:txBody>
      </p:sp>
      <p:pic>
        <p:nvPicPr>
          <p:cNvPr id="15" name="Picture 14">
            <a:extLst>
              <a:ext uri="{FF2B5EF4-FFF2-40B4-BE49-F238E27FC236}">
                <a16:creationId xmlns:a16="http://schemas.microsoft.com/office/drawing/2014/main" id="{4A3018F2-68C4-31FB-A9AA-C80FAC93866A}"/>
              </a:ext>
            </a:extLst>
          </p:cNvPr>
          <p:cNvPicPr>
            <a:picLocks noChangeAspect="1"/>
          </p:cNvPicPr>
          <p:nvPr/>
        </p:nvPicPr>
        <p:blipFill>
          <a:blip r:embed="rId3"/>
          <a:stretch>
            <a:fillRect/>
          </a:stretch>
        </p:blipFill>
        <p:spPr>
          <a:xfrm>
            <a:off x="832930" y="277872"/>
            <a:ext cx="5825179" cy="5993896"/>
          </a:xfrm>
          <a:prstGeom prst="rect">
            <a:avLst/>
          </a:prstGeom>
        </p:spPr>
      </p:pic>
    </p:spTree>
    <p:extLst>
      <p:ext uri="{BB962C8B-B14F-4D97-AF65-F5344CB8AC3E}">
        <p14:creationId xmlns:p14="http://schemas.microsoft.com/office/powerpoint/2010/main" val="1752942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400110"/>
          </a:xfrm>
          <a:prstGeom prst="rect">
            <a:avLst/>
          </a:prstGeom>
          <a:noFill/>
        </p:spPr>
        <p:txBody>
          <a:bodyPr wrap="square">
            <a:spAutoFit/>
          </a:bodyPr>
          <a:lstStyle/>
          <a:p>
            <a:pPr>
              <a:spcAft>
                <a:spcPts val="600"/>
              </a:spcAft>
            </a:pPr>
            <a:r>
              <a:rPr lang="vi" sz="2000" b="1" dirty="0">
                <a:solidFill>
                  <a:schemeClr val="accent2">
                    <a:lumMod val="75000"/>
                  </a:schemeClr>
                </a:solidFill>
                <a:latin typeface="Cambria" panose="02040503050406030204" pitchFamily="18" charset="0"/>
                <a:ea typeface="Cambria" panose="02040503050406030204" pitchFamily="18" charset="0"/>
              </a:rPr>
              <a:t>5. VÒNG ĐỜI CỦA DỰ ÁN</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2369880"/>
          </a:xfrm>
          <a:prstGeom prst="rect">
            <a:avLst/>
          </a:prstGeom>
          <a:noFill/>
        </p:spPr>
        <p:txBody>
          <a:bodyPr wrap="square">
            <a:spAutoFit/>
          </a:bodyPr>
          <a:lstStyle/>
          <a:p>
            <a:pPr eaLnBrk="1" hangingPunct="1">
              <a:spcBef>
                <a:spcPct val="20000"/>
              </a:spcBef>
            </a:pPr>
            <a:r>
              <a:rPr lang="en-US" altLang="en-US" sz="2800" b="1" dirty="0">
                <a:solidFill>
                  <a:schemeClr val="bg1"/>
                </a:solidFill>
                <a:latin typeface="Cambria" panose="02040503050406030204" pitchFamily="18" charset="0"/>
                <a:ea typeface="Cambria" panose="02040503050406030204" pitchFamily="18" charset="0"/>
              </a:rPr>
              <a:t>Project life cycle  </a:t>
            </a:r>
            <a:endParaRPr lang="en-US" altLang="en-US" sz="2400" b="1" dirty="0">
              <a:solidFill>
                <a:schemeClr val="bg1"/>
              </a:solidFill>
              <a:latin typeface="Cambria" panose="02040503050406030204" pitchFamily="18" charset="0"/>
              <a:ea typeface="Cambria" panose="02040503050406030204" pitchFamily="18" charset="0"/>
            </a:endParaRPr>
          </a:p>
          <a:p>
            <a:pPr marL="0" indent="0" algn="r">
              <a:spcBef>
                <a:spcPct val="100000"/>
              </a:spcBef>
              <a:buNone/>
            </a:pPr>
            <a:r>
              <a:rPr lang="en-US" sz="2000" i="1" dirty="0">
                <a:solidFill>
                  <a:schemeClr val="bg1"/>
                </a:solidFill>
                <a:latin typeface="Cambria" panose="02040503050406030204" pitchFamily="18" charset="0"/>
                <a:ea typeface="Cambria" panose="02040503050406030204" pitchFamily="18" charset="0"/>
              </a:rPr>
              <a:t>The project life cycle is made up of five project stages: project initiation, project planning, project execution, monitoring &amp; control and project closing.</a:t>
            </a:r>
            <a:endParaRPr lang="en-US" altLang="en-US" sz="2000" i="1" dirty="0">
              <a:solidFill>
                <a:schemeClr val="bg1"/>
              </a:solidFill>
              <a:latin typeface="Cambria" panose="02040503050406030204" pitchFamily="18" charset="0"/>
              <a:ea typeface="Cambria" panose="02040503050406030204" pitchFamily="18" charset="0"/>
            </a:endParaRPr>
          </a:p>
        </p:txBody>
      </p:sp>
      <p:pic>
        <p:nvPicPr>
          <p:cNvPr id="61" name="Picture 60">
            <a:extLst>
              <a:ext uri="{FF2B5EF4-FFF2-40B4-BE49-F238E27FC236}">
                <a16:creationId xmlns:a16="http://schemas.microsoft.com/office/drawing/2014/main" id="{62701107-889E-AB31-0278-EC5A5D602D5F}"/>
              </a:ext>
            </a:extLst>
          </p:cNvPr>
          <p:cNvPicPr>
            <a:picLocks noChangeAspect="1"/>
          </p:cNvPicPr>
          <p:nvPr/>
        </p:nvPicPr>
        <p:blipFill>
          <a:blip r:embed="rId3"/>
          <a:stretch>
            <a:fillRect/>
          </a:stretch>
        </p:blipFill>
        <p:spPr>
          <a:xfrm>
            <a:off x="0" y="2027225"/>
            <a:ext cx="7980435" cy="2803549"/>
          </a:xfrm>
          <a:prstGeom prst="rect">
            <a:avLst/>
          </a:prstGeom>
        </p:spPr>
      </p:pic>
    </p:spTree>
    <p:extLst>
      <p:ext uri="{BB962C8B-B14F-4D97-AF65-F5344CB8AC3E}">
        <p14:creationId xmlns:p14="http://schemas.microsoft.com/office/powerpoint/2010/main" val="2409534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VÒNG ĐỜI CỦA DỰ ÁN</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vi" altLang="en-US" sz="2000" b="1" dirty="0">
                <a:solidFill>
                  <a:schemeClr val="bg1"/>
                </a:solidFill>
                <a:latin typeface="Cambria" panose="02040503050406030204" pitchFamily="18" charset="0"/>
                <a:ea typeface="Cambria" panose="02040503050406030204" pitchFamily="18" charset="0"/>
              </a:rPr>
              <a:t>Dự án</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vi" altLang="en-US" sz="1800" i="1" dirty="0">
                <a:solidFill>
                  <a:schemeClr val="bg1"/>
                </a:solidFill>
                <a:latin typeface="Cambria" panose="02040503050406030204" pitchFamily="18" charset="0"/>
                <a:ea typeface="Cambria" panose="02040503050406030204" pitchFamily="18" charset="0"/>
              </a:rPr>
              <a:t>“Một nỗ lực tạm thời được thực hiện để tạo ra một sản phẩm, dịch vụ hoặc kết quả độc đáo”</a:t>
            </a:r>
          </a:p>
          <a:p>
            <a:pPr lvl="3" algn="r" eaLnBrk="1" hangingPunct="1">
              <a:spcBef>
                <a:spcPct val="20000"/>
              </a:spcBef>
              <a:buClr>
                <a:srgbClr val="005789"/>
              </a:buClr>
            </a:pPr>
            <a:r>
              <a:rPr lang="vi" altLang="en-US" sz="1800" dirty="0">
                <a:solidFill>
                  <a:schemeClr val="bg1"/>
                </a:solidFill>
                <a:latin typeface="Cambria" panose="02040503050406030204" pitchFamily="18" charset="0"/>
                <a:ea typeface="Cambria" panose="02040503050406030204" pitchFamily="18" charset="0"/>
              </a:rPr>
              <a:t>— </a:t>
            </a:r>
            <a:r>
              <a:rPr lang="vi" altLang="en-US" sz="1800" i="1" dirty="0">
                <a:solidFill>
                  <a:schemeClr val="bg1"/>
                </a:solidFill>
                <a:latin typeface="Cambria" panose="02040503050406030204" pitchFamily="18" charset="0"/>
                <a:ea typeface="Cambria" panose="02040503050406030204" pitchFamily="18" charset="0"/>
              </a:rPr>
              <a:t>PMBOK®</a:t>
            </a:r>
            <a:r>
              <a:rPr lang="vi"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929468"/>
            <a:ext cx="11243045" cy="2816156"/>
          </a:xfrm>
          <a:prstGeom prst="rect">
            <a:avLst/>
          </a:prstGeom>
          <a:noFill/>
        </p:spPr>
        <p:txBody>
          <a:bodyPr wrap="square">
            <a:spAutoFit/>
          </a:bodyPr>
          <a:lstStyle/>
          <a:p>
            <a:r>
              <a:rPr lang="vi" b="1" dirty="0">
                <a:solidFill>
                  <a:schemeClr val="tx1">
                    <a:lumMod val="50000"/>
                    <a:lumOff val="50000"/>
                  </a:schemeClr>
                </a:solidFill>
                <a:latin typeface="Cambria" panose="02040503050406030204" pitchFamily="18" charset="0"/>
                <a:ea typeface="Cambria" panose="02040503050406030204" pitchFamily="18" charset="0"/>
              </a:rPr>
              <a:t>GIAI ĐOẠN KHỞI ĐẦU</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Nhà tài trợ dự án</a:t>
            </a:r>
            <a:r>
              <a:rPr lang="en-US" dirty="0">
                <a:latin typeface="Cambria" panose="02040503050406030204" pitchFamily="18" charset="0"/>
                <a:ea typeface="Cambria" panose="02040503050406030204" pitchFamily="18" charset="0"/>
              </a:rPr>
              <a:t> (</a:t>
            </a:r>
            <a:r>
              <a:rPr lang="en-CA" dirty="0">
                <a:latin typeface="Cambria" panose="02040503050406030204" pitchFamily="18" charset="0"/>
                <a:ea typeface="Cambria" panose="02040503050406030204" pitchFamily="18" charset="0"/>
              </a:rPr>
              <a:t>Project sponsor)</a:t>
            </a:r>
            <a:r>
              <a:rPr lang="vi" dirty="0">
                <a:latin typeface="Cambria" panose="02040503050406030204" pitchFamily="18" charset="0"/>
                <a:ea typeface="Cambria" panose="02040503050406030204" pitchFamily="18" charset="0"/>
              </a:rPr>
              <a:t> đã được xác định</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Phạm vi và mục tiêu được xác định</a:t>
            </a:r>
          </a:p>
          <a:p>
            <a:pPr marL="1200150" lvl="2" indent="-285750">
              <a:buFont typeface="Courier New" panose="02070309020205020404" pitchFamily="49" charset="0"/>
              <a:buChar char="o"/>
            </a:pPr>
            <a:r>
              <a:rPr lang="vi" dirty="0">
                <a:latin typeface="Cambria" panose="02040503050406030204" pitchFamily="18" charset="0"/>
                <a:ea typeface="Cambria" panose="02040503050406030204" pitchFamily="18" charset="0"/>
              </a:rPr>
              <a:t>Mối quan hệ với mục tiêu của tổ chức là </a:t>
            </a:r>
            <a:r>
              <a:rPr lang="en-US" dirty="0" err="1">
                <a:latin typeface="Cambria" panose="02040503050406030204" pitchFamily="18" charset="0"/>
                <a:ea typeface="Cambria" panose="02040503050406030204" pitchFamily="18" charset="0"/>
              </a:rPr>
              <a:t>điểm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quan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trọng</a:t>
            </a:r>
            <a:endParaRPr lang="vi" dirty="0">
              <a:latin typeface="Cambria" panose="02040503050406030204" pitchFamily="18" charset="0"/>
              <a:ea typeface="Cambria" panose="02040503050406030204" pitchFamily="18" charset="0"/>
            </a:endParaRP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Ngân sách đã được phê duyệt</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Các tuyên bố chung được đưa ra về rủi ro, cách tiếp cận, mốc thời gian</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Các bên liên quan được xác định</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Quản lý dự án </a:t>
            </a:r>
            <a:r>
              <a:rPr lang="en-US" dirty="0">
                <a:latin typeface="Cambria" panose="02040503050406030204" pitchFamily="18" charset="0"/>
                <a:ea typeface="Cambria" panose="02040503050406030204" pitchFamily="18" charset="0"/>
              </a:rPr>
              <a:t>(PM) </a:t>
            </a:r>
            <a:r>
              <a:rPr lang="vi" dirty="0">
                <a:latin typeface="Cambria" panose="02040503050406030204" pitchFamily="18" charset="0"/>
                <a:ea typeface="Cambria" panose="02040503050406030204" pitchFamily="18" charset="0"/>
              </a:rPr>
              <a:t>được chỉ định</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Vào cuối giai đoạn, điều lệ dự án được phê duyệt là sự chấp thuận để tiến hành giai đoạn lập kế hoạch</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1EDA9DB0-3680-1674-7149-E5C9FEE2EEF2}"/>
              </a:ext>
            </a:extLst>
          </p:cNvPr>
          <p:cNvPicPr>
            <a:picLocks noChangeAspect="1"/>
          </p:cNvPicPr>
          <p:nvPr/>
        </p:nvPicPr>
        <p:blipFill>
          <a:blip r:embed="rId2"/>
          <a:stretch>
            <a:fillRect/>
          </a:stretch>
        </p:blipFill>
        <p:spPr>
          <a:xfrm>
            <a:off x="5796482" y="4021316"/>
            <a:ext cx="6622982" cy="2326672"/>
          </a:xfrm>
          <a:prstGeom prst="rect">
            <a:avLst/>
          </a:prstGeom>
        </p:spPr>
      </p:pic>
      <p:sp>
        <p:nvSpPr>
          <p:cNvPr id="7" name="Rectangle 6">
            <a:extLst>
              <a:ext uri="{FF2B5EF4-FFF2-40B4-BE49-F238E27FC236}">
                <a16:creationId xmlns:a16="http://schemas.microsoft.com/office/drawing/2014/main" id="{D9D614FF-88DF-73DA-B3B1-832BEAF22926}"/>
              </a:ext>
            </a:extLst>
          </p:cNvPr>
          <p:cNvSpPr/>
          <p:nvPr/>
        </p:nvSpPr>
        <p:spPr>
          <a:xfrm>
            <a:off x="5967662" y="5727032"/>
            <a:ext cx="1620253" cy="446260"/>
          </a:xfrm>
          <a:prstGeom prst="rect">
            <a:avLst/>
          </a:prstGeom>
          <a:noFill/>
          <a:ln w="9525">
            <a:solidFill>
              <a:schemeClr val="accent2">
                <a:lumMod val="75000"/>
              </a:schemeClr>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50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VÒNG ĐỜI CỦA DỰ ÁN</a:t>
            </a:r>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929468"/>
            <a:ext cx="11538396" cy="1869743"/>
          </a:xfrm>
          <a:prstGeom prst="rect">
            <a:avLst/>
          </a:prstGeom>
          <a:noFill/>
        </p:spPr>
        <p:txBody>
          <a:bodyPr wrap="square">
            <a:spAutoFit/>
          </a:bodyPr>
          <a:lstStyle/>
          <a:p>
            <a:r>
              <a:rPr lang="vi" b="1" dirty="0">
                <a:solidFill>
                  <a:schemeClr val="tx1">
                    <a:lumMod val="50000"/>
                    <a:lumOff val="50000"/>
                  </a:schemeClr>
                </a:solidFill>
                <a:latin typeface="Cambria" panose="02040503050406030204" pitchFamily="18" charset="0"/>
                <a:ea typeface="Cambria" panose="02040503050406030204" pitchFamily="18" charset="0"/>
              </a:rPr>
              <a:t>GIAI ĐOẠN LẬP KẾ HOẠCH</a:t>
            </a:r>
          </a:p>
          <a:p>
            <a:pPr marL="742950" lvl="1" indent="-285750" algn="just">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Các mục tiêu được xác định rõ ràng</a:t>
            </a:r>
          </a:p>
          <a:p>
            <a:pPr marL="742950" lvl="1" indent="-285750" algn="just">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Dựa trên các mục tiêu, cấu trúc phân chia công việc hoặc WBS xác định “các gói công việc”</a:t>
            </a:r>
          </a:p>
          <a:p>
            <a:pPr marL="742950" lvl="1" indent="-285750" algn="just">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Các gói công việc được sử dụng để phát triển lịch trình</a:t>
            </a:r>
          </a:p>
          <a:p>
            <a:pPr marL="742950" lvl="1" indent="-285750" algn="just">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Các kế hoạch được lập ra để quản lý các bên liên quan, truyền thông, chất lượng, chi phí, rủi ro, mua sắm, nguồn lực bao gồm cả nguồn nhân lực</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F3D9754A-AE3C-72E3-650C-57D9C0310528}"/>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D33F2BC-71D8-C7E8-7A71-48215DE82D7A}"/>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F9B40E69-695C-30AD-233C-2A892DE243F3}"/>
              </a:ext>
            </a:extLst>
          </p:cNvPr>
          <p:cNvPicPr>
            <a:picLocks noChangeAspect="1"/>
          </p:cNvPicPr>
          <p:nvPr/>
        </p:nvPicPr>
        <p:blipFill>
          <a:blip r:embed="rId2"/>
          <a:stretch>
            <a:fillRect/>
          </a:stretch>
        </p:blipFill>
        <p:spPr>
          <a:xfrm>
            <a:off x="5796482" y="4021316"/>
            <a:ext cx="6622982" cy="2326672"/>
          </a:xfrm>
          <a:prstGeom prst="rect">
            <a:avLst/>
          </a:prstGeom>
        </p:spPr>
      </p:pic>
      <p:sp>
        <p:nvSpPr>
          <p:cNvPr id="9" name="Rectangle 8">
            <a:extLst>
              <a:ext uri="{FF2B5EF4-FFF2-40B4-BE49-F238E27FC236}">
                <a16:creationId xmlns:a16="http://schemas.microsoft.com/office/drawing/2014/main" id="{9A15D040-0A29-CD6B-91FF-FD82EB47027C}"/>
              </a:ext>
            </a:extLst>
          </p:cNvPr>
          <p:cNvSpPr/>
          <p:nvPr/>
        </p:nvSpPr>
        <p:spPr>
          <a:xfrm>
            <a:off x="7138736" y="4110703"/>
            <a:ext cx="1620253" cy="446260"/>
          </a:xfrm>
          <a:prstGeom prst="rect">
            <a:avLst/>
          </a:prstGeom>
          <a:noFill/>
          <a:ln w="9525">
            <a:solidFill>
              <a:schemeClr val="accent2">
                <a:lumMod val="75000"/>
              </a:schemeClr>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7372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VÒNG ĐỜI CỦA DỰ ÁN</a:t>
            </a:r>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929468"/>
            <a:ext cx="10230675" cy="1908215"/>
          </a:xfrm>
          <a:prstGeom prst="rect">
            <a:avLst/>
          </a:prstGeom>
          <a:noFill/>
        </p:spPr>
        <p:txBody>
          <a:bodyPr wrap="square">
            <a:spAutoFit/>
          </a:bodyPr>
          <a:lstStyle/>
          <a:p>
            <a:r>
              <a:rPr lang="vi" b="1" dirty="0">
                <a:solidFill>
                  <a:schemeClr val="tx1">
                    <a:lumMod val="50000"/>
                    <a:lumOff val="50000"/>
                  </a:schemeClr>
                </a:solidFill>
                <a:latin typeface="Cambria" panose="02040503050406030204" pitchFamily="18" charset="0"/>
                <a:ea typeface="Cambria" panose="02040503050406030204" pitchFamily="18" charset="0"/>
              </a:rPr>
              <a:t>GIAI ĐOẠN THỰC HIỆN</a:t>
            </a:r>
          </a:p>
          <a:p>
            <a:pPr marL="742950" lvl="1" indent="-285750" algn="just">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Đội ngũ dự án được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tập</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hợp</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xây</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dựng</a:t>
            </a:r>
            <a:endParaRPr lang="vi" dirty="0">
              <a:latin typeface="Cambria" panose="02040503050406030204" pitchFamily="18" charset="0"/>
              <a:ea typeface="Cambria" panose="02040503050406030204" pitchFamily="18" charset="0"/>
            </a:endParaRPr>
          </a:p>
          <a:p>
            <a:pPr marL="742950" lvl="1" indent="-285750" algn="just">
              <a:spcAft>
                <a:spcPts val="300"/>
              </a:spcAft>
              <a:buClr>
                <a:schemeClr val="accent2">
                  <a:lumMod val="75000"/>
                </a:schemeClr>
              </a:buClr>
              <a:buFont typeface="Wingdings" panose="05000000000000000000" pitchFamily="2" charset="2"/>
              <a:buChar char="§"/>
            </a:pP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tác</a:t>
            </a:r>
            <a:r>
              <a:rPr lang="vi" dirty="0">
                <a:latin typeface="Cambria" panose="02040503050406030204" pitchFamily="18" charset="0"/>
                <a:ea typeface="Cambria" panose="02040503050406030204" pitchFamily="18" charset="0"/>
              </a:rPr>
              <a:t> mua sắm </a:t>
            </a:r>
            <a:r>
              <a:rPr lang="en-US" dirty="0" err="1">
                <a:latin typeface="Cambria" panose="02040503050406030204" pitchFamily="18" charset="0"/>
                <a:ea typeface="Cambria" panose="02040503050406030204" pitchFamily="18" charset="0"/>
              </a:rPr>
              <a:t>được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triển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khai</a:t>
            </a:r>
            <a:endParaRPr lang="vi" dirty="0">
              <a:latin typeface="Cambria" panose="02040503050406030204" pitchFamily="18" charset="0"/>
              <a:ea typeface="Cambria" panose="02040503050406030204" pitchFamily="18" charset="0"/>
            </a:endParaRPr>
          </a:p>
          <a:p>
            <a:pPr marL="742950" lvl="1" indent="-285750" algn="just">
              <a:spcAft>
                <a:spcPts val="300"/>
              </a:spcAft>
              <a:buClr>
                <a:schemeClr val="accent2">
                  <a:lumMod val="75000"/>
                </a:schemeClr>
              </a:buClr>
              <a:buFont typeface="Wingdings" panose="05000000000000000000" pitchFamily="2" charset="2"/>
              <a:buChar char="§"/>
            </a:pPr>
            <a:r>
              <a:rPr lang="en-US" dirty="0">
                <a:latin typeface="Cambria" panose="02040503050406030204" pitchFamily="18" charset="0"/>
                <a:ea typeface="Cambria" panose="02040503050406030204" pitchFamily="18" charset="0"/>
              </a:rPr>
              <a:t>Các </a:t>
            </a:r>
            <a:r>
              <a:rPr lang="en-US" dirty="0" err="1">
                <a:latin typeface="Cambria" panose="02040503050406030204" pitchFamily="18" charset="0"/>
                <a:ea typeface="Cambria" panose="02040503050406030204" pitchFamily="18" charset="0"/>
              </a:rPr>
              <a:t>bước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vi" dirty="0">
                <a:latin typeface="Cambria" panose="02040503050406030204" pitchFamily="18" charset="0"/>
                <a:ea typeface="Cambria" panose="02040503050406030204" pitchFamily="18" charset="0"/>
              </a:rPr>
              <a:t>dự án được tiến hành</a:t>
            </a:r>
          </a:p>
          <a:p>
            <a:pPr marL="742950" lvl="1" indent="-285750" algn="just">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Dự án phải được giám sát và quản lý những thay đổi</a:t>
            </a:r>
            <a:r>
              <a:rPr lang="en-US" dirty="0">
                <a:latin typeface="Cambria" panose="02040503050406030204" pitchFamily="18" charset="0"/>
                <a:ea typeface="Cambria" panose="02040503050406030204" pitchFamily="18" charset="0"/>
              </a:rPr>
              <a:t> (</a:t>
            </a:r>
            <a:r>
              <a:rPr lang="en-CA" dirty="0">
                <a:latin typeface="Cambria" panose="02040503050406030204" pitchFamily="18" charset="0"/>
                <a:ea typeface="Cambria" panose="02040503050406030204" pitchFamily="18" charset="0"/>
              </a:rPr>
              <a:t>changes managed</a:t>
            </a:r>
            <a:r>
              <a:rPr lang="en-US" dirty="0">
                <a:latin typeface="Cambria" panose="02040503050406030204" pitchFamily="18" charset="0"/>
                <a:ea typeface="Cambria" panose="02040503050406030204" pitchFamily="18" charset="0"/>
              </a:rPr>
              <a:t>)</a:t>
            </a:r>
            <a:endParaRPr lang="vi" dirty="0">
              <a:latin typeface="Cambria" panose="02040503050406030204" pitchFamily="18" charset="0"/>
              <a:ea typeface="Cambria" panose="02040503050406030204" pitchFamily="18" charset="0"/>
            </a:endParaRPr>
          </a:p>
          <a:p>
            <a:pPr marL="742950" lvl="1" indent="-285750" algn="just">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Giao tiếp</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thường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xuyên</a:t>
            </a:r>
            <a:r>
              <a:rPr lang="vi" dirty="0">
                <a:latin typeface="Cambria" panose="02040503050406030204" pitchFamily="18" charset="0"/>
                <a:ea typeface="Cambria" panose="02040503050406030204" pitchFamily="18" charset="0"/>
              </a:rPr>
              <a:t> với các bên liên quan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được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coi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là</a:t>
            </a:r>
            <a:r>
              <a:rPr lang="vi" dirty="0">
                <a:latin typeface="Cambria" panose="02040503050406030204" pitchFamily="18" charset="0"/>
                <a:ea typeface="Cambria" panose="02040503050406030204" pitchFamily="18" charset="0"/>
              </a:rPr>
              <a:t> hoạt động quan trọng </a:t>
            </a:r>
            <a:r>
              <a:rPr lang="en-US" dirty="0">
                <a:latin typeface="Cambria" panose="02040503050406030204" pitchFamily="18" charset="0"/>
                <a:ea typeface="Cambria" panose="02040503050406030204" pitchFamily="18" charset="0"/>
              </a:rPr>
              <a:t> </a:t>
            </a:r>
            <a:endParaRPr lang="vi" dirty="0">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F3D9754A-AE3C-72E3-650C-57D9C0310528}"/>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D33F2BC-71D8-C7E8-7A71-48215DE82D7A}"/>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F9B40E69-695C-30AD-233C-2A892DE243F3}"/>
              </a:ext>
            </a:extLst>
          </p:cNvPr>
          <p:cNvPicPr>
            <a:picLocks noChangeAspect="1"/>
          </p:cNvPicPr>
          <p:nvPr/>
        </p:nvPicPr>
        <p:blipFill>
          <a:blip r:embed="rId2"/>
          <a:stretch>
            <a:fillRect/>
          </a:stretch>
        </p:blipFill>
        <p:spPr>
          <a:xfrm>
            <a:off x="5796482" y="4021316"/>
            <a:ext cx="6622982" cy="2326672"/>
          </a:xfrm>
          <a:prstGeom prst="rect">
            <a:avLst/>
          </a:prstGeom>
        </p:spPr>
      </p:pic>
      <p:sp>
        <p:nvSpPr>
          <p:cNvPr id="9" name="Rectangle 8">
            <a:extLst>
              <a:ext uri="{FF2B5EF4-FFF2-40B4-BE49-F238E27FC236}">
                <a16:creationId xmlns:a16="http://schemas.microsoft.com/office/drawing/2014/main" id="{9A15D040-0A29-CD6B-91FF-FD82EB47027C}"/>
              </a:ext>
            </a:extLst>
          </p:cNvPr>
          <p:cNvSpPr/>
          <p:nvPr/>
        </p:nvSpPr>
        <p:spPr>
          <a:xfrm>
            <a:off x="8313889" y="5696680"/>
            <a:ext cx="1452210" cy="396870"/>
          </a:xfrm>
          <a:prstGeom prst="rect">
            <a:avLst/>
          </a:prstGeom>
          <a:noFill/>
          <a:ln w="9525">
            <a:solidFill>
              <a:schemeClr val="accent2">
                <a:lumMod val="75000"/>
              </a:schemeClr>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1721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VÒNG ĐỜI CỦA DỰ ÁN</a:t>
            </a:r>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929468"/>
            <a:ext cx="11429227" cy="2108269"/>
          </a:xfrm>
          <a:prstGeom prst="rect">
            <a:avLst/>
          </a:prstGeom>
          <a:noFill/>
        </p:spPr>
        <p:txBody>
          <a:bodyPr wrap="square">
            <a:spAutoFit/>
          </a:bodyPr>
          <a:lstStyle/>
          <a:p>
            <a:r>
              <a:rPr lang="vi" b="1" dirty="0">
                <a:solidFill>
                  <a:schemeClr val="tx1">
                    <a:lumMod val="50000"/>
                    <a:lumOff val="50000"/>
                  </a:schemeClr>
                </a:solidFill>
                <a:latin typeface="Cambria" panose="02040503050406030204" pitchFamily="18" charset="0"/>
                <a:ea typeface="Cambria" panose="02040503050406030204" pitchFamily="18" charset="0"/>
              </a:rPr>
              <a:t>GIÁM SÁT &amp; KIỂM SOÁT</a:t>
            </a:r>
          </a:p>
          <a:p>
            <a:pPr marL="742950" lvl="1" indent="-285750" algn="just" fontAlgn="base">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Giai đoạn giám sát và kiểm soát của một dự án là giai đoạn quan trọng đảm bảo các hoạt động của dự án phù hợp với các mục tiêu và mốc quan trọng đã xác định trước.</a:t>
            </a:r>
          </a:p>
          <a:p>
            <a:pPr marL="742950" lvl="1" indent="-285750" algn="just" fontAlgn="base">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Trong giai đoạn này, các nhà quản lý dự án và các bên liên quan sẽ giám sát chặt chẽ tiến độ dự án, đánh giá hiệu suất và thực hiện các điều chỉnh cần thiết để đảm bảo dự án đi đúng hướng.</a:t>
            </a:r>
          </a:p>
          <a:p>
            <a:pPr marL="742950" lvl="1" indent="-285750" algn="just" fontAlgn="base">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Các biện pháp giám sát và kiểm soát hiệu quả là cần thiết để giảm thiểu rủi ro, xác định các vấn đề tiềm ẩn và đảm bảo dự án hoàn thành đúng thời hạn trong phạm vi ngân sách được phân bổ.</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F3D9754A-AE3C-72E3-650C-57D9C0310528}"/>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D33F2BC-71D8-C7E8-7A71-48215DE82D7A}"/>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F9B40E69-695C-30AD-233C-2A892DE243F3}"/>
              </a:ext>
            </a:extLst>
          </p:cNvPr>
          <p:cNvPicPr>
            <a:picLocks noChangeAspect="1"/>
          </p:cNvPicPr>
          <p:nvPr/>
        </p:nvPicPr>
        <p:blipFill>
          <a:blip r:embed="rId2"/>
          <a:stretch>
            <a:fillRect/>
          </a:stretch>
        </p:blipFill>
        <p:spPr>
          <a:xfrm>
            <a:off x="5796482" y="4005274"/>
            <a:ext cx="6622982" cy="2326672"/>
          </a:xfrm>
          <a:prstGeom prst="rect">
            <a:avLst/>
          </a:prstGeom>
        </p:spPr>
      </p:pic>
      <p:sp>
        <p:nvSpPr>
          <p:cNvPr id="9" name="Rectangle 8">
            <a:extLst>
              <a:ext uri="{FF2B5EF4-FFF2-40B4-BE49-F238E27FC236}">
                <a16:creationId xmlns:a16="http://schemas.microsoft.com/office/drawing/2014/main" id="{9A15D040-0A29-CD6B-91FF-FD82EB47027C}"/>
              </a:ext>
            </a:extLst>
          </p:cNvPr>
          <p:cNvSpPr/>
          <p:nvPr/>
        </p:nvSpPr>
        <p:spPr>
          <a:xfrm>
            <a:off x="9256173" y="4111560"/>
            <a:ext cx="1828921" cy="412314"/>
          </a:xfrm>
          <a:prstGeom prst="rect">
            <a:avLst/>
          </a:prstGeom>
          <a:noFill/>
          <a:ln w="9525">
            <a:solidFill>
              <a:schemeClr val="accent2">
                <a:lumMod val="75000"/>
              </a:schemeClr>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5626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VÒNG ĐỜI CỦA DỰ ÁN</a:t>
            </a:r>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929468"/>
            <a:ext cx="11429227" cy="5032147"/>
          </a:xfrm>
          <a:prstGeom prst="rect">
            <a:avLst/>
          </a:prstGeom>
          <a:noFill/>
        </p:spPr>
        <p:txBody>
          <a:bodyPr wrap="square">
            <a:spAutoFit/>
          </a:bodyPr>
          <a:lstStyle/>
          <a:p>
            <a:r>
              <a:rPr lang="vi" b="1" dirty="0">
                <a:solidFill>
                  <a:schemeClr val="tx1">
                    <a:lumMod val="50000"/>
                    <a:lumOff val="50000"/>
                  </a:schemeClr>
                </a:solidFill>
                <a:latin typeface="Cambria" panose="02040503050406030204" pitchFamily="18" charset="0"/>
                <a:ea typeface="Cambria" panose="02040503050406030204" pitchFamily="18" charset="0"/>
              </a:rPr>
              <a:t>GIÁM SÁT &amp; KIỂM SOÁT</a:t>
            </a:r>
          </a:p>
          <a:p>
            <a:pPr algn="l" fontAlgn="base"/>
            <a:r>
              <a:rPr lang="vi" b="1" dirty="0">
                <a:latin typeface="Cambria" panose="02040503050406030204" pitchFamily="18" charset="0"/>
                <a:ea typeface="Cambria" panose="02040503050406030204" pitchFamily="18" charset="0"/>
              </a:rPr>
              <a:t>Trong giai đoạn giám sát và kiểm soát của một dự án, các bước quản lý dự án chính bao gồm:</a:t>
            </a:r>
          </a:p>
          <a:p>
            <a:pPr marL="742950" lvl="1" indent="-285750" algn="just" fontAlgn="base">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Đo lường và đánh giá tiến độ của dự án so với kế hoạch dự án và các chỉ số hiệu suất chính.</a:t>
            </a:r>
          </a:p>
          <a:p>
            <a:pPr marL="742950" lvl="1" indent="-285750" algn="just" fontAlgn="base">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Xác định và quản lý các rủi ro tiềm ẩn có thể ảnh hưởng đến mục tiêu của dự án và thực hiện các chiến lược để giảm thiểu những rủi ro này.</a:t>
            </a:r>
          </a:p>
          <a:p>
            <a:pPr marL="742950" lvl="1" indent="-285750" algn="just" fontAlgn="base">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Theo dõi và đánh giá chất lượng sản phẩm dự án để đảm bảo chúng đáp ứng các tiêu chuẩn được xác định trước và kỳ vọng của khách hàng.</a:t>
            </a:r>
          </a:p>
          <a:p>
            <a:pPr marL="742950" lvl="1" indent="-285750" algn="just" fontAlgn="base">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Đánh giá và xử lý hiệu quả mọi thay đổi về phạm vi, tiến độ hoặc nguồn lực của dự án, đồng thời xem xét tác động tiềm ẩn của chúng đối với dự án.</a:t>
            </a:r>
          </a:p>
          <a:p>
            <a:pPr marL="742950" lvl="1" indent="-285750" algn="just" fontAlgn="base">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Duy trì liên lạc thường xuyên với các bên liên quan, cập nhật thông tin về tiến độ dự án và giải quyết kịp thời mọi mối quan tâm hoặc vấn đề.</a:t>
            </a:r>
          </a:p>
          <a:p>
            <a:pPr marL="742950" lvl="1" indent="-285750" algn="just" fontAlgn="base">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Xác định và giải quyết mọi vấn đề hoặc xung đột có thể phát sinh trong dự án, nhằm giải quyết chúng một cách hiệu quả để tránh sự chậm trễ hoặc gián đoạn.</a:t>
            </a:r>
          </a:p>
          <a:p>
            <a:pPr algn="just" fontAlgn="base"/>
            <a:r>
              <a:rPr lang="vi" b="1" dirty="0">
                <a:latin typeface="Cambria" panose="02040503050406030204" pitchFamily="18" charset="0"/>
                <a:ea typeface="Cambria" panose="02040503050406030204" pitchFamily="18" charset="0"/>
              </a:rPr>
              <a:t>Tạo danh sách kiểm tra chất lượng để duy trì các tiêu chuẩn chất lượng nhất quán trong suốt vòng đời của dự án</a:t>
            </a:r>
          </a:p>
          <a:p>
            <a:pPr algn="just" fontAlgn="base"/>
            <a:r>
              <a:rPr lang="vi" dirty="0">
                <a:latin typeface="Cambria" panose="02040503050406030204" pitchFamily="18" charset="0"/>
                <a:ea typeface="Cambria" panose="02040503050406030204" pitchFamily="18" charset="0"/>
              </a:rPr>
              <a:t>Đánh giá một cách có hệ thống từng sản phẩm theo các chuẩn mực chất lượng đã thiết lập có thể mất nhiều thời gian. Một mẹo tuyệt vời cho các nhà quản lý dự án là sử dụng danh sách kiểm tra chất lượng để nhanh chóng xác định bất kỳ sai lệch hoặc bất cập nào và thực hiện các hành động khắc phục để duy trì chất lượng chung của dự án.</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F3D9754A-AE3C-72E3-650C-57D9C0310528}"/>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D33F2BC-71D8-C7E8-7A71-48215DE82D7A}"/>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0234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VÒNG ĐỜI CỦA DỰ ÁN</a:t>
            </a:r>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929468"/>
            <a:ext cx="9895509" cy="1869743"/>
          </a:xfrm>
          <a:prstGeom prst="rect">
            <a:avLst/>
          </a:prstGeom>
          <a:noFill/>
        </p:spPr>
        <p:txBody>
          <a:bodyPr wrap="square">
            <a:spAutoFit/>
          </a:bodyPr>
          <a:lstStyle/>
          <a:p>
            <a:r>
              <a:rPr lang="vi" b="1" dirty="0">
                <a:solidFill>
                  <a:schemeClr val="tx1">
                    <a:lumMod val="50000"/>
                    <a:lumOff val="50000"/>
                  </a:schemeClr>
                </a:solidFill>
                <a:latin typeface="Cambria" panose="02040503050406030204" pitchFamily="18" charset="0"/>
                <a:ea typeface="Cambria" panose="02040503050406030204" pitchFamily="18" charset="0"/>
              </a:rPr>
              <a:t>KẾT THÚC DỰ ÁN</a:t>
            </a:r>
          </a:p>
          <a:p>
            <a:pPr fontAlgn="base"/>
            <a:r>
              <a:rPr lang="vi" b="1" dirty="0">
                <a:latin typeface="Cambria" panose="02040503050406030204" pitchFamily="18" charset="0"/>
                <a:ea typeface="Cambria" panose="02040503050406030204" pitchFamily="18" charset="0"/>
              </a:rPr>
              <a:t>Trong giai đoạn kết thúc dự án của quá trình quản lý dự án</a:t>
            </a:r>
          </a:p>
          <a:p>
            <a:pPr marL="742950" lvl="1" indent="-285750" algn="just" fontAlgn="base">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Bàn giao sản phẩm</a:t>
            </a:r>
          </a:p>
          <a:p>
            <a:pPr marL="742950" lvl="1" indent="-285750" algn="just" fontAlgn="base">
              <a:spcAft>
                <a:spcPts val="300"/>
              </a:spcAft>
              <a:buClr>
                <a:schemeClr val="accent2">
                  <a:lumMod val="75000"/>
                </a:schemeClr>
              </a:buClr>
              <a:buFont typeface="Wingdings" panose="05000000000000000000" pitchFamily="2" charset="2"/>
              <a:buChar char="§"/>
            </a:pPr>
            <a:r>
              <a:rPr lang="en-US" dirty="0">
                <a:latin typeface="Cambria" panose="02040503050406030204" pitchFamily="18" charset="0"/>
                <a:ea typeface="Cambria" panose="02040503050406030204" pitchFamily="18" charset="0"/>
              </a:rPr>
              <a:t>Release </a:t>
            </a:r>
            <a:r>
              <a:rPr lang="vi" dirty="0">
                <a:latin typeface="Cambria" panose="02040503050406030204" pitchFamily="18" charset="0"/>
                <a:ea typeface="Cambria" panose="02040503050406030204" pitchFamily="18" charset="0"/>
              </a:rPr>
              <a:t>các thành viên nhóm và tài nguyên dự án</a:t>
            </a:r>
          </a:p>
          <a:p>
            <a:pPr marL="742950" lvl="1" indent="-285750" algn="just" fontAlgn="base">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Phân tích hiệu suất dự </a:t>
            </a:r>
            <a:r>
              <a:rPr lang="en-US" dirty="0" err="1">
                <a:latin typeface="Cambria" panose="02040503050406030204" pitchFamily="18" charset="0"/>
                <a:ea typeface="Cambria" panose="02040503050406030204" pitchFamily="18" charset="0"/>
              </a:rPr>
              <a:t>án</a:t>
            </a:r>
            <a:endParaRPr lang="vi" dirty="0">
              <a:latin typeface="Cambria" panose="02040503050406030204" pitchFamily="18" charset="0"/>
              <a:ea typeface="Cambria" panose="02040503050406030204" pitchFamily="18" charset="0"/>
            </a:endParaRPr>
          </a:p>
          <a:p>
            <a:pPr lvl="1" algn="just" fontAlgn="base">
              <a:spcAft>
                <a:spcPts val="300"/>
              </a:spcAft>
              <a:buClr>
                <a:schemeClr val="accent2">
                  <a:lumMod val="75000"/>
                </a:schemeClr>
              </a:buClr>
            </a:pPr>
            <a:endParaRPr lang="en-US" dirty="0">
              <a:highlight>
                <a:srgbClr val="FFFF00"/>
              </a:highlight>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F3D9754A-AE3C-72E3-650C-57D9C0310528}"/>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D33F2BC-71D8-C7E8-7A71-48215DE82D7A}"/>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F9B40E69-695C-30AD-233C-2A892DE243F3}"/>
              </a:ext>
            </a:extLst>
          </p:cNvPr>
          <p:cNvPicPr>
            <a:picLocks noChangeAspect="1"/>
          </p:cNvPicPr>
          <p:nvPr/>
        </p:nvPicPr>
        <p:blipFill>
          <a:blip r:embed="rId2"/>
          <a:stretch>
            <a:fillRect/>
          </a:stretch>
        </p:blipFill>
        <p:spPr>
          <a:xfrm>
            <a:off x="5796482" y="4021316"/>
            <a:ext cx="6622982" cy="2326672"/>
          </a:xfrm>
          <a:prstGeom prst="rect">
            <a:avLst/>
          </a:prstGeom>
        </p:spPr>
      </p:pic>
      <p:sp>
        <p:nvSpPr>
          <p:cNvPr id="9" name="Rectangle 8">
            <a:extLst>
              <a:ext uri="{FF2B5EF4-FFF2-40B4-BE49-F238E27FC236}">
                <a16:creationId xmlns:a16="http://schemas.microsoft.com/office/drawing/2014/main" id="{9A15D040-0A29-CD6B-91FF-FD82EB47027C}"/>
              </a:ext>
            </a:extLst>
          </p:cNvPr>
          <p:cNvSpPr/>
          <p:nvPr/>
        </p:nvSpPr>
        <p:spPr>
          <a:xfrm>
            <a:off x="10542503" y="5754723"/>
            <a:ext cx="1452210" cy="396870"/>
          </a:xfrm>
          <a:prstGeom prst="rect">
            <a:avLst/>
          </a:prstGeom>
          <a:noFill/>
          <a:ln w="9525">
            <a:solidFill>
              <a:schemeClr val="accent2">
                <a:lumMod val="75000"/>
              </a:schemeClr>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9214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VÒNG ĐỜI CỦA DỰ ÁN</a:t>
            </a:r>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929468"/>
            <a:ext cx="11538396" cy="3254737"/>
          </a:xfrm>
          <a:prstGeom prst="rect">
            <a:avLst/>
          </a:prstGeom>
          <a:noFill/>
        </p:spPr>
        <p:txBody>
          <a:bodyPr wrap="square">
            <a:spAutoFit/>
          </a:bodyPr>
          <a:lstStyle/>
          <a:p>
            <a:r>
              <a:rPr lang="vi" b="1" dirty="0">
                <a:solidFill>
                  <a:schemeClr val="tx1">
                    <a:lumMod val="50000"/>
                    <a:lumOff val="50000"/>
                  </a:schemeClr>
                </a:solidFill>
                <a:latin typeface="Cambria" panose="02040503050406030204" pitchFamily="18" charset="0"/>
                <a:ea typeface="Cambria" panose="02040503050406030204" pitchFamily="18" charset="0"/>
              </a:rPr>
              <a:t>KẾT THÚC DỰ ÁN</a:t>
            </a:r>
          </a:p>
          <a:p>
            <a:pPr fontAlgn="base"/>
            <a:r>
              <a:rPr lang="vi" b="1" dirty="0">
                <a:latin typeface="Cambria" panose="02040503050406030204" pitchFamily="18" charset="0"/>
                <a:ea typeface="Cambria" panose="02040503050406030204" pitchFamily="18" charset="0"/>
              </a:rPr>
              <a:t>Sau đây là các bước bạn cần thực hiện trong giai đoạn kết thúc dự án:</a:t>
            </a:r>
          </a:p>
          <a:p>
            <a:pPr marL="742950" lvl="1" indent="-285750" algn="just" fontAlgn="base">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Phân tích hiệu suất dự án: Phân tích xem dự án của bạn có thành công hay không. Bạn có thể hoàn thành dự án trong thời hạn và ngân sách đã định không? Khách hàng có hài lòng với kết quả đầu ra hay không? Hãy cân nhắc những câu hỏi này khi xác định dự án của bạn đã thành công như thế nào.</a:t>
            </a:r>
          </a:p>
          <a:p>
            <a:pPr marL="742950" lvl="1" indent="-285750" algn="just" fontAlgn="base">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Đánh giá hiệu suất của nhóm: Kiểm tra hiệu suất của các thành viên trong nhóm. Phân tích xem họ có thể hoàn thành công việc đúng hạn không. Họ có đạt tiêu chuẩn chất lượng không? Tìm câu trả lời cho những câu hỏi này để đánh giá hiệu suất của nhóm bạn.</a:t>
            </a:r>
          </a:p>
          <a:p>
            <a:pPr marL="742950" lvl="1" indent="-285750" algn="just" fontAlgn="base">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Ghi lại mọi thứ: Duy trì một báo cáo bao gồm tất cả thông tin chi tiết về các bước và nhiệm vụ liên quan trong suốt vòng đời của dự án.</a:t>
            </a:r>
          </a:p>
          <a:p>
            <a:pPr lvl="1" algn="just" fontAlgn="base">
              <a:spcAft>
                <a:spcPts val="300"/>
              </a:spcAft>
              <a:buClr>
                <a:schemeClr val="accent2">
                  <a:lumMod val="75000"/>
                </a:schemeClr>
              </a:buClr>
            </a:pPr>
            <a:endParaRPr lang="en-US" dirty="0">
              <a:highlight>
                <a:srgbClr val="FFFF00"/>
              </a:highlight>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F3D9754A-AE3C-72E3-650C-57D9C0310528}"/>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D33F2BC-71D8-C7E8-7A71-48215DE82D7A}"/>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81037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rectangle with white dots&#10;&#10;Description automatically generated">
            <a:extLst>
              <a:ext uri="{FF2B5EF4-FFF2-40B4-BE49-F238E27FC236}">
                <a16:creationId xmlns:a16="http://schemas.microsoft.com/office/drawing/2014/main" id="{ECE4913A-95CE-44D8-6E6B-D51DE0600C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descr="A blue sign with white text&#10;&#10;Description automatically generated">
            <a:extLst>
              <a:ext uri="{FF2B5EF4-FFF2-40B4-BE49-F238E27FC236}">
                <a16:creationId xmlns:a16="http://schemas.microsoft.com/office/drawing/2014/main" id="{B1B992CF-C5B0-3E18-5DBE-225492A94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9552" y="208280"/>
            <a:ext cx="1613647" cy="777240"/>
          </a:xfrm>
          <a:prstGeom prst="rect">
            <a:avLst/>
          </a:prstGeom>
        </p:spPr>
      </p:pic>
      <p:pic>
        <p:nvPicPr>
          <p:cNvPr id="9" name="Picture 8" descr="A computer with a graph and a diagram&#10;&#10;Description automatically generated with medium confidence">
            <a:extLst>
              <a:ext uri="{FF2B5EF4-FFF2-40B4-BE49-F238E27FC236}">
                <a16:creationId xmlns:a16="http://schemas.microsoft.com/office/drawing/2014/main" id="{739FF32F-3E0B-257B-8470-E20496425F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3060691"/>
            <a:ext cx="7548880" cy="3589029"/>
          </a:xfrm>
          <a:prstGeom prst="rect">
            <a:avLst/>
          </a:prstGeom>
        </p:spPr>
      </p:pic>
      <p:sp>
        <p:nvSpPr>
          <p:cNvPr id="10" name="Title 4">
            <a:extLst>
              <a:ext uri="{FF2B5EF4-FFF2-40B4-BE49-F238E27FC236}">
                <a16:creationId xmlns:a16="http://schemas.microsoft.com/office/drawing/2014/main" id="{EC1A2CC1-88C2-9699-19F0-B13832AF9EB1}"/>
              </a:ext>
            </a:extLst>
          </p:cNvPr>
          <p:cNvSpPr>
            <a:spLocks noGrp="1"/>
          </p:cNvSpPr>
          <p:nvPr>
            <p:ph type="ctrTitle"/>
          </p:nvPr>
        </p:nvSpPr>
        <p:spPr>
          <a:xfrm>
            <a:off x="357277" y="4437371"/>
            <a:ext cx="6998563" cy="1382487"/>
          </a:xfrm>
        </p:spPr>
        <p:txBody>
          <a:bodyPr>
            <a:normAutofit fontScale="90000"/>
          </a:bodyPr>
          <a:lstStyle/>
          <a:p>
            <a:pPr algn="l"/>
            <a:r>
              <a:rPr lang="en-US" sz="4000" b="0" dirty="0">
                <a:solidFill>
                  <a:schemeClr val="bg1"/>
                </a:solidFill>
                <a:effectLst/>
                <a:latin typeface="Cambria" panose="02040503050406030204" pitchFamily="18" charset="0"/>
                <a:ea typeface="Cambria" panose="02040503050406030204" pitchFamily="18" charset="0"/>
              </a:rPr>
              <a:t>XIN </a:t>
            </a:r>
            <a:r>
              <a:rPr lang="vi" sz="4000" b="0" dirty="0">
                <a:solidFill>
                  <a:schemeClr val="bg1"/>
                </a:solidFill>
                <a:effectLst/>
                <a:latin typeface="Cambria" panose="02040503050406030204" pitchFamily="18" charset="0"/>
                <a:ea typeface="Cambria" panose="02040503050406030204" pitchFamily="18" charset="0"/>
              </a:rPr>
              <a:t>CẢM ƠN! </a:t>
            </a: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r>
              <a:rPr lang="vi" sz="2700" dirty="0">
                <a:solidFill>
                  <a:schemeClr val="accent1">
                    <a:lumMod val="40000"/>
                    <a:lumOff val="60000"/>
                  </a:schemeClr>
                </a:solidFill>
                <a:latin typeface="Cambria" panose="02040503050406030204" pitchFamily="18" charset="0"/>
                <a:ea typeface="Cambria" panose="02040503050406030204" pitchFamily="18" charset="0"/>
              </a:rPr>
              <a:t>Chương I: </a:t>
            </a:r>
            <a:r>
              <a:rPr lang="en-US" sz="2700" dirty="0" err="1">
                <a:solidFill>
                  <a:schemeClr val="accent1">
                    <a:lumMod val="40000"/>
                    <a:lumOff val="60000"/>
                  </a:schemeClr>
                </a:solidFill>
                <a:latin typeface="Cambria" panose="02040503050406030204" pitchFamily="18" charset="0"/>
                <a:ea typeface="Cambria" panose="02040503050406030204" pitchFamily="18" charset="0"/>
              </a:rPr>
              <a:t>Nền</a:t>
            </a:r>
            <a:r>
              <a:rPr lang="en-US" sz="2700" dirty="0">
                <a:solidFill>
                  <a:schemeClr val="accent1">
                    <a:lumMod val="40000"/>
                    <a:lumOff val="60000"/>
                  </a:schemeClr>
                </a:solidFill>
                <a:latin typeface="Cambria" panose="02040503050406030204" pitchFamily="18" charset="0"/>
                <a:ea typeface="Cambria" panose="02040503050406030204" pitchFamily="18" charset="0"/>
              </a:rPr>
              <a:t> </a:t>
            </a:r>
            <a:r>
              <a:rPr lang="en-US" sz="2700" dirty="0" err="1">
                <a:solidFill>
                  <a:schemeClr val="accent1">
                    <a:lumMod val="40000"/>
                    <a:lumOff val="60000"/>
                  </a:schemeClr>
                </a:solidFill>
                <a:latin typeface="Cambria" panose="02040503050406030204" pitchFamily="18" charset="0"/>
                <a:ea typeface="Cambria" panose="02040503050406030204" pitchFamily="18" charset="0"/>
              </a:rPr>
              <a:t>tảng</a:t>
            </a:r>
            <a:r>
              <a:rPr lang="en-US" sz="2700" dirty="0">
                <a:solidFill>
                  <a:schemeClr val="accent1">
                    <a:lumMod val="40000"/>
                    <a:lumOff val="60000"/>
                  </a:schemeClr>
                </a:solidFill>
                <a:latin typeface="Cambria" panose="02040503050406030204" pitchFamily="18" charset="0"/>
                <a:ea typeface="Cambria" panose="02040503050406030204" pitchFamily="18" charset="0"/>
              </a:rPr>
              <a:t> </a:t>
            </a:r>
            <a:r>
              <a:rPr lang="vi" sz="2700" dirty="0">
                <a:solidFill>
                  <a:schemeClr val="accent1">
                    <a:lumMod val="40000"/>
                    <a:lumOff val="60000"/>
                  </a:schemeClr>
                </a:solidFill>
                <a:latin typeface="Cambria" panose="02040503050406030204" pitchFamily="18" charset="0"/>
                <a:ea typeface="Cambria" panose="02040503050406030204" pitchFamily="18" charset="0"/>
              </a:rPr>
              <a:t>quản lý dự án CNTT </a:t>
            </a:r>
            <a:br>
              <a:rPr lang="en-US" sz="2700" dirty="0">
                <a:solidFill>
                  <a:schemeClr val="bg1"/>
                </a:solidFill>
                <a:latin typeface="Cambria" panose="02040503050406030204" pitchFamily="18" charset="0"/>
                <a:ea typeface="Cambria" panose="02040503050406030204" pitchFamily="18" charset="0"/>
              </a:rPr>
            </a:br>
            <a:r>
              <a:rPr lang="vi" sz="2000" dirty="0">
                <a:solidFill>
                  <a:schemeClr val="accent1">
                    <a:lumMod val="60000"/>
                    <a:lumOff val="40000"/>
                  </a:schemeClr>
                </a:solidFill>
                <a:latin typeface="Cambria" panose="02040503050406030204" pitchFamily="18" charset="0"/>
                <a:ea typeface="Cambria" panose="02040503050406030204" pitchFamily="18" charset="0"/>
              </a:rPr>
              <a:t>Giảng viên: </a:t>
            </a:r>
            <a:r>
              <a:rPr lang="en-US" sz="2000" dirty="0">
                <a:solidFill>
                  <a:schemeClr val="accent1">
                    <a:lumMod val="60000"/>
                    <a:lumOff val="40000"/>
                  </a:schemeClr>
                </a:solidFill>
                <a:latin typeface="Cambria" panose="02040503050406030204" pitchFamily="18" charset="0"/>
                <a:ea typeface="Cambria" panose="02040503050406030204" pitchFamily="18" charset="0"/>
              </a:rPr>
              <a:t> </a:t>
            </a:r>
            <a:endParaRPr lang="en-US" sz="4000" dirty="0">
              <a:solidFill>
                <a:schemeClr val="accent1">
                  <a:lumMod val="60000"/>
                  <a:lumOff val="40000"/>
                </a:schemeClr>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57340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pening slide">
  <a:themeElements>
    <a:clrScheme name="Custom 7">
      <a:dk1>
        <a:srgbClr val="FFFFFF"/>
      </a:dk1>
      <a:lt1>
        <a:srgbClr val="0070C0"/>
      </a:lt1>
      <a:dk2>
        <a:srgbClr val="FFFFFF"/>
      </a:dk2>
      <a:lt2>
        <a:srgbClr val="0070C0"/>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307973FBAC0FD44AFF67A0CF8CAB7ED" ma:contentTypeVersion="15" ma:contentTypeDescription="Create a new document." ma:contentTypeScope="" ma:versionID="74905d119c205581eaedd23186ce405f">
  <xsd:schema xmlns:xsd="http://www.w3.org/2001/XMLSchema" xmlns:xs="http://www.w3.org/2001/XMLSchema" xmlns:p="http://schemas.microsoft.com/office/2006/metadata/properties" xmlns:ns2="6e9c558a-331c-4b2a-9422-cc1872e64aa6" xmlns:ns3="0daeb402-9d2e-4002-a65f-37a660ceb8fd" targetNamespace="http://schemas.microsoft.com/office/2006/metadata/properties" ma:root="true" ma:fieldsID="708587739f1abd74a42e448662f10547" ns2:_="" ns3:_="">
    <xsd:import namespace="6e9c558a-331c-4b2a-9422-cc1872e64aa6"/>
    <xsd:import namespace="0daeb402-9d2e-4002-a65f-37a660ceb8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c558a-331c-4b2a-9422-cc1872e64a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aa48d64-e0f2-481a-8596-878e2f0ebd5d"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aeb402-9d2e-4002-a65f-37a660ceb8f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dc41332e-9ceb-47bb-9b4b-dcfc7eb8757e}" ma:internalName="TaxCatchAll" ma:showField="CatchAllData" ma:web="0daeb402-9d2e-4002-a65f-37a660ceb8f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e9c558a-331c-4b2a-9422-cc1872e64aa6">
      <Terms xmlns="http://schemas.microsoft.com/office/infopath/2007/PartnerControls"/>
    </lcf76f155ced4ddcb4097134ff3c332f>
    <TaxCatchAll xmlns="0daeb402-9d2e-4002-a65f-37a660ceb8f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EB7CD51-2753-47EF-A9E7-AEC5FB36AF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9c558a-331c-4b2a-9422-cc1872e64aa6"/>
    <ds:schemaRef ds:uri="0daeb402-9d2e-4002-a65f-37a660ceb8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AD11831-F5AB-4CB7-904A-1C9121BA2C25}">
  <ds:schemaRefs>
    <ds:schemaRef ds:uri="http://schemas.microsoft.com/office/2006/metadata/properties"/>
    <ds:schemaRef ds:uri="http://schemas.microsoft.com/office/infopath/2007/PartnerControls"/>
    <ds:schemaRef ds:uri="6e9c558a-331c-4b2a-9422-cc1872e64aa6"/>
    <ds:schemaRef ds:uri="0daeb402-9d2e-4002-a65f-37a660ceb8fd"/>
  </ds:schemaRefs>
</ds:datastoreItem>
</file>

<file path=customXml/itemProps3.xml><?xml version="1.0" encoding="utf-8"?>
<ds:datastoreItem xmlns:ds="http://schemas.openxmlformats.org/officeDocument/2006/customXml" ds:itemID="{9BFC0854-2F09-4075-BB14-6500E7C30FD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908</TotalTime>
  <Words>4523</Words>
  <Application>Microsoft Office PowerPoint</Application>
  <PresentationFormat>Widescreen</PresentationFormat>
  <Paragraphs>249</Paragraphs>
  <Slides>26</Slides>
  <Notes>0</Notes>
  <HiddenSlides>0</HiddenSlides>
  <MMClips>0</MMClips>
  <ScaleCrop>false</ScaleCrop>
  <HeadingPairs>
    <vt:vector size="4" baseType="variant">
      <vt:variant>
        <vt:lpstr>Theme</vt:lpstr>
      </vt:variant>
      <vt:variant>
        <vt:i4>3</vt:i4>
      </vt:variant>
      <vt:variant>
        <vt:lpstr>Slide Titles</vt:lpstr>
      </vt:variant>
      <vt:variant>
        <vt:i4>26</vt:i4>
      </vt:variant>
    </vt:vector>
  </HeadingPairs>
  <TitlesOfParts>
    <vt:vector size="29" baseType="lpstr">
      <vt:lpstr>Office Theme</vt:lpstr>
      <vt:lpstr>Opening slide</vt:lpstr>
      <vt:lpstr>Body slide</vt:lpstr>
      <vt:lpstr> QUẢN LÝ DỰ ÁN  CÔNG NGHỆ THÔNG TIN      Chương I: Nền tảng Quản lý dự án CNTT  Giảng viên: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XIN CẢM ƠN!     Chương I: Nền tảng quản lý dự án CNTT  Giảng viên: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TECHNOLOGY PROJECT MANAGEMENT  Chap I: Foundation of IT project management Lecturer: Dr. Thanh NGO</dc:title>
  <dc:creator>Thanh. Ngo Minh - CMC People Unit</dc:creator>
  <cp:lastModifiedBy>Thanh. Ngo Minh - CMC Corp Ban Nhan su &amp; PTNT</cp:lastModifiedBy>
  <cp:revision>74</cp:revision>
  <dcterms:created xsi:type="dcterms:W3CDTF">2024-02-01T10:29:10Z</dcterms:created>
  <dcterms:modified xsi:type="dcterms:W3CDTF">2026-09-22T06:52:25Z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0x010100B307973FBAC0FD44AFF67A0CF8CAB7ED</vt:lpwstr>
  </property>
</Properties>
</file>