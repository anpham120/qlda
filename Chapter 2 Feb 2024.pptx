
<file path=[Content_Types].xml><?xml version="1.0" encoding="utf-8"?>
<Types xmlns="http://schemas.openxmlformats.org/package/2006/content-types">
  <Default Extension="bin" ContentType="application/vnd.openxmlformats-officedocument.oleObject"/>
  <Default Extension="jfif" ContentType="image/jpeg"/>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4" r:id="rId2"/>
    <p:sldMasterId id="2147483666" r:id="rId3"/>
  </p:sldMasterIdLst>
  <p:sldIdLst>
    <p:sldId id="256" r:id="rId4"/>
    <p:sldId id="279" r:id="rId5"/>
    <p:sldId id="316" r:id="rId6"/>
    <p:sldId id="331" r:id="rId7"/>
    <p:sldId id="257" r:id="rId8"/>
    <p:sldId id="280" r:id="rId9"/>
    <p:sldId id="332" r:id="rId10"/>
    <p:sldId id="311" r:id="rId11"/>
    <p:sldId id="312" r:id="rId12"/>
    <p:sldId id="313" r:id="rId13"/>
    <p:sldId id="314" r:id="rId14"/>
    <p:sldId id="322" r:id="rId15"/>
    <p:sldId id="281" r:id="rId16"/>
    <p:sldId id="330" r:id="rId17"/>
    <p:sldId id="305" r:id="rId18"/>
    <p:sldId id="315" r:id="rId19"/>
    <p:sldId id="318" r:id="rId20"/>
    <p:sldId id="319" r:id="rId21"/>
    <p:sldId id="320" r:id="rId22"/>
    <p:sldId id="321" r:id="rId23"/>
    <p:sldId id="293" r:id="rId24"/>
    <p:sldId id="306" r:id="rId25"/>
    <p:sldId id="308" r:id="rId26"/>
    <p:sldId id="285" r:id="rId27"/>
    <p:sldId id="325" r:id="rId28"/>
    <p:sldId id="326" r:id="rId29"/>
    <p:sldId id="327" r:id="rId30"/>
    <p:sldId id="328" r:id="rId31"/>
    <p:sldId id="324" r:id="rId32"/>
    <p:sldId id="323" r:id="rId33"/>
    <p:sldId id="310" r:id="rId34"/>
    <p:sldId id="307" r:id="rId35"/>
    <p:sldId id="329" r:id="rId36"/>
    <p:sldId id="309"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7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5"/>
              </a:solidFill>
            </c:spPr>
            <c:extLst>
              <c:ext xmlns:c16="http://schemas.microsoft.com/office/drawing/2014/chart" uri="{C3380CC4-5D6E-409C-BE32-E72D297353CC}">
                <c16:uniqueId val="{00000001-31A2-43DA-A907-B216AA4F77A8}"/>
              </c:ext>
            </c:extLst>
          </c:dPt>
          <c:dPt>
            <c:idx val="1"/>
            <c:bubble3D val="0"/>
            <c:spPr>
              <a:solidFill>
                <a:schemeClr val="bg2">
                  <a:lumMod val="85000"/>
                </a:schemeClr>
              </a:solidFill>
            </c:spPr>
            <c:extLst>
              <c:ext xmlns:c16="http://schemas.microsoft.com/office/drawing/2014/chart" uri="{C3380CC4-5D6E-409C-BE32-E72D297353CC}">
                <c16:uniqueId val="{00000003-31A2-43DA-A907-B216AA4F77A8}"/>
              </c:ext>
            </c:extLst>
          </c:dPt>
          <c:cat>
            <c:strRef>
              <c:f>Sheet1!$A$2:$A$3</c:f>
              <c:strCache>
                <c:ptCount val="2"/>
                <c:pt idx="0">
                  <c:v>PwC </c:v>
                </c:pt>
                <c:pt idx="1">
                  <c:v>Other</c:v>
                </c:pt>
              </c:strCache>
            </c:strRef>
          </c:cat>
          <c:val>
            <c:numRef>
              <c:f>Sheet1!$B$2:$B$3</c:f>
              <c:numCache>
                <c:formatCode>General</c:formatCode>
                <c:ptCount val="2"/>
                <c:pt idx="0">
                  <c:v>41</c:v>
                </c:pt>
                <c:pt idx="1">
                  <c:v>59</c:v>
                </c:pt>
              </c:numCache>
            </c:numRef>
          </c:val>
          <c:extLst>
            <c:ext xmlns:c16="http://schemas.microsoft.com/office/drawing/2014/chart" uri="{C3380CC4-5D6E-409C-BE32-E72D297353CC}">
              <c16:uniqueId val="{00000004-31A2-43DA-A907-B216AA4F77A8}"/>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5"/>
              </a:solidFill>
            </c:spPr>
            <c:extLst>
              <c:ext xmlns:c16="http://schemas.microsoft.com/office/drawing/2014/chart" uri="{C3380CC4-5D6E-409C-BE32-E72D297353CC}">
                <c16:uniqueId val="{00000001-AD1B-48EF-BC4C-090F80245AEB}"/>
              </c:ext>
            </c:extLst>
          </c:dPt>
          <c:dPt>
            <c:idx val="1"/>
            <c:bubble3D val="0"/>
            <c:spPr>
              <a:solidFill>
                <a:schemeClr val="bg2">
                  <a:lumMod val="85000"/>
                </a:schemeClr>
              </a:solidFill>
            </c:spPr>
            <c:extLst>
              <c:ext xmlns:c16="http://schemas.microsoft.com/office/drawing/2014/chart" uri="{C3380CC4-5D6E-409C-BE32-E72D297353CC}">
                <c16:uniqueId val="{00000003-AD1B-48EF-BC4C-090F80245AEB}"/>
              </c:ext>
            </c:extLst>
          </c:dPt>
          <c:cat>
            <c:strRef>
              <c:f>Sheet1!$A$2:$A$4</c:f>
              <c:strCache>
                <c:ptCount val="2"/>
                <c:pt idx="0">
                  <c:v>PwC </c:v>
                </c:pt>
                <c:pt idx="1">
                  <c:v>Other</c:v>
                </c:pt>
              </c:strCache>
            </c:strRef>
          </c:cat>
          <c:val>
            <c:numRef>
              <c:f>Sheet1!$B$2:$B$4</c:f>
              <c:numCache>
                <c:formatCode>General</c:formatCode>
                <c:ptCount val="3"/>
                <c:pt idx="0">
                  <c:v>38</c:v>
                </c:pt>
                <c:pt idx="1">
                  <c:v>62</c:v>
                </c:pt>
              </c:numCache>
            </c:numRef>
          </c:val>
          <c:extLst>
            <c:ext xmlns:c16="http://schemas.microsoft.com/office/drawing/2014/chart" uri="{C3380CC4-5D6E-409C-BE32-E72D297353CC}">
              <c16:uniqueId val="{00000004-AD1B-48EF-BC4C-090F80245AEB}"/>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586A-3CA7-A6B6-6B3B-4583D57BE5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51776E-AB3C-97F0-AA67-BD2E18056A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57923A-7CEC-4869-8AF4-836E8C807E71}"/>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5" name="Footer Placeholder 4">
            <a:extLst>
              <a:ext uri="{FF2B5EF4-FFF2-40B4-BE49-F238E27FC236}">
                <a16:creationId xmlns:a16="http://schemas.microsoft.com/office/drawing/2014/main" id="{28E91799-8705-EA78-77FB-A8D1418A0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50114-BB6A-8616-2731-F1950849203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309654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253F8-D7EF-0AA8-3598-5AC952F1DC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31DE3F-5386-056B-1DEC-19911D2C2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05957-DD56-E507-21A2-8C0A5BE9F660}"/>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5" name="Footer Placeholder 4">
            <a:extLst>
              <a:ext uri="{FF2B5EF4-FFF2-40B4-BE49-F238E27FC236}">
                <a16:creationId xmlns:a16="http://schemas.microsoft.com/office/drawing/2014/main" id="{98EB9A55-8E66-EC08-7034-455A1E5E90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AF6D1F-72C9-BA38-AAB4-6FAC937E22B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7705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42EB5-995E-9071-E3A1-95E9D7E50C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ACF681-C1B8-C11A-F353-03F536F244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95EFDC-3504-A413-429F-299170D34B2F}"/>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5" name="Footer Placeholder 4">
            <a:extLst>
              <a:ext uri="{FF2B5EF4-FFF2-40B4-BE49-F238E27FC236}">
                <a16:creationId xmlns:a16="http://schemas.microsoft.com/office/drawing/2014/main" id="{2369A7B8-12DD-1BF3-FD41-6B3061949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061D4-168A-8F5C-1AF2-EEEE97F41137}"/>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67714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4875-A6FD-8948-4493-B9CE9F5BBE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319F30-A0D3-1FEA-6295-76618F64BC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2E2052-690E-6A4A-BF02-E46FD4005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FEBC34-12BA-F9D2-9978-AA8576AA8E1F}"/>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6" name="Footer Placeholder 5">
            <a:extLst>
              <a:ext uri="{FF2B5EF4-FFF2-40B4-BE49-F238E27FC236}">
                <a16:creationId xmlns:a16="http://schemas.microsoft.com/office/drawing/2014/main" id="{B7896469-2D3A-F487-7765-67182F6A0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9E2A04-E436-414E-4B0C-2404C44E969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527235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2111-8CAE-1681-AEAC-2079D2AEC8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EEED81-28F4-4AD3-11E7-6FFF955226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3B50D-C434-C047-6A82-F515AB35F1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91BF45-750B-EE49-DA72-E92AF974D3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79E4D8-3EBB-E193-27A5-094D18445F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71CCED-E4D2-1960-BB38-F574A862185F}"/>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8" name="Footer Placeholder 7">
            <a:extLst>
              <a:ext uri="{FF2B5EF4-FFF2-40B4-BE49-F238E27FC236}">
                <a16:creationId xmlns:a16="http://schemas.microsoft.com/office/drawing/2014/main" id="{39E36CFE-AD2A-D7D2-B7AC-0E6731A1D4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59C0B5-F8AA-4571-AFA6-A6728C20434F}"/>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81064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E519E-BDB0-6C86-F8A0-76A5F77C27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38157-D72D-588F-3ADF-121F60C6DC9A}"/>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4" name="Footer Placeholder 3">
            <a:extLst>
              <a:ext uri="{FF2B5EF4-FFF2-40B4-BE49-F238E27FC236}">
                <a16:creationId xmlns:a16="http://schemas.microsoft.com/office/drawing/2014/main" id="{57717323-0A37-5519-2211-CB5A46A701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187EF-3568-6D06-B0CC-CC03B437E3F6}"/>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047579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DA75DE-3AA6-3D68-4B0D-E41DC289D11E}"/>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3" name="Footer Placeholder 2">
            <a:extLst>
              <a:ext uri="{FF2B5EF4-FFF2-40B4-BE49-F238E27FC236}">
                <a16:creationId xmlns:a16="http://schemas.microsoft.com/office/drawing/2014/main" id="{9AC2F1D1-1AE5-9EFB-5C41-D0BA282D35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39EC7-3610-4119-B990-AAC57BFAB70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20235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A1C0-DF73-59F9-7F79-1E20888F5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80BE31-A6CE-0A68-9049-46835F690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EBAC79-BA96-6289-CE87-A607DC7FE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EEFF55-5B90-350B-AAD2-357346686E34}"/>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6" name="Footer Placeholder 5">
            <a:extLst>
              <a:ext uri="{FF2B5EF4-FFF2-40B4-BE49-F238E27FC236}">
                <a16:creationId xmlns:a16="http://schemas.microsoft.com/office/drawing/2014/main" id="{B2545FB3-ADD8-2ECF-805C-BE68FADBA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833929-8CD9-1DA0-4C06-B6934F51B11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68578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5A5F-7783-499E-9377-3210199834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CA243A-C284-88CE-16D1-09F73127C4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E3E7FA-2738-CC66-3A33-AF2665F889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52B17-F93D-D397-FB9D-F548BD362AB1}"/>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6" name="Footer Placeholder 5">
            <a:extLst>
              <a:ext uri="{FF2B5EF4-FFF2-40B4-BE49-F238E27FC236}">
                <a16:creationId xmlns:a16="http://schemas.microsoft.com/office/drawing/2014/main" id="{8A648A4A-D02F-90AA-6306-2A3C8C61D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1AF598-401C-397D-5CF5-3A9D5CA82750}"/>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77238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A2BB-D4CC-5B9B-2348-E67CC05EB3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7E9190-84A6-F9EA-2390-7756FA27F3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E116-5473-7F3F-8433-5244C90E7BD8}"/>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5" name="Footer Placeholder 4">
            <a:extLst>
              <a:ext uri="{FF2B5EF4-FFF2-40B4-BE49-F238E27FC236}">
                <a16:creationId xmlns:a16="http://schemas.microsoft.com/office/drawing/2014/main" id="{2FC5FA76-460F-9D21-A59E-4B4E1DD5E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0A51C-B070-BA37-CF7D-21A317D5AB3E}"/>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83250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743B3-1526-7C42-5D1E-F800423F8A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823CF1-92A9-379B-2137-1E6179E6A4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BC939-1232-F1BE-40EE-926F7F3221E8}"/>
              </a:ext>
            </a:extLst>
          </p:cNvPr>
          <p:cNvSpPr>
            <a:spLocks noGrp="1"/>
          </p:cNvSpPr>
          <p:nvPr>
            <p:ph type="dt" sz="half" idx="10"/>
          </p:nvPr>
        </p:nvSpPr>
        <p:spPr/>
        <p:txBody>
          <a:bodyPr/>
          <a:lstStyle/>
          <a:p>
            <a:fld id="{41F8F127-7721-4FB8-A2C6-5E97C2B5E019}" type="datetimeFigureOut">
              <a:rPr lang="en-US" smtClean="0"/>
              <a:t>2/27/2024</a:t>
            </a:fld>
            <a:endParaRPr lang="en-US"/>
          </a:p>
        </p:txBody>
      </p:sp>
      <p:sp>
        <p:nvSpPr>
          <p:cNvPr id="5" name="Footer Placeholder 4">
            <a:extLst>
              <a:ext uri="{FF2B5EF4-FFF2-40B4-BE49-F238E27FC236}">
                <a16:creationId xmlns:a16="http://schemas.microsoft.com/office/drawing/2014/main" id="{49314AEF-05BD-1B4A-FFF2-7F78AB001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B8F82-AEF6-1E0B-765F-D74DBC30156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80687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574F-8BA0-4DD9-8A0D-88DF8E86708B}"/>
              </a:ext>
            </a:extLst>
          </p:cNvPr>
          <p:cNvSpPr>
            <a:spLocks noGrp="1"/>
          </p:cNvSpPr>
          <p:nvPr>
            <p:ph type="ctrTitle"/>
          </p:nvPr>
        </p:nvSpPr>
        <p:spPr>
          <a:xfrm>
            <a:off x="5193437" y="1600199"/>
            <a:ext cx="6998563" cy="2732103"/>
          </a:xfrm>
          <a:prstGeom prst="rect">
            <a:avLst/>
          </a:prstGeom>
        </p:spPr>
        <p:txBody>
          <a:bodyPr anchor="b"/>
          <a:lstStyle>
            <a:lvl1pPr algn="l">
              <a:defRPr sz="6000">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E082D7F5-BC12-43B2-9B38-EB14BFE04EE1}"/>
              </a:ext>
            </a:extLst>
          </p:cNvPr>
          <p:cNvSpPr>
            <a:spLocks noGrp="1"/>
          </p:cNvSpPr>
          <p:nvPr>
            <p:ph type="subTitle" idx="1"/>
          </p:nvPr>
        </p:nvSpPr>
        <p:spPr>
          <a:xfrm>
            <a:off x="5193437" y="4422159"/>
            <a:ext cx="6998564" cy="365125"/>
          </a:xfrm>
          <a:prstGeom prst="rect">
            <a:avLst/>
          </a:prstGeom>
        </p:spPr>
        <p:txBody>
          <a:bodyPr/>
          <a:lstStyle>
            <a:lvl1pPr marL="0" indent="0" algn="l">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91443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311370" y="18257"/>
            <a:ext cx="8880629" cy="7896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dirty="0"/>
          </a:p>
        </p:txBody>
      </p:sp>
      <p:sp>
        <p:nvSpPr>
          <p:cNvPr id="6" name="Title Placeholder 1">
            <a:extLst>
              <a:ext uri="{FF2B5EF4-FFF2-40B4-BE49-F238E27FC236}">
                <a16:creationId xmlns:a16="http://schemas.microsoft.com/office/drawing/2014/main" id="{05D78967-21EF-4AA2-8BE4-2FCA6F8A7653}"/>
              </a:ext>
            </a:extLst>
          </p:cNvPr>
          <p:cNvSpPr>
            <a:spLocks noGrp="1"/>
          </p:cNvSpPr>
          <p:nvPr>
            <p:ph type="title"/>
          </p:nvPr>
        </p:nvSpPr>
        <p:spPr>
          <a:xfrm>
            <a:off x="628176" y="1"/>
            <a:ext cx="8187350" cy="571499"/>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1259163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628176" y="1597981"/>
            <a:ext cx="10966059" cy="4578982"/>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6E3DAE31-D39D-4D91-8F50-8D056054A62F}"/>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4165683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628176" y="1597981"/>
            <a:ext cx="10941322" cy="4580877"/>
          </a:xfrm>
        </p:spPr>
        <p:txBody>
          <a:bodyPr/>
          <a:lstStyle>
            <a:lvl1pPr marL="0" indent="0">
              <a:buNone/>
              <a:defRPr sz="2400">
                <a:solidFill>
                  <a:srgbClr val="0070C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Title Placeholder 1">
            <a:extLst>
              <a:ext uri="{FF2B5EF4-FFF2-40B4-BE49-F238E27FC236}">
                <a16:creationId xmlns:a16="http://schemas.microsoft.com/office/drawing/2014/main" id="{4381502F-F4F5-47E5-A036-3E8E88EBED0C}"/>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Tree>
    <p:extLst>
      <p:ext uri="{BB962C8B-B14F-4D97-AF65-F5344CB8AC3E}">
        <p14:creationId xmlns:p14="http://schemas.microsoft.com/office/powerpoint/2010/main" val="3411103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612560"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6096001"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A06B0EA4-C8A7-4132-BFEF-0DDFF81DF1AE}"/>
              </a:ext>
            </a:extLst>
          </p:cNvPr>
          <p:cNvSpPr>
            <a:spLocks noGrp="1"/>
          </p:cNvSpPr>
          <p:nvPr>
            <p:ph type="title"/>
          </p:nvPr>
        </p:nvSpPr>
        <p:spPr>
          <a:xfrm>
            <a:off x="628176" y="1"/>
            <a:ext cx="8222861"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1567322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628175"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628175" y="2512381"/>
            <a:ext cx="5462626"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6090802"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6090801" y="2512381"/>
            <a:ext cx="5467825"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A49F13EA-C024-48AE-90B5-68F588A6D2CF}"/>
              </a:ext>
            </a:extLst>
          </p:cNvPr>
          <p:cNvSpPr>
            <a:spLocks noGrp="1"/>
          </p:cNvSpPr>
          <p:nvPr>
            <p:ph type="title"/>
          </p:nvPr>
        </p:nvSpPr>
        <p:spPr>
          <a:xfrm>
            <a:off x="628176" y="1"/>
            <a:ext cx="8231739" cy="55244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0127848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747FC4C-9430-4B68-AD2B-005799395D39}"/>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
        <p:nvSpPr>
          <p:cNvPr id="4" name="TextBox 3"/>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5" name="TextBox 4"/>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224550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051394" y="1606858"/>
            <a:ext cx="6507234" cy="456312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628176" y="1606859"/>
            <a:ext cx="4165766" cy="456312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38BBB283-F300-4A19-B448-60B2206B6F55}"/>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317415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183188" y="1606858"/>
            <a:ext cx="6375440" cy="455424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628175" y="1606859"/>
            <a:ext cx="4245665" cy="4554244"/>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64732130-B38F-4E21-8A3C-589F26725E53}"/>
              </a:ext>
            </a:extLst>
          </p:cNvPr>
          <p:cNvSpPr>
            <a:spLocks noGrp="1"/>
          </p:cNvSpPr>
          <p:nvPr>
            <p:ph type="title"/>
          </p:nvPr>
        </p:nvSpPr>
        <p:spPr>
          <a:xfrm>
            <a:off x="628176" y="1"/>
            <a:ext cx="8222861" cy="581024"/>
          </a:xfrm>
          <a:prstGeom prst="rect">
            <a:avLst/>
          </a:prstGeom>
        </p:spPr>
        <p:txBody>
          <a:bodyPr vert="horz" lIns="91440" tIns="45720" rIns="91440" bIns="45720" rtlCol="0" anchor="ctr">
            <a:normAutofit/>
          </a:bodyPr>
          <a:lstStyle/>
          <a:p>
            <a:endParaRPr lang="en-US" dirty="0"/>
          </a:p>
        </p:txBody>
      </p:sp>
      <p:sp>
        <p:nvSpPr>
          <p:cNvPr id="6" name="TextBox 5"/>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7" name="TextBox 6"/>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4722815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628176" y="1597981"/>
            <a:ext cx="10941322" cy="45789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a:extLst>
              <a:ext uri="{FF2B5EF4-FFF2-40B4-BE49-F238E27FC236}">
                <a16:creationId xmlns:a16="http://schemas.microsoft.com/office/drawing/2014/main" id="{3086777C-386E-4DFE-9BE7-63682A461485}"/>
              </a:ext>
            </a:extLst>
          </p:cNvPr>
          <p:cNvSpPr>
            <a:spLocks noGrp="1"/>
          </p:cNvSpPr>
          <p:nvPr>
            <p:ph type="title"/>
          </p:nvPr>
        </p:nvSpPr>
        <p:spPr>
          <a:xfrm>
            <a:off x="628176" y="1"/>
            <a:ext cx="8213983" cy="57149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8665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628175" y="1589103"/>
            <a:ext cx="10941322" cy="458786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AABDBED6-01BA-4F2B-9569-ED8032753950}"/>
              </a:ext>
            </a:extLst>
          </p:cNvPr>
          <p:cNvSpPr>
            <a:spLocks noGrp="1"/>
          </p:cNvSpPr>
          <p:nvPr>
            <p:ph type="title"/>
          </p:nvPr>
        </p:nvSpPr>
        <p:spPr>
          <a:xfrm>
            <a:off x="628176" y="1"/>
            <a:ext cx="8205106" cy="56197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9598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3.jp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3.xml"/><Relationship Id="rId5" Type="http://schemas.openxmlformats.org/officeDocument/2006/relationships/slideLayout" Target="../slideLayouts/slideLayout17.xml"/><Relationship Id="rId15" Type="http://schemas.openxmlformats.org/officeDocument/2006/relationships/image" Target="../media/image6.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796FF-222D-1E2E-7D23-7C2CDFE1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41ED22-2335-D77A-68F2-5BD129B13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4A63B-33FC-3D66-67A2-4F63979F6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8F127-7721-4FB8-A2C6-5E97C2B5E019}" type="datetimeFigureOut">
              <a:rPr lang="en-US" smtClean="0"/>
              <a:t>2/27/2024</a:t>
            </a:fld>
            <a:endParaRPr lang="en-US"/>
          </a:p>
        </p:txBody>
      </p:sp>
      <p:sp>
        <p:nvSpPr>
          <p:cNvPr id="5" name="Footer Placeholder 4">
            <a:extLst>
              <a:ext uri="{FF2B5EF4-FFF2-40B4-BE49-F238E27FC236}">
                <a16:creationId xmlns:a16="http://schemas.microsoft.com/office/drawing/2014/main" id="{F7709777-C88E-DEB1-2C91-66BDF4E70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DB51AD0-DD74-2C46-CF95-2202E3B9F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103FC1-3A4E-448F-B845-A3E46F94BBE5}" type="slidenum">
              <a:rPr lang="en-US" smtClean="0"/>
              <a:t>‹#›</a:t>
            </a:fld>
            <a:endParaRPr lang="en-US"/>
          </a:p>
        </p:txBody>
      </p:sp>
    </p:spTree>
    <p:extLst>
      <p:ext uri="{BB962C8B-B14F-4D97-AF65-F5344CB8AC3E}">
        <p14:creationId xmlns:p14="http://schemas.microsoft.com/office/powerpoint/2010/main" val="477498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36DA72-9373-413D-90C2-B12F84A4BF3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13" name="Rectangle 12">
            <a:extLst>
              <a:ext uri="{FF2B5EF4-FFF2-40B4-BE49-F238E27FC236}">
                <a16:creationId xmlns:a16="http://schemas.microsoft.com/office/drawing/2014/main" id="{B700E21E-0BA2-4C89-8691-A6161B41AA11}"/>
              </a:ext>
            </a:extLst>
          </p:cNvPr>
          <p:cNvSpPr/>
          <p:nvPr userDrawn="1"/>
        </p:nvSpPr>
        <p:spPr>
          <a:xfrm>
            <a:off x="5184559" y="1600200"/>
            <a:ext cx="7007441" cy="365760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Logo&#10;&#10;Description automatically generated">
            <a:extLst>
              <a:ext uri="{FF2B5EF4-FFF2-40B4-BE49-F238E27FC236}">
                <a16:creationId xmlns:a16="http://schemas.microsoft.com/office/drawing/2014/main" id="{437EFD07-DCAC-4344-A296-7B657609E7D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28178" y="183674"/>
            <a:ext cx="2736460" cy="499085"/>
          </a:xfrm>
          <a:prstGeom prst="rect">
            <a:avLst/>
          </a:prstGeom>
        </p:spPr>
      </p:pic>
    </p:spTree>
    <p:extLst>
      <p:ext uri="{BB962C8B-B14F-4D97-AF65-F5344CB8AC3E}">
        <p14:creationId xmlns:p14="http://schemas.microsoft.com/office/powerpoint/2010/main" val="116522316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EDE25AE-F103-49BC-9B89-0B1E7BCFB6DE}"/>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572738"/>
          </a:xfrm>
          <a:prstGeom prst="rect">
            <a:avLst/>
          </a:prstGeom>
        </p:spPr>
      </p:pic>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28176" y="1"/>
            <a:ext cx="8213983" cy="572737"/>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628176" y="1313895"/>
            <a:ext cx="10941323" cy="48630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a:extLst>
              <a:ext uri="{FF2B5EF4-FFF2-40B4-BE49-F238E27FC236}">
                <a16:creationId xmlns:a16="http://schemas.microsoft.com/office/drawing/2014/main" id="{24CB6BFF-A477-48C9-AA27-0D5A005B4CC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407121"/>
            <a:ext cx="12192000" cy="450879"/>
          </a:xfrm>
          <a:prstGeom prst="rect">
            <a:avLst/>
          </a:prstGeom>
        </p:spPr>
      </p:pic>
      <p:pic>
        <p:nvPicPr>
          <p:cNvPr id="16" name="Picture 15" descr="Logo&#10;&#10;Description automatically generated">
            <a:extLst>
              <a:ext uri="{FF2B5EF4-FFF2-40B4-BE49-F238E27FC236}">
                <a16:creationId xmlns:a16="http://schemas.microsoft.com/office/drawing/2014/main" id="{5381A15E-FFCE-435E-9C14-6C629375BFF6}"/>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9229725" y="73518"/>
            <a:ext cx="2334099" cy="425701"/>
          </a:xfrm>
          <a:prstGeom prst="rect">
            <a:avLst/>
          </a:prstGeom>
        </p:spPr>
      </p:pic>
      <p:pic>
        <p:nvPicPr>
          <p:cNvPr id="17" name="Picture 16" descr="Shape&#10;&#10;Description automatically generated with medium confidence">
            <a:extLst>
              <a:ext uri="{FF2B5EF4-FFF2-40B4-BE49-F238E27FC236}">
                <a16:creationId xmlns:a16="http://schemas.microsoft.com/office/drawing/2014/main" id="{290B9EB1-B956-4D5D-A294-4C2DE882032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524479" y="6585209"/>
            <a:ext cx="3743535" cy="321429"/>
          </a:xfrm>
          <a:prstGeom prst="rect">
            <a:avLst/>
          </a:prstGeom>
        </p:spPr>
      </p:pic>
    </p:spTree>
    <p:extLst>
      <p:ext uri="{BB962C8B-B14F-4D97-AF65-F5344CB8AC3E}">
        <p14:creationId xmlns:p14="http://schemas.microsoft.com/office/powerpoint/2010/main" val="251509094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algn="l" defTabSz="914400" rtl="0" eaLnBrk="1" latinLnBrk="0" hangingPunct="1">
        <a:lnSpc>
          <a:spcPct val="90000"/>
        </a:lnSpc>
        <a:spcBef>
          <a:spcPct val="0"/>
        </a:spcBef>
        <a:buNone/>
        <a:defRPr sz="30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3.bin"/><Relationship Id="rId11" Type="http://schemas.openxmlformats.org/officeDocument/2006/relationships/image" Target="../media/image15.png"/><Relationship Id="rId5" Type="http://schemas.openxmlformats.org/officeDocument/2006/relationships/image" Target="../media/image12.png"/><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hyperlink" Target="https://kissflow.com/project/five-phases-of-project-management/" TargetMode="External"/><Relationship Id="rId2" Type="http://schemas.openxmlformats.org/officeDocument/2006/relationships/hyperlink" Target="https://kissflow.com/project/roles-and-responsibilities-of-project-manager/"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forbes.com/advisor/business/scope-creep/" TargetMode="External"/><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9.jf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7.jpg"/><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br>
              <a:rPr lang="en-US" sz="4000" b="0" dirty="0">
                <a:solidFill>
                  <a:schemeClr val="bg1"/>
                </a:solidFill>
                <a:effectLst/>
                <a:latin typeface="Cambria" panose="02040503050406030204" pitchFamily="18" charset="0"/>
                <a:ea typeface="Cambria" panose="02040503050406030204" pitchFamily="18" charset="0"/>
              </a:rPr>
            </a:br>
            <a:r>
              <a:rPr lang="en-US" sz="4000" b="0" dirty="0">
                <a:solidFill>
                  <a:schemeClr val="bg1"/>
                </a:solidFill>
                <a:effectLst/>
                <a:latin typeface="Cambria" panose="02040503050406030204" pitchFamily="18" charset="0"/>
                <a:ea typeface="Cambria" panose="02040503050406030204" pitchFamily="18" charset="0"/>
              </a:rPr>
              <a:t>INFORMATION TECHNOLOGY PROJECT MANAGEMENT </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en-US" sz="2700" dirty="0">
                <a:solidFill>
                  <a:schemeClr val="accent1">
                    <a:lumMod val="40000"/>
                    <a:lumOff val="60000"/>
                  </a:schemeClr>
                </a:solidFill>
                <a:latin typeface="Cambria" panose="02040503050406030204" pitchFamily="18" charset="0"/>
                <a:ea typeface="Cambria" panose="02040503050406030204" pitchFamily="18" charset="0"/>
              </a:rPr>
              <a:t>Chap II: </a:t>
            </a:r>
            <a:r>
              <a:rPr lang="vi-VN" sz="2700" dirty="0">
                <a:solidFill>
                  <a:schemeClr val="accent1">
                    <a:lumMod val="40000"/>
                    <a:lumOff val="60000"/>
                  </a:schemeClr>
                </a:solidFill>
                <a:latin typeface="Cambria" panose="02040503050406030204" pitchFamily="18" charset="0"/>
                <a:ea typeface="Cambria" panose="02040503050406030204" pitchFamily="18" charset="0"/>
              </a:rPr>
              <a:t>IT </a:t>
            </a:r>
            <a:r>
              <a:rPr lang="en-US" sz="2700" dirty="0">
                <a:solidFill>
                  <a:schemeClr val="accent1">
                    <a:lumMod val="40000"/>
                    <a:lumOff val="60000"/>
                  </a:schemeClr>
                </a:solidFill>
                <a:latin typeface="Cambria" panose="02040503050406030204" pitchFamily="18" charset="0"/>
                <a:ea typeface="Cambria" panose="02040503050406030204" pitchFamily="18" charset="0"/>
              </a:rPr>
              <a:t>project Scope</a:t>
            </a:r>
            <a:r>
              <a:rPr lang="vi-VN" sz="2700" dirty="0">
                <a:solidFill>
                  <a:schemeClr val="accent1">
                    <a:lumMod val="40000"/>
                    <a:lumOff val="60000"/>
                  </a:schemeClr>
                </a:solidFill>
                <a:latin typeface="Cambria" panose="02040503050406030204" pitchFamily="18" charset="0"/>
                <a:ea typeface="Cambria" panose="02040503050406030204" pitchFamily="18" charset="0"/>
              </a:rPr>
              <a:t> management</a:t>
            </a:r>
            <a:br>
              <a:rPr lang="en-US" sz="2700" dirty="0">
                <a:solidFill>
                  <a:schemeClr val="bg1"/>
                </a:solidFill>
                <a:latin typeface="Cambria" panose="02040503050406030204" pitchFamily="18" charset="0"/>
                <a:ea typeface="Cambria" panose="02040503050406030204" pitchFamily="18" charset="0"/>
              </a:rPr>
            </a:br>
            <a:r>
              <a:rPr lang="en-US" sz="2000" dirty="0">
                <a:solidFill>
                  <a:schemeClr val="accent1">
                    <a:lumMod val="60000"/>
                    <a:lumOff val="40000"/>
                  </a:schemeClr>
                </a:solidFill>
                <a:latin typeface="Cambria" panose="02040503050406030204" pitchFamily="18" charset="0"/>
                <a:ea typeface="Cambria" panose="02040503050406030204" pitchFamily="18" charset="0"/>
              </a:rPr>
              <a:t>Lecturer: Dr. Thanh NGO</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684941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58055" y="975092"/>
            <a:ext cx="10788691" cy="20116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PROJECT SCOPE INTRODUCTION </a:t>
            </a:r>
          </a:p>
          <a:p>
            <a:pPr marL="514350" indent="-514350">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PROJECT SCOPE MANAGEMENT PROCESSES </a:t>
            </a:r>
          </a:p>
          <a:p>
            <a:pPr marL="514350" indent="-514350">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PROJECT SCOPE MANAGEMENT INITIATING &amp; DEFINITION </a:t>
            </a:r>
          </a:p>
          <a:p>
            <a:pPr marL="514350" indent="-514350">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WORK BREAKDOWN STRUCTURE (WBS)</a:t>
            </a:r>
          </a:p>
          <a:p>
            <a:pPr marL="514350" indent="-514350">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CONTROL &amp; MANAGE SOW CHANGE(S). </a:t>
            </a: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
        <p:nvSpPr>
          <p:cNvPr id="5" name="Rectangle 4">
            <a:extLst>
              <a:ext uri="{FF2B5EF4-FFF2-40B4-BE49-F238E27FC236}">
                <a16:creationId xmlns:a16="http://schemas.microsoft.com/office/drawing/2014/main" id="{A95C758D-1344-FC52-DE08-DE5407E409D5}"/>
              </a:ext>
            </a:extLst>
          </p:cNvPr>
          <p:cNvSpPr/>
          <p:nvPr/>
        </p:nvSpPr>
        <p:spPr>
          <a:xfrm>
            <a:off x="458055" y="451872"/>
            <a:ext cx="1787221" cy="523220"/>
          </a:xfrm>
          <a:prstGeom prst="rect">
            <a:avLst/>
          </a:prstGeom>
        </p:spPr>
        <p:txBody>
          <a:bodyPr wrap="square">
            <a:spAutoFit/>
          </a:bodyPr>
          <a:lstStyle/>
          <a:p>
            <a:r>
              <a:rPr lang="en-AU" sz="2800" b="1" dirty="0">
                <a:solidFill>
                  <a:schemeClr val="accent5"/>
                </a:solidFill>
                <a:latin typeface="Cambria" panose="02040503050406030204" pitchFamily="18" charset="0"/>
                <a:ea typeface="Cambria" panose="02040503050406030204" pitchFamily="18" charset="0"/>
              </a:rPr>
              <a:t>CONTENT</a:t>
            </a:r>
          </a:p>
        </p:txBody>
      </p:sp>
    </p:spTree>
    <p:extLst>
      <p:ext uri="{BB962C8B-B14F-4D97-AF65-F5344CB8AC3E}">
        <p14:creationId xmlns:p14="http://schemas.microsoft.com/office/powerpoint/2010/main" val="275841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2" name="Group 17">
            <a:extLst>
              <a:ext uri="{FF2B5EF4-FFF2-40B4-BE49-F238E27FC236}">
                <a16:creationId xmlns:a16="http://schemas.microsoft.com/office/drawing/2014/main" id="{B519BB3C-881A-E02E-8836-2029D688C7F2}"/>
              </a:ext>
            </a:extLst>
          </p:cNvPr>
          <p:cNvGrpSpPr>
            <a:grpSpLocks/>
          </p:cNvGrpSpPr>
          <p:nvPr/>
        </p:nvGrpSpPr>
        <p:grpSpPr bwMode="auto">
          <a:xfrm>
            <a:off x="1211980" y="564314"/>
            <a:ext cx="2540000" cy="1539875"/>
            <a:chOff x="327" y="935"/>
            <a:chExt cx="1600" cy="970"/>
          </a:xfrm>
        </p:grpSpPr>
        <p:graphicFrame>
          <p:nvGraphicFramePr>
            <p:cNvPr id="8" name="Object 8">
              <a:extLst>
                <a:ext uri="{FF2B5EF4-FFF2-40B4-BE49-F238E27FC236}">
                  <a16:creationId xmlns:a16="http://schemas.microsoft.com/office/drawing/2014/main" id="{4788A20E-EFA1-3F3E-65D1-04C7C2662501}"/>
                </a:ext>
              </a:extLst>
            </p:cNvPr>
            <p:cNvGraphicFramePr>
              <a:graphicFrameLocks noChangeAspect="1"/>
            </p:cNvGraphicFramePr>
            <p:nvPr/>
          </p:nvGraphicFramePr>
          <p:xfrm>
            <a:off x="567" y="935"/>
            <a:ext cx="1194" cy="726"/>
          </p:xfrm>
          <a:graphic>
            <a:graphicData uri="http://schemas.openxmlformats.org/presentationml/2006/ole">
              <mc:AlternateContent xmlns:mc="http://schemas.openxmlformats.org/markup-compatibility/2006">
                <mc:Choice xmlns:v="urn:schemas-microsoft-com:vml" Requires="v">
                  <p:oleObj name="Photo Editor Photo" r:id="rId2" imgW="1895238" imgH="1152381" progId="MSPhotoEd.3">
                    <p:embed/>
                  </p:oleObj>
                </mc:Choice>
                <mc:Fallback>
                  <p:oleObj name="Photo Editor Photo" r:id="rId2" imgW="1895238" imgH="1152381" progId="MSPhotoEd.3">
                    <p:embed/>
                    <p:pic>
                      <p:nvPicPr>
                        <p:cNvPr id="150536" name="Object 8">
                          <a:extLst>
                            <a:ext uri="{FF2B5EF4-FFF2-40B4-BE49-F238E27FC236}">
                              <a16:creationId xmlns:a16="http://schemas.microsoft.com/office/drawing/2014/main" id="{4A3A7768-717E-3925-1BD0-2E6D1084B3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 y="935"/>
                          <a:ext cx="1194" cy="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12">
              <a:extLst>
                <a:ext uri="{FF2B5EF4-FFF2-40B4-BE49-F238E27FC236}">
                  <a16:creationId xmlns:a16="http://schemas.microsoft.com/office/drawing/2014/main" id="{3AAD99FD-9E72-E3CE-4B8A-852DCA41B6D4}"/>
                </a:ext>
              </a:extLst>
            </p:cNvPr>
            <p:cNvSpPr txBox="1">
              <a:spLocks noChangeArrowheads="1"/>
            </p:cNvSpPr>
            <p:nvPr/>
          </p:nvSpPr>
          <p:spPr bwMode="auto">
            <a:xfrm>
              <a:off x="327" y="1674"/>
              <a:ext cx="16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GB" altLang="en-US" sz="1800" b="1" i="0" dirty="0"/>
                <a:t>Customer needs </a:t>
              </a:r>
            </a:p>
          </p:txBody>
        </p:sp>
      </p:grpSp>
      <p:grpSp>
        <p:nvGrpSpPr>
          <p:cNvPr id="10" name="Group 16">
            <a:extLst>
              <a:ext uri="{FF2B5EF4-FFF2-40B4-BE49-F238E27FC236}">
                <a16:creationId xmlns:a16="http://schemas.microsoft.com/office/drawing/2014/main" id="{0B32F776-1DB6-2603-5892-9336A02D1D74}"/>
              </a:ext>
            </a:extLst>
          </p:cNvPr>
          <p:cNvGrpSpPr>
            <a:grpSpLocks/>
          </p:cNvGrpSpPr>
          <p:nvPr/>
        </p:nvGrpSpPr>
        <p:grpSpPr bwMode="auto">
          <a:xfrm>
            <a:off x="4154447" y="412676"/>
            <a:ext cx="3885835" cy="2415878"/>
            <a:chOff x="1927" y="594"/>
            <a:chExt cx="2229" cy="1335"/>
          </a:xfrm>
        </p:grpSpPr>
        <p:graphicFrame>
          <p:nvGraphicFramePr>
            <p:cNvPr id="12" name="Object 11">
              <a:extLst>
                <a:ext uri="{FF2B5EF4-FFF2-40B4-BE49-F238E27FC236}">
                  <a16:creationId xmlns:a16="http://schemas.microsoft.com/office/drawing/2014/main" id="{9DF40F1A-2B31-1381-5BBC-C8D79004A531}"/>
                </a:ext>
              </a:extLst>
            </p:cNvPr>
            <p:cNvGraphicFramePr>
              <a:graphicFrameLocks noChangeAspect="1"/>
            </p:cNvGraphicFramePr>
            <p:nvPr/>
          </p:nvGraphicFramePr>
          <p:xfrm>
            <a:off x="2109" y="618"/>
            <a:ext cx="1617" cy="894"/>
          </p:xfrm>
          <a:graphic>
            <a:graphicData uri="http://schemas.openxmlformats.org/presentationml/2006/ole">
              <mc:AlternateContent xmlns:mc="http://schemas.openxmlformats.org/markup-compatibility/2006">
                <mc:Choice xmlns:v="urn:schemas-microsoft-com:vml" Requires="v">
                  <p:oleObj name="Photo Editor Photo" r:id="rId4" imgW="1533739" imgH="847843" progId="MSPhotoEd.3">
                    <p:embed/>
                  </p:oleObj>
                </mc:Choice>
                <mc:Fallback>
                  <p:oleObj name="Photo Editor Photo" r:id="rId4" imgW="1533739" imgH="847843" progId="MSPhotoEd.3">
                    <p:embed/>
                    <p:pic>
                      <p:nvPicPr>
                        <p:cNvPr id="150539" name="Object 11">
                          <a:extLst>
                            <a:ext uri="{FF2B5EF4-FFF2-40B4-BE49-F238E27FC236}">
                              <a16:creationId xmlns:a16="http://schemas.microsoft.com/office/drawing/2014/main" id="{D808C50C-DE19-3BC0-E227-60366FD67A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9" y="618"/>
                          <a:ext cx="1617" cy="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Text Box 13">
              <a:extLst>
                <a:ext uri="{FF2B5EF4-FFF2-40B4-BE49-F238E27FC236}">
                  <a16:creationId xmlns:a16="http://schemas.microsoft.com/office/drawing/2014/main" id="{519333FC-E27B-881F-D6F8-36C00D9FCC55}"/>
                </a:ext>
              </a:extLst>
            </p:cNvPr>
            <p:cNvSpPr txBox="1">
              <a:spLocks noChangeArrowheads="1"/>
            </p:cNvSpPr>
            <p:nvPr/>
          </p:nvSpPr>
          <p:spPr bwMode="auto">
            <a:xfrm>
              <a:off x="1927" y="1525"/>
              <a:ext cx="16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GB" altLang="en-US" sz="1800" b="1" i="0" dirty="0"/>
                <a:t>Customer needs description</a:t>
              </a:r>
            </a:p>
          </p:txBody>
        </p:sp>
        <p:sp>
          <p:nvSpPr>
            <p:cNvPr id="14" name="AutoShape 14">
              <a:extLst>
                <a:ext uri="{FF2B5EF4-FFF2-40B4-BE49-F238E27FC236}">
                  <a16:creationId xmlns:a16="http://schemas.microsoft.com/office/drawing/2014/main" id="{8C8A9006-F066-BD3F-E450-DF5127A4353D}"/>
                </a:ext>
              </a:extLst>
            </p:cNvPr>
            <p:cNvSpPr>
              <a:spLocks noChangeArrowheads="1"/>
            </p:cNvSpPr>
            <p:nvPr/>
          </p:nvSpPr>
          <p:spPr bwMode="auto">
            <a:xfrm>
              <a:off x="3557" y="594"/>
              <a:ext cx="544" cy="816"/>
            </a:xfrm>
            <a:prstGeom prst="foldedCorner">
              <a:avLst>
                <a:gd name="adj" fmla="val 12500"/>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5">
              <a:extLst>
                <a:ext uri="{FF2B5EF4-FFF2-40B4-BE49-F238E27FC236}">
                  <a16:creationId xmlns:a16="http://schemas.microsoft.com/office/drawing/2014/main" id="{A8543275-7035-5CDE-9F45-86ADFF80B3A4}"/>
                </a:ext>
              </a:extLst>
            </p:cNvPr>
            <p:cNvSpPr>
              <a:spLocks noChangeArrowheads="1"/>
            </p:cNvSpPr>
            <p:nvPr/>
          </p:nvSpPr>
          <p:spPr bwMode="auto">
            <a:xfrm>
              <a:off x="3566" y="605"/>
              <a:ext cx="590" cy="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i="0" dirty="0"/>
                <a:t>simple, red, robust, with wheels</a:t>
              </a:r>
            </a:p>
          </p:txBody>
        </p:sp>
      </p:grpSp>
      <p:grpSp>
        <p:nvGrpSpPr>
          <p:cNvPr id="16" name="Group 25">
            <a:extLst>
              <a:ext uri="{FF2B5EF4-FFF2-40B4-BE49-F238E27FC236}">
                <a16:creationId xmlns:a16="http://schemas.microsoft.com/office/drawing/2014/main" id="{79F2690B-61FE-3655-4145-CD0097BA1501}"/>
              </a:ext>
            </a:extLst>
          </p:cNvPr>
          <p:cNvGrpSpPr>
            <a:grpSpLocks/>
          </p:cNvGrpSpPr>
          <p:nvPr/>
        </p:nvGrpSpPr>
        <p:grpSpPr bwMode="auto">
          <a:xfrm>
            <a:off x="1500147" y="2909181"/>
            <a:ext cx="2654300" cy="2743200"/>
            <a:chOff x="385" y="2205"/>
            <a:chExt cx="1672" cy="1728"/>
          </a:xfrm>
        </p:grpSpPr>
        <p:graphicFrame>
          <p:nvGraphicFramePr>
            <p:cNvPr id="17" name="Object 10">
              <a:extLst>
                <a:ext uri="{FF2B5EF4-FFF2-40B4-BE49-F238E27FC236}">
                  <a16:creationId xmlns:a16="http://schemas.microsoft.com/office/drawing/2014/main" id="{1250B231-A334-4656-DEDB-53D6A44DCDF1}"/>
                </a:ext>
              </a:extLst>
            </p:cNvPr>
            <p:cNvGraphicFramePr>
              <a:graphicFrameLocks noChangeAspect="1"/>
            </p:cNvGraphicFramePr>
            <p:nvPr/>
          </p:nvGraphicFramePr>
          <p:xfrm>
            <a:off x="476" y="2205"/>
            <a:ext cx="1276" cy="1497"/>
          </p:xfrm>
          <a:graphic>
            <a:graphicData uri="http://schemas.openxmlformats.org/presentationml/2006/ole">
              <mc:AlternateContent xmlns:mc="http://schemas.openxmlformats.org/markup-compatibility/2006">
                <mc:Choice xmlns:v="urn:schemas-microsoft-com:vml" Requires="v">
                  <p:oleObj name="Photo Editor Photo" r:id="rId6" imgW="1486107" imgH="1743318" progId="MSPhotoEd.3">
                    <p:embed/>
                  </p:oleObj>
                </mc:Choice>
                <mc:Fallback>
                  <p:oleObj name="Photo Editor Photo" r:id="rId6" imgW="1486107" imgH="1743318" progId="MSPhotoEd.3">
                    <p:embed/>
                    <p:pic>
                      <p:nvPicPr>
                        <p:cNvPr id="150538" name="Object 10">
                          <a:extLst>
                            <a:ext uri="{FF2B5EF4-FFF2-40B4-BE49-F238E27FC236}">
                              <a16:creationId xmlns:a16="http://schemas.microsoft.com/office/drawing/2014/main" id="{B653E0A6-552A-B730-3B29-20172FD156D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6" y="2205"/>
                          <a:ext cx="1276" cy="1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Text Box 18">
              <a:extLst>
                <a:ext uri="{FF2B5EF4-FFF2-40B4-BE49-F238E27FC236}">
                  <a16:creationId xmlns:a16="http://schemas.microsoft.com/office/drawing/2014/main" id="{4ADD7D0C-EC07-74F6-C13A-6489EC95548C}"/>
                </a:ext>
              </a:extLst>
            </p:cNvPr>
            <p:cNvSpPr txBox="1">
              <a:spLocks noChangeArrowheads="1"/>
            </p:cNvSpPr>
            <p:nvPr/>
          </p:nvSpPr>
          <p:spPr bwMode="auto">
            <a:xfrm>
              <a:off x="385" y="3702"/>
              <a:ext cx="1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1800" b="1" i="0"/>
                <a:t>What is finally developed</a:t>
              </a:r>
            </a:p>
          </p:txBody>
        </p:sp>
      </p:grpSp>
      <p:grpSp>
        <p:nvGrpSpPr>
          <p:cNvPr id="19" name="Group 23">
            <a:extLst>
              <a:ext uri="{FF2B5EF4-FFF2-40B4-BE49-F238E27FC236}">
                <a16:creationId xmlns:a16="http://schemas.microsoft.com/office/drawing/2014/main" id="{36CB1DAC-FDC8-D147-5E62-07A8CEFC3541}"/>
              </a:ext>
            </a:extLst>
          </p:cNvPr>
          <p:cNvGrpSpPr>
            <a:grpSpLocks/>
          </p:cNvGrpSpPr>
          <p:nvPr/>
        </p:nvGrpSpPr>
        <p:grpSpPr bwMode="auto">
          <a:xfrm>
            <a:off x="5222544" y="3091636"/>
            <a:ext cx="2303462" cy="2644775"/>
            <a:chOff x="2381" y="2432"/>
            <a:chExt cx="1451" cy="1666"/>
          </a:xfrm>
        </p:grpSpPr>
        <p:graphicFrame>
          <p:nvGraphicFramePr>
            <p:cNvPr id="20" name="Object 7">
              <a:extLst>
                <a:ext uri="{FF2B5EF4-FFF2-40B4-BE49-F238E27FC236}">
                  <a16:creationId xmlns:a16="http://schemas.microsoft.com/office/drawing/2014/main" id="{AA78F174-DD9F-C11F-8ED0-0C450C9701B3}"/>
                </a:ext>
              </a:extLst>
            </p:cNvPr>
            <p:cNvGraphicFramePr>
              <a:graphicFrameLocks noChangeAspect="1"/>
            </p:cNvGraphicFramePr>
            <p:nvPr/>
          </p:nvGraphicFramePr>
          <p:xfrm>
            <a:off x="2426" y="2432"/>
            <a:ext cx="1222" cy="1141"/>
          </p:xfrm>
          <a:graphic>
            <a:graphicData uri="http://schemas.openxmlformats.org/presentationml/2006/ole">
              <mc:AlternateContent xmlns:mc="http://schemas.openxmlformats.org/markup-compatibility/2006">
                <mc:Choice xmlns:v="urn:schemas-microsoft-com:vml" Requires="v">
                  <p:oleObj name="Photo Editor Photo" r:id="rId8" imgW="1000000" imgH="933580" progId="MSPhotoEd.3">
                    <p:embed/>
                  </p:oleObj>
                </mc:Choice>
                <mc:Fallback>
                  <p:oleObj name="Photo Editor Photo" r:id="rId8" imgW="1000000" imgH="933580" progId="MSPhotoEd.3">
                    <p:embed/>
                    <p:pic>
                      <p:nvPicPr>
                        <p:cNvPr id="150535" name="Object 7">
                          <a:extLst>
                            <a:ext uri="{FF2B5EF4-FFF2-40B4-BE49-F238E27FC236}">
                              <a16:creationId xmlns:a16="http://schemas.microsoft.com/office/drawing/2014/main" id="{90E3A480-AF1D-A171-1927-D7C191856E4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26" y="2432"/>
                          <a:ext cx="1222" cy="1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19">
              <a:extLst>
                <a:ext uri="{FF2B5EF4-FFF2-40B4-BE49-F238E27FC236}">
                  <a16:creationId xmlns:a16="http://schemas.microsoft.com/office/drawing/2014/main" id="{5D913EBE-0A91-9A73-E20A-094C200DD678}"/>
                </a:ext>
              </a:extLst>
            </p:cNvPr>
            <p:cNvSpPr txBox="1">
              <a:spLocks noChangeArrowheads="1"/>
            </p:cNvSpPr>
            <p:nvPr/>
          </p:nvSpPr>
          <p:spPr bwMode="auto">
            <a:xfrm>
              <a:off x="2381" y="3521"/>
              <a:ext cx="1451"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GB" altLang="en-US" sz="1800" b="1" i="0"/>
                <a:t>What is the manufacturer expected to do</a:t>
              </a:r>
            </a:p>
          </p:txBody>
        </p:sp>
      </p:grpSp>
      <p:grpSp>
        <p:nvGrpSpPr>
          <p:cNvPr id="23" name="Group 22">
            <a:extLst>
              <a:ext uri="{FF2B5EF4-FFF2-40B4-BE49-F238E27FC236}">
                <a16:creationId xmlns:a16="http://schemas.microsoft.com/office/drawing/2014/main" id="{9121B23D-4877-06A1-25E7-3C7BF86CF93B}"/>
              </a:ext>
            </a:extLst>
          </p:cNvPr>
          <p:cNvGrpSpPr>
            <a:grpSpLocks/>
          </p:cNvGrpSpPr>
          <p:nvPr/>
        </p:nvGrpSpPr>
        <p:grpSpPr bwMode="auto">
          <a:xfrm>
            <a:off x="8714706" y="3642606"/>
            <a:ext cx="2592387" cy="2009775"/>
            <a:chOff x="3969" y="2568"/>
            <a:chExt cx="1633" cy="1266"/>
          </a:xfrm>
        </p:grpSpPr>
        <p:graphicFrame>
          <p:nvGraphicFramePr>
            <p:cNvPr id="24" name="Object 6">
              <a:extLst>
                <a:ext uri="{FF2B5EF4-FFF2-40B4-BE49-F238E27FC236}">
                  <a16:creationId xmlns:a16="http://schemas.microsoft.com/office/drawing/2014/main" id="{BB8BB872-EA36-4149-3803-740D08B56DDD}"/>
                </a:ext>
              </a:extLst>
            </p:cNvPr>
            <p:cNvGraphicFramePr>
              <a:graphicFrameLocks noChangeAspect="1"/>
            </p:cNvGraphicFramePr>
            <p:nvPr/>
          </p:nvGraphicFramePr>
          <p:xfrm>
            <a:off x="4014" y="2568"/>
            <a:ext cx="1315" cy="829"/>
          </p:xfrm>
          <a:graphic>
            <a:graphicData uri="http://schemas.openxmlformats.org/presentationml/2006/ole">
              <mc:AlternateContent xmlns:mc="http://schemas.openxmlformats.org/markup-compatibility/2006">
                <mc:Choice xmlns:v="urn:schemas-microsoft-com:vml" Requires="v">
                  <p:oleObj name="Photo Editor Photo" r:id="rId10" imgW="1390844" imgH="876190" progId="MSPhotoEd.3">
                    <p:embed/>
                  </p:oleObj>
                </mc:Choice>
                <mc:Fallback>
                  <p:oleObj name="Photo Editor Photo" r:id="rId10" imgW="1390844" imgH="876190" progId="MSPhotoEd.3">
                    <p:embed/>
                    <p:pic>
                      <p:nvPicPr>
                        <p:cNvPr id="150534" name="Object 6">
                          <a:extLst>
                            <a:ext uri="{FF2B5EF4-FFF2-40B4-BE49-F238E27FC236}">
                              <a16:creationId xmlns:a16="http://schemas.microsoft.com/office/drawing/2014/main" id="{9BA736C1-083E-8B1D-139F-910AC7E22D0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14" y="2568"/>
                          <a:ext cx="1315" cy="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 name="Text Box 20">
              <a:extLst>
                <a:ext uri="{FF2B5EF4-FFF2-40B4-BE49-F238E27FC236}">
                  <a16:creationId xmlns:a16="http://schemas.microsoft.com/office/drawing/2014/main" id="{BF9E57A7-59BB-76EE-9996-04B0E1681BF3}"/>
                </a:ext>
              </a:extLst>
            </p:cNvPr>
            <p:cNvSpPr txBox="1">
              <a:spLocks noChangeArrowheads="1"/>
            </p:cNvSpPr>
            <p:nvPr/>
          </p:nvSpPr>
          <p:spPr bwMode="auto">
            <a:xfrm>
              <a:off x="3969" y="3430"/>
              <a:ext cx="1633"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GB" altLang="en-US" sz="1800" b="1" i="0"/>
                <a:t>What the architect finally described</a:t>
              </a:r>
            </a:p>
          </p:txBody>
        </p:sp>
      </p:grpSp>
      <p:grpSp>
        <p:nvGrpSpPr>
          <p:cNvPr id="26" name="Group 24">
            <a:extLst>
              <a:ext uri="{FF2B5EF4-FFF2-40B4-BE49-F238E27FC236}">
                <a16:creationId xmlns:a16="http://schemas.microsoft.com/office/drawing/2014/main" id="{EFEFF306-EBC7-39FA-5ADB-6026BEF7608A}"/>
              </a:ext>
            </a:extLst>
          </p:cNvPr>
          <p:cNvGrpSpPr>
            <a:grpSpLocks/>
          </p:cNvGrpSpPr>
          <p:nvPr/>
        </p:nvGrpSpPr>
        <p:grpSpPr bwMode="auto">
          <a:xfrm>
            <a:off x="8512599" y="368786"/>
            <a:ext cx="2474913" cy="2438400"/>
            <a:chOff x="4725" y="611"/>
            <a:chExt cx="1559" cy="1536"/>
          </a:xfrm>
        </p:grpSpPr>
        <p:graphicFrame>
          <p:nvGraphicFramePr>
            <p:cNvPr id="28" name="Object 9">
              <a:extLst>
                <a:ext uri="{FF2B5EF4-FFF2-40B4-BE49-F238E27FC236}">
                  <a16:creationId xmlns:a16="http://schemas.microsoft.com/office/drawing/2014/main" id="{2B65C803-CB72-F202-CC72-C4EAE4E63769}"/>
                </a:ext>
              </a:extLst>
            </p:cNvPr>
            <p:cNvGraphicFramePr>
              <a:graphicFrameLocks noChangeAspect="1"/>
            </p:cNvGraphicFramePr>
            <p:nvPr>
              <p:extLst>
                <p:ext uri="{D42A27DB-BD31-4B8C-83A1-F6EECF244321}">
                  <p14:modId xmlns:p14="http://schemas.microsoft.com/office/powerpoint/2010/main" val="39251207"/>
                </p:ext>
              </p:extLst>
            </p:nvPr>
          </p:nvGraphicFramePr>
          <p:xfrm>
            <a:off x="4847" y="611"/>
            <a:ext cx="1315" cy="1091"/>
          </p:xfrm>
          <a:graphic>
            <a:graphicData uri="http://schemas.openxmlformats.org/presentationml/2006/ole">
              <mc:AlternateContent xmlns:mc="http://schemas.openxmlformats.org/markup-compatibility/2006">
                <mc:Choice xmlns:v="urn:schemas-microsoft-com:vml" Requires="v">
                  <p:oleObj name="Photo Editor Photo" r:id="rId12" imgW="952633" imgH="790476" progId="MSPhotoEd.3">
                    <p:embed/>
                  </p:oleObj>
                </mc:Choice>
                <mc:Fallback>
                  <p:oleObj name="Photo Editor Photo" r:id="rId12" imgW="952633" imgH="790476" progId="MSPhotoEd.3">
                    <p:embed/>
                    <p:pic>
                      <p:nvPicPr>
                        <p:cNvPr id="150537" name="Object 9">
                          <a:extLst>
                            <a:ext uri="{FF2B5EF4-FFF2-40B4-BE49-F238E27FC236}">
                              <a16:creationId xmlns:a16="http://schemas.microsoft.com/office/drawing/2014/main" id="{0B38168C-50F1-AD04-5512-1249D6633EE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47" y="611"/>
                          <a:ext cx="1315" cy="1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Text Box 21">
              <a:extLst>
                <a:ext uri="{FF2B5EF4-FFF2-40B4-BE49-F238E27FC236}">
                  <a16:creationId xmlns:a16="http://schemas.microsoft.com/office/drawing/2014/main" id="{B6EB58E1-A711-7546-75C7-99ACD099832D}"/>
                </a:ext>
              </a:extLst>
            </p:cNvPr>
            <p:cNvSpPr txBox="1">
              <a:spLocks noChangeArrowheads="1"/>
            </p:cNvSpPr>
            <p:nvPr/>
          </p:nvSpPr>
          <p:spPr bwMode="auto">
            <a:xfrm>
              <a:off x="4725" y="1743"/>
              <a:ext cx="155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GB" altLang="en-US" sz="1800" b="1" i="0" dirty="0"/>
                <a:t>What the architect understands</a:t>
              </a:r>
            </a:p>
          </p:txBody>
        </p:sp>
      </p:grpSp>
    </p:spTree>
    <p:extLst>
      <p:ext uri="{BB962C8B-B14F-4D97-AF65-F5344CB8AC3E}">
        <p14:creationId xmlns:p14="http://schemas.microsoft.com/office/powerpoint/2010/main" val="186550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7D571B-31DC-DFD8-0B63-31E0DE77B32B}"/>
              </a:ext>
            </a:extLst>
          </p:cNvPr>
          <p:cNvSpPr txBox="1"/>
          <p:nvPr/>
        </p:nvSpPr>
        <p:spPr>
          <a:xfrm>
            <a:off x="423430" y="443567"/>
            <a:ext cx="11454320" cy="4527393"/>
          </a:xfrm>
          <a:prstGeom prst="rect">
            <a:avLst/>
          </a:prstGeom>
          <a:noFill/>
        </p:spPr>
        <p:txBody>
          <a:bodyPr wrap="square">
            <a:spAutoFit/>
          </a:bodyPr>
          <a:lstStyle/>
          <a:p>
            <a:pPr algn="l"/>
            <a:r>
              <a:rPr lang="en-US" sz="2000" b="1" dirty="0">
                <a:solidFill>
                  <a:schemeClr val="accent2">
                    <a:lumMod val="75000"/>
                  </a:schemeClr>
                </a:solidFill>
                <a:latin typeface="Cambria" panose="02040503050406030204" pitchFamily="18" charset="0"/>
                <a:ea typeface="Cambria" panose="02040503050406030204" pitchFamily="18" charset="0"/>
              </a:rPr>
              <a:t>IMPORTANCE OF PROJECT SCOPE MANAGEMENT</a:t>
            </a:r>
          </a:p>
          <a:p>
            <a:pPr marL="0" lvl="1" algn="just">
              <a:spcBef>
                <a:spcPct val="30000"/>
              </a:spcBef>
            </a:pPr>
            <a:r>
              <a:rPr lang="en-US" dirty="0">
                <a:latin typeface="Cambria" panose="02040503050406030204" pitchFamily="18" charset="0"/>
                <a:ea typeface="Cambria" panose="02040503050406030204" pitchFamily="18" charset="0"/>
              </a:rPr>
              <a:t>For a </a:t>
            </a:r>
            <a:r>
              <a:rPr lang="en-US"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project manager</a:t>
            </a:r>
            <a:r>
              <a:rPr lang="en-US" dirty="0">
                <a:latin typeface="Cambria" panose="02040503050406030204" pitchFamily="18" charset="0"/>
                <a:ea typeface="Cambria" panose="02040503050406030204" pitchFamily="18" charset="0"/>
              </a:rPr>
              <a:t>, managing the expectations of the stakeholders and clients is one of the most challenging tasks. With a definite project scope, managers can easily stay on track and ensure that all the deadlines are being followed throughout the </a:t>
            </a:r>
            <a:r>
              <a:rPr lang="en-US" dirty="0">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project life cycle.</a:t>
            </a:r>
            <a:endParaRPr lang="en-US" dirty="0">
              <a:latin typeface="Cambria" panose="02040503050406030204" pitchFamily="18" charset="0"/>
              <a:ea typeface="Cambria" panose="02040503050406030204" pitchFamily="18" charset="0"/>
            </a:endParaRPr>
          </a:p>
          <a:p>
            <a:pPr marL="0" lvl="1" algn="just">
              <a:spcBef>
                <a:spcPct val="30000"/>
              </a:spcBef>
            </a:pPr>
            <a:r>
              <a:rPr lang="en-US" i="1" dirty="0">
                <a:latin typeface="Cambria" panose="02040503050406030204" pitchFamily="18" charset="0"/>
                <a:ea typeface="Cambria" panose="02040503050406030204" pitchFamily="18" charset="0"/>
              </a:rPr>
              <a:t>A well-defined project scope management helps avoid common issues like:</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Constantly changing requirements</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Pivoting the project direction when you are already mid-way</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Realizing that the final outcome isn’t what was expected</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Going over the discussed budget</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Falling behind the project deadlines</a:t>
            </a:r>
          </a:p>
          <a:p>
            <a:pPr algn="l"/>
            <a:endParaRPr lang="en-US" b="0" i="0" dirty="0">
              <a:solidFill>
                <a:srgbClr val="1D2B36"/>
              </a:solidFill>
              <a:effectLst/>
              <a:latin typeface="Graphik Web Regular"/>
            </a:endParaRPr>
          </a:p>
          <a:p>
            <a:pPr marL="0" lvl="1" algn="just">
              <a:spcBef>
                <a:spcPct val="30000"/>
              </a:spcBef>
            </a:pPr>
            <a:r>
              <a:rPr lang="en-US" dirty="0">
                <a:latin typeface="Cambria" panose="02040503050406030204" pitchFamily="18" charset="0"/>
                <a:ea typeface="Cambria" panose="02040503050406030204" pitchFamily="18" charset="0"/>
              </a:rPr>
              <a:t>Effective project scope management gives a clear idea about the time, labor, and cost involved in the project. It helps to distinguish between what is needed and what isn’t needed for accomplishing the project. Scope in project management also establishes the control factors of the project to address elements that might change during the project life cycle.</a:t>
            </a:r>
          </a:p>
        </p:txBody>
      </p:sp>
    </p:spTree>
    <p:extLst>
      <p:ext uri="{BB962C8B-B14F-4D97-AF65-F5344CB8AC3E}">
        <p14:creationId xmlns:p14="http://schemas.microsoft.com/office/powerpoint/2010/main" val="294579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1. PROJECT SCOPE INTRODUCTION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3600986"/>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scope</a:t>
            </a:r>
          </a:p>
          <a:p>
            <a:pPr eaLnBrk="1" hangingPunct="1">
              <a:spcBef>
                <a:spcPct val="20000"/>
              </a:spcBef>
            </a:pPr>
            <a:endParaRPr lang="en-US" altLang="en-US" sz="2000" b="1" dirty="0">
              <a:solidFill>
                <a:schemeClr val="bg1"/>
              </a:solidFill>
              <a:latin typeface="Cambria" panose="02040503050406030204" pitchFamily="18" charset="0"/>
              <a:ea typeface="Cambria" panose="02040503050406030204" pitchFamily="18" charset="0"/>
            </a:endParaRPr>
          </a:p>
          <a:p>
            <a:pPr algn="r">
              <a:spcBef>
                <a:spcPct val="20000"/>
              </a:spcBef>
            </a:pPr>
            <a:r>
              <a:rPr lang="en-US" sz="2000" i="1" dirty="0">
                <a:solidFill>
                  <a:schemeClr val="bg1"/>
                </a:solidFill>
                <a:latin typeface="Cambria" panose="02040503050406030204" pitchFamily="18" charset="0"/>
                <a:ea typeface="Cambria" panose="02040503050406030204" pitchFamily="18" charset="0"/>
              </a:rPr>
              <a:t>“refers to the size of the project being completed. The size is measured in terms of project quality, complexity, quantity or magnitude of deliverable(s), detail, number of features and the capacity of the deliverable (such as the number of users a software can support)”</a:t>
            </a:r>
            <a:endParaRPr lang="en-US" altLang="en-US" sz="2000" i="1"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FE714B9-5A5F-472B-6C92-566A3A41D434}"/>
              </a:ext>
            </a:extLst>
          </p:cNvPr>
          <p:cNvSpPr txBox="1"/>
          <p:nvPr/>
        </p:nvSpPr>
        <p:spPr>
          <a:xfrm>
            <a:off x="337583" y="784286"/>
            <a:ext cx="7492216" cy="1920526"/>
          </a:xfrm>
          <a:prstGeom prst="rect">
            <a:avLst/>
          </a:prstGeom>
          <a:noFill/>
        </p:spPr>
        <p:txBody>
          <a:bodyPr wrap="square">
            <a:spAutoFit/>
          </a:bodyPr>
          <a:lstStyle/>
          <a:p>
            <a:pPr marL="0" lvl="1" algn="just" eaLnBrk="1" hangingPunct="1">
              <a:spcBef>
                <a:spcPct val="30000"/>
              </a:spcBef>
            </a:pPr>
            <a:r>
              <a:rPr lang="en-US" dirty="0">
                <a:latin typeface="Cambria" panose="02040503050406030204" pitchFamily="18" charset="0"/>
                <a:ea typeface="Cambria" panose="02040503050406030204" pitchFamily="18" charset="0"/>
              </a:rPr>
              <a:t>Project scope is </a:t>
            </a:r>
            <a:r>
              <a:rPr lang="en-US" altLang="en-US" dirty="0">
                <a:latin typeface="Cambria" panose="02040503050406030204" pitchFamily="18" charset="0"/>
                <a:ea typeface="Cambria" panose="02040503050406030204" pitchFamily="18" charset="0"/>
              </a:rPr>
              <a:t>a definition of the end result or mission of the project – a product or service for the client/customer– in specific, tangible, and measurable terms.</a:t>
            </a:r>
          </a:p>
          <a:p>
            <a:pPr marL="0" lvl="1" algn="just">
              <a:spcBef>
                <a:spcPct val="30000"/>
              </a:spcBef>
              <a:defRPr/>
            </a:pPr>
            <a:r>
              <a:rPr lang="en-US" dirty="0">
                <a:latin typeface="Cambria" panose="02040503050406030204" pitchFamily="18" charset="0"/>
                <a:ea typeface="Cambria" panose="02040503050406030204" pitchFamily="18" charset="0"/>
              </a:rPr>
              <a:t>“The processes required to ensure that the project includes all the work required, and only the work required, to complete the project successfully”</a:t>
            </a:r>
          </a:p>
          <a:p>
            <a:pPr marL="0" lvl="1" algn="just">
              <a:spcBef>
                <a:spcPct val="30000"/>
              </a:spcBef>
              <a:defRPr/>
            </a:pPr>
            <a:r>
              <a:rPr lang="en-US" dirty="0">
                <a:latin typeface="Cambria" panose="02040503050406030204" pitchFamily="18" charset="0"/>
                <a:ea typeface="Cambria" panose="02040503050406030204" pitchFamily="18" charset="0"/>
              </a:rPr>
              <a:t>Answers the question – “What will the project produce in the end”. </a:t>
            </a:r>
          </a:p>
        </p:txBody>
      </p:sp>
      <p:sp>
        <p:nvSpPr>
          <p:cNvPr id="9" name="TextBox 8">
            <a:extLst>
              <a:ext uri="{FF2B5EF4-FFF2-40B4-BE49-F238E27FC236}">
                <a16:creationId xmlns:a16="http://schemas.microsoft.com/office/drawing/2014/main" id="{96D572D1-90E1-4D9E-E488-61B320C6945A}"/>
              </a:ext>
            </a:extLst>
          </p:cNvPr>
          <p:cNvSpPr txBox="1"/>
          <p:nvPr/>
        </p:nvSpPr>
        <p:spPr>
          <a:xfrm>
            <a:off x="2999930" y="6195406"/>
            <a:ext cx="5250691" cy="369332"/>
          </a:xfrm>
          <a:prstGeom prst="rect">
            <a:avLst/>
          </a:prstGeom>
          <a:noFill/>
        </p:spPr>
        <p:txBody>
          <a:bodyPr wrap="square">
            <a:spAutoFit/>
          </a:bodyPr>
          <a:lstStyle/>
          <a:p>
            <a:r>
              <a:rPr lang="en-US" b="1" dirty="0">
                <a:solidFill>
                  <a:schemeClr val="tx1">
                    <a:lumMod val="50000"/>
                    <a:lumOff val="50000"/>
                  </a:schemeClr>
                </a:solidFill>
                <a:latin typeface="Cambria" panose="02040503050406030204" pitchFamily="18" charset="0"/>
                <a:ea typeface="Cambria" panose="02040503050406030204" pitchFamily="18" charset="0"/>
              </a:rPr>
              <a:t>The Triple Constraint of Project Management</a:t>
            </a:r>
          </a:p>
        </p:txBody>
      </p:sp>
      <p:pic>
        <p:nvPicPr>
          <p:cNvPr id="10" name="Picture 9">
            <a:extLst>
              <a:ext uri="{FF2B5EF4-FFF2-40B4-BE49-F238E27FC236}">
                <a16:creationId xmlns:a16="http://schemas.microsoft.com/office/drawing/2014/main" id="{FAC61E58-F99D-2B28-0719-B14007DA4D49}"/>
              </a:ext>
            </a:extLst>
          </p:cNvPr>
          <p:cNvPicPr>
            <a:picLocks noChangeAspect="1"/>
          </p:cNvPicPr>
          <p:nvPr/>
        </p:nvPicPr>
        <p:blipFill>
          <a:blip r:embed="rId3"/>
          <a:stretch>
            <a:fillRect/>
          </a:stretch>
        </p:blipFill>
        <p:spPr>
          <a:xfrm>
            <a:off x="3750386" y="3515360"/>
            <a:ext cx="3433436" cy="2682534"/>
          </a:xfrm>
          <a:prstGeom prst="rect">
            <a:avLst/>
          </a:prstGeom>
        </p:spPr>
      </p:pic>
      <p:sp>
        <p:nvSpPr>
          <p:cNvPr id="11" name="TextBox 10">
            <a:extLst>
              <a:ext uri="{FF2B5EF4-FFF2-40B4-BE49-F238E27FC236}">
                <a16:creationId xmlns:a16="http://schemas.microsoft.com/office/drawing/2014/main" id="{A4D83BBD-6E82-AAAB-24D3-210C4119F7F1}"/>
              </a:ext>
            </a:extLst>
          </p:cNvPr>
          <p:cNvSpPr txBox="1"/>
          <p:nvPr/>
        </p:nvSpPr>
        <p:spPr>
          <a:xfrm>
            <a:off x="5273444" y="3630333"/>
            <a:ext cx="1488911" cy="268651"/>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Time</a:t>
            </a:r>
            <a:r>
              <a:rPr lang="en-US"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2" name="TextBox 11">
            <a:extLst>
              <a:ext uri="{FF2B5EF4-FFF2-40B4-BE49-F238E27FC236}">
                <a16:creationId xmlns:a16="http://schemas.microsoft.com/office/drawing/2014/main" id="{D6EFD198-559E-BD9A-31C2-CEE6446FAD3C}"/>
              </a:ext>
            </a:extLst>
          </p:cNvPr>
          <p:cNvSpPr txBox="1"/>
          <p:nvPr/>
        </p:nvSpPr>
        <p:spPr>
          <a:xfrm>
            <a:off x="2864276" y="5754399"/>
            <a:ext cx="1488911" cy="268651"/>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Scope</a:t>
            </a:r>
            <a:r>
              <a:rPr lang="en-US"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3" name="TextBox 12">
            <a:extLst>
              <a:ext uri="{FF2B5EF4-FFF2-40B4-BE49-F238E27FC236}">
                <a16:creationId xmlns:a16="http://schemas.microsoft.com/office/drawing/2014/main" id="{3557E6FB-F563-0F10-5649-C3CBACFD91A6}"/>
              </a:ext>
            </a:extLst>
          </p:cNvPr>
          <p:cNvSpPr txBox="1"/>
          <p:nvPr/>
        </p:nvSpPr>
        <p:spPr>
          <a:xfrm>
            <a:off x="6487013" y="5754400"/>
            <a:ext cx="1488911" cy="268651"/>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Cost</a:t>
            </a:r>
            <a:r>
              <a:rPr lang="en-US" sz="1600" b="1" dirty="0">
                <a:solidFill>
                  <a:schemeClr val="bg2">
                    <a:lumMod val="50000"/>
                  </a:schemeClr>
                </a:solidFill>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2115531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36C4C66-D7F8-A6F8-D872-5CC3BD1828FB}"/>
              </a:ext>
            </a:extLst>
          </p:cNvPr>
          <p:cNvPicPr>
            <a:picLocks noChangeAspect="1"/>
          </p:cNvPicPr>
          <p:nvPr/>
        </p:nvPicPr>
        <p:blipFill>
          <a:blip r:embed="rId2"/>
          <a:stretch>
            <a:fillRect/>
          </a:stretch>
        </p:blipFill>
        <p:spPr>
          <a:xfrm>
            <a:off x="7517485" y="2428896"/>
            <a:ext cx="4674515" cy="3652186"/>
          </a:xfrm>
          <a:prstGeom prst="rect">
            <a:avLst/>
          </a:prstGeom>
        </p:spPr>
      </p:pic>
      <p:sp>
        <p:nvSpPr>
          <p:cNvPr id="18" name="TextBox 17">
            <a:extLst>
              <a:ext uri="{FF2B5EF4-FFF2-40B4-BE49-F238E27FC236}">
                <a16:creationId xmlns:a16="http://schemas.microsoft.com/office/drawing/2014/main" id="{5ABFBE90-B732-1A0F-283F-703DEE930234}"/>
              </a:ext>
            </a:extLst>
          </p:cNvPr>
          <p:cNvSpPr txBox="1"/>
          <p:nvPr/>
        </p:nvSpPr>
        <p:spPr>
          <a:xfrm>
            <a:off x="339353" y="1875316"/>
            <a:ext cx="7769053" cy="3970318"/>
          </a:xfrm>
          <a:prstGeom prst="rect">
            <a:avLst/>
          </a:prstGeom>
          <a:noFill/>
        </p:spPr>
        <p:txBody>
          <a:bodyPr wrap="square">
            <a:spAutoFit/>
          </a:bodyPr>
          <a:lstStyle/>
          <a:p>
            <a:pPr algn="l"/>
            <a:r>
              <a:rPr lang="en-US" b="1" dirty="0">
                <a:latin typeface="Cambria" panose="02040503050406030204" pitchFamily="18" charset="0"/>
                <a:ea typeface="Cambria" panose="02040503050406030204" pitchFamily="18" charset="0"/>
              </a:rPr>
              <a:t>Scope</a:t>
            </a:r>
          </a:p>
          <a:p>
            <a:pPr algn="just"/>
            <a:r>
              <a:rPr lang="en-US" dirty="0">
                <a:latin typeface="Cambria" panose="02040503050406030204" pitchFamily="18" charset="0"/>
                <a:ea typeface="Cambria" panose="02040503050406030204" pitchFamily="18" charset="0"/>
              </a:rPr>
              <a:t>The triangle’s scope component refers to the size of the project being completed. The size is measured in terms of project quality, complexity, quantity or magnitude of deliverable(s), detail, number of features and the capacity of the deliverable (such as the number of users a software can support). Unmanaged and unintended </a:t>
            </a:r>
            <a:r>
              <a:rPr lang="en-US" dirty="0">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scope creep</a:t>
            </a:r>
            <a:r>
              <a:rPr lang="en-US" dirty="0">
                <a:latin typeface="Cambria" panose="02040503050406030204" pitchFamily="18" charset="0"/>
                <a:ea typeface="Cambria" panose="02040503050406030204" pitchFamily="18" charset="0"/>
              </a:rPr>
              <a:t>—a negative increase in the project’s requirements—must be avoided to keep the project’s cost and time under control.</a:t>
            </a:r>
          </a:p>
          <a:p>
            <a:pPr algn="just"/>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Some example choices that help to balance scope include:</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Adding or removing resources</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Employing a change management plan to keep scope in check</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Cutting nice-to-have tasks to make more room for priority ones</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Extending the project’s deadline</a:t>
            </a:r>
          </a:p>
        </p:txBody>
      </p:sp>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INTRODUCTION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D04A550-A9AA-849B-79B8-4BA027C48453}"/>
              </a:ext>
            </a:extLst>
          </p:cNvPr>
          <p:cNvSpPr txBox="1"/>
          <p:nvPr/>
        </p:nvSpPr>
        <p:spPr>
          <a:xfrm>
            <a:off x="9431211" y="2553648"/>
            <a:ext cx="2133600" cy="365760"/>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Time</a:t>
            </a:r>
            <a:r>
              <a:rPr lang="en-US"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0" name="TextBox 9">
            <a:extLst>
              <a:ext uri="{FF2B5EF4-FFF2-40B4-BE49-F238E27FC236}">
                <a16:creationId xmlns:a16="http://schemas.microsoft.com/office/drawing/2014/main" id="{C477F5A7-2AFE-9BF7-B3E4-D9CC2D52EAED}"/>
              </a:ext>
            </a:extLst>
          </p:cNvPr>
          <p:cNvSpPr txBox="1"/>
          <p:nvPr/>
        </p:nvSpPr>
        <p:spPr>
          <a:xfrm>
            <a:off x="6773368" y="5927933"/>
            <a:ext cx="2133600" cy="365760"/>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Scope</a:t>
            </a:r>
            <a:r>
              <a:rPr lang="en-US"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2" name="TextBox 11">
            <a:extLst>
              <a:ext uri="{FF2B5EF4-FFF2-40B4-BE49-F238E27FC236}">
                <a16:creationId xmlns:a16="http://schemas.microsoft.com/office/drawing/2014/main" id="{FC15A5AC-AC0A-D12B-90D2-D6A1FDF555AD}"/>
              </a:ext>
            </a:extLst>
          </p:cNvPr>
          <p:cNvSpPr txBox="1"/>
          <p:nvPr/>
        </p:nvSpPr>
        <p:spPr>
          <a:xfrm>
            <a:off x="10498011" y="5974694"/>
            <a:ext cx="2133600" cy="365760"/>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Cost</a:t>
            </a:r>
            <a:r>
              <a:rPr lang="en-US"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4" name="TextBox 13">
            <a:extLst>
              <a:ext uri="{FF2B5EF4-FFF2-40B4-BE49-F238E27FC236}">
                <a16:creationId xmlns:a16="http://schemas.microsoft.com/office/drawing/2014/main" id="{9671ABF7-962E-981C-D13A-FF7055B6ECF6}"/>
              </a:ext>
            </a:extLst>
          </p:cNvPr>
          <p:cNvSpPr txBox="1"/>
          <p:nvPr/>
        </p:nvSpPr>
        <p:spPr>
          <a:xfrm>
            <a:off x="339355" y="840453"/>
            <a:ext cx="6578600" cy="369332"/>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Why Do We Manage Scope?</a:t>
            </a:r>
          </a:p>
        </p:txBody>
      </p:sp>
      <p:sp>
        <p:nvSpPr>
          <p:cNvPr id="16" name="TextBox 15">
            <a:extLst>
              <a:ext uri="{FF2B5EF4-FFF2-40B4-BE49-F238E27FC236}">
                <a16:creationId xmlns:a16="http://schemas.microsoft.com/office/drawing/2014/main" id="{04B52A99-8BEE-5E4E-23BF-E08021F47199}"/>
              </a:ext>
            </a:extLst>
          </p:cNvPr>
          <p:cNvSpPr txBox="1"/>
          <p:nvPr/>
        </p:nvSpPr>
        <p:spPr>
          <a:xfrm>
            <a:off x="339354" y="1209785"/>
            <a:ext cx="8245845" cy="646331"/>
          </a:xfrm>
          <a:prstGeom prst="rect">
            <a:avLst/>
          </a:prstGeom>
          <a:noFill/>
        </p:spPr>
        <p:txBody>
          <a:bodyPr wrap="square">
            <a:spAutoFit/>
          </a:bodyPr>
          <a:lstStyle/>
          <a:p>
            <a:pPr eaLnBrk="1" hangingPunct="1">
              <a:defRPr/>
            </a:pPr>
            <a:r>
              <a:rPr lang="en-US" dirty="0">
                <a:latin typeface="Cambria" panose="02040503050406030204" pitchFamily="18" charset="0"/>
                <a:ea typeface="Cambria" panose="02040503050406030204" pitchFamily="18" charset="0"/>
              </a:rPr>
              <a:t>Can’t manage schedule and budget if scope is out of control (Triple Constraint)</a:t>
            </a:r>
          </a:p>
          <a:p>
            <a:pPr eaLnBrk="1" hangingPunct="1">
              <a:defRPr/>
            </a:pPr>
            <a:r>
              <a:rPr lang="en-US" dirty="0">
                <a:latin typeface="Cambria" panose="02040503050406030204" pitchFamily="18" charset="0"/>
                <a:ea typeface="Cambria" panose="02040503050406030204" pitchFamily="18" charset="0"/>
              </a:rPr>
              <a:t>Scope docs are used to manage expectations</a:t>
            </a:r>
          </a:p>
        </p:txBody>
      </p:sp>
    </p:spTree>
    <p:extLst>
      <p:ext uri="{BB962C8B-B14F-4D97-AF65-F5344CB8AC3E}">
        <p14:creationId xmlns:p14="http://schemas.microsoft.com/office/powerpoint/2010/main" val="3161410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INTRODUCTION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746588"/>
            <a:ext cx="11574037" cy="2862322"/>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Conceptual Development</a:t>
            </a:r>
          </a:p>
          <a:p>
            <a:pPr>
              <a:lnSpc>
                <a:spcPct val="100000"/>
              </a:lnSpc>
              <a:spcBef>
                <a:spcPct val="0"/>
              </a:spcBef>
              <a:defRPr/>
            </a:pPr>
            <a:r>
              <a:rPr lang="en-US" altLang="id-ID" dirty="0">
                <a:latin typeface="Cambria" panose="02040503050406030204" pitchFamily="18" charset="0"/>
                <a:ea typeface="Cambria" panose="02040503050406030204" pitchFamily="18" charset="0"/>
              </a:rPr>
              <a:t>The process that addresses project objectives by finding the best ways to meet them</a:t>
            </a:r>
          </a:p>
          <a:p>
            <a:pPr marL="0" lvl="1" algn="just">
              <a:lnSpc>
                <a:spcPct val="100000"/>
              </a:lnSpc>
              <a:spcBef>
                <a:spcPct val="0"/>
              </a:spcBef>
              <a:buClr>
                <a:schemeClr val="accent2">
                  <a:lumMod val="75000"/>
                </a:schemeClr>
              </a:buClr>
            </a:pPr>
            <a:r>
              <a:rPr lang="en-US" altLang="id-ID" dirty="0">
                <a:latin typeface="Cambria" panose="02040503050406030204" pitchFamily="18" charset="0"/>
                <a:ea typeface="Cambria" panose="02040503050406030204" pitchFamily="18" charset="0"/>
              </a:rPr>
              <a:t>Key steps in information development:</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Problem or need statement</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Requirements gathering</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Information gathering</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Constraints</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Alternative analysis</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Project objectives</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Business case</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Diagram of a building with different types of buildings&#10;&#10;Description automatically generated">
            <a:extLst>
              <a:ext uri="{FF2B5EF4-FFF2-40B4-BE49-F238E27FC236}">
                <a16:creationId xmlns:a16="http://schemas.microsoft.com/office/drawing/2014/main" id="{E62372A1-2CD4-F6B9-CB73-7AD657958C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5891" y="1731300"/>
            <a:ext cx="7374316" cy="4610497"/>
          </a:xfrm>
          <a:prstGeom prst="rect">
            <a:avLst/>
          </a:prstGeom>
        </p:spPr>
      </p:pic>
    </p:spTree>
    <p:extLst>
      <p:ext uri="{BB962C8B-B14F-4D97-AF65-F5344CB8AC3E}">
        <p14:creationId xmlns:p14="http://schemas.microsoft.com/office/powerpoint/2010/main" val="2656090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2372A1-2CD4-F6B9-CB73-7AD657958C7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2509" y="2247503"/>
            <a:ext cx="7301080" cy="4610497"/>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INTRODUCTION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746588"/>
            <a:ext cx="11574037" cy="2308324"/>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Statement of Work (SOW)</a:t>
            </a:r>
          </a:p>
          <a:p>
            <a:pPr indent="-533400" algn="just">
              <a:buNone/>
            </a:pPr>
            <a:r>
              <a:rPr lang="en-US" altLang="id-ID" dirty="0">
                <a:latin typeface="Cambria" panose="02040503050406030204" pitchFamily="18" charset="0"/>
                <a:ea typeface="Cambria" panose="02040503050406030204" pitchFamily="18" charset="0"/>
              </a:rPr>
              <a:t>A SOW is a detailed narrative description of the work required for a project.</a:t>
            </a:r>
          </a:p>
          <a:p>
            <a:pPr indent="-533400" algn="just">
              <a:buNone/>
            </a:pPr>
            <a:r>
              <a:rPr lang="en-US" altLang="id-ID" dirty="0">
                <a:latin typeface="Cambria" panose="02040503050406030204" pitchFamily="18" charset="0"/>
                <a:ea typeface="Cambria" panose="02040503050406030204" pitchFamily="18" charset="0"/>
              </a:rPr>
              <a:t>Effective SOWs contain:</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Introduction and background(project &amp; requirements)</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Technical description of the project</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Roles &amp; responsibilities</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Timeline and milestones  </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endParaRPr lang="en-US" altLang="id-ID" dirty="0">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574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INTRODUCTION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746588"/>
            <a:ext cx="11574037" cy="2862322"/>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Statement of Work Components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Background</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Objectives</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Scope</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Task or Requirements</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Selection Criteria</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Deliverables or Delivery Schedule</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Security</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Period of Performance</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endParaRPr lang="en-US" altLang="id-ID" dirty="0">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250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INTRODUCTION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746588"/>
            <a:ext cx="11574037" cy="313932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Project Charter</a:t>
            </a:r>
          </a:p>
          <a:p>
            <a:pPr indent="-533400" algn="just"/>
            <a:r>
              <a:rPr lang="en-US" altLang="en-US" dirty="0">
                <a:solidFill>
                  <a:srgbClr val="0070C0"/>
                </a:solidFill>
                <a:latin typeface="Cambria" panose="02040503050406030204" pitchFamily="18" charset="0"/>
                <a:ea typeface="Cambria" panose="02040503050406030204" pitchFamily="18" charset="0"/>
              </a:rPr>
              <a:t>A document authorizing the project manager to initiate and lead the project.</a:t>
            </a:r>
          </a:p>
          <a:p>
            <a:pPr indent="-533400" algn="just"/>
            <a:endParaRPr lang="en-US" altLang="id-ID" dirty="0">
              <a:latin typeface="Cambria" panose="02040503050406030204" pitchFamily="18" charset="0"/>
              <a:ea typeface="Cambria" panose="02040503050406030204" pitchFamily="18" charset="0"/>
            </a:endParaRPr>
          </a:p>
          <a:p>
            <a:pPr indent="-533400" algn="just"/>
            <a:r>
              <a:rPr lang="en-US" altLang="id-ID" dirty="0">
                <a:latin typeface="Cambria" panose="02040503050406030204" pitchFamily="18" charset="0"/>
                <a:ea typeface="Cambria" panose="02040503050406030204" pitchFamily="18" charset="0"/>
              </a:rPr>
              <a:t>A document issued by the project initiator or sponsor formally sanctioning existence of project and authorizes project manager to begin applying organizational resources to project activities. Project charter is created once project sponsors have verified that there is: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a business case for the project</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elements of project are understood</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company-specific information for the project has been applied</a:t>
            </a:r>
          </a:p>
          <a:p>
            <a:pPr lvl="1" algn="just">
              <a:spcBef>
                <a:spcPct val="0"/>
              </a:spcBef>
              <a:buClr>
                <a:schemeClr val="accent2">
                  <a:lumMod val="75000"/>
                </a:schemeClr>
              </a:buClr>
              <a:buSzPct val="140000"/>
            </a:pPr>
            <a:endParaRPr lang="en-US" altLang="id-ID" dirty="0">
              <a:latin typeface="Cambria" panose="02040503050406030204" pitchFamily="18" charset="0"/>
              <a:ea typeface="Cambria" panose="02040503050406030204" pitchFamily="18" charset="0"/>
            </a:endParaRPr>
          </a:p>
          <a:p>
            <a:pPr indent="-533400" algn="just"/>
            <a:r>
              <a:rPr lang="en-US" altLang="id-ID" dirty="0">
                <a:latin typeface="Cambria" panose="02040503050406030204" pitchFamily="18" charset="0"/>
                <a:ea typeface="Cambria" panose="02040503050406030204" pitchFamily="18" charset="0"/>
              </a:rPr>
              <a:t>Demonstrates formal company approval of the project</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4165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INTRODUCTION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D3A94FE-7791-D61D-8BDA-7AD3519A9F20}"/>
              </a:ext>
            </a:extLst>
          </p:cNvPr>
          <p:cNvSpPr txBox="1"/>
          <p:nvPr/>
        </p:nvSpPr>
        <p:spPr>
          <a:xfrm>
            <a:off x="342138" y="1104692"/>
            <a:ext cx="11535612" cy="5278368"/>
          </a:xfrm>
          <a:prstGeom prst="rect">
            <a:avLst/>
          </a:prstGeom>
          <a:noFill/>
        </p:spPr>
        <p:txBody>
          <a:bodyPr wrap="square">
            <a:spAutoFit/>
          </a:bodyPr>
          <a:lstStyle/>
          <a:p>
            <a:pPr indent="-533400" algn="just"/>
            <a:r>
              <a:rPr lang="en-US" altLang="en-US" sz="1600" dirty="0">
                <a:latin typeface="Cambria" panose="02040503050406030204" pitchFamily="18" charset="0"/>
                <a:ea typeface="Cambria" panose="02040503050406030204" pitchFamily="18" charset="0"/>
              </a:rPr>
              <a:t>The project scope statement documents the entire scope, including project and product scope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en-US" sz="1600" dirty="0">
                <a:latin typeface="Cambria" panose="02040503050406030204" pitchFamily="18" charset="0"/>
                <a:ea typeface="Cambria" panose="02040503050406030204" pitchFamily="18" charset="0"/>
              </a:rPr>
              <a:t>Project scope encompasses product scope plus the work required to create the product: any project-related activities, such as documentation delivery and training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en-US" sz="1600" dirty="0">
                <a:latin typeface="Cambria" panose="02040503050406030204" pitchFamily="18" charset="0"/>
                <a:ea typeface="Cambria" panose="02040503050406030204" pitchFamily="18" charset="0"/>
              </a:rPr>
              <a:t>Product scope encompasses the functional and non-functional requirements for the ﬁnal project deliverable </a:t>
            </a:r>
          </a:p>
          <a:p>
            <a:pPr indent="-533400" algn="just">
              <a:spcBef>
                <a:spcPts val="600"/>
              </a:spcBef>
            </a:pPr>
            <a:r>
              <a:rPr lang="en-US" altLang="en-US" sz="1600" dirty="0">
                <a:latin typeface="Cambria" panose="02040503050406030204" pitchFamily="18" charset="0"/>
                <a:ea typeface="Cambria" panose="02040503050406030204" pitchFamily="18" charset="0"/>
              </a:rPr>
              <a:t>The project scope statement provides a common understanding of the project scope among project stakeholders </a:t>
            </a:r>
          </a:p>
          <a:p>
            <a:pPr indent="-533400" algn="just">
              <a:spcBef>
                <a:spcPts val="600"/>
              </a:spcBef>
            </a:pPr>
            <a:r>
              <a:rPr lang="en-US" altLang="en-US" sz="1600" dirty="0">
                <a:latin typeface="Cambria" panose="02040503050406030204" pitchFamily="18" charset="0"/>
                <a:ea typeface="Cambria" panose="02040503050406030204" pitchFamily="18" charset="0"/>
              </a:rPr>
              <a:t>The project scope statement may contain explicit scope exclusions that can help to manage stakeholder expectations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en-US" sz="1600" dirty="0">
                <a:latin typeface="Cambria" panose="02040503050406030204" pitchFamily="18" charset="0"/>
                <a:ea typeface="Cambria" panose="02040503050406030204" pitchFamily="18" charset="0"/>
              </a:rPr>
              <a:t>This can prevent the project from straying from the original vision in all project methodologies: sequential, iterative/incremental, and adaptive/agile </a:t>
            </a:r>
          </a:p>
          <a:p>
            <a:pPr indent="-533400" algn="just">
              <a:spcBef>
                <a:spcPts val="600"/>
              </a:spcBef>
            </a:pPr>
            <a:r>
              <a:rPr lang="en-US" altLang="en-US" sz="1600" dirty="0">
                <a:latin typeface="Cambria" panose="02040503050406030204" pitchFamily="18" charset="0"/>
                <a:ea typeface="Cambria" panose="02040503050406030204" pitchFamily="18" charset="0"/>
              </a:rPr>
              <a:t>The project scope statement contents include: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en-US" sz="1600" b="1" dirty="0">
                <a:latin typeface="Cambria" panose="02040503050406030204" pitchFamily="18" charset="0"/>
                <a:ea typeface="Cambria" panose="02040503050406030204" pitchFamily="18" charset="0"/>
              </a:rPr>
              <a:t>Product scope description. </a:t>
            </a:r>
            <a:r>
              <a:rPr lang="en-US" altLang="en-US" sz="1600" dirty="0">
                <a:latin typeface="Cambria" panose="02040503050406030204" pitchFamily="18" charset="0"/>
                <a:ea typeface="Cambria" panose="02040503050406030204" pitchFamily="18" charset="0"/>
              </a:rPr>
              <a:t>Progressively elaborates the characteristics of the product described in the project charter and requirements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en-US" sz="1600" b="1" dirty="0">
                <a:latin typeface="Cambria" panose="02040503050406030204" pitchFamily="18" charset="0"/>
                <a:ea typeface="Cambria" panose="02040503050406030204" pitchFamily="18" charset="0"/>
              </a:rPr>
              <a:t>Product acceptance criteria. </a:t>
            </a:r>
            <a:r>
              <a:rPr lang="en-US" altLang="en-US" sz="1600" dirty="0">
                <a:latin typeface="Cambria" panose="02040503050406030204" pitchFamily="18" charset="0"/>
                <a:ea typeface="Cambria" panose="02040503050406030204" pitchFamily="18" charset="0"/>
              </a:rPr>
              <a:t>Conditions required for acceptance of deliverables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en-US" sz="1600" b="1" dirty="0">
                <a:latin typeface="Cambria" panose="02040503050406030204" pitchFamily="18" charset="0"/>
                <a:ea typeface="Cambria" panose="02040503050406030204" pitchFamily="18" charset="0"/>
              </a:rPr>
              <a:t>Project deliverables. </a:t>
            </a:r>
            <a:r>
              <a:rPr lang="en-US" altLang="en-US" sz="1600" dirty="0">
                <a:latin typeface="Cambria" panose="02040503050406030204" pitchFamily="18" charset="0"/>
                <a:ea typeface="Cambria" panose="02040503050406030204" pitchFamily="18" charset="0"/>
              </a:rPr>
              <a:t>Deliverables include both product outputs and project outputs, such as project reports and documentation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en-US" sz="1600" b="1" dirty="0">
                <a:latin typeface="Cambria" panose="02040503050406030204" pitchFamily="18" charset="0"/>
                <a:ea typeface="Cambria" panose="02040503050406030204" pitchFamily="18" charset="0"/>
              </a:rPr>
              <a:t>Project exclusions. </a:t>
            </a:r>
            <a:r>
              <a:rPr lang="en-US" altLang="en-US" sz="1600" dirty="0">
                <a:latin typeface="Cambria" panose="02040503050406030204" pitchFamily="18" charset="0"/>
                <a:ea typeface="Cambria" panose="02040503050406030204" pitchFamily="18" charset="0"/>
              </a:rPr>
              <a:t>Identiﬁes what is excluded from project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en-US" sz="1600" b="1" dirty="0">
                <a:latin typeface="Cambria" panose="02040503050406030204" pitchFamily="18" charset="0"/>
                <a:ea typeface="Cambria" panose="02040503050406030204" pitchFamily="18" charset="0"/>
              </a:rPr>
              <a:t>Project constraints. </a:t>
            </a:r>
            <a:r>
              <a:rPr lang="en-US" altLang="en-US" sz="1600" dirty="0">
                <a:latin typeface="Cambria" panose="02040503050406030204" pitchFamily="18" charset="0"/>
                <a:ea typeface="Cambria" panose="02040503050406030204" pitchFamily="18" charset="0"/>
              </a:rPr>
              <a:t>Lists and describes anything that limits the project team</a:t>
            </a:r>
            <a:r>
              <a:rPr lang="en-US" altLang="ja-JP" sz="1600" dirty="0">
                <a:latin typeface="Cambria" panose="02040503050406030204" pitchFamily="18" charset="0"/>
                <a:ea typeface="Cambria" panose="02040503050406030204" pitchFamily="18" charset="0"/>
              </a:rPr>
              <a:t>'s options, such as budget, imposed schedule, milestones, etc. </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en-US" sz="1600" b="1" dirty="0">
                <a:latin typeface="Cambria" panose="02040503050406030204" pitchFamily="18" charset="0"/>
                <a:ea typeface="Cambria" panose="02040503050406030204" pitchFamily="18" charset="0"/>
              </a:rPr>
              <a:t>Project assumptions. </a:t>
            </a:r>
            <a:r>
              <a:rPr lang="en-US" altLang="en-US" sz="1600" dirty="0">
                <a:latin typeface="Cambria" panose="02040503050406030204" pitchFamily="18" charset="0"/>
                <a:ea typeface="Cambria" panose="02040503050406030204" pitchFamily="18" charset="0"/>
              </a:rPr>
              <a:t>Lists and describes anything assumed to be true with respect to the scope and impact if these prove to be false </a:t>
            </a:r>
          </a:p>
          <a:p>
            <a:pPr lvl="1" algn="just">
              <a:spcBef>
                <a:spcPct val="0"/>
              </a:spcBef>
              <a:buClr>
                <a:schemeClr val="accent2">
                  <a:lumMod val="75000"/>
                </a:schemeClr>
              </a:buClr>
              <a:buSzPct val="140000"/>
            </a:pPr>
            <a:endParaRPr lang="en-US" altLang="en-US" dirty="0">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58DA340A-1F2A-9857-73C5-6043D0596416}"/>
              </a:ext>
            </a:extLst>
          </p:cNvPr>
          <p:cNvSpPr txBox="1"/>
          <p:nvPr/>
        </p:nvSpPr>
        <p:spPr>
          <a:xfrm>
            <a:off x="339355" y="782944"/>
            <a:ext cx="6096000" cy="338554"/>
          </a:xfrm>
          <a:prstGeom prst="rect">
            <a:avLst/>
          </a:prstGeom>
          <a:noFill/>
        </p:spPr>
        <p:txBody>
          <a:bodyPr wrap="square">
            <a:spAutoFit/>
          </a:bodyPr>
          <a:lstStyle/>
          <a:p>
            <a:r>
              <a:rPr lang="en-US" altLang="en-US" sz="1600" b="1" dirty="0">
                <a:latin typeface="Cambria" panose="02040503050406030204" pitchFamily="18" charset="0"/>
                <a:ea typeface="Cambria" panose="02040503050406030204" pitchFamily="18" charset="0"/>
              </a:rPr>
              <a:t>Project scope statement </a:t>
            </a:r>
            <a:endParaRPr lang="en-US" sz="16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85986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INTRODUCTION</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746588"/>
            <a:ext cx="5472165" cy="2862322"/>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Scope statement </a:t>
            </a:r>
          </a:p>
          <a:p>
            <a:pPr algn="just"/>
            <a:r>
              <a:rPr lang="en-US" altLang="id-ID" dirty="0">
                <a:latin typeface="Cambria" panose="02040503050406030204" pitchFamily="18" charset="0"/>
                <a:ea typeface="Cambria" panose="02040503050406030204" pitchFamily="18" charset="0"/>
              </a:rPr>
              <a:t>Establish project goal criteria to include:</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Cost</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Schedule</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Performance</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Deliverables</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Review and approval </a:t>
            </a:r>
            <a:r>
              <a:rPr lang="en-US" altLang="en-US" dirty="0">
                <a:latin typeface="Cambria" panose="02040503050406030204" pitchFamily="18" charset="0"/>
                <a:ea typeface="Cambria" panose="02040503050406030204" pitchFamily="18" charset="0"/>
              </a:rPr>
              <a:t>“</a:t>
            </a:r>
            <a:r>
              <a:rPr lang="en-US" altLang="id-ID" dirty="0">
                <a:latin typeface="Cambria" panose="02040503050406030204" pitchFamily="18" charset="0"/>
                <a:ea typeface="Cambria" panose="02040503050406030204" pitchFamily="18" charset="0"/>
              </a:rPr>
              <a:t>gates</a:t>
            </a:r>
            <a:r>
              <a:rPr lang="en-US" altLang="en-US" dirty="0">
                <a:latin typeface="Cambria" panose="02040503050406030204" pitchFamily="18" charset="0"/>
                <a:ea typeface="Cambria" panose="02040503050406030204" pitchFamily="18" charset="0"/>
              </a:rPr>
              <a:t>”</a:t>
            </a:r>
            <a:endParaRPr lang="en-US" altLang="id-ID" dirty="0">
              <a:latin typeface="Cambria" panose="02040503050406030204" pitchFamily="18" charset="0"/>
              <a:ea typeface="Cambria" panose="02040503050406030204" pitchFamily="18" charset="0"/>
            </a:endParaRPr>
          </a:p>
          <a:p>
            <a:pPr algn="just"/>
            <a:r>
              <a:rPr lang="en-US" altLang="id-ID" dirty="0">
                <a:latin typeface="Cambria" panose="02040503050406030204" pitchFamily="18" charset="0"/>
                <a:ea typeface="Cambria" panose="02040503050406030204" pitchFamily="18" charset="0"/>
              </a:rPr>
              <a:t>Develop management plan for project</a:t>
            </a:r>
          </a:p>
          <a:p>
            <a:pPr algn="just"/>
            <a:r>
              <a:rPr lang="en-US" altLang="id-ID" dirty="0">
                <a:latin typeface="Cambria" panose="02040503050406030204" pitchFamily="18" charset="0"/>
                <a:ea typeface="Cambria" panose="02040503050406030204" pitchFamily="18" charset="0"/>
              </a:rPr>
              <a:t>Establish a Work Breakdown Structure</a:t>
            </a:r>
          </a:p>
          <a:p>
            <a:pPr algn="just"/>
            <a:r>
              <a:rPr lang="en-US" altLang="id-ID" dirty="0">
                <a:latin typeface="Cambria" panose="02040503050406030204" pitchFamily="18" charset="0"/>
                <a:ea typeface="Cambria" panose="02040503050406030204" pitchFamily="18" charset="0"/>
              </a:rPr>
              <a:t>Create a scope baseline</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31CFB0-A0F4-3218-2E1A-23A4FD96324D}"/>
              </a:ext>
            </a:extLst>
          </p:cNvPr>
          <p:cNvPicPr>
            <a:picLocks noChangeAspect="1"/>
          </p:cNvPicPr>
          <p:nvPr/>
        </p:nvPicPr>
        <p:blipFill>
          <a:blip r:embed="rId2"/>
          <a:stretch>
            <a:fillRect/>
          </a:stretch>
        </p:blipFill>
        <p:spPr>
          <a:xfrm>
            <a:off x="5994400" y="748893"/>
            <a:ext cx="5883350" cy="5562915"/>
          </a:xfrm>
          <a:prstGeom prst="rect">
            <a:avLst/>
          </a:prstGeom>
        </p:spPr>
      </p:pic>
    </p:spTree>
    <p:extLst>
      <p:ext uri="{BB962C8B-B14F-4D97-AF65-F5344CB8AC3E}">
        <p14:creationId xmlns:p14="http://schemas.microsoft.com/office/powerpoint/2010/main" val="2060021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2.  PROJECT SCOPE MANAGEMENT PROCESSES</a:t>
            </a:r>
          </a:p>
        </p:txBody>
      </p:sp>
      <p:graphicFrame>
        <p:nvGraphicFramePr>
          <p:cNvPr id="2" name="Table 1">
            <a:extLst>
              <a:ext uri="{FF2B5EF4-FFF2-40B4-BE49-F238E27FC236}">
                <a16:creationId xmlns:a16="http://schemas.microsoft.com/office/drawing/2014/main" id="{658B4786-3171-97E0-D011-8013383E4BF0}"/>
              </a:ext>
            </a:extLst>
          </p:cNvPr>
          <p:cNvGraphicFramePr>
            <a:graphicFrameLocks noGrp="1"/>
          </p:cNvGraphicFramePr>
          <p:nvPr>
            <p:extLst>
              <p:ext uri="{D42A27DB-BD31-4B8C-83A1-F6EECF244321}">
                <p14:modId xmlns:p14="http://schemas.microsoft.com/office/powerpoint/2010/main" val="4062841683"/>
              </p:ext>
            </p:extLst>
          </p:nvPr>
        </p:nvGraphicFramePr>
        <p:xfrm>
          <a:off x="418312" y="970280"/>
          <a:ext cx="7492216" cy="4333240"/>
        </p:xfrm>
        <a:graphic>
          <a:graphicData uri="http://schemas.openxmlformats.org/drawingml/2006/table">
            <a:tbl>
              <a:tblPr firstRow="1" bandRow="1">
                <a:tableStyleId>{3B4B98B0-60AC-42C2-AFA5-B58CD77FA1E5}</a:tableStyleId>
              </a:tblPr>
              <a:tblGrid>
                <a:gridCol w="1554988">
                  <a:extLst>
                    <a:ext uri="{9D8B030D-6E8A-4147-A177-3AD203B41FA5}">
                      <a16:colId xmlns:a16="http://schemas.microsoft.com/office/drawing/2014/main" val="20000"/>
                    </a:ext>
                  </a:extLst>
                </a:gridCol>
                <a:gridCol w="2429300">
                  <a:extLst>
                    <a:ext uri="{9D8B030D-6E8A-4147-A177-3AD203B41FA5}">
                      <a16:colId xmlns:a16="http://schemas.microsoft.com/office/drawing/2014/main" val="20001"/>
                    </a:ext>
                  </a:extLst>
                </a:gridCol>
                <a:gridCol w="3507928">
                  <a:extLst>
                    <a:ext uri="{9D8B030D-6E8A-4147-A177-3AD203B41FA5}">
                      <a16:colId xmlns:a16="http://schemas.microsoft.com/office/drawing/2014/main" val="20002"/>
                    </a:ext>
                  </a:extLst>
                </a:gridCol>
              </a:tblGrid>
              <a:tr h="370840">
                <a:tc>
                  <a:txBody>
                    <a:bodyPr/>
                    <a:lstStyle/>
                    <a:p>
                      <a:pPr algn="ctr"/>
                      <a:r>
                        <a:rPr lang="en-US" sz="1600" dirty="0">
                          <a:latin typeface="Cambria" panose="02040503050406030204" pitchFamily="18" charset="0"/>
                          <a:ea typeface="Cambria" panose="02040503050406030204" pitchFamily="18" charset="0"/>
                        </a:rPr>
                        <a:t>Process Group</a:t>
                      </a:r>
                    </a:p>
                  </a:txBody>
                  <a:tcPr>
                    <a:lnL>
                      <a:noFill/>
                    </a:lnL>
                    <a:lnR>
                      <a:noFill/>
                    </a:lnR>
                    <a:lnT w="12700" cmpd="sng">
                      <a:noFill/>
                    </a:lnT>
                    <a:lnB w="1905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600" i="1" dirty="0">
                          <a:latin typeface="Cambria" panose="02040503050406030204" pitchFamily="18" charset="0"/>
                          <a:ea typeface="Cambria" panose="02040503050406030204" pitchFamily="18" charset="0"/>
                        </a:rPr>
                        <a:t>Management Process</a:t>
                      </a:r>
                    </a:p>
                  </a:txBody>
                  <a:tcPr>
                    <a:lnL>
                      <a:noFill/>
                    </a:lnL>
                    <a:lnR>
                      <a:noFill/>
                    </a:lnR>
                    <a:lnT w="12700" cmpd="sng">
                      <a:noFill/>
                    </a:lnT>
                    <a:lnB w="1905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600" dirty="0">
                          <a:latin typeface="Cambria" panose="02040503050406030204" pitchFamily="18" charset="0"/>
                          <a:ea typeface="Cambria" panose="02040503050406030204" pitchFamily="18" charset="0"/>
                        </a:rPr>
                        <a:t>Major Output</a:t>
                      </a:r>
                    </a:p>
                  </a:txBody>
                  <a:tcPr>
                    <a:lnL>
                      <a:noFill/>
                    </a:lnL>
                    <a:lnR>
                      <a:noFill/>
                    </a:lnR>
                    <a:lnT w="12700" cmpd="sng">
                      <a:noFill/>
                    </a:lnT>
                    <a:lnB w="1905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4470">
                <a:tc rowSpan="4">
                  <a:txBody>
                    <a:bodyPr/>
                    <a:lstStyle/>
                    <a:p>
                      <a:pPr algn="l"/>
                      <a:r>
                        <a:rPr lang="en-US" sz="1600" b="0" dirty="0">
                          <a:latin typeface="Cambria" panose="02040503050406030204" pitchFamily="18" charset="0"/>
                          <a:ea typeface="Cambria" panose="02040503050406030204" pitchFamily="18" charset="0"/>
                        </a:rPr>
                        <a:t>Planning</a:t>
                      </a:r>
                    </a:p>
                  </a:txBody>
                  <a:tcPr anchor="ctr">
                    <a:lnT w="19050" cap="flat" cmpd="sng" algn="ctr">
                      <a:solidFill>
                        <a:schemeClr val="accent2">
                          <a:lumMod val="75000"/>
                        </a:schemeClr>
                      </a:solidFill>
                      <a:prstDash val="solid"/>
                      <a:round/>
                      <a:headEnd type="none" w="med" len="med"/>
                      <a:tailEnd type="none" w="med" len="med"/>
                    </a:lnT>
                    <a:lnB w="19050" cap="flat" cmpd="sng" algn="ctr">
                      <a:solidFill>
                        <a:schemeClr val="accent2">
                          <a:lumMod val="75000"/>
                        </a:schemeClr>
                      </a:solidFill>
                      <a:prstDash val="sysDash"/>
                      <a:round/>
                      <a:headEnd type="none" w="med" len="med"/>
                      <a:tailEnd type="none" w="med" len="med"/>
                    </a:lnB>
                    <a:solidFill>
                      <a:schemeClr val="bg1">
                        <a:alpha val="2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i="1" dirty="0">
                          <a:latin typeface="Cambria" panose="02040503050406030204" pitchFamily="18" charset="0"/>
                          <a:ea typeface="Cambria" panose="02040503050406030204" pitchFamily="18" charset="0"/>
                        </a:rPr>
                        <a:t>P1: Plan Scope Management</a:t>
                      </a:r>
                    </a:p>
                  </a:txBody>
                  <a:tcPr anchor="ctr">
                    <a:lnT w="1905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alpha val="2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Scope Management</a:t>
                      </a:r>
                      <a:r>
                        <a:rPr lang="en-US" sz="1600" baseline="0" dirty="0">
                          <a:latin typeface="Cambria" panose="02040503050406030204" pitchFamily="18" charset="0"/>
                          <a:ea typeface="Cambria" panose="02040503050406030204" pitchFamily="18" charset="0"/>
                        </a:rPr>
                        <a:t> Plan</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600" baseline="0" dirty="0">
                          <a:latin typeface="Cambria" panose="02040503050406030204" pitchFamily="18" charset="0"/>
                          <a:ea typeface="Cambria" panose="02040503050406030204" pitchFamily="18" charset="0"/>
                        </a:rPr>
                        <a:t>Requirement </a:t>
                      </a:r>
                      <a:r>
                        <a:rPr lang="en-US" sz="1600" dirty="0">
                          <a:latin typeface="Cambria" panose="02040503050406030204" pitchFamily="18" charset="0"/>
                          <a:ea typeface="Cambria" panose="02040503050406030204" pitchFamily="18" charset="0"/>
                        </a:rPr>
                        <a:t>Management</a:t>
                      </a:r>
                      <a:r>
                        <a:rPr lang="en-US" sz="1600" baseline="0" dirty="0">
                          <a:latin typeface="Cambria" panose="02040503050406030204" pitchFamily="18" charset="0"/>
                          <a:ea typeface="Cambria" panose="02040503050406030204" pitchFamily="18" charset="0"/>
                        </a:rPr>
                        <a:t> Plan</a:t>
                      </a:r>
                      <a:endParaRPr lang="en-US" sz="1600" dirty="0">
                        <a:latin typeface="Cambria" panose="02040503050406030204" pitchFamily="18" charset="0"/>
                        <a:ea typeface="Cambria" panose="02040503050406030204" pitchFamily="18" charset="0"/>
                      </a:endParaRPr>
                    </a:p>
                  </a:txBody>
                  <a:tcPr anchor="ctr">
                    <a:lnT w="1905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alpha val="20000"/>
                      </a:schemeClr>
                    </a:solidFill>
                  </a:tcPr>
                </a:tc>
                <a:extLst>
                  <a:ext uri="{0D108BD9-81ED-4DB2-BD59-A6C34878D82A}">
                    <a16:rowId xmlns:a16="http://schemas.microsoft.com/office/drawing/2014/main" val="10001"/>
                  </a:ext>
                </a:extLst>
              </a:tr>
              <a:tr h="435610">
                <a:tc vMerge="1">
                  <a:txBody>
                    <a:bodyPr/>
                    <a:lstStyle/>
                    <a:p>
                      <a:endParaRPr lang="en-US"/>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i="1" dirty="0">
                          <a:latin typeface="Cambria" panose="02040503050406030204" pitchFamily="18" charset="0"/>
                          <a:ea typeface="Cambria" panose="02040503050406030204" pitchFamily="18" charset="0"/>
                        </a:rPr>
                        <a:t>P2: Collect Requirements</a:t>
                      </a:r>
                    </a:p>
                  </a:txBody>
                  <a:tcPr anchor="ctr">
                    <a:lnT w="12700" cap="flat" cmpd="sng" algn="ctr">
                      <a:solidFill>
                        <a:schemeClr val="accent2">
                          <a:lumMod val="75000"/>
                        </a:schemeClr>
                      </a:solidFill>
                      <a:prstDash val="sysDash"/>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Req.</a:t>
                      </a:r>
                      <a:r>
                        <a:rPr lang="en-US" sz="1600" baseline="0" dirty="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Documentation</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Req</a:t>
                      </a:r>
                      <a:r>
                        <a:rPr lang="en-US" sz="1600" baseline="0" dirty="0">
                          <a:latin typeface="Cambria" panose="02040503050406030204" pitchFamily="18" charset="0"/>
                          <a:ea typeface="Cambria" panose="02040503050406030204" pitchFamily="18" charset="0"/>
                        </a:rPr>
                        <a:t>. Traceability Matrix</a:t>
                      </a:r>
                      <a:endParaRPr lang="en-US" sz="1600" dirty="0">
                        <a:latin typeface="Cambria" panose="02040503050406030204" pitchFamily="18" charset="0"/>
                        <a:ea typeface="Cambria" panose="02040503050406030204" pitchFamily="18" charset="0"/>
                      </a:endParaRPr>
                    </a:p>
                  </a:txBody>
                  <a:tcPr anchor="ctr">
                    <a:lnT w="12700" cap="flat" cmpd="sng" algn="ctr">
                      <a:solidFill>
                        <a:schemeClr val="accent2">
                          <a:lumMod val="75000"/>
                        </a:schemeClr>
                      </a:solidFill>
                      <a:prstDash val="sysDash"/>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0002"/>
                  </a:ext>
                </a:extLst>
              </a:tr>
              <a:tr h="231140">
                <a:tc vMerge="1">
                  <a:txBody>
                    <a:bodyPr/>
                    <a:lstStyle/>
                    <a:p>
                      <a:endParaRPr lang="en-US"/>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i="1" dirty="0">
                          <a:latin typeface="Cambria" panose="02040503050406030204" pitchFamily="18" charset="0"/>
                          <a:ea typeface="Cambria" panose="02040503050406030204" pitchFamily="18" charset="0"/>
                        </a:rPr>
                        <a:t>P3: Define</a:t>
                      </a:r>
                      <a:r>
                        <a:rPr lang="en-US" sz="1600" i="1" baseline="0" dirty="0">
                          <a:latin typeface="Cambria" panose="02040503050406030204" pitchFamily="18" charset="0"/>
                          <a:ea typeface="Cambria" panose="02040503050406030204" pitchFamily="18" charset="0"/>
                        </a:rPr>
                        <a:t> Scope</a:t>
                      </a:r>
                      <a:endParaRPr lang="en-US" sz="1600" i="1" dirty="0">
                        <a:latin typeface="Cambria" panose="02040503050406030204" pitchFamily="18" charset="0"/>
                        <a:ea typeface="Cambria" panose="02040503050406030204" pitchFamily="18" charset="0"/>
                      </a:endParaRPr>
                    </a:p>
                  </a:txBody>
                  <a:tcPr anchor="ctr">
                    <a:lnT w="12700" cap="flat" cmpd="sng" algn="ctr">
                      <a:solidFill>
                        <a:schemeClr val="accent2">
                          <a:lumMod val="75000"/>
                        </a:schemeClr>
                      </a:solidFill>
                      <a:prstDash val="sysDash"/>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alpha val="2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Project Scope</a:t>
                      </a:r>
                      <a:r>
                        <a:rPr lang="en-US" sz="1600" baseline="0" dirty="0">
                          <a:latin typeface="Cambria" panose="02040503050406030204" pitchFamily="18" charset="0"/>
                          <a:ea typeface="Cambria" panose="02040503050406030204" pitchFamily="18" charset="0"/>
                        </a:rPr>
                        <a:t> Statement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600" baseline="0" dirty="0">
                          <a:latin typeface="Cambria" panose="02040503050406030204" pitchFamily="18" charset="0"/>
                          <a:ea typeface="Cambria" panose="02040503050406030204" pitchFamily="18" charset="0"/>
                        </a:rPr>
                        <a:t>Project Docs Update</a:t>
                      </a:r>
                      <a:endParaRPr lang="en-US" sz="1600" dirty="0">
                        <a:latin typeface="Cambria" panose="02040503050406030204" pitchFamily="18" charset="0"/>
                        <a:ea typeface="Cambria" panose="02040503050406030204" pitchFamily="18" charset="0"/>
                      </a:endParaRPr>
                    </a:p>
                  </a:txBody>
                  <a:tcPr anchor="ctr">
                    <a:lnT w="12700" cap="flat" cmpd="sng" algn="ctr">
                      <a:solidFill>
                        <a:schemeClr val="accent2">
                          <a:lumMod val="75000"/>
                        </a:schemeClr>
                      </a:solidFill>
                      <a:prstDash val="sysDash"/>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alpha val="20000"/>
                      </a:schemeClr>
                    </a:solidFill>
                  </a:tcPr>
                </a:tc>
                <a:extLst>
                  <a:ext uri="{0D108BD9-81ED-4DB2-BD59-A6C34878D82A}">
                    <a16:rowId xmlns:a16="http://schemas.microsoft.com/office/drawing/2014/main" val="10003"/>
                  </a:ext>
                </a:extLst>
              </a:tr>
              <a:tr h="204470">
                <a:tc vMerge="1">
                  <a:txBody>
                    <a:bodyPr/>
                    <a:lstStyle/>
                    <a:p>
                      <a:endParaRPr lang="en-US"/>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i="1" dirty="0">
                          <a:latin typeface="Cambria" panose="02040503050406030204" pitchFamily="18" charset="0"/>
                          <a:ea typeface="Cambria" panose="02040503050406030204" pitchFamily="18" charset="0"/>
                        </a:rPr>
                        <a:t>P4: Create WBS</a:t>
                      </a:r>
                    </a:p>
                  </a:txBody>
                  <a:tcPr anchor="ctr">
                    <a:lnT w="12700" cap="flat" cmpd="sng" algn="ctr">
                      <a:solidFill>
                        <a:schemeClr val="accent2">
                          <a:lumMod val="75000"/>
                        </a:schemeClr>
                      </a:solidFill>
                      <a:prstDash val="sysDash"/>
                      <a:round/>
                      <a:headEnd type="none" w="med" len="med"/>
                      <a:tailEnd type="none" w="med" len="med"/>
                    </a:lnT>
                    <a:lnB w="19050" cap="flat" cmpd="sng" algn="ctr">
                      <a:solidFill>
                        <a:schemeClr val="accent2">
                          <a:lumMod val="75000"/>
                        </a:schemeClr>
                      </a:solidFill>
                      <a:prstDash val="sysDash"/>
                      <a:round/>
                      <a:headEnd type="none" w="med" len="med"/>
                      <a:tailEnd type="none" w="med" len="med"/>
                    </a:lnB>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Scope Baseline</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Project Docs</a:t>
                      </a:r>
                      <a:r>
                        <a:rPr lang="en-US" sz="1600" baseline="0" dirty="0">
                          <a:latin typeface="Cambria" panose="02040503050406030204" pitchFamily="18" charset="0"/>
                          <a:ea typeface="Cambria" panose="02040503050406030204" pitchFamily="18" charset="0"/>
                        </a:rPr>
                        <a:t> Update</a:t>
                      </a:r>
                      <a:endParaRPr lang="en-US" sz="1600" dirty="0">
                        <a:latin typeface="Cambria" panose="02040503050406030204" pitchFamily="18" charset="0"/>
                        <a:ea typeface="Cambria" panose="02040503050406030204" pitchFamily="18" charset="0"/>
                      </a:endParaRPr>
                    </a:p>
                  </a:txBody>
                  <a:tcPr anchor="ctr">
                    <a:lnT w="12700" cap="flat" cmpd="sng" algn="ctr">
                      <a:solidFill>
                        <a:schemeClr val="accent2">
                          <a:lumMod val="75000"/>
                        </a:schemeClr>
                      </a:solidFill>
                      <a:prstDash val="sysDash"/>
                      <a:round/>
                      <a:headEnd type="none" w="med" len="med"/>
                      <a:tailEnd type="none" w="med" len="med"/>
                    </a:lnT>
                    <a:lnB w="19050" cap="flat" cmpd="sng" algn="ctr">
                      <a:solidFill>
                        <a:schemeClr val="accent2">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0004"/>
                  </a:ext>
                </a:extLst>
              </a:tr>
              <a:tr h="546100">
                <a:tc rowSpan="2">
                  <a:txBody>
                    <a:bodyPr/>
                    <a:lstStyle/>
                    <a:p>
                      <a:pPr algn="l"/>
                      <a:r>
                        <a:rPr lang="en-US" sz="1600" b="0" dirty="0">
                          <a:latin typeface="Cambria" panose="02040503050406030204" pitchFamily="18" charset="0"/>
                          <a:ea typeface="Cambria" panose="02040503050406030204" pitchFamily="18" charset="0"/>
                        </a:rPr>
                        <a:t>Monitoring &amp; Controlling</a:t>
                      </a:r>
                    </a:p>
                  </a:txBody>
                  <a:tcPr anchor="ctr">
                    <a:lnL>
                      <a:noFill/>
                    </a:lnL>
                    <a:lnR>
                      <a:noFill/>
                    </a:lnR>
                    <a:lnT w="19050" cap="flat" cmpd="sng" algn="ctr">
                      <a:solidFill>
                        <a:schemeClr val="accent2">
                          <a:lumMod val="75000"/>
                        </a:schemeClr>
                      </a:solidFill>
                      <a:prstDash val="sysDash"/>
                      <a:round/>
                      <a:headEnd type="none" w="med" len="med"/>
                      <a:tailEnd type="none" w="med" len="med"/>
                    </a:lnT>
                    <a:lnB w="12700" cmpd="sng">
                      <a:noFill/>
                    </a:lnB>
                    <a:lnTlToBr w="12700" cmpd="sng">
                      <a:noFill/>
                      <a:prstDash val="solid"/>
                    </a:lnTlToBr>
                    <a:lnBlToTr w="12700" cmpd="sng">
                      <a:noFill/>
                      <a:prstDash val="solid"/>
                    </a:lnBlToTr>
                    <a:solidFill>
                      <a:schemeClr val="bg1">
                        <a:alpha val="20000"/>
                      </a:schemeClr>
                    </a:solidFill>
                  </a:tcPr>
                </a:tc>
                <a:tc>
                  <a:txBody>
                    <a:bodyPr/>
                    <a:lstStyle/>
                    <a:p>
                      <a:r>
                        <a:rPr lang="en-US" sz="1600" i="1" dirty="0">
                          <a:latin typeface="Cambria" panose="02040503050406030204" pitchFamily="18" charset="0"/>
                          <a:ea typeface="Cambria" panose="02040503050406030204" pitchFamily="18" charset="0"/>
                        </a:rPr>
                        <a:t>MC1: Validate</a:t>
                      </a:r>
                      <a:r>
                        <a:rPr lang="en-US" sz="1600" i="1" baseline="0" dirty="0">
                          <a:latin typeface="Cambria" panose="02040503050406030204" pitchFamily="18" charset="0"/>
                          <a:ea typeface="Cambria" panose="02040503050406030204" pitchFamily="18" charset="0"/>
                        </a:rPr>
                        <a:t> Scope</a:t>
                      </a:r>
                      <a:endParaRPr lang="en-US" sz="1600" i="1" dirty="0">
                        <a:latin typeface="Cambria" panose="02040503050406030204" pitchFamily="18" charset="0"/>
                        <a:ea typeface="Cambria" panose="02040503050406030204" pitchFamily="18" charset="0"/>
                      </a:endParaRPr>
                    </a:p>
                  </a:txBody>
                  <a:tcPr anchor="ctr">
                    <a:lnL>
                      <a:noFill/>
                    </a:lnL>
                    <a:lnT w="19050" cap="flat" cmpd="sng" algn="ctr">
                      <a:solidFill>
                        <a:schemeClr val="accent2">
                          <a:lumMod val="75000"/>
                        </a:schemeClr>
                      </a:solidFill>
                      <a:prstDash val="sysDash"/>
                      <a:round/>
                      <a:headEnd type="none" w="med" len="med"/>
                      <a:tailEnd type="none" w="med" len="med"/>
                    </a:lnT>
                    <a:lnB w="12700" cap="flat" cmpd="sng" algn="ctr">
                      <a:noFill/>
                      <a:prstDash val="sysDash"/>
                      <a:round/>
                      <a:headEnd type="none" w="med" len="med"/>
                      <a:tailEnd type="none" w="med" len="med"/>
                    </a:lnB>
                    <a:solidFill>
                      <a:schemeClr val="bg1">
                        <a:alpha val="20000"/>
                      </a:schemeClr>
                    </a:solidFill>
                  </a:tcPr>
                </a:tc>
                <a:tc>
                  <a:txBody>
                    <a:bodyPr/>
                    <a:lstStyle/>
                    <a:p>
                      <a:r>
                        <a:rPr lang="en-US" sz="1600" dirty="0">
                          <a:latin typeface="Cambria" panose="02040503050406030204" pitchFamily="18" charset="0"/>
                          <a:ea typeface="Cambria" panose="02040503050406030204" pitchFamily="18" charset="0"/>
                        </a:rPr>
                        <a:t>Accept</a:t>
                      </a:r>
                      <a:r>
                        <a:rPr lang="en-US" sz="1600" baseline="0" dirty="0">
                          <a:latin typeface="Cambria" panose="02040503050406030204" pitchFamily="18" charset="0"/>
                          <a:ea typeface="Cambria" panose="02040503050406030204" pitchFamily="18" charset="0"/>
                        </a:rPr>
                        <a:t> Deliverables</a:t>
                      </a:r>
                    </a:p>
                    <a:p>
                      <a:r>
                        <a:rPr lang="en-US" sz="1600" baseline="0" dirty="0">
                          <a:latin typeface="Cambria" panose="02040503050406030204" pitchFamily="18" charset="0"/>
                          <a:ea typeface="Cambria" panose="02040503050406030204" pitchFamily="18" charset="0"/>
                        </a:rPr>
                        <a:t>Change Requests</a:t>
                      </a:r>
                    </a:p>
                    <a:p>
                      <a:r>
                        <a:rPr lang="en-US" sz="1600" baseline="0" dirty="0">
                          <a:latin typeface="Cambria" panose="02040503050406030204" pitchFamily="18" charset="0"/>
                          <a:ea typeface="Cambria" panose="02040503050406030204" pitchFamily="18" charset="0"/>
                        </a:rPr>
                        <a:t>Work Performance Info</a:t>
                      </a:r>
                      <a:endParaRPr lang="en-US" sz="1600" dirty="0">
                        <a:latin typeface="Cambria" panose="02040503050406030204" pitchFamily="18" charset="0"/>
                        <a:ea typeface="Cambria" panose="02040503050406030204" pitchFamily="18" charset="0"/>
                      </a:endParaRPr>
                    </a:p>
                  </a:txBody>
                  <a:tcPr anchor="ctr">
                    <a:lnT w="19050" cap="flat" cmpd="sng" algn="ctr">
                      <a:solidFill>
                        <a:schemeClr val="accent2">
                          <a:lumMod val="75000"/>
                        </a:schemeClr>
                      </a:solidFill>
                      <a:prstDash val="sysDash"/>
                      <a:round/>
                      <a:headEnd type="none" w="med" len="med"/>
                      <a:tailEnd type="none" w="med" len="med"/>
                    </a:lnT>
                    <a:lnB w="12700" cap="flat" cmpd="sng" algn="ctr">
                      <a:noFill/>
                      <a:prstDash val="sysDash"/>
                      <a:round/>
                      <a:headEnd type="none" w="med" len="med"/>
                      <a:tailEnd type="none" w="med" len="med"/>
                    </a:lnB>
                    <a:solidFill>
                      <a:schemeClr val="bg1">
                        <a:alpha val="20000"/>
                      </a:schemeClr>
                    </a:solidFill>
                  </a:tcPr>
                </a:tc>
                <a:extLst>
                  <a:ext uri="{0D108BD9-81ED-4DB2-BD59-A6C34878D82A}">
                    <a16:rowId xmlns:a16="http://schemas.microsoft.com/office/drawing/2014/main" val="10005"/>
                  </a:ext>
                </a:extLst>
              </a:tr>
              <a:tr h="546100">
                <a:tc vMerge="1">
                  <a:txBody>
                    <a:bodyPr/>
                    <a:lstStyle/>
                    <a:p>
                      <a:endParaRPr lang="en-US"/>
                    </a:p>
                  </a:txBody>
                  <a:tcPr/>
                </a:tc>
                <a:tc>
                  <a:txBody>
                    <a:bodyPr/>
                    <a:lstStyle/>
                    <a:p>
                      <a:r>
                        <a:rPr lang="en-US" sz="1600" i="1" dirty="0">
                          <a:latin typeface="Cambria" panose="02040503050406030204" pitchFamily="18" charset="0"/>
                          <a:ea typeface="Cambria" panose="02040503050406030204" pitchFamily="18" charset="0"/>
                        </a:rPr>
                        <a:t>MC2: Control Scope</a:t>
                      </a:r>
                    </a:p>
                  </a:txBody>
                  <a:tcPr anchor="ctr">
                    <a:lnL>
                      <a:noFill/>
                    </a:lnL>
                    <a:lnR>
                      <a:noFill/>
                    </a:lnR>
                    <a:lnT w="12700" cap="flat" cmpd="sng" algn="ctr">
                      <a:noFill/>
                      <a:prstDash val="sysDash"/>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sz="1600" dirty="0">
                          <a:latin typeface="Cambria" panose="02040503050406030204" pitchFamily="18" charset="0"/>
                          <a:ea typeface="Cambria" panose="02040503050406030204" pitchFamily="18" charset="0"/>
                        </a:rPr>
                        <a:t>Change Requests</a:t>
                      </a:r>
                    </a:p>
                    <a:p>
                      <a:r>
                        <a:rPr lang="en-US" sz="1600" dirty="0">
                          <a:latin typeface="Cambria" panose="02040503050406030204" pitchFamily="18" charset="0"/>
                          <a:ea typeface="Cambria" panose="02040503050406030204" pitchFamily="18" charset="0"/>
                        </a:rPr>
                        <a:t>Project Management</a:t>
                      </a:r>
                      <a:r>
                        <a:rPr lang="en-US" sz="1600" baseline="0" dirty="0">
                          <a:latin typeface="Cambria" panose="02040503050406030204" pitchFamily="18" charset="0"/>
                          <a:ea typeface="Cambria" panose="02040503050406030204" pitchFamily="18" charset="0"/>
                        </a:rPr>
                        <a:t> Plan Updates</a:t>
                      </a:r>
                    </a:p>
                    <a:p>
                      <a:r>
                        <a:rPr lang="en-US" sz="1600" baseline="0" dirty="0">
                          <a:latin typeface="Cambria" panose="02040503050406030204" pitchFamily="18" charset="0"/>
                          <a:ea typeface="Cambria" panose="02040503050406030204" pitchFamily="18" charset="0"/>
                        </a:rPr>
                        <a:t>Org, Process Asset Updates</a:t>
                      </a:r>
                      <a:endParaRPr lang="en-US" sz="1600" dirty="0">
                        <a:latin typeface="Cambria" panose="02040503050406030204" pitchFamily="18" charset="0"/>
                        <a:ea typeface="Cambria" panose="02040503050406030204" pitchFamily="18" charset="0"/>
                      </a:endParaRPr>
                    </a:p>
                  </a:txBody>
                  <a:tcPr anchor="ctr">
                    <a:lnL>
                      <a:noFill/>
                    </a:lnL>
                    <a:lnR>
                      <a:noFill/>
                    </a:lnR>
                    <a:lnT w="12700" cap="flat" cmpd="sng" algn="ctr">
                      <a:noFill/>
                      <a:prstDash val="sysDash"/>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4910FCD2-2C7A-1430-2C08-2B71C734CCA0}"/>
              </a:ext>
            </a:extLst>
          </p:cNvPr>
          <p:cNvSpPr txBox="1"/>
          <p:nvPr/>
        </p:nvSpPr>
        <p:spPr>
          <a:xfrm>
            <a:off x="8107680" y="322621"/>
            <a:ext cx="3525520" cy="923330"/>
          </a:xfrm>
          <a:prstGeom prst="rect">
            <a:avLst/>
          </a:prstGeom>
          <a:noFill/>
        </p:spPr>
        <p:txBody>
          <a:bodyPr wrap="square">
            <a:spAutoFit/>
          </a:bodyPr>
          <a:lstStyle/>
          <a:p>
            <a:r>
              <a:rPr lang="en-US" altLang="en-US" i="1" dirty="0">
                <a:solidFill>
                  <a:schemeClr val="bg1"/>
                </a:solidFill>
                <a:latin typeface="Cambria" panose="02040503050406030204" pitchFamily="18" charset="0"/>
                <a:ea typeface="Cambria" panose="02040503050406030204" pitchFamily="18" charset="0"/>
              </a:rPr>
              <a:t>“project scope management defines and controls what </a:t>
            </a:r>
            <a:r>
              <a:rPr lang="en-US" altLang="en-US" b="1" i="1" u="sng" dirty="0">
                <a:solidFill>
                  <a:schemeClr val="bg1"/>
                </a:solidFill>
                <a:latin typeface="Cambria" panose="02040503050406030204" pitchFamily="18" charset="0"/>
                <a:ea typeface="Cambria" panose="02040503050406030204" pitchFamily="18" charset="0"/>
              </a:rPr>
              <a:t>is</a:t>
            </a:r>
            <a:r>
              <a:rPr lang="en-US" altLang="en-US" i="1" dirty="0">
                <a:solidFill>
                  <a:schemeClr val="bg1"/>
                </a:solidFill>
                <a:latin typeface="Cambria" panose="02040503050406030204" pitchFamily="18" charset="0"/>
                <a:ea typeface="Cambria" panose="02040503050406030204" pitchFamily="18" charset="0"/>
              </a:rPr>
              <a:t> and </a:t>
            </a:r>
            <a:r>
              <a:rPr lang="en-US" altLang="en-US" b="1" i="1" u="sng" dirty="0">
                <a:solidFill>
                  <a:schemeClr val="bg1"/>
                </a:solidFill>
                <a:latin typeface="Cambria" panose="02040503050406030204" pitchFamily="18" charset="0"/>
                <a:ea typeface="Cambria" panose="02040503050406030204" pitchFamily="18" charset="0"/>
              </a:rPr>
              <a:t>is not</a:t>
            </a:r>
            <a:r>
              <a:rPr lang="en-US" altLang="en-US" i="1" dirty="0">
                <a:solidFill>
                  <a:schemeClr val="bg1"/>
                </a:solidFill>
                <a:latin typeface="Cambria" panose="02040503050406030204" pitchFamily="18" charset="0"/>
                <a:ea typeface="Cambria" panose="02040503050406030204" pitchFamily="18" charset="0"/>
              </a:rPr>
              <a:t> part of the project work”</a:t>
            </a:r>
            <a:endParaRPr lang="en-US" i="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50066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2" y="384176"/>
            <a:ext cx="7607537" cy="40011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3. PROJECT SCOPE MANAGEMENT INITIATING &amp; DEFINITION  </a:t>
            </a:r>
          </a:p>
        </p:txBody>
      </p:sp>
      <p:sp>
        <p:nvSpPr>
          <p:cNvPr id="3" name="TextBox 2">
            <a:extLst>
              <a:ext uri="{FF2B5EF4-FFF2-40B4-BE49-F238E27FC236}">
                <a16:creationId xmlns:a16="http://schemas.microsoft.com/office/drawing/2014/main" id="{D57F15C1-9CCF-F82B-3E59-9F171D08E5ED}"/>
              </a:ext>
            </a:extLst>
          </p:cNvPr>
          <p:cNvSpPr txBox="1"/>
          <p:nvPr/>
        </p:nvSpPr>
        <p:spPr>
          <a:xfrm>
            <a:off x="363867" y="784286"/>
            <a:ext cx="7453365" cy="3131627"/>
          </a:xfrm>
          <a:prstGeom prst="rect">
            <a:avLst/>
          </a:prstGeom>
          <a:noFill/>
        </p:spPr>
        <p:txBody>
          <a:bodyPr wrap="square">
            <a:spAutoFit/>
          </a:bodyPr>
          <a:lstStyle/>
          <a:p>
            <a:r>
              <a:rPr lang="en-CA" b="1" dirty="0">
                <a:solidFill>
                  <a:schemeClr val="tx1">
                    <a:lumMod val="50000"/>
                    <a:lumOff val="50000"/>
                  </a:schemeClr>
                </a:solidFill>
                <a:latin typeface="Cambria" panose="02040503050406030204" pitchFamily="18" charset="0"/>
                <a:ea typeface="Cambria" panose="02040503050406030204" pitchFamily="18" charset="0"/>
              </a:rPr>
              <a:t>INITIATION PHASE</a:t>
            </a:r>
          </a:p>
          <a:p>
            <a:pPr marL="742950" lvl="1" indent="-285750">
              <a:spcAft>
                <a:spcPts val="300"/>
              </a:spcAft>
              <a:buClr>
                <a:schemeClr val="accent2">
                  <a:lumMod val="75000"/>
                </a:schemeClr>
              </a:buClr>
              <a:buFont typeface="Wingdings" panose="05000000000000000000" pitchFamily="2" charset="2"/>
              <a:buChar char="§"/>
            </a:pPr>
            <a:r>
              <a:rPr lang="en-CA" dirty="0">
                <a:latin typeface="Cambria" panose="02040503050406030204" pitchFamily="18" charset="0"/>
                <a:ea typeface="Cambria" panose="02040503050406030204" pitchFamily="18" charset="0"/>
              </a:rPr>
              <a:t>Project sponsor is identified</a:t>
            </a:r>
          </a:p>
          <a:p>
            <a:pPr marL="742950" lvl="1" indent="-285750">
              <a:spcAft>
                <a:spcPts val="300"/>
              </a:spcAft>
              <a:buClr>
                <a:schemeClr val="accent2">
                  <a:lumMod val="75000"/>
                </a:schemeClr>
              </a:buClr>
              <a:buFont typeface="Wingdings" panose="05000000000000000000" pitchFamily="2" charset="2"/>
              <a:buChar char="§"/>
            </a:pPr>
            <a:r>
              <a:rPr lang="en-CA" dirty="0">
                <a:latin typeface="Cambria" panose="02040503050406030204" pitchFamily="18" charset="0"/>
                <a:ea typeface="Cambria" panose="02040503050406030204" pitchFamily="18" charset="0"/>
              </a:rPr>
              <a:t>Scope and deliverables are defined</a:t>
            </a:r>
          </a:p>
          <a:p>
            <a:pPr marL="1025525" lvl="1" indent="-285750" algn="just">
              <a:spcAft>
                <a:spcPts val="300"/>
              </a:spcAft>
              <a:buClr>
                <a:schemeClr val="accent2">
                  <a:lumMod val="75000"/>
                </a:schemeClr>
              </a:buClr>
              <a:buFont typeface="Courier New" panose="02070309020205020404" pitchFamily="49" charset="0"/>
              <a:buChar char="o"/>
            </a:pPr>
            <a:r>
              <a:rPr lang="en-CA" dirty="0">
                <a:solidFill>
                  <a:schemeClr val="tx1">
                    <a:lumMod val="65000"/>
                    <a:lumOff val="35000"/>
                  </a:schemeClr>
                </a:solidFill>
                <a:latin typeface="Cambria" panose="02040503050406030204" pitchFamily="18" charset="0"/>
                <a:ea typeface="Cambria" panose="02040503050406030204" pitchFamily="18" charset="0"/>
              </a:rPr>
              <a:t>Relationship to organizational goals is key</a:t>
            </a:r>
          </a:p>
          <a:p>
            <a:pPr marL="742950" lvl="1" indent="-285750">
              <a:spcAft>
                <a:spcPts val="300"/>
              </a:spcAft>
              <a:buClr>
                <a:schemeClr val="accent2">
                  <a:lumMod val="75000"/>
                </a:schemeClr>
              </a:buClr>
              <a:buFont typeface="Wingdings" panose="05000000000000000000" pitchFamily="2" charset="2"/>
              <a:buChar char="§"/>
            </a:pPr>
            <a:r>
              <a:rPr lang="en-CA" dirty="0">
                <a:latin typeface="Cambria" panose="02040503050406030204" pitchFamily="18" charset="0"/>
                <a:ea typeface="Cambria" panose="02040503050406030204" pitchFamily="18" charset="0"/>
              </a:rPr>
              <a:t>Budget is approved</a:t>
            </a:r>
          </a:p>
          <a:p>
            <a:pPr marL="742950" lvl="1" indent="-285750">
              <a:spcAft>
                <a:spcPts val="300"/>
              </a:spcAft>
              <a:buClr>
                <a:schemeClr val="accent2">
                  <a:lumMod val="75000"/>
                </a:schemeClr>
              </a:buClr>
              <a:buFont typeface="Wingdings" panose="05000000000000000000" pitchFamily="2" charset="2"/>
              <a:buChar char="§"/>
            </a:pPr>
            <a:r>
              <a:rPr lang="en-CA" dirty="0">
                <a:latin typeface="Cambria" panose="02040503050406030204" pitchFamily="18" charset="0"/>
                <a:ea typeface="Cambria" panose="02040503050406030204" pitchFamily="18" charset="0"/>
              </a:rPr>
              <a:t>Broad statements are made about risks, approach, timelines</a:t>
            </a:r>
          </a:p>
          <a:p>
            <a:pPr marL="742950" lvl="1" indent="-285750">
              <a:spcAft>
                <a:spcPts val="300"/>
              </a:spcAft>
              <a:buClr>
                <a:schemeClr val="accent2">
                  <a:lumMod val="75000"/>
                </a:schemeClr>
              </a:buClr>
              <a:buFont typeface="Wingdings" panose="05000000000000000000" pitchFamily="2" charset="2"/>
              <a:buChar char="§"/>
            </a:pPr>
            <a:r>
              <a:rPr lang="en-CA" dirty="0">
                <a:latin typeface="Cambria" panose="02040503050406030204" pitchFamily="18" charset="0"/>
                <a:ea typeface="Cambria" panose="02040503050406030204" pitchFamily="18" charset="0"/>
              </a:rPr>
              <a:t>Stakeholders are identified</a:t>
            </a:r>
          </a:p>
          <a:p>
            <a:pPr marL="742950" lvl="1" indent="-285750">
              <a:spcAft>
                <a:spcPts val="300"/>
              </a:spcAft>
              <a:buClr>
                <a:schemeClr val="accent2">
                  <a:lumMod val="75000"/>
                </a:schemeClr>
              </a:buClr>
              <a:buFont typeface="Wingdings" panose="05000000000000000000" pitchFamily="2" charset="2"/>
              <a:buChar char="§"/>
            </a:pPr>
            <a:r>
              <a:rPr lang="en-CA" dirty="0">
                <a:latin typeface="Cambria" panose="02040503050406030204" pitchFamily="18" charset="0"/>
                <a:ea typeface="Cambria" panose="02040503050406030204" pitchFamily="18" charset="0"/>
              </a:rPr>
              <a:t>Project Manager is assigned</a:t>
            </a:r>
          </a:p>
          <a:p>
            <a:pPr marL="742950" lvl="1" indent="-285750">
              <a:spcAft>
                <a:spcPts val="300"/>
              </a:spcAft>
              <a:buClr>
                <a:schemeClr val="accent2">
                  <a:lumMod val="75000"/>
                </a:schemeClr>
              </a:buClr>
              <a:buFont typeface="Wingdings" panose="05000000000000000000" pitchFamily="2" charset="2"/>
              <a:buChar char="§"/>
            </a:pPr>
            <a:r>
              <a:rPr lang="en-CA" dirty="0">
                <a:latin typeface="Cambria" panose="02040503050406030204" pitchFamily="18" charset="0"/>
                <a:ea typeface="Cambria" panose="02040503050406030204" pitchFamily="18" charset="0"/>
              </a:rPr>
              <a:t>At end of phase, approved project charter is the approval to proceed to the planning phase</a:t>
            </a:r>
          </a:p>
        </p:txBody>
      </p:sp>
      <p:pic>
        <p:nvPicPr>
          <p:cNvPr id="4" name="Picture 3">
            <a:extLst>
              <a:ext uri="{FF2B5EF4-FFF2-40B4-BE49-F238E27FC236}">
                <a16:creationId xmlns:a16="http://schemas.microsoft.com/office/drawing/2014/main" id="{48C097A0-BED1-6E64-E366-D4A3A3A9CA0F}"/>
              </a:ext>
            </a:extLst>
          </p:cNvPr>
          <p:cNvPicPr>
            <a:picLocks noChangeAspect="1"/>
          </p:cNvPicPr>
          <p:nvPr/>
        </p:nvPicPr>
        <p:blipFill>
          <a:blip r:embed="rId3"/>
          <a:stretch>
            <a:fillRect/>
          </a:stretch>
        </p:blipFill>
        <p:spPr>
          <a:xfrm>
            <a:off x="1285689" y="4531328"/>
            <a:ext cx="6622982" cy="2326672"/>
          </a:xfrm>
          <a:prstGeom prst="rect">
            <a:avLst/>
          </a:prstGeom>
        </p:spPr>
      </p:pic>
    </p:spTree>
    <p:extLst>
      <p:ext uri="{BB962C8B-B14F-4D97-AF65-F5344CB8AC3E}">
        <p14:creationId xmlns:p14="http://schemas.microsoft.com/office/powerpoint/2010/main" val="1405978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961366"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MANAGEMENT INITIATING &amp; DEFINITION  </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19101AA-BC5E-D7D7-49E7-0271A281A18F}"/>
              </a:ext>
            </a:extLst>
          </p:cNvPr>
          <p:cNvSpPr txBox="1"/>
          <p:nvPr/>
        </p:nvSpPr>
        <p:spPr>
          <a:xfrm>
            <a:off x="-105913" y="724376"/>
            <a:ext cx="6096000" cy="1754326"/>
          </a:xfrm>
          <a:prstGeom prst="rect">
            <a:avLst/>
          </a:prstGeom>
          <a:noFill/>
        </p:spPr>
        <p:txBody>
          <a:bodyPr wrap="square">
            <a:spAutoFit/>
          </a:bodyPr>
          <a:lstStyle/>
          <a:p>
            <a:pPr marL="742950" lvl="1" indent="-285750" algn="jus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Planning scope</a:t>
            </a:r>
          </a:p>
          <a:p>
            <a:pPr marL="742950" lvl="1" indent="-285750" algn="jus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Collecting requirements</a:t>
            </a:r>
          </a:p>
          <a:p>
            <a:pPr marL="742950" lvl="1" indent="-285750" algn="jus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Defining scope</a:t>
            </a:r>
          </a:p>
          <a:p>
            <a:pPr marL="742950" lvl="1" indent="-285750" algn="jus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Creating the WBS</a:t>
            </a:r>
          </a:p>
          <a:p>
            <a:pPr marL="742950" lvl="1" indent="-285750" algn="jus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Validating scope</a:t>
            </a:r>
          </a:p>
          <a:p>
            <a:pPr marL="742950" lvl="1" indent="-285750" algn="jus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Controlling scope</a:t>
            </a:r>
          </a:p>
        </p:txBody>
      </p:sp>
      <p:pic>
        <p:nvPicPr>
          <p:cNvPr id="8" name="Picture 7">
            <a:extLst>
              <a:ext uri="{FF2B5EF4-FFF2-40B4-BE49-F238E27FC236}">
                <a16:creationId xmlns:a16="http://schemas.microsoft.com/office/drawing/2014/main" id="{F89AACF6-D983-8FA0-19C5-E4DE87FC99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7268" y="713878"/>
            <a:ext cx="8347445" cy="5694699"/>
          </a:xfrm>
          <a:prstGeom prst="rect">
            <a:avLst/>
          </a:prstGeom>
        </p:spPr>
      </p:pic>
    </p:spTree>
    <p:extLst>
      <p:ext uri="{BB962C8B-B14F-4D97-AF65-F5344CB8AC3E}">
        <p14:creationId xmlns:p14="http://schemas.microsoft.com/office/powerpoint/2010/main" val="3746850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6" descr="Plan Scope Management DFD.jpg">
            <a:extLst>
              <a:ext uri="{FF2B5EF4-FFF2-40B4-BE49-F238E27FC236}">
                <a16:creationId xmlns:a16="http://schemas.microsoft.com/office/drawing/2014/main" id="{0DC74DE7-D3E9-4E1A-7B5B-EBECECF9EE6A}"/>
              </a:ext>
            </a:extLst>
          </p:cNvPr>
          <p:cNvPicPr>
            <a:picLocks noChangeAspect="1"/>
          </p:cNvPicPr>
          <p:nvPr/>
        </p:nvPicPr>
        <p:blipFill>
          <a:blip r:embed="rId2">
            <a:extLst>
              <a:ext uri="{28A0092B-C50C-407E-A947-70E740481C1C}">
                <a14:useLocalDpi xmlns:a14="http://schemas.microsoft.com/office/drawing/2010/main" val="0"/>
              </a:ext>
            </a:extLst>
          </a:blip>
          <a:srcRect l="-13025" r="-13025"/>
          <a:stretch>
            <a:fillRect/>
          </a:stretch>
        </p:blipFill>
        <p:spPr>
          <a:xfrm>
            <a:off x="3275738" y="243768"/>
            <a:ext cx="9665337" cy="6104423"/>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16888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MANAGEMENT INITIATING &amp; DEFINITION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B5D9B27-85AE-0ADD-CF05-CEF451FC57AD}"/>
              </a:ext>
            </a:extLst>
          </p:cNvPr>
          <p:cNvSpPr txBox="1"/>
          <p:nvPr/>
        </p:nvSpPr>
        <p:spPr>
          <a:xfrm>
            <a:off x="339355" y="787073"/>
            <a:ext cx="6471920" cy="369332"/>
          </a:xfrm>
          <a:prstGeom prst="rect">
            <a:avLst/>
          </a:prstGeom>
          <a:noFill/>
        </p:spPr>
        <p:txBody>
          <a:bodyPr wrap="square">
            <a:spAutoFit/>
          </a:bodyPr>
          <a:lstStyle/>
          <a:p>
            <a:pPr algn="just"/>
            <a:r>
              <a:rPr lang="en-US" altLang="en-US" b="1" dirty="0">
                <a:latin typeface="Cambria" panose="02040503050406030204" pitchFamily="18" charset="0"/>
                <a:ea typeface="Cambria" panose="02040503050406030204" pitchFamily="18" charset="0"/>
              </a:rPr>
              <a:t>Plan Scope Management: Data Flow Diagram </a:t>
            </a:r>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33187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656566"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MANAGEMENT INITIATING &amp; DEFINITION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6096000" cy="369332"/>
          </a:xfrm>
          <a:prstGeom prst="rect">
            <a:avLst/>
          </a:prstGeom>
          <a:noFill/>
        </p:spPr>
        <p:txBody>
          <a:bodyPr wrap="square">
            <a:spAutoFit/>
          </a:bodyPr>
          <a:lstStyle/>
          <a:p>
            <a:pPr algn="just"/>
            <a:r>
              <a:rPr lang="en-US" altLang="en-US" b="1" dirty="0">
                <a:latin typeface="Cambria" panose="02040503050406030204" pitchFamily="18" charset="0"/>
                <a:ea typeface="Cambria" panose="02040503050406030204" pitchFamily="18" charset="0"/>
              </a:rPr>
              <a:t>Scope management plan </a:t>
            </a:r>
            <a:endParaRPr lang="en-US" b="1" dirty="0">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194AA64B-300C-ECED-8428-851979FFAA13}"/>
              </a:ext>
            </a:extLst>
          </p:cNvPr>
          <p:cNvSpPr txBox="1"/>
          <p:nvPr/>
        </p:nvSpPr>
        <p:spPr>
          <a:xfrm>
            <a:off x="339354" y="1173043"/>
            <a:ext cx="11273525" cy="3054682"/>
          </a:xfrm>
          <a:prstGeom prst="rect">
            <a:avLst/>
          </a:prstGeom>
          <a:noFill/>
        </p:spPr>
        <p:txBody>
          <a:bodyPr wrap="square">
            <a:spAutoFit/>
          </a:bodyPr>
          <a:lstStyle/>
          <a:p>
            <a:pPr algn="just"/>
            <a:r>
              <a:rPr lang="en-US" altLang="en-US" dirty="0">
                <a:latin typeface="Cambria" panose="02040503050406030204" pitchFamily="18" charset="0"/>
                <a:ea typeface="Cambria" panose="02040503050406030204" pitchFamily="18" charset="0"/>
              </a:rPr>
              <a:t>According to PMBOK 5: </a:t>
            </a:r>
            <a:r>
              <a:rPr lang="ja-JP" altLang="en-US" dirty="0">
                <a:latin typeface="Cambria" panose="02040503050406030204" pitchFamily="18" charset="0"/>
              </a:rPr>
              <a:t>“</a:t>
            </a:r>
            <a:r>
              <a:rPr lang="en-US" altLang="ja-JP" dirty="0">
                <a:latin typeface="Cambria" panose="02040503050406030204" pitchFamily="18" charset="0"/>
                <a:ea typeface="Cambria" panose="02040503050406030204" pitchFamily="18" charset="0"/>
              </a:rPr>
              <a:t>The scope management plan can be formal or informal, broadly framed or highly detailed, based on the needs of the project.</a:t>
            </a:r>
            <a:r>
              <a:rPr lang="ja-JP" altLang="en-US" dirty="0">
                <a:latin typeface="Cambria" panose="02040503050406030204" pitchFamily="18" charset="0"/>
              </a:rPr>
              <a:t>”</a:t>
            </a:r>
            <a:r>
              <a:rPr lang="en-US" altLang="ja-JP" dirty="0">
                <a:latin typeface="Cambria" panose="02040503050406030204" pitchFamily="18" charset="0"/>
                <a:ea typeface="Cambria" panose="02040503050406030204" pitchFamily="18" charset="0"/>
              </a:rPr>
              <a:t> </a:t>
            </a:r>
          </a:p>
          <a:p>
            <a:pPr lvl="1" algn="just">
              <a:spcAft>
                <a:spcPts val="300"/>
              </a:spcAft>
              <a:buClr>
                <a:schemeClr val="accent2">
                  <a:lumMod val="75000"/>
                </a:schemeClr>
              </a:buClr>
            </a:pPr>
            <a:endParaRPr lang="en-US" altLang="en-US" dirty="0">
              <a:solidFill>
                <a:schemeClr val="tx1">
                  <a:lumMod val="65000"/>
                  <a:lumOff val="35000"/>
                </a:schemeClr>
              </a:solidFill>
              <a:latin typeface="Cambria" panose="02040503050406030204" pitchFamily="18" charset="0"/>
              <a:ea typeface="Cambria" panose="02040503050406030204" pitchFamily="18" charset="0"/>
            </a:endParaRPr>
          </a:p>
          <a:p>
            <a:pPr algn="just"/>
            <a:r>
              <a:rPr lang="en-US" altLang="en-US" dirty="0">
                <a:latin typeface="Cambria" panose="02040503050406030204" pitchFamily="18" charset="0"/>
                <a:ea typeface="Cambria" panose="02040503050406030204" pitchFamily="18" charset="0"/>
              </a:rPr>
              <a:t>The components of a scope management plan include: </a:t>
            </a:r>
          </a:p>
          <a:p>
            <a:pPr marL="742950" lvl="1" indent="-285750" algn="just">
              <a:spcAft>
                <a:spcPts val="300"/>
              </a:spcAft>
              <a:buClr>
                <a:schemeClr val="accent2">
                  <a:lumMod val="75000"/>
                </a:schemeClr>
              </a:buClr>
              <a:buFont typeface="Wingdings" panose="05000000000000000000" pitchFamily="2" charset="2"/>
              <a:buChar char="§"/>
            </a:pPr>
            <a:r>
              <a:rPr lang="en-US" altLang="en-US" dirty="0">
                <a:solidFill>
                  <a:schemeClr val="tx1">
                    <a:lumMod val="65000"/>
                    <a:lumOff val="35000"/>
                  </a:schemeClr>
                </a:solidFill>
                <a:latin typeface="Cambria" panose="02040503050406030204" pitchFamily="18" charset="0"/>
                <a:ea typeface="Cambria" panose="02040503050406030204" pitchFamily="18" charset="0"/>
              </a:rPr>
              <a:t>Process for preparing a detailed project scope statement </a:t>
            </a:r>
          </a:p>
          <a:p>
            <a:pPr marL="742950" lvl="1" indent="-285750" algn="just">
              <a:spcAft>
                <a:spcPts val="300"/>
              </a:spcAft>
              <a:buClr>
                <a:schemeClr val="accent2">
                  <a:lumMod val="75000"/>
                </a:schemeClr>
              </a:buClr>
              <a:buFont typeface="Wingdings" panose="05000000000000000000" pitchFamily="2" charset="2"/>
              <a:buChar char="§"/>
            </a:pPr>
            <a:r>
              <a:rPr lang="en-US" altLang="en-US" dirty="0">
                <a:solidFill>
                  <a:schemeClr val="tx1">
                    <a:lumMod val="65000"/>
                    <a:lumOff val="35000"/>
                  </a:schemeClr>
                </a:solidFill>
                <a:latin typeface="Cambria" panose="02040503050406030204" pitchFamily="18" charset="0"/>
                <a:ea typeface="Cambria" panose="02040503050406030204" pitchFamily="18" charset="0"/>
              </a:rPr>
              <a:t>Process that enables the creation of the WBS from the detailed project scope statement </a:t>
            </a:r>
          </a:p>
          <a:p>
            <a:pPr marL="742950" lvl="1" indent="-285750" algn="just">
              <a:spcAft>
                <a:spcPts val="300"/>
              </a:spcAft>
              <a:buClr>
                <a:schemeClr val="accent2">
                  <a:lumMod val="75000"/>
                </a:schemeClr>
              </a:buClr>
              <a:buFont typeface="Wingdings" panose="05000000000000000000" pitchFamily="2" charset="2"/>
              <a:buChar char="§"/>
            </a:pPr>
            <a:r>
              <a:rPr lang="en-US" altLang="en-US" dirty="0">
                <a:solidFill>
                  <a:schemeClr val="tx1">
                    <a:lumMod val="65000"/>
                    <a:lumOff val="35000"/>
                  </a:schemeClr>
                </a:solidFill>
                <a:latin typeface="Cambria" panose="02040503050406030204" pitchFamily="18" charset="0"/>
                <a:ea typeface="Cambria" panose="02040503050406030204" pitchFamily="18" charset="0"/>
              </a:rPr>
              <a:t>Process that establishes how the WBS will be maintained and approved </a:t>
            </a:r>
          </a:p>
          <a:p>
            <a:pPr marL="742950" lvl="1" indent="-285750" algn="just">
              <a:spcAft>
                <a:spcPts val="300"/>
              </a:spcAft>
              <a:buClr>
                <a:schemeClr val="accent2">
                  <a:lumMod val="75000"/>
                </a:schemeClr>
              </a:buClr>
              <a:buFont typeface="Wingdings" panose="05000000000000000000" pitchFamily="2" charset="2"/>
              <a:buChar char="§"/>
            </a:pPr>
            <a:r>
              <a:rPr lang="en-US" altLang="en-US" dirty="0">
                <a:solidFill>
                  <a:schemeClr val="tx1">
                    <a:lumMod val="65000"/>
                    <a:lumOff val="35000"/>
                  </a:schemeClr>
                </a:solidFill>
                <a:latin typeface="Cambria" panose="02040503050406030204" pitchFamily="18" charset="0"/>
                <a:ea typeface="Cambria" panose="02040503050406030204" pitchFamily="18" charset="0"/>
              </a:rPr>
              <a:t>Process that speciﬁes how formal acceptance of the completed project deliverables will be obtained </a:t>
            </a:r>
          </a:p>
          <a:p>
            <a:pPr marL="742950" lvl="1" indent="-285750" algn="just">
              <a:spcAft>
                <a:spcPts val="300"/>
              </a:spcAft>
              <a:buClr>
                <a:schemeClr val="accent2">
                  <a:lumMod val="75000"/>
                </a:schemeClr>
              </a:buClr>
              <a:buFont typeface="Wingdings" panose="05000000000000000000" pitchFamily="2" charset="2"/>
              <a:buChar char="§"/>
            </a:pPr>
            <a:r>
              <a:rPr lang="en-US" altLang="en-US" dirty="0">
                <a:solidFill>
                  <a:schemeClr val="tx1">
                    <a:lumMod val="65000"/>
                    <a:lumOff val="35000"/>
                  </a:schemeClr>
                </a:solidFill>
                <a:latin typeface="Cambria" panose="02040503050406030204" pitchFamily="18" charset="0"/>
                <a:ea typeface="Cambria" panose="02040503050406030204" pitchFamily="18" charset="0"/>
              </a:rPr>
              <a:t>Process to control how requests for changes to the detailed project scope statement will be processed—this process is directly linked to the Perform Integrated Change Control process</a:t>
            </a:r>
          </a:p>
        </p:txBody>
      </p:sp>
    </p:spTree>
    <p:extLst>
      <p:ext uri="{BB962C8B-B14F-4D97-AF65-F5344CB8AC3E}">
        <p14:creationId xmlns:p14="http://schemas.microsoft.com/office/powerpoint/2010/main" val="3765405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22984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MANAGEMENT INITIATING &amp; DEFINITION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6096000" cy="369332"/>
          </a:xfrm>
          <a:prstGeom prst="rect">
            <a:avLst/>
          </a:prstGeom>
          <a:noFill/>
        </p:spPr>
        <p:txBody>
          <a:bodyPr wrap="square">
            <a:spAutoFit/>
          </a:bodyPr>
          <a:lstStyle/>
          <a:p>
            <a:pPr algn="just"/>
            <a:r>
              <a:rPr lang="en-US" altLang="en-US" b="1" dirty="0">
                <a:latin typeface="Cambria" panose="02040503050406030204" pitchFamily="18" charset="0"/>
                <a:ea typeface="Cambria" panose="02040503050406030204" pitchFamily="18" charset="0"/>
              </a:rPr>
              <a:t>Requirements management plan</a:t>
            </a:r>
            <a:endParaRPr lang="en-US" b="1" dirty="0">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194AA64B-300C-ECED-8428-851979FFAA13}"/>
              </a:ext>
            </a:extLst>
          </p:cNvPr>
          <p:cNvSpPr txBox="1"/>
          <p:nvPr/>
        </p:nvSpPr>
        <p:spPr>
          <a:xfrm>
            <a:off x="339354" y="1173043"/>
            <a:ext cx="11273525" cy="2854628"/>
          </a:xfrm>
          <a:prstGeom prst="rect">
            <a:avLst/>
          </a:prstGeom>
          <a:noFill/>
        </p:spPr>
        <p:txBody>
          <a:bodyPr wrap="square">
            <a:spAutoFit/>
          </a:bodyPr>
          <a:lstStyle/>
          <a:p>
            <a:pPr algn="just"/>
            <a:r>
              <a:rPr lang="en-US" altLang="en-US" dirty="0">
                <a:latin typeface="Cambria" panose="02040503050406030204" pitchFamily="18" charset="0"/>
                <a:ea typeface="Cambria" panose="02040503050406030204" pitchFamily="18" charset="0"/>
              </a:rPr>
              <a:t>Components of the requirements management plan can include, but are not limited to: </a:t>
            </a:r>
          </a:p>
          <a:p>
            <a:pPr marL="742950" lvl="1" indent="-285750" algn="just">
              <a:spcAft>
                <a:spcPts val="300"/>
              </a:spcAft>
              <a:buClr>
                <a:schemeClr val="accent2">
                  <a:lumMod val="75000"/>
                </a:schemeClr>
              </a:buClr>
              <a:buFont typeface="Wingdings" panose="05000000000000000000" pitchFamily="2" charset="2"/>
              <a:buChar char="§"/>
            </a:pPr>
            <a:r>
              <a:rPr lang="en-US" altLang="en-US" dirty="0">
                <a:solidFill>
                  <a:schemeClr val="tx1">
                    <a:lumMod val="65000"/>
                    <a:lumOff val="35000"/>
                  </a:schemeClr>
                </a:solidFill>
                <a:latin typeface="Cambria" panose="02040503050406030204" pitchFamily="18" charset="0"/>
                <a:ea typeface="Cambria" panose="02040503050406030204" pitchFamily="18" charset="0"/>
              </a:rPr>
              <a:t>How requirements activities will be planned, tracked, and reported </a:t>
            </a:r>
          </a:p>
          <a:p>
            <a:pPr marL="742950" lvl="1" indent="-285750" algn="just">
              <a:spcAft>
                <a:spcPts val="300"/>
              </a:spcAft>
              <a:buClr>
                <a:schemeClr val="accent2">
                  <a:lumMod val="75000"/>
                </a:schemeClr>
              </a:buClr>
              <a:buFont typeface="Wingdings" panose="05000000000000000000" pitchFamily="2" charset="2"/>
              <a:buChar char="§"/>
            </a:pPr>
            <a:r>
              <a:rPr lang="en-US" altLang="en-US" dirty="0">
                <a:solidFill>
                  <a:schemeClr val="tx1">
                    <a:lumMod val="65000"/>
                    <a:lumOff val="35000"/>
                  </a:schemeClr>
                </a:solidFill>
                <a:latin typeface="Cambria" panose="02040503050406030204" pitchFamily="18" charset="0"/>
                <a:ea typeface="Cambria" panose="02040503050406030204" pitchFamily="18" charset="0"/>
              </a:rPr>
              <a:t>Conﬁguration management activities such as: </a:t>
            </a:r>
          </a:p>
          <a:p>
            <a:pPr marL="1025525" lvl="1" indent="-285750" algn="just">
              <a:spcAft>
                <a:spcPts val="300"/>
              </a:spcAft>
              <a:buClr>
                <a:schemeClr val="accent2">
                  <a:lumMod val="75000"/>
                </a:schemeClr>
              </a:buClr>
              <a:buFont typeface="Courier New" panose="02070309020205020404" pitchFamily="49" charset="0"/>
              <a:buChar char="o"/>
            </a:pPr>
            <a:r>
              <a:rPr lang="en-US" altLang="en-US" dirty="0">
                <a:solidFill>
                  <a:schemeClr val="tx1">
                    <a:lumMod val="65000"/>
                    <a:lumOff val="35000"/>
                  </a:schemeClr>
                </a:solidFill>
                <a:latin typeface="Cambria" panose="02040503050406030204" pitchFamily="18" charset="0"/>
                <a:ea typeface="Cambria" panose="02040503050406030204" pitchFamily="18" charset="0"/>
              </a:rPr>
              <a:t>How changes to the product will be initiated </a:t>
            </a:r>
          </a:p>
          <a:p>
            <a:pPr marL="1025525" lvl="1" indent="-285750" algn="just">
              <a:spcAft>
                <a:spcPts val="300"/>
              </a:spcAft>
              <a:buClr>
                <a:schemeClr val="accent2">
                  <a:lumMod val="75000"/>
                </a:schemeClr>
              </a:buClr>
              <a:buFont typeface="Courier New" panose="02070309020205020404" pitchFamily="49" charset="0"/>
              <a:buChar char="o"/>
            </a:pPr>
            <a:r>
              <a:rPr lang="en-US" altLang="en-US" dirty="0">
                <a:solidFill>
                  <a:schemeClr val="tx1">
                    <a:lumMod val="65000"/>
                    <a:lumOff val="35000"/>
                  </a:schemeClr>
                </a:solidFill>
                <a:latin typeface="Cambria" panose="02040503050406030204" pitchFamily="18" charset="0"/>
                <a:ea typeface="Cambria" panose="02040503050406030204" pitchFamily="18" charset="0"/>
              </a:rPr>
              <a:t>How impacts will be analyzed, how they will be traced, tracked, and reported </a:t>
            </a:r>
          </a:p>
          <a:p>
            <a:pPr marL="1025525" lvl="1" indent="-285750" algn="just">
              <a:spcAft>
                <a:spcPts val="300"/>
              </a:spcAft>
              <a:buClr>
                <a:schemeClr val="accent2">
                  <a:lumMod val="75000"/>
                </a:schemeClr>
              </a:buClr>
              <a:buFont typeface="Courier New" panose="02070309020205020404" pitchFamily="49" charset="0"/>
              <a:buChar char="o"/>
            </a:pPr>
            <a:r>
              <a:rPr lang="en-US" altLang="en-US" dirty="0">
                <a:solidFill>
                  <a:schemeClr val="tx1">
                    <a:lumMod val="65000"/>
                    <a:lumOff val="35000"/>
                  </a:schemeClr>
                </a:solidFill>
                <a:latin typeface="Cambria" panose="02040503050406030204" pitchFamily="18" charset="0"/>
                <a:ea typeface="Cambria" panose="02040503050406030204" pitchFamily="18" charset="0"/>
              </a:rPr>
              <a:t>Authorization levels required to approve these changes </a:t>
            </a:r>
          </a:p>
          <a:p>
            <a:pPr marL="742950" lvl="1" indent="-285750" algn="just">
              <a:spcAft>
                <a:spcPts val="300"/>
              </a:spcAft>
              <a:buClr>
                <a:schemeClr val="accent2">
                  <a:lumMod val="75000"/>
                </a:schemeClr>
              </a:buClr>
              <a:buFont typeface="Wingdings" panose="05000000000000000000" pitchFamily="2" charset="2"/>
              <a:buChar char="§"/>
            </a:pPr>
            <a:r>
              <a:rPr lang="en-US" altLang="en-US" dirty="0">
                <a:solidFill>
                  <a:schemeClr val="tx1">
                    <a:lumMod val="65000"/>
                    <a:lumOff val="35000"/>
                  </a:schemeClr>
                </a:solidFill>
                <a:latin typeface="Cambria" panose="02040503050406030204" pitchFamily="18" charset="0"/>
                <a:ea typeface="Cambria" panose="02040503050406030204" pitchFamily="18" charset="0"/>
              </a:rPr>
              <a:t>Requirements prioritization process </a:t>
            </a:r>
          </a:p>
          <a:p>
            <a:pPr marL="742950" lvl="1" indent="-285750" algn="just">
              <a:spcAft>
                <a:spcPts val="300"/>
              </a:spcAft>
              <a:buClr>
                <a:schemeClr val="accent2">
                  <a:lumMod val="75000"/>
                </a:schemeClr>
              </a:buClr>
              <a:buFont typeface="Wingdings" panose="05000000000000000000" pitchFamily="2" charset="2"/>
              <a:buChar char="§"/>
            </a:pPr>
            <a:r>
              <a:rPr lang="en-US" altLang="en-US" dirty="0">
                <a:solidFill>
                  <a:schemeClr val="tx1">
                    <a:lumMod val="65000"/>
                    <a:lumOff val="35000"/>
                  </a:schemeClr>
                </a:solidFill>
                <a:latin typeface="Cambria" panose="02040503050406030204" pitchFamily="18" charset="0"/>
                <a:ea typeface="Cambria" panose="02040503050406030204" pitchFamily="18" charset="0"/>
              </a:rPr>
              <a:t>Product metrics that will be used and the rationale for using them </a:t>
            </a:r>
          </a:p>
          <a:p>
            <a:pPr marL="742950" lvl="1" indent="-285750" algn="just">
              <a:spcAft>
                <a:spcPts val="300"/>
              </a:spcAft>
              <a:buClr>
                <a:schemeClr val="accent2">
                  <a:lumMod val="75000"/>
                </a:schemeClr>
              </a:buClr>
              <a:buFont typeface="Wingdings" panose="05000000000000000000" pitchFamily="2" charset="2"/>
              <a:buChar char="§"/>
            </a:pPr>
            <a:r>
              <a:rPr lang="en-US" altLang="en-US" dirty="0">
                <a:solidFill>
                  <a:schemeClr val="tx1">
                    <a:lumMod val="65000"/>
                    <a:lumOff val="35000"/>
                  </a:schemeClr>
                </a:solidFill>
                <a:latin typeface="Cambria" panose="02040503050406030204" pitchFamily="18" charset="0"/>
                <a:ea typeface="Cambria" panose="02040503050406030204" pitchFamily="18" charset="0"/>
              </a:rPr>
              <a:t>Traceability structure to reﬂect which requirement attributes will be captured on the traceability matrix</a:t>
            </a:r>
          </a:p>
        </p:txBody>
      </p:sp>
    </p:spTree>
    <p:extLst>
      <p:ext uri="{BB962C8B-B14F-4D97-AF65-F5344CB8AC3E}">
        <p14:creationId xmlns:p14="http://schemas.microsoft.com/office/powerpoint/2010/main" val="4157774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47368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MANAGEMENT INITIATING &amp; DEFINITION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6096000" cy="338554"/>
          </a:xfrm>
          <a:prstGeom prst="rect">
            <a:avLst/>
          </a:prstGeom>
          <a:noFill/>
        </p:spPr>
        <p:txBody>
          <a:bodyPr wrap="square">
            <a:spAutoFit/>
          </a:bodyPr>
          <a:lstStyle/>
          <a:p>
            <a:pPr algn="just"/>
            <a:r>
              <a:rPr lang="en-US" altLang="en-US" sz="1600" b="1" dirty="0">
                <a:latin typeface="Cambria" panose="02040503050406030204" pitchFamily="18" charset="0"/>
                <a:ea typeface="Cambria" panose="02040503050406030204" pitchFamily="18" charset="0"/>
              </a:rPr>
              <a:t>Collect Requirements</a:t>
            </a:r>
            <a:endParaRPr lang="en-US" sz="1600" b="1" dirty="0">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194AA64B-300C-ECED-8428-851979FFAA13}"/>
              </a:ext>
            </a:extLst>
          </p:cNvPr>
          <p:cNvSpPr txBox="1"/>
          <p:nvPr/>
        </p:nvSpPr>
        <p:spPr>
          <a:xfrm>
            <a:off x="339354" y="1173043"/>
            <a:ext cx="11273525" cy="5878532"/>
          </a:xfrm>
          <a:prstGeom prst="rect">
            <a:avLst/>
          </a:prstGeom>
          <a:noFill/>
        </p:spPr>
        <p:txBody>
          <a:bodyPr wrap="square">
            <a:spAutoFit/>
          </a:bodyPr>
          <a:lstStyle/>
          <a:p>
            <a:pPr algn="just"/>
            <a:r>
              <a:rPr lang="en-US" altLang="en-US" sz="1600" dirty="0">
                <a:latin typeface="Cambria" panose="02040503050406030204" pitchFamily="18" charset="0"/>
                <a:ea typeface="Cambria" panose="02040503050406030204" pitchFamily="18" charset="0"/>
              </a:rPr>
              <a:t>Collecting initial requirements is a critical ﬁrst step in managing requirements over the course of the project </a:t>
            </a:r>
          </a:p>
          <a:p>
            <a:pPr marL="742950" lvl="1" indent="-285750" algn="just">
              <a:spcAft>
                <a:spcPts val="300"/>
              </a:spcAft>
              <a:buClr>
                <a:schemeClr val="accent2">
                  <a:lumMod val="75000"/>
                </a:schemeClr>
              </a:buClr>
              <a:buFont typeface="Wingdings" panose="05000000000000000000" pitchFamily="2" charset="2"/>
              <a:buChar cha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In an iterative/incremental or adaptive/agile project, requirements collection continues throughout the life cycle of the project </a:t>
            </a:r>
          </a:p>
          <a:p>
            <a:pPr marL="742950" lvl="1" indent="-285750" algn="just">
              <a:spcAft>
                <a:spcPts val="300"/>
              </a:spcAft>
              <a:buClr>
                <a:schemeClr val="accent2">
                  <a:lumMod val="75000"/>
                </a:schemeClr>
              </a:buClr>
              <a:buFont typeface="Wingdings" panose="05000000000000000000" pitchFamily="2" charset="2"/>
              <a:buChar char="§"/>
            </a:pPr>
            <a:endParaRPr lang="en-US" altLang="en-US" sz="1600" dirty="0">
              <a:solidFill>
                <a:schemeClr val="tx1">
                  <a:lumMod val="65000"/>
                  <a:lumOff val="35000"/>
                </a:schemeClr>
              </a:solidFill>
              <a:latin typeface="Cambria" panose="02040503050406030204" pitchFamily="18" charset="0"/>
              <a:ea typeface="Cambria" panose="02040503050406030204" pitchFamily="18" charset="0"/>
            </a:endParaRPr>
          </a:p>
          <a:p>
            <a:pPr marL="0" lvl="1" algn="just">
              <a:spcAft>
                <a:spcPts val="300"/>
              </a:spcAft>
              <a:buClr>
                <a:schemeClr val="accent2">
                  <a:lumMod val="75000"/>
                </a:schemeClr>
              </a:buClr>
            </a:pPr>
            <a:r>
              <a:rPr lang="en-US" altLang="en-US" sz="1600" b="1" dirty="0">
                <a:latin typeface="Cambria" panose="02040503050406030204" pitchFamily="18" charset="0"/>
                <a:ea typeface="Cambria" panose="02040503050406030204" pitchFamily="18" charset="0"/>
              </a:rPr>
              <a:t>Types of requirements </a:t>
            </a:r>
          </a:p>
          <a:p>
            <a:pPr marL="742950" lvl="1" indent="-285750" algn="just">
              <a:spcAft>
                <a:spcPts val="300"/>
              </a:spcAft>
              <a:buClr>
                <a:schemeClr val="accent2">
                  <a:lumMod val="75000"/>
                </a:schemeClr>
              </a:buClr>
              <a:buFont typeface="Wingdings" panose="05000000000000000000" pitchFamily="2" charset="2"/>
              <a:buChar char="§"/>
            </a:pPr>
            <a:r>
              <a:rPr lang="en-US" altLang="en-US" sz="1600" b="1" dirty="0">
                <a:solidFill>
                  <a:schemeClr val="tx1">
                    <a:lumMod val="65000"/>
                    <a:lumOff val="35000"/>
                  </a:schemeClr>
                </a:solidFill>
                <a:latin typeface="Cambria" panose="02040503050406030204" pitchFamily="18" charset="0"/>
                <a:ea typeface="Cambria" panose="02040503050406030204" pitchFamily="18" charset="0"/>
              </a:rPr>
              <a:t>Business requirements. </a:t>
            </a: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Describe the high-level needs of the organization as a whole </a:t>
            </a:r>
          </a:p>
          <a:p>
            <a:pPr marL="1025525" lvl="1" indent="-285750" algn="just">
              <a:spcAft>
                <a:spcPts val="300"/>
              </a:spcAft>
              <a:buClr>
                <a:schemeClr val="accent2">
                  <a:lumMod val="75000"/>
                </a:schemeClr>
              </a:buClr>
              <a:buFont typeface="Courier New" panose="02070309020205020404" pitchFamily="49" charset="0"/>
              <a:buChar char="o"/>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Examples: Increase e-commerce purchases by 25% </a:t>
            </a:r>
          </a:p>
          <a:p>
            <a:pPr marL="742950" lvl="1" indent="-285750" algn="just">
              <a:spcAft>
                <a:spcPts val="300"/>
              </a:spcAft>
              <a:buClr>
                <a:schemeClr val="accent2">
                  <a:lumMod val="75000"/>
                </a:schemeClr>
              </a:buClr>
              <a:buFont typeface="Wingdings" panose="05000000000000000000" pitchFamily="2" charset="2"/>
              <a:buChar char="§"/>
            </a:pPr>
            <a:r>
              <a:rPr lang="en-US" altLang="en-US" sz="1600" b="1" dirty="0">
                <a:solidFill>
                  <a:schemeClr val="tx1">
                    <a:lumMod val="65000"/>
                    <a:lumOff val="35000"/>
                  </a:schemeClr>
                </a:solidFill>
                <a:latin typeface="Cambria" panose="02040503050406030204" pitchFamily="18" charset="0"/>
                <a:ea typeface="Cambria" panose="02040503050406030204" pitchFamily="18" charset="0"/>
              </a:rPr>
              <a:t>Stakeholder requirements. </a:t>
            </a: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Describe the needs of a particular stakeholder, especially with respect to external stakeholders </a:t>
            </a:r>
          </a:p>
          <a:p>
            <a:pPr marL="1025525" lvl="1" indent="-285750" algn="just">
              <a:spcAft>
                <a:spcPts val="300"/>
              </a:spcAft>
              <a:buClr>
                <a:schemeClr val="accent2">
                  <a:lumMod val="75000"/>
                </a:schemeClr>
              </a:buClr>
              <a:buFont typeface="Courier New" panose="02070309020205020404" pitchFamily="49" charset="0"/>
              <a:buChar char="o"/>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Example: As the owner, I want to develop an e-commerce application</a:t>
            </a:r>
          </a:p>
          <a:p>
            <a:pPr marL="742950" lvl="1" indent="-285750" algn="just">
              <a:spcAft>
                <a:spcPts val="300"/>
              </a:spcAft>
              <a:buClr>
                <a:schemeClr val="accent2">
                  <a:lumMod val="75000"/>
                </a:schemeClr>
              </a:buClr>
              <a:buFont typeface="Wingdings" panose="05000000000000000000" pitchFamily="2" charset="2"/>
              <a:buChar char="§"/>
            </a:pPr>
            <a:r>
              <a:rPr lang="en-US" altLang="en-US" sz="1600" b="1" dirty="0">
                <a:solidFill>
                  <a:schemeClr val="tx1">
                    <a:lumMod val="65000"/>
                    <a:lumOff val="35000"/>
                  </a:schemeClr>
                </a:solidFill>
                <a:latin typeface="Cambria" panose="02040503050406030204" pitchFamily="18" charset="0"/>
                <a:ea typeface="Cambria" panose="02040503050406030204" pitchFamily="18" charset="0"/>
              </a:rPr>
              <a:t>Functional requirements. </a:t>
            </a: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Describe the behavior of the product </a:t>
            </a:r>
          </a:p>
          <a:p>
            <a:pPr marL="1025525" lvl="1" indent="-285750" algn="just">
              <a:spcAft>
                <a:spcPts val="300"/>
              </a:spcAft>
              <a:buClr>
                <a:schemeClr val="accent2">
                  <a:lumMod val="75000"/>
                </a:schemeClr>
              </a:buClr>
              <a:buFont typeface="Courier New" panose="02070309020205020404" pitchFamily="49" charset="0"/>
              <a:buChar char="o"/>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Example: As a retail customer, I want to be able to shop by brand or product category on the e-commerce application </a:t>
            </a:r>
          </a:p>
          <a:p>
            <a:pPr marL="742950" lvl="1" indent="-285750" algn="just">
              <a:spcAft>
                <a:spcPts val="300"/>
              </a:spcAft>
              <a:buClr>
                <a:schemeClr val="accent2">
                  <a:lumMod val="75000"/>
                </a:schemeClr>
              </a:buClr>
              <a:buFont typeface="Wingdings" panose="05000000000000000000" pitchFamily="2" charset="2"/>
              <a:buChar char="§"/>
            </a:pPr>
            <a:r>
              <a:rPr lang="en-US" altLang="en-US" sz="1600" b="1" dirty="0">
                <a:solidFill>
                  <a:schemeClr val="tx1">
                    <a:lumMod val="65000"/>
                    <a:lumOff val="35000"/>
                  </a:schemeClr>
                </a:solidFill>
                <a:latin typeface="Cambria" panose="02040503050406030204" pitchFamily="18" charset="0"/>
                <a:ea typeface="Cambria" panose="02040503050406030204" pitchFamily="18" charset="0"/>
              </a:rPr>
              <a:t>Nonfunctional requirements. </a:t>
            </a: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Describe the behavioral qualities required for the product to be effective </a:t>
            </a:r>
          </a:p>
          <a:p>
            <a:pPr marL="1025525" lvl="1" indent="-285750" algn="just">
              <a:spcAft>
                <a:spcPts val="300"/>
              </a:spcAft>
              <a:buClr>
                <a:schemeClr val="accent2">
                  <a:lumMod val="75000"/>
                </a:schemeClr>
              </a:buClr>
              <a:buFont typeface="Courier New" panose="02070309020205020404" pitchFamily="49" charset="0"/>
              <a:buChar char="o"/>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Example: As the e-commerce application owner, I want the e-commerce application to be available 99.99% of the time over a 1-year period </a:t>
            </a:r>
          </a:p>
          <a:p>
            <a:pPr marL="742950" lvl="1" indent="-285750" algn="just">
              <a:spcAft>
                <a:spcPts val="300"/>
              </a:spcAft>
              <a:buClr>
                <a:schemeClr val="accent2">
                  <a:lumMod val="75000"/>
                </a:schemeClr>
              </a:buClr>
              <a:buFont typeface="Wingdings" panose="05000000000000000000" pitchFamily="2" charset="2"/>
              <a:buChar char="§"/>
            </a:pPr>
            <a:r>
              <a:rPr lang="en-US" altLang="en-US" sz="1600" b="1" dirty="0">
                <a:solidFill>
                  <a:schemeClr val="tx1">
                    <a:lumMod val="65000"/>
                    <a:lumOff val="35000"/>
                  </a:schemeClr>
                </a:solidFill>
                <a:latin typeface="Cambria" panose="02040503050406030204" pitchFamily="18" charset="0"/>
                <a:ea typeface="Cambria" panose="02040503050406030204" pitchFamily="18" charset="0"/>
              </a:rPr>
              <a:t>Quality requirements. </a:t>
            </a: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Capture condition or criteria needed to validate the successful completion of a project deliverable </a:t>
            </a:r>
          </a:p>
          <a:p>
            <a:pPr marL="1025525" lvl="1" indent="-285750" algn="just">
              <a:spcAft>
                <a:spcPts val="300"/>
              </a:spcAft>
              <a:buClr>
                <a:schemeClr val="accent2">
                  <a:lumMod val="75000"/>
                </a:schemeClr>
              </a:buClr>
              <a:buFont typeface="Courier New" panose="02070309020205020404" pitchFamily="49" charset="0"/>
              <a:buChar char="o"/>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Example: As the e-commerce application owner, I want a retail customer test group to be able to successfully search for and ﬁnd a requested product within 30 seconds </a:t>
            </a:r>
          </a:p>
          <a:p>
            <a:pPr marL="1025525" lvl="1" indent="-285750" algn="just">
              <a:spcAft>
                <a:spcPts val="300"/>
              </a:spcAft>
              <a:buClr>
                <a:schemeClr val="accent2">
                  <a:lumMod val="75000"/>
                </a:schemeClr>
              </a:buClr>
              <a:buFont typeface="Courier New" panose="02070309020205020404" pitchFamily="49" charset="0"/>
              <a:buChar char="o"/>
            </a:pPr>
            <a:endParaRPr lang="en-US" altLang="en-US" sz="1600" dirty="0">
              <a:solidFill>
                <a:schemeClr val="tx1">
                  <a:lumMod val="65000"/>
                  <a:lumOff val="35000"/>
                </a:schemeClr>
              </a:solidFill>
              <a:latin typeface="Cambria" panose="02040503050406030204" pitchFamily="18" charset="0"/>
              <a:ea typeface="Cambria" panose="02040503050406030204" pitchFamily="18" charset="0"/>
            </a:endParaRPr>
          </a:p>
          <a:p>
            <a:pPr marL="0" lvl="1" algn="just">
              <a:spcAft>
                <a:spcPts val="300"/>
              </a:spcAft>
              <a:buClr>
                <a:schemeClr val="accent2">
                  <a:lumMod val="75000"/>
                </a:schemeClr>
              </a:buClr>
            </a:pPr>
            <a:endParaRPr lang="en-US" alt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31246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PROJECT SCOPE MANAGEMENT INITIATING &amp; DEFINITION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6096000" cy="369332"/>
          </a:xfrm>
          <a:prstGeom prst="rect">
            <a:avLst/>
          </a:prstGeom>
          <a:noFill/>
        </p:spPr>
        <p:txBody>
          <a:bodyPr wrap="square">
            <a:spAutoFit/>
          </a:bodyPr>
          <a:lstStyle/>
          <a:p>
            <a:pPr algn="just"/>
            <a:r>
              <a:rPr lang="en-US" altLang="en-US" b="1" dirty="0">
                <a:latin typeface="Cambria" panose="02040503050406030204" pitchFamily="18" charset="0"/>
                <a:ea typeface="Cambria" panose="02040503050406030204" pitchFamily="18" charset="0"/>
              </a:rPr>
              <a:t>Inputs, tools &amp; techniques, and outputs</a:t>
            </a:r>
            <a:endParaRPr lang="en-US" b="1" dirty="0">
              <a:latin typeface="Cambria" panose="02040503050406030204" pitchFamily="18" charset="0"/>
              <a:ea typeface="Cambria" panose="02040503050406030204" pitchFamily="18" charset="0"/>
            </a:endParaRPr>
          </a:p>
        </p:txBody>
      </p:sp>
      <p:pic>
        <p:nvPicPr>
          <p:cNvPr id="2" name="Content Placeholder 6" descr="Collect Requirements I-O.jpg">
            <a:extLst>
              <a:ext uri="{FF2B5EF4-FFF2-40B4-BE49-F238E27FC236}">
                <a16:creationId xmlns:a16="http://schemas.microsoft.com/office/drawing/2014/main" id="{534A78AF-420F-01E7-328F-B80A652ED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7368" b="-47368"/>
          <a:stretch>
            <a:fillRect/>
          </a:stretch>
        </p:blipFill>
        <p:spPr>
          <a:xfrm>
            <a:off x="339355" y="684707"/>
            <a:ext cx="11511518" cy="6264725"/>
          </a:xfrm>
          <a:prstGeom prst="rect">
            <a:avLst/>
          </a:prstGeom>
        </p:spPr>
      </p:pic>
    </p:spTree>
    <p:extLst>
      <p:ext uri="{BB962C8B-B14F-4D97-AF65-F5344CB8AC3E}">
        <p14:creationId xmlns:p14="http://schemas.microsoft.com/office/powerpoint/2010/main" val="2724340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78483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4. WORK BREAKDOWN STRUCTURE (WBS)</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3647152"/>
          </a:xfrm>
          <a:prstGeom prst="rect">
            <a:avLst/>
          </a:prstGeom>
          <a:noFill/>
        </p:spPr>
        <p:txBody>
          <a:bodyPr wrap="square">
            <a:spAutoFit/>
          </a:bodyPr>
          <a:lstStyle/>
          <a:p>
            <a:pPr>
              <a:lnSpc>
                <a:spcPct val="100000"/>
              </a:lnSpc>
              <a:spcBef>
                <a:spcPts val="0"/>
              </a:spcBef>
              <a:spcAft>
                <a:spcPts val="600"/>
              </a:spcAft>
            </a:pPr>
            <a:r>
              <a:rPr lang="en-US" b="1" dirty="0">
                <a:solidFill>
                  <a:schemeClr val="bg1"/>
                </a:solidFill>
                <a:latin typeface="Cambria" panose="02040503050406030204" pitchFamily="18" charset="0"/>
                <a:ea typeface="Cambria" panose="02040503050406030204" pitchFamily="18" charset="0"/>
              </a:rPr>
              <a:t>Work Breakdown Structure (WBS)</a:t>
            </a:r>
          </a:p>
          <a:p>
            <a:pPr marL="0" indent="0" algn="r">
              <a:spcBef>
                <a:spcPct val="100000"/>
              </a:spcBef>
              <a:buNone/>
            </a:pPr>
            <a:r>
              <a:rPr lang="en-US" sz="1600" i="1" dirty="0">
                <a:solidFill>
                  <a:schemeClr val="bg1"/>
                </a:solidFill>
                <a:latin typeface="Cambria" panose="02040503050406030204" pitchFamily="18" charset="0"/>
                <a:ea typeface="Cambria" panose="02040503050406030204" pitchFamily="18" charset="0"/>
              </a:rPr>
              <a:t>“a deliverable-oriented hierarchical decomposition of the work to be executed by the project team to accomplish the project objectives and create the required deliverables. It organizes and defines the total scope of the project. Each descending level represents an increasingly detailed definition of the project work. The WBS is decomposed into work packages. The deliverable orientation of the hierarchy includes both internal and external deliverables.”.</a:t>
            </a:r>
            <a:endParaRPr lang="en-US" altLang="en-US" sz="1600" i="1"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8B093C7-8A33-C07F-5EC7-3838AF3517A2}"/>
              </a:ext>
            </a:extLst>
          </p:cNvPr>
          <p:cNvSpPr txBox="1"/>
          <p:nvPr/>
        </p:nvSpPr>
        <p:spPr>
          <a:xfrm>
            <a:off x="339355" y="912336"/>
            <a:ext cx="7490444" cy="3116238"/>
          </a:xfrm>
          <a:prstGeom prst="rect">
            <a:avLst/>
          </a:prstGeom>
          <a:noFill/>
        </p:spPr>
        <p:txBody>
          <a:bodyPr wrap="square">
            <a:spAutoFit/>
          </a:bodyPr>
          <a:lstStyle/>
          <a:p>
            <a:pPr algn="just"/>
            <a:r>
              <a:rPr lang="en-US" dirty="0">
                <a:latin typeface="Cambria" panose="02040503050406030204" pitchFamily="18" charset="0"/>
                <a:ea typeface="Cambria" panose="02040503050406030204" pitchFamily="18" charset="0"/>
              </a:rPr>
              <a:t>A work breakdown structure (WBS) is a fundamental project management tool that represents a hierarchical decomposition of projects. It helps to break down complex activities into more manageable parts with the aim to manage, evaluate, and assign them to anyone in a team.</a:t>
            </a:r>
          </a:p>
          <a:p>
            <a:pPr algn="just"/>
            <a:endParaRPr lang="en-US" sz="1600" dirty="0">
              <a:latin typeface="Cambria" panose="02040503050406030204" pitchFamily="18" charset="0"/>
              <a:ea typeface="Cambria" panose="02040503050406030204" pitchFamily="18" charset="0"/>
            </a:endParaRPr>
          </a:p>
          <a:p>
            <a:pPr marL="742950" lvl="1" indent="-285750">
              <a:spcAft>
                <a:spcPts val="300"/>
              </a:spcAft>
              <a:buClr>
                <a:schemeClr val="accent2">
                  <a:lumMod val="75000"/>
                </a:schemeClr>
              </a:buClr>
              <a:buFont typeface="Wingdings" panose="05000000000000000000" pitchFamily="2" charset="2"/>
              <a:buChar char="§"/>
            </a:pPr>
            <a:r>
              <a:rPr lang="en-US" sz="1600" b="1" dirty="0">
                <a:solidFill>
                  <a:schemeClr val="tx1">
                    <a:lumMod val="65000"/>
                    <a:lumOff val="35000"/>
                  </a:schemeClr>
                </a:solidFill>
                <a:latin typeface="Cambria" panose="02040503050406030204" pitchFamily="18" charset="0"/>
                <a:ea typeface="Cambria" panose="02040503050406030204" pitchFamily="18" charset="0"/>
              </a:rPr>
              <a:t>What is to be done</a:t>
            </a:r>
          </a:p>
          <a:p>
            <a:pPr marL="742950" lvl="1" indent="-285750">
              <a:spcAft>
                <a:spcPts val="300"/>
              </a:spcAft>
              <a:buClr>
                <a:schemeClr val="accent2">
                  <a:lumMod val="75000"/>
                </a:schemeClr>
              </a:buClr>
              <a:buFont typeface="Wingdings" panose="05000000000000000000" pitchFamily="2" charset="2"/>
              <a:buChar char="§"/>
            </a:pPr>
            <a:r>
              <a:rPr lang="en-US" sz="1600" b="1" dirty="0">
                <a:solidFill>
                  <a:schemeClr val="tx1">
                    <a:lumMod val="65000"/>
                    <a:lumOff val="35000"/>
                  </a:schemeClr>
                </a:solidFill>
                <a:latin typeface="Cambria" panose="02040503050406030204" pitchFamily="18" charset="0"/>
                <a:ea typeface="Cambria" panose="02040503050406030204" pitchFamily="18" charset="0"/>
              </a:rPr>
              <a:t>When it is to be start and finished</a:t>
            </a:r>
          </a:p>
          <a:p>
            <a:pPr marL="742950" lvl="1" indent="-285750">
              <a:spcAft>
                <a:spcPts val="300"/>
              </a:spcAft>
              <a:buClr>
                <a:schemeClr val="accent2">
                  <a:lumMod val="75000"/>
                </a:schemeClr>
              </a:buClr>
              <a:buFont typeface="Wingdings" panose="05000000000000000000" pitchFamily="2" charset="2"/>
              <a:buChar char="§"/>
            </a:pPr>
            <a:r>
              <a:rPr lang="en-US" sz="1600" b="1" dirty="0">
                <a:solidFill>
                  <a:schemeClr val="tx1">
                    <a:lumMod val="65000"/>
                    <a:lumOff val="35000"/>
                  </a:schemeClr>
                </a:solidFill>
                <a:latin typeface="Cambria" panose="02040503050406030204" pitchFamily="18" charset="0"/>
                <a:ea typeface="Cambria" panose="02040503050406030204" pitchFamily="18" charset="0"/>
              </a:rPr>
              <a:t>Who is going to do this</a:t>
            </a:r>
          </a:p>
          <a:p>
            <a:pPr marL="0" lvl="1">
              <a:spcAft>
                <a:spcPts val="300"/>
              </a:spcAft>
              <a:buClr>
                <a:schemeClr val="accent2">
                  <a:lumMod val="75000"/>
                </a:schemeClr>
              </a:buClr>
            </a:pPr>
            <a:endParaRPr lang="en-US" altLang="en-US" sz="1600" dirty="0">
              <a:latin typeface="Cambria" panose="02040503050406030204" pitchFamily="18" charset="0"/>
              <a:ea typeface="Cambria" panose="02040503050406030204" pitchFamily="18" charset="0"/>
            </a:endParaRPr>
          </a:p>
          <a:p>
            <a:pPr marL="0" lvl="1">
              <a:spcAft>
                <a:spcPts val="300"/>
              </a:spcAft>
              <a:buClr>
                <a:schemeClr val="accent2">
                  <a:lumMod val="75000"/>
                </a:schemeClr>
              </a:buClr>
            </a:pPr>
            <a:r>
              <a:rPr lang="en-GB" altLang="en-US" sz="1600" b="1" dirty="0">
                <a:solidFill>
                  <a:srgbClr val="0070C0"/>
                </a:solidFill>
                <a:latin typeface="Cambria" panose="02040503050406030204" pitchFamily="18" charset="0"/>
                <a:ea typeface="Cambria" panose="02040503050406030204" pitchFamily="18" charset="0"/>
              </a:rPr>
              <a:t>Defining the right activities is essential for “project scope management”</a:t>
            </a:r>
          </a:p>
          <a:p>
            <a:pPr algn="just"/>
            <a:endParaRPr lang="en-US" sz="16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BD2E00BB-E4E7-E219-CD57-3D5260C46F3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97757" y="4185920"/>
            <a:ext cx="2295616" cy="2389235"/>
          </a:xfrm>
          <a:prstGeom prst="rect">
            <a:avLst/>
          </a:prstGeom>
        </p:spPr>
      </p:pic>
    </p:spTree>
    <p:extLst>
      <p:ext uri="{BB962C8B-B14F-4D97-AF65-F5344CB8AC3E}">
        <p14:creationId xmlns:p14="http://schemas.microsoft.com/office/powerpoint/2010/main" val="2409534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2FA1C315-2E7A-9D44-B424-DB2A3BE2D042}"/>
              </a:ext>
            </a:extLst>
          </p:cNvPr>
          <p:cNvPicPr>
            <a:picLocks noChangeAspect="1"/>
          </p:cNvPicPr>
          <p:nvPr/>
        </p:nvPicPr>
        <p:blipFill>
          <a:blip r:embed="rId2"/>
          <a:stretch>
            <a:fillRect/>
          </a:stretch>
        </p:blipFill>
        <p:spPr>
          <a:xfrm>
            <a:off x="6327666" y="0"/>
            <a:ext cx="5864334" cy="5181599"/>
          </a:xfrm>
          <a:prstGeom prst="rect">
            <a:avLst/>
          </a:prstGeom>
        </p:spPr>
      </p:pic>
      <p:sp>
        <p:nvSpPr>
          <p:cNvPr id="16" name="TextBox 15">
            <a:extLst>
              <a:ext uri="{FF2B5EF4-FFF2-40B4-BE49-F238E27FC236}">
                <a16:creationId xmlns:a16="http://schemas.microsoft.com/office/drawing/2014/main" id="{A4DE627A-5B49-D392-DA58-F59B62ADBB3B}"/>
              </a:ext>
            </a:extLst>
          </p:cNvPr>
          <p:cNvSpPr txBox="1"/>
          <p:nvPr/>
        </p:nvSpPr>
        <p:spPr>
          <a:xfrm>
            <a:off x="341127" y="763208"/>
            <a:ext cx="5754873" cy="5247590"/>
          </a:xfrm>
          <a:prstGeom prst="rect">
            <a:avLst/>
          </a:prstGeom>
          <a:noFill/>
        </p:spPr>
        <p:txBody>
          <a:bodyPr wrap="square">
            <a:spAutoFit/>
          </a:bodyPr>
          <a:lstStyle/>
          <a:p>
            <a:pPr algn="just">
              <a:defRPr/>
            </a:pPr>
            <a:r>
              <a:rPr lang="en-US" sz="1600" dirty="0">
                <a:latin typeface="Cambria" panose="02040503050406030204" pitchFamily="18" charset="0"/>
                <a:ea typeface="Cambria" panose="02040503050406030204" pitchFamily="18" charset="0"/>
              </a:rPr>
              <a:t>Some commonly used terms used with WBS project management include:</a:t>
            </a:r>
          </a:p>
          <a:p>
            <a:pPr algn="just">
              <a:spcAft>
                <a:spcPts val="300"/>
              </a:spcAft>
              <a:defRPr/>
            </a:pPr>
            <a:r>
              <a:rPr lang="en-US" sz="1600" dirty="0">
                <a:solidFill>
                  <a:srgbClr val="0070C0"/>
                </a:solidFill>
                <a:latin typeface="Cambria" panose="02040503050406030204" pitchFamily="18" charset="0"/>
                <a:ea typeface="Cambria" panose="02040503050406030204" pitchFamily="18" charset="0"/>
              </a:rPr>
              <a:t>Acceptance Criteria: </a:t>
            </a:r>
            <a:r>
              <a:rPr lang="en-US" sz="1600" dirty="0">
                <a:latin typeface="Cambria" panose="02040503050406030204" pitchFamily="18" charset="0"/>
                <a:ea typeface="Cambria" panose="02040503050406030204" pitchFamily="18" charset="0"/>
              </a:rPr>
              <a:t>Standards to be met to achieve customer or other stakeholder requirements</a:t>
            </a:r>
          </a:p>
          <a:p>
            <a:pPr algn="just">
              <a:spcAft>
                <a:spcPts val="300"/>
              </a:spcAft>
              <a:defRPr/>
            </a:pPr>
            <a:r>
              <a:rPr lang="en-US" sz="1600" dirty="0">
                <a:solidFill>
                  <a:srgbClr val="0070C0"/>
                </a:solidFill>
                <a:latin typeface="Cambria" panose="02040503050406030204" pitchFamily="18" charset="0"/>
                <a:ea typeface="Cambria" panose="02040503050406030204" pitchFamily="18" charset="0"/>
              </a:rPr>
              <a:t>Budget: </a:t>
            </a:r>
            <a:r>
              <a:rPr lang="en-US" sz="1600" dirty="0">
                <a:latin typeface="Cambria" panose="02040503050406030204" pitchFamily="18" charset="0"/>
                <a:ea typeface="Cambria" panose="02040503050406030204" pitchFamily="18" charset="0"/>
              </a:rPr>
              <a:t>Expenses associated with the project, which can be broken down by deliverables or phases</a:t>
            </a:r>
          </a:p>
          <a:p>
            <a:pPr algn="just">
              <a:spcAft>
                <a:spcPts val="300"/>
              </a:spcAft>
              <a:defRPr/>
            </a:pPr>
            <a:r>
              <a:rPr lang="en-US" sz="1600" dirty="0">
                <a:solidFill>
                  <a:srgbClr val="0070C0"/>
                </a:solidFill>
                <a:latin typeface="Cambria" panose="02040503050406030204" pitchFamily="18" charset="0"/>
                <a:ea typeface="Cambria" panose="02040503050406030204" pitchFamily="18" charset="0"/>
              </a:rPr>
              <a:t>Deliverables: </a:t>
            </a:r>
            <a:r>
              <a:rPr lang="en-US" sz="1600" dirty="0">
                <a:latin typeface="Cambria" panose="02040503050406030204" pitchFamily="18" charset="0"/>
                <a:ea typeface="Cambria" panose="02040503050406030204" pitchFamily="18" charset="0"/>
              </a:rPr>
              <a:t>The product, service or results created at various stages of the project. For instance, in a website design project, a deliverable-based WBS would be structured around deliverables such as URL, layout and written content</a:t>
            </a:r>
          </a:p>
          <a:p>
            <a:pPr algn="just">
              <a:spcAft>
                <a:spcPts val="300"/>
              </a:spcAft>
              <a:defRPr/>
            </a:pPr>
            <a:r>
              <a:rPr lang="en-US" sz="1600" dirty="0">
                <a:solidFill>
                  <a:srgbClr val="0070C0"/>
                </a:solidFill>
                <a:latin typeface="Cambria" panose="02040503050406030204" pitchFamily="18" charset="0"/>
                <a:ea typeface="Cambria" panose="02040503050406030204" pitchFamily="18" charset="0"/>
              </a:rPr>
              <a:t>Milestones: </a:t>
            </a:r>
            <a:r>
              <a:rPr lang="en-US" sz="1600" dirty="0">
                <a:latin typeface="Cambria" panose="02040503050406030204" pitchFamily="18" charset="0"/>
                <a:ea typeface="Cambria" panose="02040503050406030204" pitchFamily="18" charset="0"/>
              </a:rPr>
              <a:t>Critical stages of the project identified in the WBS</a:t>
            </a:r>
          </a:p>
          <a:p>
            <a:pPr algn="just">
              <a:spcAft>
                <a:spcPts val="300"/>
              </a:spcAft>
              <a:defRPr/>
            </a:pPr>
            <a:r>
              <a:rPr lang="en-US" sz="1600" dirty="0">
                <a:solidFill>
                  <a:srgbClr val="0070C0"/>
                </a:solidFill>
                <a:latin typeface="Cambria" panose="02040503050406030204" pitchFamily="18" charset="0"/>
                <a:ea typeface="Cambria" panose="02040503050406030204" pitchFamily="18" charset="0"/>
              </a:rPr>
              <a:t>Phases: </a:t>
            </a:r>
            <a:r>
              <a:rPr lang="en-US" sz="1600" dirty="0">
                <a:latin typeface="Cambria" panose="02040503050406030204" pitchFamily="18" charset="0"/>
                <a:ea typeface="Cambria" panose="02040503050406030204" pitchFamily="18" charset="0"/>
              </a:rPr>
              <a:t>The various stages of a project. For instance, in a website design project, a phase-based WBS would be structured around things like discovery, design and launch, rather than specific deliverables</a:t>
            </a:r>
          </a:p>
          <a:p>
            <a:pPr algn="just">
              <a:spcAft>
                <a:spcPts val="300"/>
              </a:spcAft>
              <a:defRPr/>
            </a:pPr>
            <a:r>
              <a:rPr lang="en-US" sz="1600" dirty="0">
                <a:solidFill>
                  <a:srgbClr val="0070C0"/>
                </a:solidFill>
                <a:latin typeface="Cambria" panose="02040503050406030204" pitchFamily="18" charset="0"/>
                <a:ea typeface="Cambria" panose="02040503050406030204" pitchFamily="18" charset="0"/>
              </a:rPr>
              <a:t>A Work Package is: </a:t>
            </a:r>
            <a:r>
              <a:rPr lang="en-US" sz="1600" dirty="0">
                <a:latin typeface="Cambria" panose="02040503050406030204" pitchFamily="18" charset="0"/>
                <a:ea typeface="Cambria" panose="02040503050406030204" pitchFamily="18" charset="0"/>
              </a:rPr>
              <a:t>“…the work defined at the lowest level of the work breakdown structure for which cost and duration are estimated and managed.”</a:t>
            </a:r>
            <a:endParaRPr lang="en-US" altLang="en-US" sz="1600" dirty="0">
              <a:latin typeface="Cambria" panose="02040503050406030204" pitchFamily="18" charset="0"/>
              <a:ea typeface="Cambria" panose="02040503050406030204" pitchFamily="18" charset="0"/>
            </a:endParaRPr>
          </a:p>
          <a:p>
            <a:pPr algn="just">
              <a:defRPr/>
            </a:pPr>
            <a:endParaRPr lang="en-US" sz="1600" b="1" dirty="0">
              <a:solidFill>
                <a:srgbClr val="0070C0"/>
              </a:solidFill>
              <a:latin typeface="Cambria" panose="02040503050406030204" pitchFamily="18" charset="0"/>
              <a:ea typeface="Cambria" panose="02040503050406030204" pitchFamily="18" charset="0"/>
            </a:endParaRPr>
          </a:p>
          <a:p>
            <a:pPr algn="just">
              <a:buFont typeface="Arial" panose="020B0604020202020204" pitchFamily="34" charset="0"/>
              <a:buChar char="•"/>
              <a:defRPr/>
            </a:pPr>
            <a:endParaRPr lang="en-US" sz="1600" b="1" dirty="0">
              <a:solidFill>
                <a:srgbClr val="0070C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3340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6619E1-1835-C799-5B2A-E66522403F9B}"/>
              </a:ext>
            </a:extLst>
          </p:cNvPr>
          <p:cNvSpPr txBox="1"/>
          <p:nvPr/>
        </p:nvSpPr>
        <p:spPr>
          <a:xfrm>
            <a:off x="339355" y="817268"/>
            <a:ext cx="6180063" cy="4208844"/>
          </a:xfrm>
          <a:prstGeom prst="rect">
            <a:avLst/>
          </a:prstGeom>
          <a:noFill/>
        </p:spPr>
        <p:txBody>
          <a:bodyPr wrap="square">
            <a:spAutoFit/>
          </a:bodyPr>
          <a:lstStyle/>
          <a:p>
            <a:pPr algn="just">
              <a:defRPr/>
            </a:pPr>
            <a:r>
              <a:rPr lang="en-US" sz="1600" dirty="0">
                <a:latin typeface="Cambria" panose="02040503050406030204" pitchFamily="18" charset="0"/>
                <a:ea typeface="Cambria" panose="02040503050406030204" pitchFamily="18" charset="0"/>
              </a:rPr>
              <a:t>Breaks large project into manageable units</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Total project</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Subprojects</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Milestones (completion of an important set of work packages)</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Major activities (summary tasks)</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Work packages (tasks, activities, work elements)</a:t>
            </a:r>
          </a:p>
          <a:p>
            <a:pPr marL="742950" lvl="1" indent="-285750">
              <a:spcAft>
                <a:spcPts val="300"/>
              </a:spcAft>
              <a:buClr>
                <a:schemeClr val="accent2">
                  <a:lumMod val="75000"/>
                </a:schemeClr>
              </a:buClr>
              <a:buFont typeface="Wingdings" panose="05000000000000000000" pitchFamily="2" charset="2"/>
              <a:buChar char="§"/>
              <a:defRPr/>
            </a:pPr>
            <a:endParaRPr lang="en-US" sz="1600" dirty="0">
              <a:latin typeface="Cambria" panose="02040503050406030204" pitchFamily="18" charset="0"/>
              <a:ea typeface="Cambria" panose="02040503050406030204" pitchFamily="18" charset="0"/>
            </a:endParaRPr>
          </a:p>
          <a:p>
            <a:pPr algn="just">
              <a:defRPr/>
            </a:pPr>
            <a:r>
              <a:rPr lang="en-US" sz="1600" dirty="0">
                <a:latin typeface="Cambria" panose="02040503050406030204" pitchFamily="18" charset="0"/>
                <a:ea typeface="Cambria" panose="02040503050406030204" pitchFamily="18" charset="0"/>
              </a:rPr>
              <a:t>Helps to</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Identify all work needing to be done </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Logically organize work so that is can be scheduled</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Assign work to team members</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Identify resources needed</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Communicate what has to be done</a:t>
            </a:r>
          </a:p>
          <a:p>
            <a:pPr marL="742950" lvl="1" indent="-285750">
              <a:spcAft>
                <a:spcPts val="300"/>
              </a:spcAft>
              <a:buClr>
                <a:schemeClr val="accent2">
                  <a:lumMod val="75000"/>
                </a:schemeClr>
              </a:buClr>
              <a:buFont typeface="Wingdings" panose="05000000000000000000" pitchFamily="2" charset="2"/>
              <a:buChar char="§"/>
              <a:defRPr/>
            </a:pPr>
            <a:r>
              <a:rPr lang="en-US" sz="1600" dirty="0">
                <a:latin typeface="Cambria" panose="02040503050406030204" pitchFamily="18" charset="0"/>
                <a:ea typeface="Cambria" panose="02040503050406030204" pitchFamily="18" charset="0"/>
              </a:rPr>
              <a:t>Organize work using milestones</a:t>
            </a:r>
          </a:p>
        </p:txBody>
      </p:sp>
      <p:pic>
        <p:nvPicPr>
          <p:cNvPr id="10" name="Picture 9">
            <a:extLst>
              <a:ext uri="{FF2B5EF4-FFF2-40B4-BE49-F238E27FC236}">
                <a16:creationId xmlns:a16="http://schemas.microsoft.com/office/drawing/2014/main" id="{C67E4D98-8088-A97B-D85D-A919A4BA01D0}"/>
              </a:ext>
            </a:extLst>
          </p:cNvPr>
          <p:cNvPicPr>
            <a:picLocks noChangeAspect="1"/>
          </p:cNvPicPr>
          <p:nvPr/>
        </p:nvPicPr>
        <p:blipFill>
          <a:blip r:embed="rId2"/>
          <a:stretch>
            <a:fillRect/>
          </a:stretch>
        </p:blipFill>
        <p:spPr>
          <a:xfrm>
            <a:off x="6096000" y="763208"/>
            <a:ext cx="5864334" cy="5181599"/>
          </a:xfrm>
          <a:prstGeom prst="rect">
            <a:avLst/>
          </a:prstGeom>
        </p:spPr>
      </p:pic>
    </p:spTree>
    <p:extLst>
      <p:ext uri="{BB962C8B-B14F-4D97-AF65-F5344CB8AC3E}">
        <p14:creationId xmlns:p14="http://schemas.microsoft.com/office/powerpoint/2010/main" val="1268264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726268"/>
            <a:ext cx="11655358" cy="3762568"/>
          </a:xfrm>
          <a:prstGeom prst="rect">
            <a:avLst/>
          </a:prstGeom>
          <a:noFill/>
        </p:spPr>
        <p:txBody>
          <a:bodyPr wrap="square">
            <a:spAutoFit/>
          </a:bodyPr>
          <a:lstStyle/>
          <a:p>
            <a:pPr algn="l"/>
            <a:r>
              <a:rPr lang="en-US" sz="2000" b="1" dirty="0">
                <a:solidFill>
                  <a:schemeClr val="bg2">
                    <a:lumMod val="50000"/>
                  </a:schemeClr>
                </a:solidFill>
                <a:latin typeface="Cambria" panose="02040503050406030204" pitchFamily="18" charset="0"/>
                <a:ea typeface="Cambria" panose="02040503050406030204" pitchFamily="18" charset="0"/>
              </a:rPr>
              <a:t>WBS benefits</a:t>
            </a:r>
          </a:p>
          <a:p>
            <a:pPr algn="l"/>
            <a:r>
              <a:rPr lang="en-US" sz="2000" b="1" dirty="0">
                <a:solidFill>
                  <a:schemeClr val="bg2">
                    <a:lumMod val="50000"/>
                  </a:schemeClr>
                </a:solidFill>
                <a:latin typeface="Cambria" panose="02040503050406030204" pitchFamily="18" charset="0"/>
                <a:ea typeface="Cambria" panose="02040503050406030204" pitchFamily="18" charset="0"/>
              </a:rPr>
              <a:t>Why create a work breakdown structure?</a:t>
            </a:r>
          </a:p>
          <a:p>
            <a:pPr algn="just"/>
            <a:r>
              <a:rPr lang="en-US" sz="1600" dirty="0">
                <a:latin typeface="Cambria" panose="02040503050406030204" pitchFamily="18" charset="0"/>
                <a:ea typeface="Cambria" panose="02040503050406030204" pitchFamily="18" charset="0"/>
              </a:rPr>
              <a:t>A work breakdown structure (WBS) is a tool that can be used for projects, programs, and even initiatives to understand the work that has to be done to successfully produce a deliverable(s).  The purpose of creating a WBS:</a:t>
            </a:r>
          </a:p>
          <a:p>
            <a:pPr marL="742950" lvl="1" indent="-285750">
              <a:spcAft>
                <a:spcPts val="300"/>
              </a:spcAft>
              <a:buClr>
                <a:schemeClr val="accent2">
                  <a:lumMod val="75000"/>
                </a:schemeClr>
              </a:buClr>
              <a:buFont typeface="Wingdings" panose="05000000000000000000" pitchFamily="2" charset="2"/>
              <a:buChar char="§"/>
            </a:pPr>
            <a:r>
              <a:rPr lang="en-US" altLang="en-US" sz="1600" dirty="0">
                <a:latin typeface="Cambria" panose="02040503050406030204" pitchFamily="18" charset="0"/>
                <a:ea typeface="Cambria" panose="02040503050406030204" pitchFamily="18" charset="0"/>
              </a:rPr>
              <a:t>To define:</a:t>
            </a:r>
          </a:p>
          <a:p>
            <a:pPr marL="1025525" lvl="1" indent="-285750">
              <a:spcBef>
                <a:spcPct val="0"/>
              </a:spcBef>
              <a:buClr>
                <a:schemeClr val="accent2">
                  <a:lumMod val="75000"/>
                </a:schemeClr>
              </a:buClr>
              <a:buSzPct val="70000"/>
              <a:buFont typeface="Courier New" panose="02070309020205020404" pitchFamily="49" charset="0"/>
              <a:buChar char="o"/>
            </a:pPr>
            <a:r>
              <a:rPr lang="en-US" altLang="en-US" sz="1600" dirty="0">
                <a:latin typeface="Cambria" panose="02040503050406030204" pitchFamily="18" charset="0"/>
                <a:ea typeface="Cambria" panose="02040503050406030204" pitchFamily="18" charset="0"/>
              </a:rPr>
              <a:t>Solution strategy or general approach</a:t>
            </a:r>
          </a:p>
          <a:p>
            <a:pPr marL="1025525" lvl="1" indent="-285750">
              <a:spcBef>
                <a:spcPct val="0"/>
              </a:spcBef>
              <a:buClr>
                <a:schemeClr val="accent2">
                  <a:lumMod val="75000"/>
                </a:schemeClr>
              </a:buClr>
              <a:buSzPct val="70000"/>
              <a:buFont typeface="Courier New" panose="02070309020205020404" pitchFamily="49" charset="0"/>
              <a:buChar char="o"/>
            </a:pPr>
            <a:r>
              <a:rPr lang="en-US" altLang="en-US" sz="1600" dirty="0">
                <a:latin typeface="Cambria" panose="02040503050406030204" pitchFamily="18" charset="0"/>
                <a:ea typeface="Cambria" panose="02040503050406030204" pitchFamily="18" charset="0"/>
              </a:rPr>
              <a:t>Implementation tactics </a:t>
            </a:r>
          </a:p>
          <a:p>
            <a:pPr marL="742950" lvl="1" indent="-285750">
              <a:spcBef>
                <a:spcPts val="600"/>
              </a:spcBef>
              <a:spcAft>
                <a:spcPts val="300"/>
              </a:spcAft>
              <a:buClr>
                <a:schemeClr val="accent2">
                  <a:lumMod val="75000"/>
                </a:schemeClr>
              </a:buClr>
              <a:buFont typeface="Wingdings" panose="05000000000000000000" pitchFamily="2" charset="2"/>
              <a:buChar char="§"/>
            </a:pPr>
            <a:r>
              <a:rPr lang="en-US" altLang="en-US" sz="1600" dirty="0">
                <a:latin typeface="Cambria" panose="02040503050406030204" pitchFamily="18" charset="0"/>
                <a:ea typeface="Cambria" panose="02040503050406030204" pitchFamily="18" charset="0"/>
              </a:rPr>
              <a:t>To support more accurate estimates of project duration and cost than can be made at the project level</a:t>
            </a:r>
          </a:p>
          <a:p>
            <a:pPr marL="742950" lvl="1" indent="-285750">
              <a:spcBef>
                <a:spcPts val="600"/>
              </a:spcBef>
              <a:spcAft>
                <a:spcPts val="300"/>
              </a:spcAft>
              <a:buClr>
                <a:schemeClr val="accent2">
                  <a:lumMod val="75000"/>
                </a:schemeClr>
              </a:buClr>
              <a:buFont typeface="Wingdings" panose="05000000000000000000" pitchFamily="2" charset="2"/>
              <a:buChar char="§"/>
            </a:pPr>
            <a:r>
              <a:rPr lang="en-US" altLang="en-US" sz="1600" dirty="0">
                <a:latin typeface="Cambria" panose="02040503050406030204" pitchFamily="18" charset="0"/>
                <a:ea typeface="Cambria" panose="02040503050406030204" pitchFamily="18" charset="0"/>
              </a:rPr>
              <a:t>To provide a basis for estimating project resources: </a:t>
            </a:r>
          </a:p>
          <a:p>
            <a:pPr marL="1025525" lvl="1" indent="-285750">
              <a:spcBef>
                <a:spcPct val="0"/>
              </a:spcBef>
              <a:buClr>
                <a:schemeClr val="accent2">
                  <a:lumMod val="75000"/>
                </a:schemeClr>
              </a:buClr>
              <a:buSzPct val="70000"/>
              <a:buFont typeface="Courier New" panose="02070309020205020404" pitchFamily="49" charset="0"/>
              <a:buChar char="o"/>
            </a:pPr>
            <a:r>
              <a:rPr lang="en-US" altLang="en-US" sz="1600" dirty="0">
                <a:latin typeface="Cambria" panose="02040503050406030204" pitchFamily="18" charset="0"/>
                <a:ea typeface="Cambria" panose="02040503050406030204" pitchFamily="18" charset="0"/>
              </a:rPr>
              <a:t>Departmental or subcontractor support</a:t>
            </a:r>
          </a:p>
          <a:p>
            <a:pPr marL="1025525" lvl="1" indent="-285750">
              <a:spcBef>
                <a:spcPct val="0"/>
              </a:spcBef>
              <a:buClr>
                <a:schemeClr val="accent2">
                  <a:lumMod val="75000"/>
                </a:schemeClr>
              </a:buClr>
              <a:buSzPct val="70000"/>
              <a:buFont typeface="Courier New" panose="02070309020205020404" pitchFamily="49" charset="0"/>
              <a:buChar char="o"/>
            </a:pPr>
            <a:r>
              <a:rPr lang="en-US" altLang="en-US" sz="1600" dirty="0">
                <a:latin typeface="Cambria" panose="02040503050406030204" pitchFamily="18" charset="0"/>
                <a:ea typeface="Cambria" panose="02040503050406030204" pitchFamily="18" charset="0"/>
              </a:rPr>
              <a:t>Vendors and their products</a:t>
            </a:r>
          </a:p>
          <a:p>
            <a:pPr marL="1025525" lvl="1" indent="-285750">
              <a:spcBef>
                <a:spcPct val="0"/>
              </a:spcBef>
              <a:buClr>
                <a:schemeClr val="accent2">
                  <a:lumMod val="75000"/>
                </a:schemeClr>
              </a:buClr>
              <a:buSzPct val="70000"/>
              <a:buFont typeface="Courier New" panose="02070309020205020404" pitchFamily="49" charset="0"/>
              <a:buChar char="o"/>
            </a:pPr>
            <a:r>
              <a:rPr lang="en-US" altLang="en-US" sz="1600" dirty="0">
                <a:latin typeface="Cambria" panose="02040503050406030204" pitchFamily="18" charset="0"/>
                <a:ea typeface="Cambria" panose="02040503050406030204" pitchFamily="18" charset="0"/>
              </a:rPr>
              <a:t>Services</a:t>
            </a:r>
          </a:p>
          <a:p>
            <a:pPr marL="1025525" lvl="1" indent="-285750">
              <a:spcBef>
                <a:spcPct val="0"/>
              </a:spcBef>
              <a:buClr>
                <a:schemeClr val="accent2">
                  <a:lumMod val="75000"/>
                </a:schemeClr>
              </a:buClr>
              <a:buSzPct val="70000"/>
              <a:buFont typeface="Courier New" panose="02070309020205020404" pitchFamily="49" charset="0"/>
              <a:buChar char="o"/>
            </a:pPr>
            <a:r>
              <a:rPr lang="en-US" altLang="en-US" sz="1600" dirty="0">
                <a:latin typeface="Cambria" panose="02040503050406030204" pitchFamily="18" charset="0"/>
                <a:ea typeface="Cambria" panose="02040503050406030204" pitchFamily="18" charset="0"/>
              </a:rPr>
              <a:t>Any other identifiable resource</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4459CC8-C6B7-51AF-1043-252E0C582DB5}"/>
              </a:ext>
            </a:extLst>
          </p:cNvPr>
          <p:cNvPicPr>
            <a:picLocks noChangeAspect="1"/>
          </p:cNvPicPr>
          <p:nvPr/>
        </p:nvPicPr>
        <p:blipFill>
          <a:blip r:embed="rId2"/>
          <a:stretch>
            <a:fillRect/>
          </a:stretch>
        </p:blipFill>
        <p:spPr>
          <a:xfrm>
            <a:off x="5610116" y="3496611"/>
            <a:ext cx="6384597" cy="2809583"/>
          </a:xfrm>
          <a:prstGeom prst="rect">
            <a:avLst/>
          </a:prstGeom>
        </p:spPr>
      </p:pic>
      <p:sp>
        <p:nvSpPr>
          <p:cNvPr id="8" name="Rectangle 7">
            <a:extLst>
              <a:ext uri="{FF2B5EF4-FFF2-40B4-BE49-F238E27FC236}">
                <a16:creationId xmlns:a16="http://schemas.microsoft.com/office/drawing/2014/main" id="{538801F7-C89A-1E06-452B-BF15BEFF8587}"/>
              </a:ext>
            </a:extLst>
          </p:cNvPr>
          <p:cNvSpPr/>
          <p:nvPr/>
        </p:nvSpPr>
        <p:spPr>
          <a:xfrm>
            <a:off x="5709920" y="3352800"/>
            <a:ext cx="6284793" cy="2953393"/>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50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sp>
        <p:nvSpPr>
          <p:cNvPr id="3" name="TextBox 2">
            <a:extLst>
              <a:ext uri="{FF2B5EF4-FFF2-40B4-BE49-F238E27FC236}">
                <a16:creationId xmlns:a16="http://schemas.microsoft.com/office/drawing/2014/main" id="{DFE714B9-5A5F-472B-6C92-566A3A41D434}"/>
              </a:ext>
            </a:extLst>
          </p:cNvPr>
          <p:cNvSpPr txBox="1"/>
          <p:nvPr/>
        </p:nvSpPr>
        <p:spPr>
          <a:xfrm>
            <a:off x="423417" y="726268"/>
            <a:ext cx="11454333" cy="1892826"/>
          </a:xfrm>
          <a:prstGeom prst="rect">
            <a:avLst/>
          </a:prstGeom>
          <a:solidFill>
            <a:schemeClr val="accent5">
              <a:lumMod val="20000"/>
              <a:lumOff val="80000"/>
            </a:schemeClr>
          </a:solidFill>
        </p:spPr>
        <p:txBody>
          <a:bodyPr wrap="square">
            <a:spAutoFit/>
          </a:bodyPr>
          <a:lstStyle/>
          <a:p>
            <a:r>
              <a:rPr lang="en-US" altLang="en-US" sz="1600" b="1" dirty="0">
                <a:latin typeface="Cambria" panose="02040503050406030204" pitchFamily="18" charset="0"/>
                <a:ea typeface="Cambria" panose="02040503050406030204" pitchFamily="18" charset="0"/>
              </a:rPr>
              <a:t>Uses for the WBS</a:t>
            </a:r>
          </a:p>
          <a:p>
            <a:pPr algn="l"/>
            <a:r>
              <a:rPr lang="en-US" altLang="en-US" sz="1600" b="1" dirty="0">
                <a:latin typeface="Cambria" panose="02040503050406030204" pitchFamily="18" charset="0"/>
                <a:ea typeface="Cambria" panose="02040503050406030204" pitchFamily="18" charset="0"/>
              </a:rPr>
              <a:t>Thought process tool</a:t>
            </a:r>
          </a:p>
          <a:p>
            <a:pPr marL="742950"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The WBS is a design and planning tool. </a:t>
            </a:r>
          </a:p>
          <a:p>
            <a:pPr marL="742950"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It helps the project manager and the project team visualize exactly how the work of the project can be defined and managed effectively. </a:t>
            </a:r>
          </a:p>
          <a:p>
            <a:r>
              <a:rPr lang="en-US" altLang="en-US" sz="1600" b="1" dirty="0">
                <a:latin typeface="Cambria" panose="02040503050406030204" pitchFamily="18" charset="0"/>
                <a:ea typeface="Cambria" panose="02040503050406030204" pitchFamily="18" charset="0"/>
              </a:rPr>
              <a:t>Architectural design tool</a:t>
            </a:r>
          </a:p>
          <a:p>
            <a:pPr marL="742950"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The WBS is a picture of the work of the project and how the items of work are related to one another. </a:t>
            </a:r>
            <a:endParaRPr lang="en-US"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CA05E2-826B-FAA8-F432-301C88977F73}"/>
              </a:ext>
            </a:extLst>
          </p:cNvPr>
          <p:cNvSpPr txBox="1"/>
          <p:nvPr/>
        </p:nvSpPr>
        <p:spPr>
          <a:xfrm>
            <a:off x="423417" y="2828449"/>
            <a:ext cx="11454332" cy="3031599"/>
          </a:xfrm>
          <a:prstGeom prst="rect">
            <a:avLst/>
          </a:prstGeom>
          <a:noFill/>
        </p:spPr>
        <p:txBody>
          <a:bodyPr wrap="square">
            <a:spAutoFit/>
          </a:bodyPr>
          <a:lstStyle/>
          <a:p>
            <a:r>
              <a:rPr lang="en-US" altLang="en-US" sz="1600" b="1" dirty="0">
                <a:latin typeface="Cambria" panose="02040503050406030204" pitchFamily="18" charset="0"/>
                <a:ea typeface="Cambria" panose="02040503050406030204" pitchFamily="18" charset="0"/>
              </a:rPr>
              <a:t>Planning tool</a:t>
            </a:r>
          </a:p>
          <a:p>
            <a:pPr marL="742950"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In the planning phase, the WBS gives the project team a detailed representation of the project as a collection of activities that must be completed in order for the project to be completed. </a:t>
            </a:r>
          </a:p>
          <a:p>
            <a:pPr marL="742950"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It is at the lowest activity level of WBS that we will estimate effort, elapsed time, and resource requirements; build a schedule of when the work will be completed; and estimate deliverable dates and project completion. </a:t>
            </a:r>
          </a:p>
          <a:p>
            <a:r>
              <a:rPr lang="en-US" altLang="en-US" sz="1600" b="1" dirty="0">
                <a:latin typeface="Cambria" panose="02040503050406030204" pitchFamily="18" charset="0"/>
                <a:ea typeface="Cambria" panose="02040503050406030204" pitchFamily="18" charset="0"/>
              </a:rPr>
              <a:t>Project status reporting tool. </a:t>
            </a:r>
          </a:p>
          <a:p>
            <a:pPr marL="742950"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The WBS is used as structure for reporting project status. </a:t>
            </a:r>
          </a:p>
          <a:p>
            <a:pPr marL="742950"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The project activities are consolidated from the bottom as lower-level activities are completed. </a:t>
            </a:r>
          </a:p>
          <a:p>
            <a:pPr marL="742950"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Completion of lower-level activities cause higher-level activities to be partially complete. </a:t>
            </a:r>
          </a:p>
          <a:p>
            <a:pPr marL="742950"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Therefore, WBS defines milestone events that can be reported to senior management and to the customer. </a:t>
            </a:r>
          </a:p>
          <a:p>
            <a:pPr marL="742950" lvl="1" indent="-285750">
              <a:spcAft>
                <a:spcPts val="300"/>
              </a:spcAft>
              <a:buClr>
                <a:schemeClr val="accent2">
                  <a:lumMod val="75000"/>
                </a:schemeClr>
              </a:buClr>
              <a:buFont typeface="Wingdings" panose="05000000000000000000" pitchFamily="2" charset="2"/>
              <a:buChar char="§"/>
              <a:defRPr/>
            </a:pPr>
            <a:endParaRPr lang="en-US" altLang="en-US"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54799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CA05E2-826B-FAA8-F432-301C88977F73}"/>
              </a:ext>
            </a:extLst>
          </p:cNvPr>
          <p:cNvSpPr txBox="1"/>
          <p:nvPr/>
        </p:nvSpPr>
        <p:spPr>
          <a:xfrm>
            <a:off x="423417" y="837089"/>
            <a:ext cx="11454333" cy="2500685"/>
          </a:xfrm>
          <a:prstGeom prst="rect">
            <a:avLst/>
          </a:prstGeom>
          <a:solidFill>
            <a:schemeClr val="accent5">
              <a:lumMod val="20000"/>
              <a:lumOff val="80000"/>
            </a:schemeClr>
          </a:solidFill>
        </p:spPr>
        <p:txBody>
          <a:bodyPr wrap="square">
            <a:spAutoFit/>
          </a:bodyPr>
          <a:lstStyle/>
          <a:p>
            <a:r>
              <a:rPr lang="en-US" altLang="en-US" sz="1600" b="1" dirty="0">
                <a:latin typeface="Cambria" panose="02040503050406030204" pitchFamily="18" charset="0"/>
                <a:ea typeface="Cambria" panose="02040503050406030204" pitchFamily="18" charset="0"/>
              </a:rPr>
              <a:t>Six Criteria to Test for Completeness in the WBS </a:t>
            </a:r>
          </a:p>
          <a:p>
            <a:pPr algn="just"/>
            <a:r>
              <a:rPr lang="en-US" altLang="en-US" sz="1600" dirty="0">
                <a:latin typeface="Cambria" panose="02040503050406030204" pitchFamily="18" charset="0"/>
                <a:ea typeface="Cambria" panose="02040503050406030204" pitchFamily="18" charset="0"/>
              </a:rPr>
              <a:t>The WBS is developed as part of a Joint Planning session. But  how do you know that you</a:t>
            </a:r>
            <a:r>
              <a:rPr lang="uk-UA" altLang="en-US" sz="1600" dirty="0">
                <a:latin typeface="Cambria" panose="02040503050406030204" pitchFamily="18" charset="0"/>
                <a:ea typeface="Cambria" panose="02040503050406030204" pitchFamily="18" charset="0"/>
              </a:rPr>
              <a:t>'</a:t>
            </a:r>
            <a:r>
              <a:rPr lang="en-US" altLang="ja-JP" sz="1600" dirty="0" err="1">
                <a:latin typeface="Cambria" panose="02040503050406030204" pitchFamily="18" charset="0"/>
                <a:ea typeface="Cambria" panose="02040503050406030204" pitchFamily="18" charset="0"/>
              </a:rPr>
              <a:t>ve</a:t>
            </a:r>
            <a:r>
              <a:rPr lang="en-US" altLang="ja-JP" sz="1600" dirty="0">
                <a:latin typeface="Cambria" panose="02040503050406030204" pitchFamily="18" charset="0"/>
                <a:ea typeface="Cambria" panose="02040503050406030204" pitchFamily="18" charset="0"/>
              </a:rPr>
              <a:t> done this right? Each activity must possess six characteristics to be considered complete – that is, completely decomposed. The six characteristics are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Status/completion is measurable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Start/end events are clearly defined</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Activity has a deliverable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Time/cost is easily estimated</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Activity duration is within acceptable limits</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Work assignments are independent</a:t>
            </a:r>
          </a:p>
        </p:txBody>
      </p:sp>
      <p:sp>
        <p:nvSpPr>
          <p:cNvPr id="7" name="TextBox 6">
            <a:extLst>
              <a:ext uri="{FF2B5EF4-FFF2-40B4-BE49-F238E27FC236}">
                <a16:creationId xmlns:a16="http://schemas.microsoft.com/office/drawing/2014/main" id="{C5FFDB6A-0D74-6757-F973-E6523FE03474}"/>
              </a:ext>
            </a:extLst>
          </p:cNvPr>
          <p:cNvSpPr txBox="1"/>
          <p:nvPr/>
        </p:nvSpPr>
        <p:spPr>
          <a:xfrm>
            <a:off x="423417" y="3490154"/>
            <a:ext cx="11454332" cy="2385268"/>
          </a:xfrm>
          <a:prstGeom prst="rect">
            <a:avLst/>
          </a:prstGeom>
          <a:noFill/>
        </p:spPr>
        <p:txBody>
          <a:bodyPr wrap="square">
            <a:spAutoFit/>
          </a:bodyPr>
          <a:lstStyle/>
          <a:p>
            <a:r>
              <a:rPr lang="en-US" altLang="en-US" sz="1600" b="1" dirty="0">
                <a:latin typeface="Cambria" panose="02040503050406030204" pitchFamily="18" charset="0"/>
                <a:ea typeface="Cambria" panose="02040503050406030204" pitchFamily="18" charset="0"/>
              </a:rPr>
              <a:t>Measurable Status: </a:t>
            </a:r>
            <a:r>
              <a:rPr lang="en-US" altLang="en-US" sz="1600" dirty="0">
                <a:latin typeface="Cambria" panose="02040503050406030204" pitchFamily="18" charset="0"/>
                <a:ea typeface="Cambria" panose="02040503050406030204" pitchFamily="18" charset="0"/>
              </a:rPr>
              <a:t>The project manager can ask for the status of an activity at any point in time during the project. If the activity has been defined properly, that question is answered easily. </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Example: a system's</a:t>
            </a:r>
            <a:r>
              <a:rPr lang="en-US" altLang="ja-JP" sz="1600" dirty="0">
                <a:latin typeface="Cambria" panose="02040503050406030204" pitchFamily="18" charset="0"/>
                <a:ea typeface="Cambria" panose="02040503050406030204" pitchFamily="18" charset="0"/>
              </a:rPr>
              <a:t> documentation is estimated to be about 300 pages long and requires approximately four months of full-time work to write, here is a possible report that a developer can provide regarding the status: </a:t>
            </a:r>
            <a:r>
              <a:rPr lang="ja-JP" altLang="en-US" sz="1600" dirty="0">
                <a:latin typeface="Cambria" panose="02040503050406030204" pitchFamily="18" charset="0"/>
              </a:rPr>
              <a:t>“</a:t>
            </a:r>
            <a:r>
              <a:rPr lang="en-US" altLang="ja-JP" sz="1600" dirty="0">
                <a:latin typeface="Cambria" panose="02040503050406030204" pitchFamily="18" charset="0"/>
                <a:ea typeface="Cambria" panose="02040503050406030204" pitchFamily="18" charset="0"/>
              </a:rPr>
              <a:t>I’ve written 150 pages, so I guess I am 50 percent complete.</a:t>
            </a:r>
            <a:r>
              <a:rPr lang="ja-JP" altLang="en-US" sz="1600" dirty="0">
                <a:latin typeface="Cambria" panose="02040503050406030204" pitchFamily="18" charset="0"/>
              </a:rPr>
              <a:t>”</a:t>
            </a:r>
            <a:endParaRPr lang="en-US" altLang="ja-JP" sz="1600" dirty="0">
              <a:latin typeface="Cambria" panose="02040503050406030204" pitchFamily="18" charset="0"/>
            </a:endParaRPr>
          </a:p>
          <a:p>
            <a:pPr marL="346075" lvl="1" indent="-285750">
              <a:spcAft>
                <a:spcPts val="300"/>
              </a:spcAft>
              <a:buClr>
                <a:schemeClr val="accent2">
                  <a:lumMod val="75000"/>
                </a:schemeClr>
              </a:buClr>
              <a:buFont typeface="Wingdings" panose="05000000000000000000" pitchFamily="2" charset="2"/>
              <a:buChar char="§"/>
              <a:defRPr/>
            </a:pPr>
            <a:endParaRPr lang="en-US" altLang="ja-JP" sz="1600" dirty="0">
              <a:latin typeface="Cambria" panose="02040503050406030204" pitchFamily="18" charset="0"/>
              <a:ea typeface="Cambria" panose="02040503050406030204" pitchFamily="18" charset="0"/>
            </a:endParaRPr>
          </a:p>
          <a:p>
            <a:r>
              <a:rPr lang="en-US" altLang="en-US" sz="1600" b="1" dirty="0">
                <a:latin typeface="Cambria" panose="02040503050406030204" pitchFamily="18" charset="0"/>
                <a:ea typeface="Cambria" panose="02040503050406030204" pitchFamily="18" charset="0"/>
              </a:rPr>
              <a:t>Bounded: </a:t>
            </a:r>
            <a:r>
              <a:rPr lang="en-US" altLang="en-US" sz="1600" dirty="0">
                <a:latin typeface="Cambria" panose="02040503050406030204" pitchFamily="18" charset="0"/>
                <a:ea typeface="Cambria" panose="02040503050406030204" pitchFamily="18" charset="0"/>
              </a:rPr>
              <a:t>Each activity should have a clearly defined start and end event. Once the start event has occurred, work can begin on the activity. The deliverable is most likely the end event that signals work is closed on the activity.</a:t>
            </a:r>
          </a:p>
          <a:p>
            <a:pPr marL="346075" lvl="1" indent="-285750">
              <a:spcAft>
                <a:spcPts val="300"/>
              </a:spcAft>
              <a:buClr>
                <a:schemeClr val="accent2">
                  <a:lumMod val="75000"/>
                </a:schemeClr>
              </a:buClr>
              <a:buFont typeface="Wingdings" panose="05000000000000000000" pitchFamily="2" charset="2"/>
              <a:buChar char="§"/>
              <a:defRPr/>
            </a:pPr>
            <a:endParaRPr lang="en-US" altLang="ja-JP"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2111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CA05E2-826B-FAA8-F432-301C88977F73}"/>
              </a:ext>
            </a:extLst>
          </p:cNvPr>
          <p:cNvSpPr txBox="1"/>
          <p:nvPr/>
        </p:nvSpPr>
        <p:spPr>
          <a:xfrm>
            <a:off x="423417" y="837089"/>
            <a:ext cx="11454333" cy="2500685"/>
          </a:xfrm>
          <a:prstGeom prst="rect">
            <a:avLst/>
          </a:prstGeom>
          <a:solidFill>
            <a:schemeClr val="accent5">
              <a:lumMod val="20000"/>
              <a:lumOff val="80000"/>
            </a:schemeClr>
          </a:solidFill>
        </p:spPr>
        <p:txBody>
          <a:bodyPr wrap="square">
            <a:spAutoFit/>
          </a:bodyPr>
          <a:lstStyle/>
          <a:p>
            <a:r>
              <a:rPr lang="en-US" altLang="en-US" sz="1600" b="1" dirty="0">
                <a:latin typeface="Cambria" panose="02040503050406030204" pitchFamily="18" charset="0"/>
                <a:ea typeface="Cambria" panose="02040503050406030204" pitchFamily="18" charset="0"/>
              </a:rPr>
              <a:t>Six Criteria to Test for Completeness in the WBS </a:t>
            </a:r>
          </a:p>
          <a:p>
            <a:pPr algn="just"/>
            <a:r>
              <a:rPr lang="en-US" altLang="en-US" sz="1600" dirty="0">
                <a:latin typeface="Cambria" panose="02040503050406030204" pitchFamily="18" charset="0"/>
                <a:ea typeface="Cambria" panose="02040503050406030204" pitchFamily="18" charset="0"/>
              </a:rPr>
              <a:t>The WBS is developed as part of a Joint Planning session. But  how do you know that you</a:t>
            </a:r>
            <a:r>
              <a:rPr lang="uk-UA" altLang="en-US" sz="1600" dirty="0">
                <a:latin typeface="Cambria" panose="02040503050406030204" pitchFamily="18" charset="0"/>
                <a:ea typeface="Cambria" panose="02040503050406030204" pitchFamily="18" charset="0"/>
              </a:rPr>
              <a:t>'</a:t>
            </a:r>
            <a:r>
              <a:rPr lang="en-US" altLang="ja-JP" sz="1600" dirty="0" err="1">
                <a:latin typeface="Cambria" panose="02040503050406030204" pitchFamily="18" charset="0"/>
                <a:ea typeface="Cambria" panose="02040503050406030204" pitchFamily="18" charset="0"/>
              </a:rPr>
              <a:t>ve</a:t>
            </a:r>
            <a:r>
              <a:rPr lang="en-US" altLang="ja-JP" sz="1600" dirty="0">
                <a:latin typeface="Cambria" panose="02040503050406030204" pitchFamily="18" charset="0"/>
                <a:ea typeface="Cambria" panose="02040503050406030204" pitchFamily="18" charset="0"/>
              </a:rPr>
              <a:t> done this right? Each activity must possess six characteristics to be considered complete – that is, completely decomposed. The six characteristics are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Status/completion is measurable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Start/end events are clearly defined</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Activity has a deliverable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Time/cost is easily estimated</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Activity duration is within acceptable limits</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Work assignments are independent</a:t>
            </a:r>
          </a:p>
        </p:txBody>
      </p:sp>
      <p:sp>
        <p:nvSpPr>
          <p:cNvPr id="7" name="TextBox 6">
            <a:extLst>
              <a:ext uri="{FF2B5EF4-FFF2-40B4-BE49-F238E27FC236}">
                <a16:creationId xmlns:a16="http://schemas.microsoft.com/office/drawing/2014/main" id="{C5FFDB6A-0D74-6757-F973-E6523FE03474}"/>
              </a:ext>
            </a:extLst>
          </p:cNvPr>
          <p:cNvSpPr txBox="1"/>
          <p:nvPr/>
        </p:nvSpPr>
        <p:spPr>
          <a:xfrm>
            <a:off x="423417" y="3490154"/>
            <a:ext cx="11454332" cy="2500685"/>
          </a:xfrm>
          <a:prstGeom prst="rect">
            <a:avLst/>
          </a:prstGeom>
          <a:noFill/>
        </p:spPr>
        <p:txBody>
          <a:bodyPr wrap="square">
            <a:spAutoFit/>
          </a:bodyPr>
          <a:lstStyle/>
          <a:p>
            <a:r>
              <a:rPr lang="en-US" altLang="en-US" sz="1600" b="1" dirty="0">
                <a:latin typeface="Cambria" panose="02040503050406030204" pitchFamily="18" charset="0"/>
                <a:ea typeface="Cambria" panose="02040503050406030204" pitchFamily="18" charset="0"/>
              </a:rPr>
              <a:t>Deliverable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The result of completing the work that makes up the activity is the production of a deliverable. </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The deliverable is a visible sign that the activity is complete. </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This could be an approving manager</a:t>
            </a:r>
            <a:r>
              <a:rPr lang="en-US" altLang="ja-JP" sz="1600" dirty="0">
                <a:latin typeface="Cambria" panose="02040503050406030204" pitchFamily="18" charset="0"/>
                <a:ea typeface="Cambria" panose="02040503050406030204" pitchFamily="18" charset="0"/>
              </a:rPr>
              <a:t>'s signature, a physical product or document.</a:t>
            </a:r>
          </a:p>
          <a:p>
            <a:r>
              <a:rPr lang="en-US" altLang="en-US" sz="1600" b="1" dirty="0">
                <a:latin typeface="Cambria" panose="02040503050406030204" pitchFamily="18" charset="0"/>
                <a:ea typeface="Cambria" panose="02040503050406030204" pitchFamily="18" charset="0"/>
              </a:rPr>
              <a:t>Cost/Time Estimate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Each activity should have an estimated time and cost of completion. </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Being able to do this at the lowest level of decomposition in the WBS allows you to aggregate to higher levels and the total project cost and the completion date. </a:t>
            </a:r>
          </a:p>
          <a:p>
            <a:pPr marL="346075" lvl="1" indent="-285750">
              <a:spcAft>
                <a:spcPts val="300"/>
              </a:spcAft>
              <a:buClr>
                <a:schemeClr val="accent2">
                  <a:lumMod val="75000"/>
                </a:schemeClr>
              </a:buClr>
              <a:buFont typeface="Wingdings" panose="05000000000000000000" pitchFamily="2" charset="2"/>
              <a:buChar char="§"/>
              <a:defRPr/>
            </a:pPr>
            <a:endParaRPr lang="en-US" altLang="ja-JP"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68777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CA05E2-826B-FAA8-F432-301C88977F73}"/>
              </a:ext>
            </a:extLst>
          </p:cNvPr>
          <p:cNvSpPr txBox="1"/>
          <p:nvPr/>
        </p:nvSpPr>
        <p:spPr>
          <a:xfrm>
            <a:off x="423417" y="837089"/>
            <a:ext cx="11454333" cy="2500685"/>
          </a:xfrm>
          <a:prstGeom prst="rect">
            <a:avLst/>
          </a:prstGeom>
          <a:solidFill>
            <a:schemeClr val="accent5">
              <a:lumMod val="20000"/>
              <a:lumOff val="80000"/>
            </a:schemeClr>
          </a:solidFill>
        </p:spPr>
        <p:txBody>
          <a:bodyPr wrap="square">
            <a:spAutoFit/>
          </a:bodyPr>
          <a:lstStyle/>
          <a:p>
            <a:r>
              <a:rPr lang="en-US" altLang="en-US" sz="1600" b="1" dirty="0">
                <a:latin typeface="Cambria" panose="02040503050406030204" pitchFamily="18" charset="0"/>
                <a:ea typeface="Cambria" panose="02040503050406030204" pitchFamily="18" charset="0"/>
              </a:rPr>
              <a:t>Six Criteria to Test for Completeness in the WBS </a:t>
            </a:r>
          </a:p>
          <a:p>
            <a:pPr algn="just"/>
            <a:r>
              <a:rPr lang="en-US" altLang="en-US" sz="1600" dirty="0">
                <a:latin typeface="Cambria" panose="02040503050406030204" pitchFamily="18" charset="0"/>
                <a:ea typeface="Cambria" panose="02040503050406030204" pitchFamily="18" charset="0"/>
              </a:rPr>
              <a:t>The WBS is developed as part of a Joint Planning session. But  how do you know that you</a:t>
            </a:r>
            <a:r>
              <a:rPr lang="uk-UA" altLang="en-US" sz="1600" dirty="0">
                <a:latin typeface="Cambria" panose="02040503050406030204" pitchFamily="18" charset="0"/>
                <a:ea typeface="Cambria" panose="02040503050406030204" pitchFamily="18" charset="0"/>
              </a:rPr>
              <a:t>'</a:t>
            </a:r>
            <a:r>
              <a:rPr lang="en-US" altLang="ja-JP" sz="1600" dirty="0" err="1">
                <a:latin typeface="Cambria" panose="02040503050406030204" pitchFamily="18" charset="0"/>
                <a:ea typeface="Cambria" panose="02040503050406030204" pitchFamily="18" charset="0"/>
              </a:rPr>
              <a:t>ve</a:t>
            </a:r>
            <a:r>
              <a:rPr lang="en-US" altLang="ja-JP" sz="1600" dirty="0">
                <a:latin typeface="Cambria" panose="02040503050406030204" pitchFamily="18" charset="0"/>
                <a:ea typeface="Cambria" panose="02040503050406030204" pitchFamily="18" charset="0"/>
              </a:rPr>
              <a:t> done this right? Each activity must possess six characteristics to be considered complete – that is, completely decomposed. The six characteristics are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Status/completion is measurable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Start/end events are clearly defined</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Activity has a deliverable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Time/cost is easily estimated</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Activity duration is within acceptable limits</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Work assignments are independent</a:t>
            </a:r>
          </a:p>
        </p:txBody>
      </p:sp>
      <p:sp>
        <p:nvSpPr>
          <p:cNvPr id="7" name="TextBox 6">
            <a:extLst>
              <a:ext uri="{FF2B5EF4-FFF2-40B4-BE49-F238E27FC236}">
                <a16:creationId xmlns:a16="http://schemas.microsoft.com/office/drawing/2014/main" id="{C5FFDB6A-0D74-6757-F973-E6523FE03474}"/>
              </a:ext>
            </a:extLst>
          </p:cNvPr>
          <p:cNvSpPr txBox="1"/>
          <p:nvPr/>
        </p:nvSpPr>
        <p:spPr>
          <a:xfrm>
            <a:off x="423417" y="3490154"/>
            <a:ext cx="11454332" cy="1400383"/>
          </a:xfrm>
          <a:prstGeom prst="rect">
            <a:avLst/>
          </a:prstGeom>
          <a:noFill/>
        </p:spPr>
        <p:txBody>
          <a:bodyPr wrap="square">
            <a:spAutoFit/>
          </a:bodyPr>
          <a:lstStyle/>
          <a:p>
            <a:r>
              <a:rPr lang="en-US" altLang="en-US" sz="1600" b="1" dirty="0">
                <a:latin typeface="Cambria" panose="02040503050406030204" pitchFamily="18" charset="0"/>
                <a:ea typeface="Cambria" panose="02040503050406030204" pitchFamily="18" charset="0"/>
              </a:rPr>
              <a:t>Activity Independence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It is important that each activity be independent. Once work has begun on the activity, it can continue reasonably without interruption and without the need of additional input or information until the activity is complete. </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Though it is possible that an activity could be scheduled during different times based on resource availability.</a:t>
            </a:r>
          </a:p>
          <a:p>
            <a:pPr marL="346075" lvl="1" indent="-285750">
              <a:spcAft>
                <a:spcPts val="300"/>
              </a:spcAft>
              <a:buClr>
                <a:schemeClr val="accent2">
                  <a:lumMod val="75000"/>
                </a:schemeClr>
              </a:buClr>
              <a:buFont typeface="Wingdings" panose="05000000000000000000" pitchFamily="2" charset="2"/>
              <a:buChar char="§"/>
              <a:defRPr/>
            </a:pPr>
            <a:endParaRPr lang="en-US" altLang="ja-JP"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55756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Content Placeholder 6" descr="Create WBS DFD.jpg">
            <a:extLst>
              <a:ext uri="{FF2B5EF4-FFF2-40B4-BE49-F238E27FC236}">
                <a16:creationId xmlns:a16="http://schemas.microsoft.com/office/drawing/2014/main" id="{D859D9ED-7CF6-B465-EFE0-C604979A0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974" r="-8974"/>
          <a:stretch>
            <a:fillRect/>
          </a:stretch>
        </p:blipFill>
        <p:spPr>
          <a:xfrm>
            <a:off x="294640" y="749522"/>
            <a:ext cx="12705080" cy="5486400"/>
          </a:xfrm>
          <a:prstGeom prst="rect">
            <a:avLst/>
          </a:prstGeom>
        </p:spPr>
      </p:pic>
    </p:spTree>
    <p:extLst>
      <p:ext uri="{BB962C8B-B14F-4D97-AF65-F5344CB8AC3E}">
        <p14:creationId xmlns:p14="http://schemas.microsoft.com/office/powerpoint/2010/main" val="30877096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6619E1-1835-C799-5B2A-E66522403F9B}"/>
              </a:ext>
            </a:extLst>
          </p:cNvPr>
          <p:cNvSpPr txBox="1"/>
          <p:nvPr/>
        </p:nvSpPr>
        <p:spPr>
          <a:xfrm>
            <a:off x="339355" y="817268"/>
            <a:ext cx="11655358" cy="5963171"/>
          </a:xfrm>
          <a:prstGeom prst="rect">
            <a:avLst/>
          </a:prstGeom>
          <a:noFill/>
        </p:spPr>
        <p:txBody>
          <a:bodyPr wrap="square">
            <a:spAutoFit/>
          </a:bodyPr>
          <a:lstStyle/>
          <a:p>
            <a:pPr>
              <a:defRPr/>
            </a:pPr>
            <a:r>
              <a:rPr lang="en-US" altLang="en-US" b="1" dirty="0">
                <a:solidFill>
                  <a:schemeClr val="bg2">
                    <a:lumMod val="50000"/>
                  </a:schemeClr>
                </a:solidFill>
                <a:latin typeface="Cambria" panose="02040503050406030204" pitchFamily="18" charset="0"/>
                <a:ea typeface="Cambria" panose="02040503050406030204" pitchFamily="18" charset="0"/>
              </a:rPr>
              <a:t>Decomposition activities</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Identify and analyze the deliverables and related work</a:t>
            </a:r>
          </a:p>
          <a:p>
            <a:pPr marL="630238" lvl="1" indent="-285750" algn="just">
              <a:spcAft>
                <a:spcPts val="300"/>
              </a:spcAft>
              <a:buClr>
                <a:schemeClr val="accent2">
                  <a:lumMod val="75000"/>
                </a:schemeClr>
              </a:buClr>
              <a:buFont typeface="Courier New" panose="02070309020205020404" pitchFamily="49" charset="0"/>
              <a:buChar char="o"/>
              <a:defRP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The project scope statement provides the basis for the first iteration of deliverable identification</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Structure and organize the WBS according to an appropriate high-level hierarchy</a:t>
            </a:r>
          </a:p>
          <a:p>
            <a:pPr marL="630238" lvl="1" indent="-285750" algn="just">
              <a:spcAft>
                <a:spcPts val="300"/>
              </a:spcAft>
              <a:buClr>
                <a:schemeClr val="accent2">
                  <a:lumMod val="75000"/>
                </a:schemeClr>
              </a:buClr>
              <a:buFont typeface="Courier New" panose="02070309020205020404" pitchFamily="49" charset="0"/>
              <a:buChar char="o"/>
              <a:defRP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For IT projects using an iterative system development model, a phase/iteration/discipline hierarchy most closely matches the SDLC process</a:t>
            </a:r>
          </a:p>
          <a:p>
            <a:pPr marL="630238" lvl="1" indent="-285750" algn="just">
              <a:spcAft>
                <a:spcPts val="300"/>
              </a:spcAft>
              <a:buClr>
                <a:schemeClr val="accent2">
                  <a:lumMod val="75000"/>
                </a:schemeClr>
              </a:buClr>
              <a:buFont typeface="Courier New" panose="02070309020205020404" pitchFamily="49" charset="0"/>
              <a:buChar char="o"/>
              <a:defRP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Note that one of the disciplines in the iterative SDLC process is </a:t>
            </a:r>
            <a:r>
              <a:rPr lang="ja-JP" altLang="en-US" sz="1600" dirty="0">
                <a:solidFill>
                  <a:schemeClr val="tx1">
                    <a:lumMod val="65000"/>
                    <a:lumOff val="35000"/>
                  </a:schemeClr>
                </a:solidFill>
                <a:latin typeface="Cambria" panose="02040503050406030204" pitchFamily="18" charset="0"/>
              </a:rPr>
              <a:t>‘</a:t>
            </a:r>
            <a:r>
              <a:rPr lang="en-US" altLang="ja-JP" sz="1600" dirty="0">
                <a:solidFill>
                  <a:schemeClr val="tx1">
                    <a:lumMod val="65000"/>
                    <a:lumOff val="35000"/>
                  </a:schemeClr>
                </a:solidFill>
                <a:latin typeface="Cambria" panose="02040503050406030204" pitchFamily="18" charset="0"/>
                <a:ea typeface="Cambria" panose="02040503050406030204" pitchFamily="18" charset="0"/>
              </a:rPr>
              <a:t>Project Management</a:t>
            </a:r>
            <a:r>
              <a:rPr lang="ja-JP" altLang="en-US" sz="1600" dirty="0">
                <a:solidFill>
                  <a:schemeClr val="tx1">
                    <a:lumMod val="65000"/>
                    <a:lumOff val="35000"/>
                  </a:schemeClr>
                </a:solidFill>
                <a:latin typeface="Cambria" panose="02040503050406030204" pitchFamily="18" charset="0"/>
              </a:rPr>
              <a:t>’</a:t>
            </a:r>
            <a:r>
              <a:rPr lang="en-US" altLang="ja-JP" sz="1600" dirty="0">
                <a:solidFill>
                  <a:schemeClr val="tx1">
                    <a:lumMod val="65000"/>
                    <a:lumOff val="35000"/>
                  </a:schemeClr>
                </a:solidFill>
                <a:latin typeface="Cambria" panose="02040503050406030204" pitchFamily="18" charset="0"/>
                <a:ea typeface="Cambria" panose="02040503050406030204" pitchFamily="18" charset="0"/>
              </a:rPr>
              <a:t>– it is here that appropriate project management processes may be entered</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Decompose the upper WBS levels into lower-level detailed components</a:t>
            </a:r>
          </a:p>
          <a:p>
            <a:pPr marL="630238" lvl="1" indent="-285750" algn="just">
              <a:spcAft>
                <a:spcPts val="300"/>
              </a:spcAft>
              <a:buClr>
                <a:schemeClr val="accent2">
                  <a:lumMod val="75000"/>
                </a:schemeClr>
              </a:buClr>
              <a:buFont typeface="Courier New" panose="02070309020205020404" pitchFamily="49" charset="0"/>
              <a:buChar char="o"/>
              <a:defRP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If appropriate, larger deliverables may be decomposed into smaller deliverables, all the way down to the work package level</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Develop and assign identification codes to the WBS components</a:t>
            </a:r>
          </a:p>
          <a:p>
            <a:pPr marL="630238" lvl="1" indent="-285750" algn="just">
              <a:spcAft>
                <a:spcPts val="300"/>
              </a:spcAft>
              <a:buClr>
                <a:schemeClr val="accent2">
                  <a:lumMod val="75000"/>
                </a:schemeClr>
              </a:buClr>
              <a:buFont typeface="Courier New" panose="02070309020205020404" pitchFamily="49" charset="0"/>
              <a:buChar char="o"/>
              <a:defRP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Note that each item in the WBS has both a unique identifier (the code or account identifier) and a WBS code</a:t>
            </a:r>
          </a:p>
          <a:p>
            <a:pPr marL="630238" lvl="1" indent="-285750" algn="just">
              <a:spcAft>
                <a:spcPts val="300"/>
              </a:spcAft>
              <a:buClr>
                <a:schemeClr val="accent2">
                  <a:lumMod val="75000"/>
                </a:schemeClr>
              </a:buClr>
              <a:buFont typeface="Courier New" panose="02070309020205020404" pitchFamily="49" charset="0"/>
              <a:buChar char="o"/>
              <a:defRP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The unique identifier does not change if a component is moved about in the WBS structure; however, the WBS code does change</a:t>
            </a:r>
          </a:p>
          <a:p>
            <a:pPr marL="346075" lvl="1" indent="-285750">
              <a:spcAft>
                <a:spcPts val="300"/>
              </a:spcAft>
              <a:buClr>
                <a:schemeClr val="accent2">
                  <a:lumMod val="75000"/>
                </a:schemeClr>
              </a:buClr>
              <a:buFont typeface="Wingdings" panose="05000000000000000000" pitchFamily="2" charset="2"/>
              <a:buChar char="§"/>
              <a:defRPr/>
            </a:pPr>
            <a:r>
              <a:rPr lang="en-US" altLang="en-US" sz="1600" dirty="0">
                <a:latin typeface="Cambria" panose="02040503050406030204" pitchFamily="18" charset="0"/>
                <a:ea typeface="Cambria" panose="02040503050406030204" pitchFamily="18" charset="0"/>
              </a:rPr>
              <a:t>Verify that the amount of decomposition of work is necessary and sufficient</a:t>
            </a:r>
          </a:p>
          <a:p>
            <a:pPr marL="630238" lvl="1" indent="-285750" algn="just">
              <a:spcAft>
                <a:spcPts val="300"/>
              </a:spcAft>
              <a:buClr>
                <a:schemeClr val="accent2">
                  <a:lumMod val="75000"/>
                </a:schemeClr>
              </a:buClr>
              <a:buFont typeface="Courier New" panose="02070309020205020404" pitchFamily="49" charset="0"/>
              <a:buChar char="o"/>
              <a:defRP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This can be translated into a simple concept: the </a:t>
            </a:r>
            <a:r>
              <a:rPr lang="ja-JP" altLang="en-US" sz="1600" dirty="0">
                <a:solidFill>
                  <a:schemeClr val="tx1">
                    <a:lumMod val="65000"/>
                    <a:lumOff val="35000"/>
                  </a:schemeClr>
                </a:solidFill>
                <a:latin typeface="Cambria" panose="02040503050406030204" pitchFamily="18" charset="0"/>
              </a:rPr>
              <a:t>‘</a:t>
            </a:r>
            <a:r>
              <a:rPr lang="en-US" altLang="ja-JP" sz="1600" dirty="0">
                <a:solidFill>
                  <a:schemeClr val="tx1">
                    <a:lumMod val="65000"/>
                    <a:lumOff val="35000"/>
                  </a:schemeClr>
                </a:solidFill>
                <a:latin typeface="Cambria" panose="02040503050406030204" pitchFamily="18" charset="0"/>
                <a:ea typeface="Cambria" panose="02040503050406030204" pitchFamily="18" charset="0"/>
              </a:rPr>
              <a:t>just right</a:t>
            </a:r>
            <a:r>
              <a:rPr lang="ja-JP" altLang="en-US" sz="1600" dirty="0">
                <a:solidFill>
                  <a:schemeClr val="tx1">
                    <a:lumMod val="65000"/>
                    <a:lumOff val="35000"/>
                  </a:schemeClr>
                </a:solidFill>
                <a:latin typeface="Cambria" panose="02040503050406030204" pitchFamily="18" charset="0"/>
              </a:rPr>
              <a:t>’</a:t>
            </a:r>
            <a:r>
              <a:rPr lang="en-US" altLang="ja-JP" sz="1600" dirty="0">
                <a:solidFill>
                  <a:schemeClr val="tx1">
                    <a:lumMod val="65000"/>
                    <a:lumOff val="35000"/>
                  </a:schemeClr>
                </a:solidFill>
                <a:latin typeface="Cambria" panose="02040503050406030204" pitchFamily="18" charset="0"/>
                <a:ea typeface="Cambria" panose="02040503050406030204" pitchFamily="18" charset="0"/>
              </a:rPr>
              <a:t> principle</a:t>
            </a:r>
          </a:p>
          <a:p>
            <a:pPr marL="630238" lvl="1" indent="-285750" algn="just">
              <a:spcAft>
                <a:spcPts val="300"/>
              </a:spcAft>
              <a:buClr>
                <a:schemeClr val="accent2">
                  <a:lumMod val="75000"/>
                </a:schemeClr>
              </a:buClr>
              <a:buFont typeface="Courier New" panose="02070309020205020404" pitchFamily="49" charset="0"/>
              <a:buChar char="o"/>
              <a:defRP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The just right principle states that no more decomposition is needed–it would be too detailed–and any less decomposition would be too coarse</a:t>
            </a:r>
          </a:p>
          <a:p>
            <a:pPr marL="630238" lvl="1" indent="-285750" algn="just">
              <a:spcAft>
                <a:spcPts val="300"/>
              </a:spcAft>
              <a:buClr>
                <a:schemeClr val="accent2">
                  <a:lumMod val="75000"/>
                </a:schemeClr>
              </a:buClr>
              <a:buFont typeface="Courier New" panose="02070309020205020404" pitchFamily="49" charset="0"/>
              <a:buChar char="o"/>
              <a:defRP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Insufficient decomposition leads to reduced ability to plan, manage, and control the work</a:t>
            </a:r>
          </a:p>
          <a:p>
            <a:pPr marL="630238" lvl="1" indent="-285750" algn="just">
              <a:spcAft>
                <a:spcPts val="300"/>
              </a:spcAft>
              <a:buClr>
                <a:schemeClr val="accent2">
                  <a:lumMod val="75000"/>
                </a:schemeClr>
              </a:buClr>
              <a:buFont typeface="Courier New" panose="02070309020205020404" pitchFamily="49" charset="0"/>
              <a:buChar char="o"/>
              <a:defRPr/>
            </a:pPr>
            <a:r>
              <a:rPr lang="en-US" altLang="en-US" sz="1600" dirty="0">
                <a:solidFill>
                  <a:schemeClr val="tx1">
                    <a:lumMod val="65000"/>
                    <a:lumOff val="35000"/>
                  </a:schemeClr>
                </a:solidFill>
                <a:latin typeface="Cambria" panose="02040503050406030204" pitchFamily="18" charset="0"/>
                <a:ea typeface="Cambria" panose="02040503050406030204" pitchFamily="18" charset="0"/>
              </a:rPr>
              <a:t>Excessive decomposition leads to wasted effort and decreased efficiency</a:t>
            </a:r>
          </a:p>
          <a:p>
            <a:pPr>
              <a:defRPr/>
            </a:pPr>
            <a:endParaRPr lang="en-US" sz="2000" b="1" dirty="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27432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726268"/>
            <a:ext cx="7819125" cy="3131627"/>
          </a:xfrm>
          <a:prstGeom prst="rect">
            <a:avLst/>
          </a:prstGeom>
          <a:noFill/>
        </p:spPr>
        <p:txBody>
          <a:bodyPr wrap="square">
            <a:spAutoFit/>
          </a:bodyPr>
          <a:lstStyle/>
          <a:p>
            <a:pPr algn="l"/>
            <a:r>
              <a:rPr lang="en-US" sz="2000" b="1" dirty="0">
                <a:solidFill>
                  <a:schemeClr val="bg2">
                    <a:lumMod val="50000"/>
                  </a:schemeClr>
                </a:solidFill>
                <a:latin typeface="Cambria" panose="02040503050406030204" pitchFamily="18" charset="0"/>
                <a:ea typeface="Cambria" panose="02040503050406030204" pitchFamily="18" charset="0"/>
              </a:rPr>
              <a:t>Validate the WBS</a:t>
            </a:r>
          </a:p>
          <a:p>
            <a:pPr marL="742950" lvl="1" indent="-285750">
              <a:spcAft>
                <a:spcPts val="300"/>
              </a:spcAft>
              <a:buClr>
                <a:schemeClr val="accent2">
                  <a:lumMod val="75000"/>
                </a:schemeClr>
              </a:buClr>
              <a:buFont typeface="Wingdings" panose="05000000000000000000" pitchFamily="2" charset="2"/>
              <a:buChar char="§"/>
            </a:pPr>
            <a:r>
              <a:rPr lang="en-US" altLang="en-US" dirty="0">
                <a:latin typeface="Cambria" panose="02040503050406030204" pitchFamily="18" charset="0"/>
                <a:ea typeface="Cambria" panose="02040503050406030204" pitchFamily="18" charset="0"/>
              </a:rPr>
              <a:t>All major elements been identified at top level?</a:t>
            </a:r>
          </a:p>
          <a:p>
            <a:pPr marL="742950" lvl="1" indent="-285750">
              <a:spcAft>
                <a:spcPts val="300"/>
              </a:spcAft>
              <a:buClr>
                <a:schemeClr val="accent2">
                  <a:lumMod val="75000"/>
                </a:schemeClr>
              </a:buClr>
              <a:buFont typeface="Wingdings" panose="05000000000000000000" pitchFamily="2" charset="2"/>
              <a:buChar char="§"/>
            </a:pPr>
            <a:r>
              <a:rPr lang="en-US" altLang="en-US" dirty="0">
                <a:latin typeface="Cambria" panose="02040503050406030204" pitchFamily="18" charset="0"/>
                <a:ea typeface="Cambria" panose="02040503050406030204" pitchFamily="18" charset="0"/>
              </a:rPr>
              <a:t>Decomposed into measurable components?</a:t>
            </a:r>
          </a:p>
          <a:p>
            <a:pPr marL="742950" lvl="1" indent="-285750">
              <a:spcAft>
                <a:spcPts val="300"/>
              </a:spcAft>
              <a:buClr>
                <a:schemeClr val="accent2">
                  <a:lumMod val="75000"/>
                </a:schemeClr>
              </a:buClr>
              <a:buFont typeface="Wingdings" panose="05000000000000000000" pitchFamily="2" charset="2"/>
              <a:buChar char="§"/>
            </a:pPr>
            <a:r>
              <a:rPr lang="en-US" altLang="en-US" dirty="0">
                <a:latin typeface="Cambria" panose="02040503050406030204" pitchFamily="18" charset="0"/>
                <a:ea typeface="Cambria" panose="02040503050406030204" pitchFamily="18" charset="0"/>
              </a:rPr>
              <a:t>Lower level(s) items necessary? All inclusive?</a:t>
            </a:r>
          </a:p>
          <a:p>
            <a:pPr marL="742950" lvl="1" indent="-285750">
              <a:spcAft>
                <a:spcPts val="300"/>
              </a:spcAft>
              <a:buClr>
                <a:schemeClr val="accent2">
                  <a:lumMod val="75000"/>
                </a:schemeClr>
              </a:buClr>
              <a:buFont typeface="Wingdings" panose="05000000000000000000" pitchFamily="2" charset="2"/>
              <a:buChar char="§"/>
            </a:pPr>
            <a:r>
              <a:rPr lang="en-US" altLang="en-US" dirty="0">
                <a:latin typeface="Cambria" panose="02040503050406030204" pitchFamily="18" charset="0"/>
                <a:ea typeface="Cambria" panose="02040503050406030204" pitchFamily="18" charset="0"/>
              </a:rPr>
              <a:t>Would stakeholders agree WBS is satisfactory?</a:t>
            </a:r>
          </a:p>
          <a:p>
            <a:pPr marL="742950" lvl="1" indent="-285750">
              <a:spcAft>
                <a:spcPts val="300"/>
              </a:spcAft>
              <a:buClr>
                <a:schemeClr val="accent2">
                  <a:lumMod val="75000"/>
                </a:schemeClr>
              </a:buClr>
              <a:buFont typeface="Wingdings" panose="05000000000000000000" pitchFamily="2" charset="2"/>
              <a:buChar char="§"/>
            </a:pPr>
            <a:r>
              <a:rPr lang="en-US" altLang="en-US" dirty="0">
                <a:latin typeface="Cambria" panose="02040503050406030204" pitchFamily="18" charset="0"/>
                <a:ea typeface="Cambria" panose="02040503050406030204" pitchFamily="18" charset="0"/>
              </a:rPr>
              <a:t>Can elements be scheduled, budgeted, and assigned to a unit that will accept responsibility?</a:t>
            </a:r>
          </a:p>
          <a:p>
            <a:pPr marL="742950" lvl="1" indent="-285750">
              <a:spcAft>
                <a:spcPts val="300"/>
              </a:spcAft>
              <a:buClr>
                <a:schemeClr val="accent2">
                  <a:lumMod val="75000"/>
                </a:schemeClr>
              </a:buClr>
              <a:buFont typeface="Wingdings" panose="05000000000000000000" pitchFamily="2" charset="2"/>
              <a:buChar char="§"/>
            </a:pPr>
            <a:r>
              <a:rPr lang="en-US" altLang="en-US" dirty="0">
                <a:latin typeface="Cambria" panose="02040503050406030204" pitchFamily="18" charset="0"/>
                <a:ea typeface="Cambria" panose="02040503050406030204" pitchFamily="18" charset="0"/>
              </a:rPr>
              <a:t>Too much or too little visibility and control ?</a:t>
            </a:r>
          </a:p>
          <a:p>
            <a:pPr marL="742950" lvl="1" indent="-285750">
              <a:spcAft>
                <a:spcPts val="300"/>
              </a:spcAft>
              <a:buClr>
                <a:schemeClr val="accent2">
                  <a:lumMod val="75000"/>
                </a:schemeClr>
              </a:buClr>
              <a:buFont typeface="Wingdings" panose="05000000000000000000" pitchFamily="2" charset="2"/>
              <a:buChar char="§"/>
            </a:pPr>
            <a:r>
              <a:rPr lang="en-US" altLang="en-US" dirty="0">
                <a:latin typeface="Cambria" panose="02040503050406030204" pitchFamily="18" charset="0"/>
                <a:ea typeface="Cambria" panose="02040503050406030204" pitchFamily="18" charset="0"/>
              </a:rPr>
              <a:t>Can status reports be generated at all levels?</a:t>
            </a:r>
          </a:p>
          <a:p>
            <a:pPr algn="l"/>
            <a:endParaRPr lang="en-US" altLang="en-US" sz="1600" dirty="0">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59A661C-B574-BCEC-A01B-A24FE099D03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462312" y="2644696"/>
            <a:ext cx="3390333" cy="3528596"/>
          </a:xfrm>
          <a:prstGeom prst="rect">
            <a:avLst/>
          </a:prstGeom>
        </p:spPr>
      </p:pic>
    </p:spTree>
    <p:extLst>
      <p:ext uri="{BB962C8B-B14F-4D97-AF65-F5344CB8AC3E}">
        <p14:creationId xmlns:p14="http://schemas.microsoft.com/office/powerpoint/2010/main" val="34840893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20BE37-9FBB-E35F-BF6D-396AD9C4D28E}"/>
              </a:ext>
            </a:extLst>
          </p:cNvPr>
          <p:cNvPicPr>
            <a:picLocks noChangeAspect="1"/>
          </p:cNvPicPr>
          <p:nvPr/>
        </p:nvPicPr>
        <p:blipFill>
          <a:blip r:embed="rId2"/>
          <a:stretch>
            <a:fillRect/>
          </a:stretch>
        </p:blipFill>
        <p:spPr>
          <a:xfrm>
            <a:off x="359675" y="936974"/>
            <a:ext cx="7239792" cy="5322182"/>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726268"/>
            <a:ext cx="11513290" cy="1015663"/>
          </a:xfrm>
          <a:prstGeom prst="rect">
            <a:avLst/>
          </a:prstGeom>
          <a:noFill/>
        </p:spPr>
        <p:txBody>
          <a:bodyPr wrap="square">
            <a:spAutoFit/>
          </a:bodyPr>
          <a:lstStyle/>
          <a:p>
            <a:r>
              <a:rPr lang="en-US" sz="2000" b="1" dirty="0">
                <a:solidFill>
                  <a:schemeClr val="bg2">
                    <a:lumMod val="50000"/>
                  </a:schemeClr>
                </a:solidFill>
                <a:latin typeface="Cambria" panose="02040503050406030204" pitchFamily="18" charset="0"/>
                <a:ea typeface="Cambria" panose="02040503050406030204" pitchFamily="18" charset="0"/>
              </a:rPr>
              <a:t>WBS Example</a:t>
            </a:r>
          </a:p>
          <a:p>
            <a:pPr algn="l"/>
            <a:endParaRPr lang="en-US" sz="2000" b="1" dirty="0">
              <a:solidFill>
                <a:schemeClr val="bg2">
                  <a:lumMod val="50000"/>
                </a:schemeClr>
              </a:solidFill>
              <a:latin typeface="Cambria" panose="02040503050406030204" pitchFamily="18" charset="0"/>
              <a:ea typeface="Cambria" panose="02040503050406030204" pitchFamily="18" charset="0"/>
            </a:endParaRPr>
          </a:p>
          <a:p>
            <a:pPr algn="l"/>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6006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20BE37-9FBB-E35F-BF6D-396AD9C4D28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9675" y="1077571"/>
            <a:ext cx="7239792" cy="5040987"/>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WORK BREAKDOWN STRUCTURE (WBS)</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726268"/>
            <a:ext cx="11513290" cy="1015663"/>
          </a:xfrm>
          <a:prstGeom prst="rect">
            <a:avLst/>
          </a:prstGeom>
          <a:noFill/>
        </p:spPr>
        <p:txBody>
          <a:bodyPr wrap="square">
            <a:spAutoFit/>
          </a:bodyPr>
          <a:lstStyle/>
          <a:p>
            <a:r>
              <a:rPr lang="en-US" sz="2000" b="1" dirty="0">
                <a:solidFill>
                  <a:schemeClr val="bg2">
                    <a:lumMod val="50000"/>
                  </a:schemeClr>
                </a:solidFill>
                <a:latin typeface="Cambria" panose="02040503050406030204" pitchFamily="18" charset="0"/>
                <a:ea typeface="Cambria" panose="02040503050406030204" pitchFamily="18" charset="0"/>
              </a:rPr>
              <a:t>WBS Example (Gantt)</a:t>
            </a:r>
          </a:p>
          <a:p>
            <a:pPr algn="l"/>
            <a:endParaRPr lang="en-US" sz="2000" b="1" dirty="0">
              <a:solidFill>
                <a:schemeClr val="bg2">
                  <a:lumMod val="50000"/>
                </a:schemeClr>
              </a:solidFill>
              <a:latin typeface="Cambria" panose="02040503050406030204" pitchFamily="18" charset="0"/>
              <a:ea typeface="Cambria" panose="02040503050406030204" pitchFamily="18" charset="0"/>
            </a:endParaRPr>
          </a:p>
          <a:p>
            <a:pPr algn="l"/>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73263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lnSpc>
                <a:spcPct val="100000"/>
              </a:lnSpc>
              <a:spcBef>
                <a:spcPts val="0"/>
              </a:spcBef>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5. CONTROL &amp; MANAGE SOW CHANGE(S)</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707886"/>
          </a:xfrm>
          <a:prstGeom prst="rect">
            <a:avLst/>
          </a:prstGeom>
          <a:noFill/>
        </p:spPr>
        <p:txBody>
          <a:bodyPr wrap="square">
            <a:spAutoFit/>
          </a:bodyPr>
          <a:lstStyle/>
          <a:p>
            <a:pPr>
              <a:spcAft>
                <a:spcPts val="600"/>
              </a:spcAft>
            </a:pPr>
            <a:r>
              <a:rPr lang="en-GB" altLang="en-US" sz="1700" b="1" dirty="0">
                <a:solidFill>
                  <a:schemeClr val="bg1"/>
                </a:solidFill>
                <a:latin typeface="Cambria" panose="02040503050406030204" pitchFamily="18" charset="0"/>
                <a:ea typeface="Cambria" panose="02040503050406030204" pitchFamily="18" charset="0"/>
              </a:rPr>
              <a:t>Project scope Change Management</a:t>
            </a:r>
            <a:endParaRPr lang="fr-FR" altLang="en-US" sz="1700" b="1" dirty="0">
              <a:solidFill>
                <a:schemeClr val="bg1"/>
              </a:solidFill>
              <a:latin typeface="Cambria" panose="02040503050406030204" pitchFamily="18" charset="0"/>
              <a:ea typeface="Cambria" panose="02040503050406030204" pitchFamily="18" charset="0"/>
            </a:endParaRPr>
          </a:p>
          <a:p>
            <a:pPr>
              <a:lnSpc>
                <a:spcPct val="100000"/>
              </a:lnSpc>
              <a:spcBef>
                <a:spcPts val="0"/>
              </a:spcBef>
              <a:spcAft>
                <a:spcPts val="600"/>
              </a:spcAft>
            </a:pPr>
            <a:endParaRPr lang="en-US" b="1"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8B093C7-8A33-C07F-5EC7-3838AF3517A2}"/>
              </a:ext>
            </a:extLst>
          </p:cNvPr>
          <p:cNvSpPr txBox="1"/>
          <p:nvPr/>
        </p:nvSpPr>
        <p:spPr>
          <a:xfrm>
            <a:off x="339355" y="784286"/>
            <a:ext cx="7490444" cy="3239348"/>
          </a:xfrm>
          <a:prstGeom prst="rect">
            <a:avLst/>
          </a:prstGeom>
          <a:noFill/>
        </p:spPr>
        <p:txBody>
          <a:bodyPr wrap="square">
            <a:spAutoFit/>
          </a:bodyPr>
          <a:lstStyle/>
          <a:p>
            <a:pPr marL="0" lvl="1">
              <a:spcAft>
                <a:spcPts val="300"/>
              </a:spcAft>
              <a:buClr>
                <a:schemeClr val="accent2">
                  <a:lumMod val="75000"/>
                </a:schemeClr>
              </a:buClr>
            </a:pPr>
            <a:r>
              <a:rPr lang="en-GB" altLang="en-US" sz="1600" b="1" dirty="0">
                <a:solidFill>
                  <a:schemeClr val="tx1">
                    <a:lumMod val="65000"/>
                    <a:lumOff val="35000"/>
                  </a:schemeClr>
                </a:solidFill>
                <a:latin typeface="Cambria" panose="02040503050406030204" pitchFamily="18" charset="0"/>
                <a:ea typeface="Cambria" panose="02040503050406030204" pitchFamily="18" charset="0"/>
              </a:rPr>
              <a:t>Project scope Change Management</a:t>
            </a:r>
          </a:p>
          <a:p>
            <a:pPr algn="just"/>
            <a:r>
              <a:rPr lang="en-GB" altLang="en-US" sz="1600" dirty="0">
                <a:latin typeface="Cambria" panose="02040503050406030204" pitchFamily="18" charset="0"/>
                <a:ea typeface="Cambria" panose="02040503050406030204" pitchFamily="18" charset="0"/>
              </a:rPr>
              <a:t>Any change to product and/or project scope must follow a formal process.  This process must finish with the formal acceptance of the change by the different stakeholders.</a:t>
            </a:r>
          </a:p>
          <a:p>
            <a:pPr algn="just"/>
            <a:endParaRPr lang="en-GB" altLang="en-US" sz="1600" dirty="0">
              <a:solidFill>
                <a:schemeClr val="tx1">
                  <a:lumMod val="65000"/>
                  <a:lumOff val="35000"/>
                </a:schemeClr>
              </a:solidFill>
              <a:latin typeface="Cambria" panose="02040503050406030204" pitchFamily="18" charset="0"/>
              <a:ea typeface="Cambria" panose="02040503050406030204" pitchFamily="18" charset="0"/>
            </a:endParaRPr>
          </a:p>
          <a:p>
            <a:pPr algn="just"/>
            <a:r>
              <a:rPr lang="fr-FR" altLang="en-US" sz="1600" dirty="0">
                <a:latin typeface="Cambria" panose="02040503050406030204" pitchFamily="18" charset="0"/>
                <a:ea typeface="Cambria" panose="02040503050406030204" pitchFamily="18" charset="0"/>
              </a:rPr>
              <a:t>A change </a:t>
            </a:r>
            <a:r>
              <a:rPr lang="fr-FR" altLang="en-US" sz="1600" dirty="0" err="1">
                <a:latin typeface="Cambria" panose="02040503050406030204" pitchFamily="18" charset="0"/>
                <a:ea typeface="Cambria" panose="02040503050406030204" pitchFamily="18" charset="0"/>
              </a:rPr>
              <a:t>request</a:t>
            </a:r>
            <a:r>
              <a:rPr lang="fr-FR" altLang="en-US" sz="1600" dirty="0">
                <a:latin typeface="Cambria" panose="02040503050406030204" pitchFamily="18" charset="0"/>
                <a:ea typeface="Cambria" panose="02040503050406030204" pitchFamily="18" charset="0"/>
              </a:rPr>
              <a:t> </a:t>
            </a:r>
            <a:r>
              <a:rPr lang="fr-FR" altLang="en-US" sz="1600" dirty="0" err="1">
                <a:latin typeface="Cambria" panose="02040503050406030204" pitchFamily="18" charset="0"/>
                <a:ea typeface="Cambria" panose="02040503050406030204" pitchFamily="18" charset="0"/>
              </a:rPr>
              <a:t>may</a:t>
            </a:r>
            <a:r>
              <a:rPr lang="fr-FR" altLang="en-US" sz="1600" dirty="0">
                <a:latin typeface="Cambria" panose="02040503050406030204" pitchFamily="18" charset="0"/>
                <a:ea typeface="Cambria" panose="02040503050406030204" pitchFamily="18" charset="0"/>
              </a:rPr>
              <a:t> </a:t>
            </a:r>
            <a:r>
              <a:rPr lang="fr-FR" altLang="en-US" sz="1600" dirty="0" err="1">
                <a:latin typeface="Cambria" panose="02040503050406030204" pitchFamily="18" charset="0"/>
                <a:ea typeface="Cambria" panose="02040503050406030204" pitchFamily="18" charset="0"/>
              </a:rPr>
              <a:t>be</a:t>
            </a:r>
            <a:r>
              <a:rPr lang="fr-FR" altLang="en-US" sz="1600" dirty="0">
                <a:latin typeface="Cambria" panose="02040503050406030204" pitchFamily="18" charset="0"/>
                <a:ea typeface="Cambria" panose="02040503050406030204" pitchFamily="18" charset="0"/>
              </a:rPr>
              <a:t> the </a:t>
            </a:r>
            <a:r>
              <a:rPr lang="fr-FR" altLang="en-US" sz="1600" dirty="0" err="1">
                <a:latin typeface="Cambria" panose="02040503050406030204" pitchFamily="18" charset="0"/>
                <a:ea typeface="Cambria" panose="02040503050406030204" pitchFamily="18" charset="0"/>
              </a:rPr>
              <a:t>result</a:t>
            </a:r>
            <a:r>
              <a:rPr lang="fr-FR" altLang="en-US" sz="1600" dirty="0">
                <a:latin typeface="Cambria" panose="02040503050406030204" pitchFamily="18" charset="0"/>
                <a:ea typeface="Cambria" panose="02040503050406030204" pitchFamily="18" charset="0"/>
              </a:rPr>
              <a:t> of :</a:t>
            </a:r>
            <a:endParaRPr lang="en-GB" altLang="en-US" sz="1600" dirty="0">
              <a:latin typeface="Cambria" panose="02040503050406030204" pitchFamily="18" charset="0"/>
              <a:ea typeface="Cambria" panose="02040503050406030204" pitchFamily="18" charset="0"/>
            </a:endParaRPr>
          </a:p>
          <a:p>
            <a:pPr marL="742950" lvl="1" indent="-285750" algn="just">
              <a:spcAft>
                <a:spcPts val="300"/>
              </a:spcAft>
              <a:buClr>
                <a:schemeClr val="accent2">
                  <a:lumMod val="75000"/>
                </a:schemeClr>
              </a:buClr>
              <a:buFont typeface="Wingdings" panose="05000000000000000000" pitchFamily="2" charset="2"/>
              <a:buChar char="§"/>
            </a:pPr>
            <a:r>
              <a:rPr lang="en-GB" altLang="en-US" sz="1600" dirty="0">
                <a:latin typeface="Cambria" panose="02040503050406030204" pitchFamily="18" charset="0"/>
                <a:ea typeface="Cambria" panose="02040503050406030204" pitchFamily="18" charset="0"/>
              </a:rPr>
              <a:t>An external event (</a:t>
            </a:r>
            <a:r>
              <a:rPr lang="en-GB" altLang="en-US" sz="1600" dirty="0" err="1">
                <a:latin typeface="Cambria" panose="02040503050406030204" pitchFamily="18" charset="0"/>
                <a:ea typeface="Cambria" panose="02040503050406030204" pitchFamily="18" charset="0"/>
              </a:rPr>
              <a:t>eg.</a:t>
            </a:r>
            <a:r>
              <a:rPr lang="en-GB" altLang="en-US" sz="1600" dirty="0">
                <a:latin typeface="Cambria" panose="02040503050406030204" pitchFamily="18" charset="0"/>
                <a:ea typeface="Cambria" panose="02040503050406030204" pitchFamily="18" charset="0"/>
              </a:rPr>
              <a:t> Change in a government regulation)</a:t>
            </a:r>
          </a:p>
          <a:p>
            <a:pPr marL="742950" lvl="1" indent="-285750" algn="just">
              <a:spcAft>
                <a:spcPts val="300"/>
              </a:spcAft>
              <a:buClr>
                <a:schemeClr val="accent2">
                  <a:lumMod val="75000"/>
                </a:schemeClr>
              </a:buClr>
              <a:buFont typeface="Wingdings" panose="05000000000000000000" pitchFamily="2" charset="2"/>
              <a:buChar char="§"/>
            </a:pPr>
            <a:r>
              <a:rPr lang="en-GB" altLang="en-US" sz="1600" dirty="0">
                <a:latin typeface="Cambria" panose="02040503050406030204" pitchFamily="18" charset="0"/>
                <a:ea typeface="Cambria" panose="02040503050406030204" pitchFamily="18" charset="0"/>
              </a:rPr>
              <a:t>An error or omission in defining the scope of the product (adding a failure system regulation).</a:t>
            </a:r>
          </a:p>
          <a:p>
            <a:pPr marL="742950" lvl="1" indent="-285750" algn="just">
              <a:spcAft>
                <a:spcPts val="300"/>
              </a:spcAft>
              <a:buClr>
                <a:schemeClr val="accent2">
                  <a:lumMod val="75000"/>
                </a:schemeClr>
              </a:buClr>
              <a:buFont typeface="Wingdings" panose="05000000000000000000" pitchFamily="2" charset="2"/>
              <a:buChar char="§"/>
            </a:pPr>
            <a:r>
              <a:rPr lang="en-GB" altLang="en-US" sz="1600" dirty="0">
                <a:latin typeface="Cambria" panose="02040503050406030204" pitchFamily="18" charset="0"/>
                <a:ea typeface="Cambria" panose="02040503050406030204" pitchFamily="18" charset="0"/>
              </a:rPr>
              <a:t>An error in defining the scope of the project (a missing inspection)</a:t>
            </a:r>
          </a:p>
          <a:p>
            <a:pPr marL="742950" lvl="1" indent="-285750" algn="just">
              <a:spcAft>
                <a:spcPts val="300"/>
              </a:spcAft>
              <a:buClr>
                <a:schemeClr val="accent2">
                  <a:lumMod val="75000"/>
                </a:schemeClr>
              </a:buClr>
              <a:buFont typeface="Wingdings" panose="05000000000000000000" pitchFamily="2" charset="2"/>
              <a:buChar char="§"/>
            </a:pPr>
            <a:r>
              <a:rPr lang="en-GB" altLang="en-US" sz="1600" dirty="0">
                <a:latin typeface="Cambria" panose="02040503050406030204" pitchFamily="18" charset="0"/>
                <a:ea typeface="Cambria" panose="02040503050406030204" pitchFamily="18" charset="0"/>
              </a:rPr>
              <a:t>A value adding change (positive opportunity)</a:t>
            </a:r>
          </a:p>
          <a:p>
            <a:pPr marL="742950" lvl="1" indent="-285750" algn="just">
              <a:spcAft>
                <a:spcPts val="300"/>
              </a:spcAft>
              <a:buClr>
                <a:schemeClr val="accent2">
                  <a:lumMod val="75000"/>
                </a:schemeClr>
              </a:buClr>
              <a:buFont typeface="Wingdings" panose="05000000000000000000" pitchFamily="2" charset="2"/>
              <a:buChar char="§"/>
            </a:pPr>
            <a:r>
              <a:rPr lang="en-GB" altLang="en-US" sz="1600" dirty="0">
                <a:latin typeface="Cambria" panose="02040503050406030204" pitchFamily="18" charset="0"/>
                <a:ea typeface="Cambria" panose="02040503050406030204" pitchFamily="18" charset="0"/>
              </a:rPr>
              <a:t>A response to an identified risk</a:t>
            </a:r>
            <a:endParaRPr lang="en-US" sz="1600" dirty="0">
              <a:latin typeface="Cambria" panose="02040503050406030204" pitchFamily="18" charset="0"/>
              <a:ea typeface="Cambria" panose="02040503050406030204" pitchFamily="18" charset="0"/>
            </a:endParaRPr>
          </a:p>
        </p:txBody>
      </p:sp>
      <p:graphicFrame>
        <p:nvGraphicFramePr>
          <p:cNvPr id="2" name="Chart 1">
            <a:extLst>
              <a:ext uri="{FF2B5EF4-FFF2-40B4-BE49-F238E27FC236}">
                <a16:creationId xmlns:a16="http://schemas.microsoft.com/office/drawing/2014/main" id="{7417E9C6-FCC8-530E-D491-C29B945F902C}"/>
              </a:ext>
            </a:extLst>
          </p:cNvPr>
          <p:cNvGraphicFramePr/>
          <p:nvPr>
            <p:extLst>
              <p:ext uri="{D42A27DB-BD31-4B8C-83A1-F6EECF244321}">
                <p14:modId xmlns:p14="http://schemas.microsoft.com/office/powerpoint/2010/main" val="2086979298"/>
              </p:ext>
            </p:extLst>
          </p:nvPr>
        </p:nvGraphicFramePr>
        <p:xfrm>
          <a:off x="3269094" y="4839242"/>
          <a:ext cx="2133600" cy="18846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5E8D767B-0362-D421-35D1-F3E247D0D008}"/>
              </a:ext>
            </a:extLst>
          </p:cNvPr>
          <p:cNvSpPr txBox="1"/>
          <p:nvPr/>
        </p:nvSpPr>
        <p:spPr>
          <a:xfrm>
            <a:off x="3097620" y="4355228"/>
            <a:ext cx="2133600" cy="365760"/>
          </a:xfrm>
          <a:prstGeom prst="rect">
            <a:avLst/>
          </a:prstGeom>
          <a:noFill/>
        </p:spPr>
        <p:txBody>
          <a:bodyPr wrap="square" lIns="0" tIns="0" rIns="0" bIns="0" rtlCol="0">
            <a:noAutofit/>
          </a:bodyPr>
          <a:lstStyle/>
          <a:p>
            <a:pPr indent="-274320" algn="ctr"/>
            <a:r>
              <a:rPr lang="en-US" sz="1600" b="1" dirty="0">
                <a:solidFill>
                  <a:srgbClr val="0070C0"/>
                </a:solidFill>
                <a:latin typeface="Cambria" panose="02040503050406030204" pitchFamily="18" charset="0"/>
                <a:ea typeface="Cambria" panose="02040503050406030204" pitchFamily="18" charset="0"/>
              </a:rPr>
              <a:t>Change(s) in scope</a:t>
            </a:r>
          </a:p>
          <a:p>
            <a:pPr indent="-274320" algn="ctr"/>
            <a:r>
              <a:rPr lang="en-US" sz="1600" b="1" dirty="0">
                <a:solidFill>
                  <a:srgbClr val="0070C0"/>
                </a:solidFill>
                <a:latin typeface="Cambria" panose="02040503050406030204" pitchFamily="18" charset="0"/>
                <a:ea typeface="Cambria" panose="02040503050406030204" pitchFamily="18" charset="0"/>
              </a:rPr>
              <a:t>mid-project </a:t>
            </a:r>
          </a:p>
        </p:txBody>
      </p:sp>
      <p:sp>
        <p:nvSpPr>
          <p:cNvPr id="6" name="TextBox 5">
            <a:extLst>
              <a:ext uri="{FF2B5EF4-FFF2-40B4-BE49-F238E27FC236}">
                <a16:creationId xmlns:a16="http://schemas.microsoft.com/office/drawing/2014/main" id="{47FFCC9C-4E5B-94D5-462F-60F4C9D80852}"/>
              </a:ext>
            </a:extLst>
          </p:cNvPr>
          <p:cNvSpPr txBox="1"/>
          <p:nvPr/>
        </p:nvSpPr>
        <p:spPr>
          <a:xfrm>
            <a:off x="3948478" y="5527305"/>
            <a:ext cx="853440" cy="320040"/>
          </a:xfrm>
          <a:prstGeom prst="rect">
            <a:avLst/>
          </a:prstGeom>
          <a:noFill/>
        </p:spPr>
        <p:txBody>
          <a:bodyPr wrap="square" lIns="0" tIns="0" rIns="0" bIns="0" rtlCol="0">
            <a:noAutofit/>
          </a:bodyPr>
          <a:lstStyle/>
          <a:p>
            <a:pPr indent="-274320" algn="ctr">
              <a:spcAft>
                <a:spcPts val="900"/>
              </a:spcAft>
            </a:pPr>
            <a:r>
              <a:rPr lang="en-US" sz="2400" b="1" i="1" dirty="0">
                <a:solidFill>
                  <a:schemeClr val="accent5"/>
                </a:solidFill>
                <a:latin typeface="Georgia" pitchFamily="18" charset="0"/>
              </a:rPr>
              <a:t>41 %</a:t>
            </a:r>
          </a:p>
        </p:txBody>
      </p:sp>
      <p:graphicFrame>
        <p:nvGraphicFramePr>
          <p:cNvPr id="7" name="Chart 6">
            <a:extLst>
              <a:ext uri="{FF2B5EF4-FFF2-40B4-BE49-F238E27FC236}">
                <a16:creationId xmlns:a16="http://schemas.microsoft.com/office/drawing/2014/main" id="{4D61D0C7-391F-2A51-C4FD-11F86FB2D966}"/>
              </a:ext>
            </a:extLst>
          </p:cNvPr>
          <p:cNvGraphicFramePr/>
          <p:nvPr>
            <p:extLst>
              <p:ext uri="{D42A27DB-BD31-4B8C-83A1-F6EECF244321}">
                <p14:modId xmlns:p14="http://schemas.microsoft.com/office/powerpoint/2010/main" val="3635167341"/>
              </p:ext>
            </p:extLst>
          </p:nvPr>
        </p:nvGraphicFramePr>
        <p:xfrm>
          <a:off x="5818841" y="4839242"/>
          <a:ext cx="2133600" cy="188468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28FD6040-3CE5-A5AB-6481-9E4B446675D0}"/>
              </a:ext>
            </a:extLst>
          </p:cNvPr>
          <p:cNvSpPr txBox="1"/>
          <p:nvPr/>
        </p:nvSpPr>
        <p:spPr>
          <a:xfrm>
            <a:off x="5795090" y="4355228"/>
            <a:ext cx="2133600" cy="365760"/>
          </a:xfrm>
          <a:prstGeom prst="rect">
            <a:avLst/>
          </a:prstGeom>
          <a:noFill/>
        </p:spPr>
        <p:txBody>
          <a:bodyPr wrap="square" lIns="0" tIns="0" rIns="0" bIns="0" rtlCol="0">
            <a:noAutofit/>
          </a:bodyPr>
          <a:lstStyle/>
          <a:p>
            <a:pPr indent="-274320" algn="ctr"/>
            <a:r>
              <a:rPr lang="en-US" sz="1600" b="1" dirty="0">
                <a:solidFill>
                  <a:srgbClr val="0070C0"/>
                </a:solidFill>
                <a:latin typeface="Cambria" panose="02040503050406030204" pitchFamily="18" charset="0"/>
                <a:ea typeface="Cambria" panose="02040503050406030204" pitchFamily="18" charset="0"/>
              </a:rPr>
              <a:t>Poor estimates in the planning phase</a:t>
            </a:r>
          </a:p>
        </p:txBody>
      </p:sp>
      <p:sp>
        <p:nvSpPr>
          <p:cNvPr id="9" name="TextBox 8">
            <a:extLst>
              <a:ext uri="{FF2B5EF4-FFF2-40B4-BE49-F238E27FC236}">
                <a16:creationId xmlns:a16="http://schemas.microsoft.com/office/drawing/2014/main" id="{F399FA64-F074-8476-F711-B64E42ADCF5F}"/>
              </a:ext>
            </a:extLst>
          </p:cNvPr>
          <p:cNvSpPr txBox="1"/>
          <p:nvPr/>
        </p:nvSpPr>
        <p:spPr>
          <a:xfrm>
            <a:off x="6458921" y="5562435"/>
            <a:ext cx="853440" cy="320040"/>
          </a:xfrm>
          <a:prstGeom prst="rect">
            <a:avLst/>
          </a:prstGeom>
          <a:noFill/>
        </p:spPr>
        <p:txBody>
          <a:bodyPr wrap="square" lIns="0" tIns="0" rIns="0" bIns="0" rtlCol="0">
            <a:noAutofit/>
          </a:bodyPr>
          <a:lstStyle/>
          <a:p>
            <a:pPr indent="-274320" algn="ctr">
              <a:spcAft>
                <a:spcPts val="900"/>
              </a:spcAft>
            </a:pPr>
            <a:r>
              <a:rPr lang="en-US" sz="2400" b="1" i="1" dirty="0">
                <a:solidFill>
                  <a:schemeClr val="accent5"/>
                </a:solidFill>
                <a:latin typeface="Georgia" pitchFamily="18" charset="0"/>
              </a:rPr>
              <a:t>39%</a:t>
            </a:r>
          </a:p>
        </p:txBody>
      </p:sp>
    </p:spTree>
    <p:extLst>
      <p:ext uri="{BB962C8B-B14F-4D97-AF65-F5344CB8AC3E}">
        <p14:creationId xmlns:p14="http://schemas.microsoft.com/office/powerpoint/2010/main" val="3224957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r>
              <a:rPr lang="en-US" sz="4000" b="0" dirty="0">
                <a:solidFill>
                  <a:schemeClr val="bg1"/>
                </a:solidFill>
                <a:effectLst/>
                <a:latin typeface="Cambria" panose="02040503050406030204" pitchFamily="18" charset="0"/>
                <a:ea typeface="Cambria" panose="02040503050406030204" pitchFamily="18" charset="0"/>
              </a:rPr>
              <a:t>THANK YOU!</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en-US" sz="2700" dirty="0">
                <a:solidFill>
                  <a:schemeClr val="accent1">
                    <a:lumMod val="40000"/>
                    <a:lumOff val="60000"/>
                  </a:schemeClr>
                </a:solidFill>
                <a:latin typeface="Cambria" panose="02040503050406030204" pitchFamily="18" charset="0"/>
                <a:ea typeface="Cambria" panose="02040503050406030204" pitchFamily="18" charset="0"/>
              </a:rPr>
              <a:t>Chap II: </a:t>
            </a:r>
            <a:r>
              <a:rPr lang="vi-VN" sz="2700" dirty="0">
                <a:solidFill>
                  <a:schemeClr val="accent1">
                    <a:lumMod val="40000"/>
                    <a:lumOff val="60000"/>
                  </a:schemeClr>
                </a:solidFill>
                <a:latin typeface="Cambria" panose="02040503050406030204" pitchFamily="18" charset="0"/>
                <a:ea typeface="Cambria" panose="02040503050406030204" pitchFamily="18" charset="0"/>
              </a:rPr>
              <a:t>IT </a:t>
            </a:r>
            <a:r>
              <a:rPr lang="en-US" sz="2700" dirty="0">
                <a:solidFill>
                  <a:schemeClr val="accent1">
                    <a:lumMod val="40000"/>
                    <a:lumOff val="60000"/>
                  </a:schemeClr>
                </a:solidFill>
                <a:latin typeface="Cambria" panose="02040503050406030204" pitchFamily="18" charset="0"/>
                <a:ea typeface="Cambria" panose="02040503050406030204" pitchFamily="18" charset="0"/>
              </a:rPr>
              <a:t>project Scope</a:t>
            </a:r>
            <a:r>
              <a:rPr lang="vi-VN" sz="2700" dirty="0">
                <a:solidFill>
                  <a:schemeClr val="accent1">
                    <a:lumMod val="40000"/>
                    <a:lumOff val="60000"/>
                  </a:schemeClr>
                </a:solidFill>
                <a:latin typeface="Cambria" panose="02040503050406030204" pitchFamily="18" charset="0"/>
                <a:ea typeface="Cambria" panose="02040503050406030204" pitchFamily="18" charset="0"/>
              </a:rPr>
              <a:t> management</a:t>
            </a:r>
            <a:br>
              <a:rPr lang="en-US" sz="2700" dirty="0">
                <a:solidFill>
                  <a:schemeClr val="bg1"/>
                </a:solidFill>
                <a:latin typeface="Cambria" panose="02040503050406030204" pitchFamily="18" charset="0"/>
                <a:ea typeface="Cambria" panose="02040503050406030204" pitchFamily="18" charset="0"/>
              </a:rPr>
            </a:br>
            <a:r>
              <a:rPr lang="en-US" sz="2000" dirty="0">
                <a:solidFill>
                  <a:schemeClr val="accent1">
                    <a:lumMod val="60000"/>
                    <a:lumOff val="40000"/>
                  </a:schemeClr>
                </a:solidFill>
                <a:latin typeface="Cambria" panose="02040503050406030204" pitchFamily="18" charset="0"/>
                <a:ea typeface="Cambria" panose="02040503050406030204" pitchFamily="18" charset="0"/>
              </a:rPr>
              <a:t>Lecturer: Dr. Thanh NGO</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7340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Custom 7">
      <a:dk1>
        <a:srgbClr val="FFFFFF"/>
      </a:dk1>
      <a:lt1>
        <a:srgbClr val="0070C0"/>
      </a:lt1>
      <a:dk2>
        <a:srgbClr val="FFFFFF"/>
      </a:dk2>
      <a:lt2>
        <a:srgbClr val="0070C0"/>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1513</TotalTime>
  <Words>3698</Words>
  <Application>Microsoft Office PowerPoint</Application>
  <PresentationFormat>Widescreen</PresentationFormat>
  <Paragraphs>403</Paragraphs>
  <Slides>35</Slides>
  <Notes>0</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35</vt:i4>
      </vt:variant>
    </vt:vector>
  </HeadingPairs>
  <TitlesOfParts>
    <vt:vector size="48" baseType="lpstr">
      <vt:lpstr>Arial</vt:lpstr>
      <vt:lpstr>Calibri</vt:lpstr>
      <vt:lpstr>Calibri Light</vt:lpstr>
      <vt:lpstr>Cambria</vt:lpstr>
      <vt:lpstr>Courier New</vt:lpstr>
      <vt:lpstr>Georgia</vt:lpstr>
      <vt:lpstr>Graphik Web Regular</vt:lpstr>
      <vt:lpstr>Times New Roman</vt:lpstr>
      <vt:lpstr>Wingdings</vt:lpstr>
      <vt:lpstr>Office Theme</vt:lpstr>
      <vt:lpstr>Opening slide</vt:lpstr>
      <vt:lpstr>Body slide</vt:lpstr>
      <vt:lpstr>Photo Editor Photo</vt:lpstr>
      <vt:lpstr> INFORMATION TECHNOLOGY PROJECT MANAGEMENT     Chap II: IT project Scope management Lecturer: Dr. Thanh NGO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Chap II: IT project Scope management Lecturer: Dr. Thanh NGO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TECHNOLOGY PROJECT MANAGEMENT  Chap I: Foundation of IT project management Lecturer: Dr. Thanh NGO</dc:title>
  <dc:creator>Thanh. Ngo Minh - CMC People Unit</dc:creator>
  <cp:lastModifiedBy>Thanh. Ngo Minh - CMC People Unit</cp:lastModifiedBy>
  <cp:revision>131</cp:revision>
  <dcterms:created xsi:type="dcterms:W3CDTF">2024-02-01T10:29:10Z</dcterms:created>
  <dcterms:modified xsi:type="dcterms:W3CDTF">2024-02-27T09:31:07Z</dcterms:modified>
</cp:coreProperties>
</file>